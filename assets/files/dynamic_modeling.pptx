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embeddedFontLst>
    <p:embeddedFont>
      <p:font typeface="Georgia" panose="02040502050405020303" pitchFamily="18" charset="0"/>
      <p:regular r:id="rId33"/>
      <p:bold r:id="rId34"/>
      <p:italic r:id="rId35"/>
      <p:boldItalic r:id="rId36"/>
    </p:embeddedFont>
    <p:embeddedFont>
      <p:font typeface="Noto Serif Georgian" panose="020B0604020202020204" charset="0"/>
      <p:regular r:id="rId37"/>
      <p:bold r:id="rId38"/>
    </p:embeddedFont>
    <p:embeddedFont>
      <p:font typeface="Pacifico" panose="00000500000000000000" pitchFamily="2" charset="0"/>
      <p:regular r:id="rId39"/>
    </p:embeddedFont>
    <p:embeddedFont>
      <p:font typeface="Roboto" panose="020000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4" roundtripDataSignature="AMtx7mgvGa69ay/cLy1n5NBwoUWHpZzIL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KSHI PERSONAL" userId="2f5bf7f79ed592f3" providerId="LiveId" clId="{0C99533C-4778-45BA-8161-D67122AC0533}"/>
    <pc:docChg chg="modSld sldOrd">
      <pc:chgData name="SAKSHI PERSONAL" userId="2f5bf7f79ed592f3" providerId="LiveId" clId="{0C99533C-4778-45BA-8161-D67122AC0533}" dt="2026-03-27T14:50:37.204" v="1"/>
      <pc:docMkLst>
        <pc:docMk/>
      </pc:docMkLst>
      <pc:sldChg chg="ord">
        <pc:chgData name="SAKSHI PERSONAL" userId="2f5bf7f79ed592f3" providerId="LiveId" clId="{0C99533C-4778-45BA-8161-D67122AC0533}" dt="2026-03-27T14:50:37.204" v="1"/>
        <pc:sldMkLst>
          <pc:docMk/>
          <pc:sldMk cId="0" sldId="2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2ce171da89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2ce171da89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1" name="Google Shape;151;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 name="Google Shape;193;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2ce05626edf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2ce05626edf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2ce05626edf_1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2ce05626edf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2ce05626edf_1_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2ce05626edf_1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2ce05626edf_1_1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2ce05626edf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0" name="Google Shape;230;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6" name="Google Shape;236;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3" name="Google Shape;24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9" name="Google Shape;249;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5" name="Google Shape;25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ce05626edf_1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ce05626edf_1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ce05626edf_3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ce05626edf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
        <p:cNvGrpSpPr/>
        <p:nvPr/>
      </p:nvGrpSpPr>
      <p:grpSpPr>
        <a:xfrm>
          <a:off x="0" y="0"/>
          <a:ext cx="0" cy="0"/>
          <a:chOff x="0" y="0"/>
          <a:chExt cx="0" cy="0"/>
        </a:xfrm>
      </p:grpSpPr>
      <p:sp>
        <p:nvSpPr>
          <p:cNvPr id="15" name="Google Shape;15;p26"/>
          <p:cNvSpPr/>
          <p:nvPr/>
        </p:nvSpPr>
        <p:spPr>
          <a:xfrm>
            <a:off x="446534" y="3085765"/>
            <a:ext cx="11262866" cy="3304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6"/>
          <p:cNvSpPr txBox="1">
            <a:spLocks noGrp="1"/>
          </p:cNvSpPr>
          <p:nvPr>
            <p:ph type="ctrTitle"/>
          </p:nvPr>
        </p:nvSpPr>
        <p:spPr>
          <a:xfrm>
            <a:off x="581191" y="1020431"/>
            <a:ext cx="10993549" cy="1475013"/>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3600"/>
              <a:buFont typeface="Arial"/>
              <a:buNone/>
              <a:defRPr sz="3600" b="1">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6"/>
          <p:cNvSpPr txBox="1">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chorCtr="0">
            <a:normAutofit/>
          </a:bodyPr>
          <a:lstStyle>
            <a:lvl1pPr lvl="0" algn="l">
              <a:spcBef>
                <a:spcPts val="320"/>
              </a:spcBef>
              <a:spcAft>
                <a:spcPts val="0"/>
              </a:spcAft>
              <a:buSzPts val="1472"/>
              <a:buNone/>
              <a:defRPr sz="1600" cap="none">
                <a:solidFill>
                  <a:schemeClr val="accent2"/>
                </a:solidFill>
              </a:defRPr>
            </a:lvl1pPr>
            <a:lvl2pPr lvl="1" algn="ctr">
              <a:spcBef>
                <a:spcPts val="600"/>
              </a:spcBef>
              <a:spcAft>
                <a:spcPts val="0"/>
              </a:spcAft>
              <a:buSzPts val="1472"/>
              <a:buNone/>
              <a:defRPr>
                <a:solidFill>
                  <a:srgbClr val="888888"/>
                </a:solidFill>
              </a:defRPr>
            </a:lvl2pPr>
            <a:lvl3pPr lvl="2" algn="ctr">
              <a:spcBef>
                <a:spcPts val="600"/>
              </a:spcBef>
              <a:spcAft>
                <a:spcPts val="0"/>
              </a:spcAft>
              <a:buSzPts val="1288"/>
              <a:buNone/>
              <a:defRPr>
                <a:solidFill>
                  <a:srgbClr val="888888"/>
                </a:solidFill>
              </a:defRPr>
            </a:lvl3pPr>
            <a:lvl4pPr lvl="3" algn="ctr">
              <a:spcBef>
                <a:spcPts val="600"/>
              </a:spcBef>
              <a:spcAft>
                <a:spcPts val="0"/>
              </a:spcAft>
              <a:buSzPts val="1104"/>
              <a:buNone/>
              <a:defRPr>
                <a:solidFill>
                  <a:srgbClr val="888888"/>
                </a:solidFill>
              </a:defRPr>
            </a:lvl4pPr>
            <a:lvl5pPr lvl="4" algn="ctr">
              <a:spcBef>
                <a:spcPts val="600"/>
              </a:spcBef>
              <a:spcAft>
                <a:spcPts val="0"/>
              </a:spcAft>
              <a:buSzPts val="1104"/>
              <a:buNone/>
              <a:defRPr>
                <a:solidFill>
                  <a:srgbClr val="888888"/>
                </a:solidFill>
              </a:defRPr>
            </a:lvl5pPr>
            <a:lvl6pPr lvl="5" algn="ctr">
              <a:spcBef>
                <a:spcPts val="600"/>
              </a:spcBef>
              <a:spcAft>
                <a:spcPts val="0"/>
              </a:spcAft>
              <a:buSzPts val="1104"/>
              <a:buNone/>
              <a:defRPr>
                <a:solidFill>
                  <a:srgbClr val="888888"/>
                </a:solidFill>
              </a:defRPr>
            </a:lvl6pPr>
            <a:lvl7pPr lvl="6" algn="ctr">
              <a:spcBef>
                <a:spcPts val="600"/>
              </a:spcBef>
              <a:spcAft>
                <a:spcPts val="0"/>
              </a:spcAft>
              <a:buSzPts val="1104"/>
              <a:buNone/>
              <a:defRPr>
                <a:solidFill>
                  <a:srgbClr val="888888"/>
                </a:solidFill>
              </a:defRPr>
            </a:lvl7pPr>
            <a:lvl8pPr lvl="7" algn="ctr">
              <a:spcBef>
                <a:spcPts val="600"/>
              </a:spcBef>
              <a:spcAft>
                <a:spcPts val="0"/>
              </a:spcAft>
              <a:buSzPts val="1104"/>
              <a:buNone/>
              <a:defRPr>
                <a:solidFill>
                  <a:srgbClr val="888888"/>
                </a:solidFill>
              </a:defRPr>
            </a:lvl8pPr>
            <a:lvl9pPr lvl="8" algn="ctr">
              <a:spcBef>
                <a:spcPts val="600"/>
              </a:spcBef>
              <a:spcAft>
                <a:spcPts val="600"/>
              </a:spcAft>
              <a:buSzPts val="1104"/>
              <a:buNone/>
              <a:defRPr>
                <a:solidFill>
                  <a:srgbClr val="888888"/>
                </a:solidFill>
              </a:defRPr>
            </a:lvl9pPr>
          </a:lstStyle>
          <a:p>
            <a:endParaRPr/>
          </a:p>
        </p:txBody>
      </p:sp>
      <p:sp>
        <p:nvSpPr>
          <p:cNvPr id="18" name="Google Shape;18;p26"/>
          <p:cNvSpPr txBox="1">
            <a:spLocks noGrp="1"/>
          </p:cNvSpPr>
          <p:nvPr>
            <p:ph type="dt" idx="10"/>
          </p:nvPr>
        </p:nvSpPr>
        <p:spPr>
          <a:xfrm>
            <a:off x="7605951" y="5956137"/>
            <a:ext cx="28448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9F276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6"/>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9F276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6"/>
          <p:cNvSpPr txBox="1">
            <a:spLocks noGrp="1"/>
          </p:cNvSpPr>
          <p:nvPr>
            <p:ph type="sldNum" idx="12"/>
          </p:nvPr>
        </p:nvSpPr>
        <p:spPr>
          <a:xfrm>
            <a:off x="10558300" y="5956137"/>
            <a:ext cx="101644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b="0" i="0" u="none" strike="noStrike" cap="none">
                <a:solidFill>
                  <a:srgbClr val="9F276A"/>
                </a:solidFill>
                <a:latin typeface="Arial"/>
                <a:ea typeface="Arial"/>
                <a:cs typeface="Arial"/>
                <a:sym typeface="Arial"/>
              </a:defRPr>
            </a:lvl1pPr>
            <a:lvl2pPr marL="0" lvl="1" indent="0" algn="r">
              <a:spcBef>
                <a:spcPts val="0"/>
              </a:spcBef>
              <a:buNone/>
              <a:defRPr sz="900" b="0" i="0" u="none" strike="noStrike" cap="none">
                <a:solidFill>
                  <a:srgbClr val="9F276A"/>
                </a:solidFill>
                <a:latin typeface="Arial"/>
                <a:ea typeface="Arial"/>
                <a:cs typeface="Arial"/>
                <a:sym typeface="Arial"/>
              </a:defRPr>
            </a:lvl2pPr>
            <a:lvl3pPr marL="0" lvl="2" indent="0" algn="r">
              <a:spcBef>
                <a:spcPts val="0"/>
              </a:spcBef>
              <a:buNone/>
              <a:defRPr sz="900" b="0" i="0" u="none" strike="noStrike" cap="none">
                <a:solidFill>
                  <a:srgbClr val="9F276A"/>
                </a:solidFill>
                <a:latin typeface="Arial"/>
                <a:ea typeface="Arial"/>
                <a:cs typeface="Arial"/>
                <a:sym typeface="Arial"/>
              </a:defRPr>
            </a:lvl3pPr>
            <a:lvl4pPr marL="0" lvl="3" indent="0" algn="r">
              <a:spcBef>
                <a:spcPts val="0"/>
              </a:spcBef>
              <a:buNone/>
              <a:defRPr sz="900" b="0" i="0" u="none" strike="noStrike" cap="none">
                <a:solidFill>
                  <a:srgbClr val="9F276A"/>
                </a:solidFill>
                <a:latin typeface="Arial"/>
                <a:ea typeface="Arial"/>
                <a:cs typeface="Arial"/>
                <a:sym typeface="Arial"/>
              </a:defRPr>
            </a:lvl4pPr>
            <a:lvl5pPr marL="0" lvl="4" indent="0" algn="r">
              <a:spcBef>
                <a:spcPts val="0"/>
              </a:spcBef>
              <a:buNone/>
              <a:defRPr sz="900" b="0" i="0" u="none" strike="noStrike" cap="none">
                <a:solidFill>
                  <a:srgbClr val="9F276A"/>
                </a:solidFill>
                <a:latin typeface="Arial"/>
                <a:ea typeface="Arial"/>
                <a:cs typeface="Arial"/>
                <a:sym typeface="Arial"/>
              </a:defRPr>
            </a:lvl5pPr>
            <a:lvl6pPr marL="0" lvl="5" indent="0" algn="r">
              <a:spcBef>
                <a:spcPts val="0"/>
              </a:spcBef>
              <a:buNone/>
              <a:defRPr sz="900" b="0" i="0" u="none" strike="noStrike" cap="none">
                <a:solidFill>
                  <a:srgbClr val="9F276A"/>
                </a:solidFill>
                <a:latin typeface="Arial"/>
                <a:ea typeface="Arial"/>
                <a:cs typeface="Arial"/>
                <a:sym typeface="Arial"/>
              </a:defRPr>
            </a:lvl6pPr>
            <a:lvl7pPr marL="0" lvl="6" indent="0" algn="r">
              <a:spcBef>
                <a:spcPts val="0"/>
              </a:spcBef>
              <a:buNone/>
              <a:defRPr sz="900" b="0" i="0" u="none" strike="noStrike" cap="none">
                <a:solidFill>
                  <a:srgbClr val="9F276A"/>
                </a:solidFill>
                <a:latin typeface="Arial"/>
                <a:ea typeface="Arial"/>
                <a:cs typeface="Arial"/>
                <a:sym typeface="Arial"/>
              </a:defRPr>
            </a:lvl7pPr>
            <a:lvl8pPr marL="0" lvl="7" indent="0" algn="r">
              <a:spcBef>
                <a:spcPts val="0"/>
              </a:spcBef>
              <a:buNone/>
              <a:defRPr sz="900" b="0" i="0" u="none" strike="noStrike" cap="none">
                <a:solidFill>
                  <a:srgbClr val="9F276A"/>
                </a:solidFill>
                <a:latin typeface="Arial"/>
                <a:ea typeface="Arial"/>
                <a:cs typeface="Arial"/>
                <a:sym typeface="Arial"/>
              </a:defRPr>
            </a:lvl8pPr>
            <a:lvl9pPr marL="0" lvl="8" indent="0" algn="r">
              <a:spcBef>
                <a:spcPts val="0"/>
              </a:spcBef>
              <a:buNone/>
              <a:defRPr sz="900" b="0" i="0" u="none" strike="noStrike" cap="none">
                <a:solidFill>
                  <a:srgbClr val="9F276A"/>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sp>
        <p:nvSpPr>
          <p:cNvPr id="22" name="Google Shape;22;p27"/>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7"/>
          <p:cNvSpPr txBox="1">
            <a:spLocks noGrp="1"/>
          </p:cNvSpPr>
          <p:nvPr>
            <p:ph type="body" idx="1"/>
          </p:nvPr>
        </p:nvSpPr>
        <p:spPr>
          <a:xfrm>
            <a:off x="581192" y="2180496"/>
            <a:ext cx="11029615" cy="3678303"/>
          </a:xfrm>
          <a:prstGeom prst="rect">
            <a:avLst/>
          </a:prstGeom>
          <a:noFill/>
          <a:ln>
            <a:noFill/>
          </a:ln>
        </p:spPr>
        <p:txBody>
          <a:bodyPr spcFirstLastPara="1" wrap="square" lIns="91425" tIns="45700" rIns="91425" bIns="45700" anchor="ctr"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24" name="Google Shape;24;p27"/>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7"/>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7"/>
          <p:cNvSpPr txBox="1">
            <a:spLocks noGrp="1"/>
          </p:cNvSpPr>
          <p:nvPr>
            <p:ph type="sldNum" idx="12"/>
          </p:nvPr>
        </p:nvSpPr>
        <p:spPr>
          <a:xfrm>
            <a:off x="10558300" y="5956137"/>
            <a:ext cx="1052508"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8"/>
          <p:cNvSpPr/>
          <p:nvPr/>
        </p:nvSpPr>
        <p:spPr>
          <a:xfrm>
            <a:off x="447817" y="5141974"/>
            <a:ext cx="11290860" cy="125882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8"/>
          <p:cNvSpPr txBox="1">
            <a:spLocks noGrp="1"/>
          </p:cNvSpPr>
          <p:nvPr>
            <p:ph type="title"/>
          </p:nvPr>
        </p:nvSpPr>
        <p:spPr>
          <a:xfrm>
            <a:off x="581193" y="3043910"/>
            <a:ext cx="11029615" cy="1497507"/>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3600"/>
              <a:buFont typeface="Arial"/>
              <a:buNone/>
              <a:defRPr sz="3600" b="0" cap="none">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8"/>
          <p:cNvSpPr txBox="1">
            <a:spLocks noGrp="1"/>
          </p:cNvSpPr>
          <p:nvPr>
            <p:ph type="body" idx="1"/>
          </p:nvPr>
        </p:nvSpPr>
        <p:spPr>
          <a:xfrm>
            <a:off x="581192" y="4541417"/>
            <a:ext cx="11029615" cy="600556"/>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SzPts val="1656"/>
              <a:buNone/>
              <a:defRPr sz="1800" cap="none">
                <a:solidFill>
                  <a:schemeClr val="accent2"/>
                </a:solidFill>
              </a:defRPr>
            </a:lvl1pPr>
            <a:lvl2pPr marL="914400" lvl="1" indent="-228600" algn="l">
              <a:spcBef>
                <a:spcPts val="600"/>
              </a:spcBef>
              <a:spcAft>
                <a:spcPts val="0"/>
              </a:spcAft>
              <a:buSzPts val="1656"/>
              <a:buNone/>
              <a:defRPr sz="1800">
                <a:solidFill>
                  <a:srgbClr val="888888"/>
                </a:solidFill>
              </a:defRPr>
            </a:lvl2pPr>
            <a:lvl3pPr marL="1371600" lvl="2" indent="-228600" algn="l">
              <a:spcBef>
                <a:spcPts val="600"/>
              </a:spcBef>
              <a:spcAft>
                <a:spcPts val="0"/>
              </a:spcAft>
              <a:buSzPts val="1472"/>
              <a:buNone/>
              <a:defRPr sz="1600">
                <a:solidFill>
                  <a:srgbClr val="888888"/>
                </a:solidFill>
              </a:defRPr>
            </a:lvl3pPr>
            <a:lvl4pPr marL="1828800" lvl="3" indent="-228600" algn="l">
              <a:spcBef>
                <a:spcPts val="600"/>
              </a:spcBef>
              <a:spcAft>
                <a:spcPts val="0"/>
              </a:spcAft>
              <a:buSzPts val="1288"/>
              <a:buNone/>
              <a:defRPr sz="1400">
                <a:solidFill>
                  <a:srgbClr val="888888"/>
                </a:solidFill>
              </a:defRPr>
            </a:lvl4pPr>
            <a:lvl5pPr marL="2286000" lvl="4" indent="-228600" algn="l">
              <a:spcBef>
                <a:spcPts val="600"/>
              </a:spcBef>
              <a:spcAft>
                <a:spcPts val="0"/>
              </a:spcAft>
              <a:buSzPts val="1288"/>
              <a:buNone/>
              <a:defRPr sz="1400">
                <a:solidFill>
                  <a:srgbClr val="888888"/>
                </a:solidFill>
              </a:defRPr>
            </a:lvl5pPr>
            <a:lvl6pPr marL="2743200" lvl="5" indent="-228600" algn="l">
              <a:spcBef>
                <a:spcPts val="600"/>
              </a:spcBef>
              <a:spcAft>
                <a:spcPts val="0"/>
              </a:spcAft>
              <a:buSzPts val="1288"/>
              <a:buNone/>
              <a:defRPr sz="1400">
                <a:solidFill>
                  <a:srgbClr val="888888"/>
                </a:solidFill>
              </a:defRPr>
            </a:lvl6pPr>
            <a:lvl7pPr marL="3200400" lvl="6" indent="-228600" algn="l">
              <a:spcBef>
                <a:spcPts val="600"/>
              </a:spcBef>
              <a:spcAft>
                <a:spcPts val="0"/>
              </a:spcAft>
              <a:buSzPts val="1288"/>
              <a:buNone/>
              <a:defRPr sz="1400">
                <a:solidFill>
                  <a:srgbClr val="888888"/>
                </a:solidFill>
              </a:defRPr>
            </a:lvl7pPr>
            <a:lvl8pPr marL="3657600" lvl="7" indent="-228600" algn="l">
              <a:spcBef>
                <a:spcPts val="600"/>
              </a:spcBef>
              <a:spcAft>
                <a:spcPts val="0"/>
              </a:spcAft>
              <a:buSzPts val="1288"/>
              <a:buNone/>
              <a:defRPr sz="1400">
                <a:solidFill>
                  <a:srgbClr val="888888"/>
                </a:solidFill>
              </a:defRPr>
            </a:lvl8pPr>
            <a:lvl9pPr marL="4114800" lvl="8" indent="-228600" algn="l">
              <a:spcBef>
                <a:spcPts val="600"/>
              </a:spcBef>
              <a:spcAft>
                <a:spcPts val="600"/>
              </a:spcAft>
              <a:buSzPts val="1288"/>
              <a:buNone/>
              <a:defRPr sz="1400">
                <a:solidFill>
                  <a:srgbClr val="888888"/>
                </a:solidFill>
              </a:defRPr>
            </a:lvl9pPr>
          </a:lstStyle>
          <a:p>
            <a:endParaRPr/>
          </a:p>
        </p:txBody>
      </p:sp>
      <p:sp>
        <p:nvSpPr>
          <p:cNvPr id="31" name="Google Shape;31;p2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9F276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9F276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2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a:solidFill>
                  <a:srgbClr val="9F276A"/>
                </a:solidFill>
                <a:latin typeface="Arial"/>
                <a:ea typeface="Arial"/>
                <a:cs typeface="Arial"/>
                <a:sym typeface="Arial"/>
              </a:defRPr>
            </a:lvl1pPr>
            <a:lvl2pPr marL="0" lvl="1" indent="0" algn="r">
              <a:spcBef>
                <a:spcPts val="0"/>
              </a:spcBef>
              <a:buNone/>
              <a:defRPr sz="900">
                <a:solidFill>
                  <a:srgbClr val="9F276A"/>
                </a:solidFill>
                <a:latin typeface="Arial"/>
                <a:ea typeface="Arial"/>
                <a:cs typeface="Arial"/>
                <a:sym typeface="Arial"/>
              </a:defRPr>
            </a:lvl2pPr>
            <a:lvl3pPr marL="0" lvl="2" indent="0" algn="r">
              <a:spcBef>
                <a:spcPts val="0"/>
              </a:spcBef>
              <a:buNone/>
              <a:defRPr sz="900">
                <a:solidFill>
                  <a:srgbClr val="9F276A"/>
                </a:solidFill>
                <a:latin typeface="Arial"/>
                <a:ea typeface="Arial"/>
                <a:cs typeface="Arial"/>
                <a:sym typeface="Arial"/>
              </a:defRPr>
            </a:lvl3pPr>
            <a:lvl4pPr marL="0" lvl="3" indent="0" algn="r">
              <a:spcBef>
                <a:spcPts val="0"/>
              </a:spcBef>
              <a:buNone/>
              <a:defRPr sz="900">
                <a:solidFill>
                  <a:srgbClr val="9F276A"/>
                </a:solidFill>
                <a:latin typeface="Arial"/>
                <a:ea typeface="Arial"/>
                <a:cs typeface="Arial"/>
                <a:sym typeface="Arial"/>
              </a:defRPr>
            </a:lvl4pPr>
            <a:lvl5pPr marL="0" lvl="4" indent="0" algn="r">
              <a:spcBef>
                <a:spcPts val="0"/>
              </a:spcBef>
              <a:buNone/>
              <a:defRPr sz="900">
                <a:solidFill>
                  <a:srgbClr val="9F276A"/>
                </a:solidFill>
                <a:latin typeface="Arial"/>
                <a:ea typeface="Arial"/>
                <a:cs typeface="Arial"/>
                <a:sym typeface="Arial"/>
              </a:defRPr>
            </a:lvl5pPr>
            <a:lvl6pPr marL="0" lvl="5" indent="0" algn="r">
              <a:spcBef>
                <a:spcPts val="0"/>
              </a:spcBef>
              <a:buNone/>
              <a:defRPr sz="900">
                <a:solidFill>
                  <a:srgbClr val="9F276A"/>
                </a:solidFill>
                <a:latin typeface="Arial"/>
                <a:ea typeface="Arial"/>
                <a:cs typeface="Arial"/>
                <a:sym typeface="Arial"/>
              </a:defRPr>
            </a:lvl6pPr>
            <a:lvl7pPr marL="0" lvl="6" indent="0" algn="r">
              <a:spcBef>
                <a:spcPts val="0"/>
              </a:spcBef>
              <a:buNone/>
              <a:defRPr sz="900">
                <a:solidFill>
                  <a:srgbClr val="9F276A"/>
                </a:solidFill>
                <a:latin typeface="Arial"/>
                <a:ea typeface="Arial"/>
                <a:cs typeface="Arial"/>
                <a:sym typeface="Arial"/>
              </a:defRPr>
            </a:lvl7pPr>
            <a:lvl8pPr marL="0" lvl="7" indent="0" algn="r">
              <a:spcBef>
                <a:spcPts val="0"/>
              </a:spcBef>
              <a:buNone/>
              <a:defRPr sz="900">
                <a:solidFill>
                  <a:srgbClr val="9F276A"/>
                </a:solidFill>
                <a:latin typeface="Arial"/>
                <a:ea typeface="Arial"/>
                <a:cs typeface="Arial"/>
                <a:sym typeface="Arial"/>
              </a:defRPr>
            </a:lvl8pPr>
            <a:lvl9pPr marL="0" lvl="8" indent="0" algn="r">
              <a:spcBef>
                <a:spcPts val="0"/>
              </a:spcBef>
              <a:buNone/>
              <a:defRPr sz="900">
                <a:solidFill>
                  <a:srgbClr val="9F276A"/>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29"/>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9"/>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29"/>
          <p:cNvSpPr txBox="1">
            <a:spLocks noGrp="1"/>
          </p:cNvSpPr>
          <p:nvPr>
            <p:ph type="body" idx="1"/>
          </p:nvPr>
        </p:nvSpPr>
        <p:spPr>
          <a:xfrm>
            <a:off x="581193" y="2228003"/>
            <a:ext cx="5422390" cy="3633047"/>
          </a:xfrm>
          <a:prstGeom prst="rect">
            <a:avLst/>
          </a:prstGeom>
          <a:noFill/>
          <a:ln>
            <a:noFill/>
          </a:ln>
        </p:spPr>
        <p:txBody>
          <a:bodyPr spcFirstLastPara="1" wrap="square" lIns="91425" tIns="45700" rIns="91425" bIns="45700" anchor="ctr"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38" name="Google Shape;38;p29"/>
          <p:cNvSpPr txBox="1">
            <a:spLocks noGrp="1"/>
          </p:cNvSpPr>
          <p:nvPr>
            <p:ph type="body" idx="2"/>
          </p:nvPr>
        </p:nvSpPr>
        <p:spPr>
          <a:xfrm>
            <a:off x="6188417" y="2228003"/>
            <a:ext cx="5422392" cy="3633047"/>
          </a:xfrm>
          <a:prstGeom prst="rect">
            <a:avLst/>
          </a:prstGeom>
          <a:noFill/>
          <a:ln>
            <a:noFill/>
          </a:ln>
        </p:spPr>
        <p:txBody>
          <a:bodyPr spcFirstLastPara="1" wrap="square" lIns="91425" tIns="45700" rIns="91425" bIns="45700" anchor="ctr"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39" name="Google Shape;39;p29"/>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29"/>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9"/>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30"/>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0"/>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30"/>
          <p:cNvSpPr txBox="1">
            <a:spLocks noGrp="1"/>
          </p:cNvSpPr>
          <p:nvPr>
            <p:ph type="body" idx="1"/>
          </p:nvPr>
        </p:nvSpPr>
        <p:spPr>
          <a:xfrm>
            <a:off x="887219" y="2250892"/>
            <a:ext cx="5087075" cy="536005"/>
          </a:xfrm>
          <a:prstGeom prst="rect">
            <a:avLst/>
          </a:prstGeom>
          <a:noFill/>
          <a:ln>
            <a:noFill/>
          </a:ln>
        </p:spPr>
        <p:txBody>
          <a:bodyPr spcFirstLastPara="1" wrap="square" lIns="91425" tIns="45700" rIns="91425" bIns="45700" anchor="b" anchorCtr="0">
            <a:noAutofit/>
          </a:bodyPr>
          <a:lstStyle>
            <a:lvl1pPr marL="457200" lvl="0" indent="-228600" algn="l">
              <a:spcBef>
                <a:spcPts val="440"/>
              </a:spcBef>
              <a:spcAft>
                <a:spcPts val="0"/>
              </a:spcAft>
              <a:buSzPts val="2024"/>
              <a:buNone/>
              <a:defRPr sz="2200" b="0">
                <a:solidFill>
                  <a:schemeClr val="accent2"/>
                </a:solidFill>
              </a:defRPr>
            </a:lvl1pPr>
            <a:lvl2pPr marL="914400" lvl="1" indent="-228600" algn="l">
              <a:spcBef>
                <a:spcPts val="600"/>
              </a:spcBef>
              <a:spcAft>
                <a:spcPts val="0"/>
              </a:spcAft>
              <a:buSzPts val="1840"/>
              <a:buNone/>
              <a:defRPr sz="2000" b="1"/>
            </a:lvl2pPr>
            <a:lvl3pPr marL="1371600" lvl="2" indent="-228600" algn="l">
              <a:spcBef>
                <a:spcPts val="600"/>
              </a:spcBef>
              <a:spcAft>
                <a:spcPts val="0"/>
              </a:spcAft>
              <a:buSzPts val="1656"/>
              <a:buNone/>
              <a:defRPr sz="1800" b="1"/>
            </a:lvl3pPr>
            <a:lvl4pPr marL="1828800" lvl="3" indent="-228600" algn="l">
              <a:spcBef>
                <a:spcPts val="600"/>
              </a:spcBef>
              <a:spcAft>
                <a:spcPts val="0"/>
              </a:spcAft>
              <a:buSzPts val="1472"/>
              <a:buNone/>
              <a:defRPr sz="1600" b="1"/>
            </a:lvl4pPr>
            <a:lvl5pPr marL="2286000" lvl="4" indent="-228600" algn="l">
              <a:spcBef>
                <a:spcPts val="600"/>
              </a:spcBef>
              <a:spcAft>
                <a:spcPts val="0"/>
              </a:spcAft>
              <a:buSzPts val="1472"/>
              <a:buNone/>
              <a:defRPr sz="1600" b="1"/>
            </a:lvl5pPr>
            <a:lvl6pPr marL="2743200" lvl="5" indent="-228600" algn="l">
              <a:spcBef>
                <a:spcPts val="600"/>
              </a:spcBef>
              <a:spcAft>
                <a:spcPts val="0"/>
              </a:spcAft>
              <a:buSzPts val="1472"/>
              <a:buNone/>
              <a:defRPr sz="1600" b="1"/>
            </a:lvl6pPr>
            <a:lvl7pPr marL="3200400" lvl="6" indent="-228600" algn="l">
              <a:spcBef>
                <a:spcPts val="600"/>
              </a:spcBef>
              <a:spcAft>
                <a:spcPts val="0"/>
              </a:spcAft>
              <a:buSzPts val="1472"/>
              <a:buNone/>
              <a:defRPr sz="1600" b="1"/>
            </a:lvl7pPr>
            <a:lvl8pPr marL="3657600" lvl="7" indent="-228600" algn="l">
              <a:spcBef>
                <a:spcPts val="600"/>
              </a:spcBef>
              <a:spcAft>
                <a:spcPts val="0"/>
              </a:spcAft>
              <a:buSzPts val="1472"/>
              <a:buNone/>
              <a:defRPr sz="1600" b="1"/>
            </a:lvl8pPr>
            <a:lvl9pPr marL="4114800" lvl="8" indent="-228600" algn="l">
              <a:spcBef>
                <a:spcPts val="600"/>
              </a:spcBef>
              <a:spcAft>
                <a:spcPts val="600"/>
              </a:spcAft>
              <a:buSzPts val="1472"/>
              <a:buNone/>
              <a:defRPr sz="1600" b="1"/>
            </a:lvl9pPr>
          </a:lstStyle>
          <a:p>
            <a:endParaRPr/>
          </a:p>
        </p:txBody>
      </p:sp>
      <p:sp>
        <p:nvSpPr>
          <p:cNvPr id="46" name="Google Shape;46;p30"/>
          <p:cNvSpPr txBox="1">
            <a:spLocks noGrp="1"/>
          </p:cNvSpPr>
          <p:nvPr>
            <p:ph type="body" idx="2"/>
          </p:nvPr>
        </p:nvSpPr>
        <p:spPr>
          <a:xfrm>
            <a:off x="581194"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47" name="Google Shape;47;p30"/>
          <p:cNvSpPr txBox="1">
            <a:spLocks noGrp="1"/>
          </p:cNvSpPr>
          <p:nvPr>
            <p:ph type="body" idx="3"/>
          </p:nvPr>
        </p:nvSpPr>
        <p:spPr>
          <a:xfrm>
            <a:off x="6523735" y="2250892"/>
            <a:ext cx="5087073" cy="553373"/>
          </a:xfrm>
          <a:prstGeom prst="rect">
            <a:avLst/>
          </a:prstGeom>
          <a:noFill/>
          <a:ln>
            <a:noFill/>
          </a:ln>
        </p:spPr>
        <p:txBody>
          <a:bodyPr spcFirstLastPara="1" wrap="square" lIns="91425" tIns="45700" rIns="91425" bIns="45700" anchor="b" anchorCtr="0">
            <a:noAutofit/>
          </a:bodyPr>
          <a:lstStyle>
            <a:lvl1pPr marL="457200" lvl="0" indent="-228600" algn="l">
              <a:spcBef>
                <a:spcPts val="440"/>
              </a:spcBef>
              <a:spcAft>
                <a:spcPts val="0"/>
              </a:spcAft>
              <a:buSzPts val="2024"/>
              <a:buNone/>
              <a:defRPr sz="2200" b="0">
                <a:solidFill>
                  <a:schemeClr val="accent2"/>
                </a:solidFill>
              </a:defRPr>
            </a:lvl1pPr>
            <a:lvl2pPr marL="914400" lvl="1" indent="-228600" algn="l">
              <a:spcBef>
                <a:spcPts val="600"/>
              </a:spcBef>
              <a:spcAft>
                <a:spcPts val="0"/>
              </a:spcAft>
              <a:buSzPts val="1840"/>
              <a:buNone/>
              <a:defRPr sz="2000" b="1"/>
            </a:lvl2pPr>
            <a:lvl3pPr marL="1371600" lvl="2" indent="-228600" algn="l">
              <a:spcBef>
                <a:spcPts val="600"/>
              </a:spcBef>
              <a:spcAft>
                <a:spcPts val="0"/>
              </a:spcAft>
              <a:buSzPts val="1656"/>
              <a:buNone/>
              <a:defRPr sz="1800" b="1"/>
            </a:lvl3pPr>
            <a:lvl4pPr marL="1828800" lvl="3" indent="-228600" algn="l">
              <a:spcBef>
                <a:spcPts val="600"/>
              </a:spcBef>
              <a:spcAft>
                <a:spcPts val="0"/>
              </a:spcAft>
              <a:buSzPts val="1472"/>
              <a:buNone/>
              <a:defRPr sz="1600" b="1"/>
            </a:lvl4pPr>
            <a:lvl5pPr marL="2286000" lvl="4" indent="-228600" algn="l">
              <a:spcBef>
                <a:spcPts val="600"/>
              </a:spcBef>
              <a:spcAft>
                <a:spcPts val="0"/>
              </a:spcAft>
              <a:buSzPts val="1472"/>
              <a:buNone/>
              <a:defRPr sz="1600" b="1"/>
            </a:lvl5pPr>
            <a:lvl6pPr marL="2743200" lvl="5" indent="-228600" algn="l">
              <a:spcBef>
                <a:spcPts val="600"/>
              </a:spcBef>
              <a:spcAft>
                <a:spcPts val="0"/>
              </a:spcAft>
              <a:buSzPts val="1472"/>
              <a:buNone/>
              <a:defRPr sz="1600" b="1"/>
            </a:lvl6pPr>
            <a:lvl7pPr marL="3200400" lvl="6" indent="-228600" algn="l">
              <a:spcBef>
                <a:spcPts val="600"/>
              </a:spcBef>
              <a:spcAft>
                <a:spcPts val="0"/>
              </a:spcAft>
              <a:buSzPts val="1472"/>
              <a:buNone/>
              <a:defRPr sz="1600" b="1"/>
            </a:lvl7pPr>
            <a:lvl8pPr marL="3657600" lvl="7" indent="-228600" algn="l">
              <a:spcBef>
                <a:spcPts val="600"/>
              </a:spcBef>
              <a:spcAft>
                <a:spcPts val="0"/>
              </a:spcAft>
              <a:buSzPts val="1472"/>
              <a:buNone/>
              <a:defRPr sz="1600" b="1"/>
            </a:lvl8pPr>
            <a:lvl9pPr marL="4114800" lvl="8" indent="-228600" algn="l">
              <a:spcBef>
                <a:spcPts val="600"/>
              </a:spcBef>
              <a:spcAft>
                <a:spcPts val="600"/>
              </a:spcAft>
              <a:buSzPts val="1472"/>
              <a:buNone/>
              <a:defRPr sz="1600" b="1"/>
            </a:lvl9pPr>
          </a:lstStyle>
          <a:p>
            <a:endParaRPr/>
          </a:p>
        </p:txBody>
      </p:sp>
      <p:sp>
        <p:nvSpPr>
          <p:cNvPr id="48" name="Google Shape;48;p30"/>
          <p:cNvSpPr txBox="1">
            <a:spLocks noGrp="1"/>
          </p:cNvSpPr>
          <p:nvPr>
            <p:ph type="body" idx="4"/>
          </p:nvPr>
        </p:nvSpPr>
        <p:spPr>
          <a:xfrm>
            <a:off x="6217709"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49" name="Google Shape;49;p30"/>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30"/>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30"/>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2"/>
        <p:cNvGrpSpPr/>
        <p:nvPr/>
      </p:nvGrpSpPr>
      <p:grpSpPr>
        <a:xfrm>
          <a:off x="0" y="0"/>
          <a:ext cx="0" cy="0"/>
          <a:chOff x="0" y="0"/>
          <a:chExt cx="0" cy="0"/>
        </a:xfrm>
      </p:grpSpPr>
      <p:sp>
        <p:nvSpPr>
          <p:cNvPr id="53" name="Google Shape;53;p31"/>
          <p:cNvSpPr/>
          <p:nvPr/>
        </p:nvSpPr>
        <p:spPr>
          <a:xfrm>
            <a:off x="440683"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1"/>
          <p:cNvSpPr txBox="1">
            <a:spLocks noGrp="1"/>
          </p:cNvSpPr>
          <p:nvPr>
            <p:ph type="title"/>
          </p:nvPr>
        </p:nvSpPr>
        <p:spPr>
          <a:xfrm>
            <a:off x="575894" y="729658"/>
            <a:ext cx="11029616" cy="988332"/>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chemeClr val="lt1"/>
              </a:buClr>
              <a:buSzPts val="2800"/>
              <a:buFont typeface="Aria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3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32"/>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2"/>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32"/>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2"/>
        <p:cNvGrpSpPr/>
        <p:nvPr/>
      </p:nvGrpSpPr>
      <p:grpSpPr>
        <a:xfrm>
          <a:off x="0" y="0"/>
          <a:ext cx="0" cy="0"/>
          <a:chOff x="0" y="0"/>
          <a:chExt cx="0" cy="0"/>
        </a:xfrm>
      </p:grpSpPr>
      <p:sp>
        <p:nvSpPr>
          <p:cNvPr id="63" name="Google Shape;63;p33"/>
          <p:cNvSpPr/>
          <p:nvPr/>
        </p:nvSpPr>
        <p:spPr>
          <a:xfrm>
            <a:off x="447817" y="5141973"/>
            <a:ext cx="11298200" cy="1274702"/>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33"/>
          <p:cNvSpPr txBox="1">
            <a:spLocks noGrp="1"/>
          </p:cNvSpPr>
          <p:nvPr>
            <p:ph type="title"/>
          </p:nvPr>
        </p:nvSpPr>
        <p:spPr>
          <a:xfrm>
            <a:off x="581192" y="5262296"/>
            <a:ext cx="4909445" cy="689514"/>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9F276A"/>
              </a:buClr>
              <a:buSzPts val="2000"/>
              <a:buFont typeface="Arial"/>
              <a:buNone/>
              <a:defRPr sz="2000" b="0">
                <a:solidFill>
                  <a:srgbClr val="9F276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33"/>
          <p:cNvSpPr txBox="1">
            <a:spLocks noGrp="1"/>
          </p:cNvSpPr>
          <p:nvPr>
            <p:ph type="body" idx="1"/>
          </p:nvPr>
        </p:nvSpPr>
        <p:spPr>
          <a:xfrm>
            <a:off x="447816" y="601200"/>
            <a:ext cx="11292840" cy="4204800"/>
          </a:xfrm>
          <a:prstGeom prst="rect">
            <a:avLst/>
          </a:prstGeom>
          <a:noFill/>
          <a:ln>
            <a:noFill/>
          </a:ln>
        </p:spPr>
        <p:txBody>
          <a:bodyPr spcFirstLastPara="1" wrap="square" lIns="91425" tIns="45700" rIns="91425" bIns="45700" anchor="ctr" anchorCtr="0">
            <a:normAutofit/>
          </a:bodyPr>
          <a:lstStyle>
            <a:lvl1pPr marL="457200" lvl="0" indent="-345440" algn="l">
              <a:spcBef>
                <a:spcPts val="400"/>
              </a:spcBef>
              <a:spcAft>
                <a:spcPts val="0"/>
              </a:spcAft>
              <a:buSzPts val="1840"/>
              <a:buChar char="◼"/>
              <a:defRPr sz="2000">
                <a:solidFill>
                  <a:schemeClr val="dk2"/>
                </a:solidFill>
              </a:defRPr>
            </a:lvl1pPr>
            <a:lvl2pPr marL="914400" lvl="1" indent="-333756" algn="l">
              <a:spcBef>
                <a:spcPts val="600"/>
              </a:spcBef>
              <a:spcAft>
                <a:spcPts val="0"/>
              </a:spcAft>
              <a:buSzPts val="1656"/>
              <a:buChar char="◼"/>
              <a:defRPr sz="1800">
                <a:solidFill>
                  <a:schemeClr val="dk2"/>
                </a:solidFill>
              </a:defRPr>
            </a:lvl2pPr>
            <a:lvl3pPr marL="1371600" lvl="2" indent="-322072" algn="l">
              <a:spcBef>
                <a:spcPts val="600"/>
              </a:spcBef>
              <a:spcAft>
                <a:spcPts val="0"/>
              </a:spcAft>
              <a:buSzPts val="1472"/>
              <a:buChar char="◼"/>
              <a:defRPr sz="1600">
                <a:solidFill>
                  <a:schemeClr val="dk2"/>
                </a:solidFill>
              </a:defRPr>
            </a:lvl3pPr>
            <a:lvl4pPr marL="1828800" lvl="3" indent="-310388" algn="l">
              <a:spcBef>
                <a:spcPts val="600"/>
              </a:spcBef>
              <a:spcAft>
                <a:spcPts val="0"/>
              </a:spcAft>
              <a:buSzPts val="1288"/>
              <a:buChar char="◼"/>
              <a:defRPr sz="1400">
                <a:solidFill>
                  <a:schemeClr val="dk2"/>
                </a:solidFill>
              </a:defRPr>
            </a:lvl4pPr>
            <a:lvl5pPr marL="2286000" lvl="4" indent="-310388" algn="l">
              <a:spcBef>
                <a:spcPts val="600"/>
              </a:spcBef>
              <a:spcAft>
                <a:spcPts val="0"/>
              </a:spcAft>
              <a:buSzPts val="1288"/>
              <a:buChar char="◼"/>
              <a:defRPr sz="1400">
                <a:solidFill>
                  <a:schemeClr val="dk2"/>
                </a:solidFill>
              </a:defRPr>
            </a:lvl5pPr>
            <a:lvl6pPr marL="2743200" lvl="5" indent="-310388" algn="l">
              <a:spcBef>
                <a:spcPts val="600"/>
              </a:spcBef>
              <a:spcAft>
                <a:spcPts val="0"/>
              </a:spcAft>
              <a:buSzPts val="1288"/>
              <a:buChar char="◼"/>
              <a:defRPr sz="1400">
                <a:solidFill>
                  <a:schemeClr val="dk2"/>
                </a:solidFill>
              </a:defRPr>
            </a:lvl6pPr>
            <a:lvl7pPr marL="3200400" lvl="6" indent="-310388" algn="l">
              <a:spcBef>
                <a:spcPts val="600"/>
              </a:spcBef>
              <a:spcAft>
                <a:spcPts val="0"/>
              </a:spcAft>
              <a:buSzPts val="1288"/>
              <a:buChar char="◼"/>
              <a:defRPr sz="1400">
                <a:solidFill>
                  <a:schemeClr val="dk2"/>
                </a:solidFill>
              </a:defRPr>
            </a:lvl7pPr>
            <a:lvl8pPr marL="3657600" lvl="7" indent="-310388" algn="l">
              <a:spcBef>
                <a:spcPts val="600"/>
              </a:spcBef>
              <a:spcAft>
                <a:spcPts val="0"/>
              </a:spcAft>
              <a:buSzPts val="1288"/>
              <a:buChar char="◼"/>
              <a:defRPr sz="1400">
                <a:solidFill>
                  <a:schemeClr val="dk2"/>
                </a:solidFill>
              </a:defRPr>
            </a:lvl8pPr>
            <a:lvl9pPr marL="4114800" lvl="8" indent="-310388" algn="l">
              <a:spcBef>
                <a:spcPts val="600"/>
              </a:spcBef>
              <a:spcAft>
                <a:spcPts val="600"/>
              </a:spcAft>
              <a:buSzPts val="1288"/>
              <a:buChar char="◼"/>
              <a:defRPr sz="1400">
                <a:solidFill>
                  <a:schemeClr val="dk2"/>
                </a:solidFill>
              </a:defRPr>
            </a:lvl9pPr>
          </a:lstStyle>
          <a:p>
            <a:endParaRPr/>
          </a:p>
        </p:txBody>
      </p:sp>
      <p:sp>
        <p:nvSpPr>
          <p:cNvPr id="66" name="Google Shape;66;p33"/>
          <p:cNvSpPr txBox="1">
            <a:spLocks noGrp="1"/>
          </p:cNvSpPr>
          <p:nvPr>
            <p:ph type="body" idx="2"/>
          </p:nvPr>
        </p:nvSpPr>
        <p:spPr>
          <a:xfrm>
            <a:off x="5740823" y="5262296"/>
            <a:ext cx="5869987" cy="689515"/>
          </a:xfrm>
          <a:prstGeom prst="rect">
            <a:avLst/>
          </a:prstGeom>
          <a:noFill/>
          <a:ln>
            <a:noFill/>
          </a:ln>
        </p:spPr>
        <p:txBody>
          <a:bodyPr spcFirstLastPara="1" wrap="square" lIns="91425" tIns="45700" rIns="91425" bIns="45700" anchor="ctr" anchorCtr="0">
            <a:normAutofit/>
          </a:bodyPr>
          <a:lstStyle>
            <a:lvl1pPr marL="457200" lvl="0" indent="-228600" algn="r">
              <a:spcBef>
                <a:spcPts val="220"/>
              </a:spcBef>
              <a:spcAft>
                <a:spcPts val="0"/>
              </a:spcAft>
              <a:buSzPts val="1012"/>
              <a:buNone/>
              <a:defRPr sz="1100">
                <a:solidFill>
                  <a:schemeClr val="lt1"/>
                </a:solidFill>
              </a:defRPr>
            </a:lvl1pPr>
            <a:lvl2pPr marL="914400" lvl="1" indent="-228600" algn="l">
              <a:spcBef>
                <a:spcPts val="600"/>
              </a:spcBef>
              <a:spcAft>
                <a:spcPts val="0"/>
              </a:spcAft>
              <a:buSzPts val="1012"/>
              <a:buNone/>
              <a:defRPr sz="1100"/>
            </a:lvl2pPr>
            <a:lvl3pPr marL="1371600" lvl="2" indent="-228600" algn="l">
              <a:spcBef>
                <a:spcPts val="600"/>
              </a:spcBef>
              <a:spcAft>
                <a:spcPts val="0"/>
              </a:spcAft>
              <a:buSzPts val="920"/>
              <a:buNone/>
              <a:defRPr sz="1000"/>
            </a:lvl3pPr>
            <a:lvl4pPr marL="1828800" lvl="3" indent="-228600" algn="l">
              <a:spcBef>
                <a:spcPts val="600"/>
              </a:spcBef>
              <a:spcAft>
                <a:spcPts val="0"/>
              </a:spcAft>
              <a:buSzPts val="828"/>
              <a:buNone/>
              <a:defRPr sz="900"/>
            </a:lvl4pPr>
            <a:lvl5pPr marL="2286000" lvl="4" indent="-228600" algn="l">
              <a:spcBef>
                <a:spcPts val="600"/>
              </a:spcBef>
              <a:spcAft>
                <a:spcPts val="0"/>
              </a:spcAft>
              <a:buSzPts val="828"/>
              <a:buNone/>
              <a:defRPr sz="900"/>
            </a:lvl5pPr>
            <a:lvl6pPr marL="2743200" lvl="5" indent="-228600" algn="l">
              <a:spcBef>
                <a:spcPts val="600"/>
              </a:spcBef>
              <a:spcAft>
                <a:spcPts val="0"/>
              </a:spcAft>
              <a:buSzPts val="828"/>
              <a:buNone/>
              <a:defRPr sz="900"/>
            </a:lvl6pPr>
            <a:lvl7pPr marL="3200400" lvl="6" indent="-228600" algn="l">
              <a:spcBef>
                <a:spcPts val="600"/>
              </a:spcBef>
              <a:spcAft>
                <a:spcPts val="0"/>
              </a:spcAft>
              <a:buSzPts val="828"/>
              <a:buNone/>
              <a:defRPr sz="900"/>
            </a:lvl7pPr>
            <a:lvl8pPr marL="3657600" lvl="7" indent="-228600" algn="l">
              <a:spcBef>
                <a:spcPts val="600"/>
              </a:spcBef>
              <a:spcAft>
                <a:spcPts val="0"/>
              </a:spcAft>
              <a:buSzPts val="828"/>
              <a:buNone/>
              <a:defRPr sz="900"/>
            </a:lvl8pPr>
            <a:lvl9pPr marL="4114800" lvl="8" indent="-228600" algn="l">
              <a:spcBef>
                <a:spcPts val="600"/>
              </a:spcBef>
              <a:spcAft>
                <a:spcPts val="600"/>
              </a:spcAft>
              <a:buSzPts val="828"/>
              <a:buNone/>
              <a:defRPr sz="900"/>
            </a:lvl9pPr>
          </a:lstStyle>
          <a:p>
            <a:endParaRPr/>
          </a:p>
        </p:txBody>
      </p:sp>
      <p:sp>
        <p:nvSpPr>
          <p:cNvPr id="67" name="Google Shape;67;p33"/>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9F276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33"/>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9F276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33"/>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a:solidFill>
                  <a:srgbClr val="9F276A"/>
                </a:solidFill>
                <a:latin typeface="Arial"/>
                <a:ea typeface="Arial"/>
                <a:cs typeface="Arial"/>
                <a:sym typeface="Arial"/>
              </a:defRPr>
            </a:lvl1pPr>
            <a:lvl2pPr marL="0" lvl="1" indent="0" algn="r">
              <a:spcBef>
                <a:spcPts val="0"/>
              </a:spcBef>
              <a:buNone/>
              <a:defRPr sz="900">
                <a:solidFill>
                  <a:srgbClr val="9F276A"/>
                </a:solidFill>
                <a:latin typeface="Arial"/>
                <a:ea typeface="Arial"/>
                <a:cs typeface="Arial"/>
                <a:sym typeface="Arial"/>
              </a:defRPr>
            </a:lvl2pPr>
            <a:lvl3pPr marL="0" lvl="2" indent="0" algn="r">
              <a:spcBef>
                <a:spcPts val="0"/>
              </a:spcBef>
              <a:buNone/>
              <a:defRPr sz="900">
                <a:solidFill>
                  <a:srgbClr val="9F276A"/>
                </a:solidFill>
                <a:latin typeface="Arial"/>
                <a:ea typeface="Arial"/>
                <a:cs typeface="Arial"/>
                <a:sym typeface="Arial"/>
              </a:defRPr>
            </a:lvl3pPr>
            <a:lvl4pPr marL="0" lvl="3" indent="0" algn="r">
              <a:spcBef>
                <a:spcPts val="0"/>
              </a:spcBef>
              <a:buNone/>
              <a:defRPr sz="900">
                <a:solidFill>
                  <a:srgbClr val="9F276A"/>
                </a:solidFill>
                <a:latin typeface="Arial"/>
                <a:ea typeface="Arial"/>
                <a:cs typeface="Arial"/>
                <a:sym typeface="Arial"/>
              </a:defRPr>
            </a:lvl4pPr>
            <a:lvl5pPr marL="0" lvl="4" indent="0" algn="r">
              <a:spcBef>
                <a:spcPts val="0"/>
              </a:spcBef>
              <a:buNone/>
              <a:defRPr sz="900">
                <a:solidFill>
                  <a:srgbClr val="9F276A"/>
                </a:solidFill>
                <a:latin typeface="Arial"/>
                <a:ea typeface="Arial"/>
                <a:cs typeface="Arial"/>
                <a:sym typeface="Arial"/>
              </a:defRPr>
            </a:lvl5pPr>
            <a:lvl6pPr marL="0" lvl="5" indent="0" algn="r">
              <a:spcBef>
                <a:spcPts val="0"/>
              </a:spcBef>
              <a:buNone/>
              <a:defRPr sz="900">
                <a:solidFill>
                  <a:srgbClr val="9F276A"/>
                </a:solidFill>
                <a:latin typeface="Arial"/>
                <a:ea typeface="Arial"/>
                <a:cs typeface="Arial"/>
                <a:sym typeface="Arial"/>
              </a:defRPr>
            </a:lvl6pPr>
            <a:lvl7pPr marL="0" lvl="6" indent="0" algn="r">
              <a:spcBef>
                <a:spcPts val="0"/>
              </a:spcBef>
              <a:buNone/>
              <a:defRPr sz="900">
                <a:solidFill>
                  <a:srgbClr val="9F276A"/>
                </a:solidFill>
                <a:latin typeface="Arial"/>
                <a:ea typeface="Arial"/>
                <a:cs typeface="Arial"/>
                <a:sym typeface="Arial"/>
              </a:defRPr>
            </a:lvl7pPr>
            <a:lvl8pPr marL="0" lvl="7" indent="0" algn="r">
              <a:spcBef>
                <a:spcPts val="0"/>
              </a:spcBef>
              <a:buNone/>
              <a:defRPr sz="900">
                <a:solidFill>
                  <a:srgbClr val="9F276A"/>
                </a:solidFill>
                <a:latin typeface="Arial"/>
                <a:ea typeface="Arial"/>
                <a:cs typeface="Arial"/>
                <a:sym typeface="Arial"/>
              </a:defRPr>
            </a:lvl8pPr>
            <a:lvl9pPr marL="0" lvl="8" indent="0" algn="r">
              <a:spcBef>
                <a:spcPts val="0"/>
              </a:spcBef>
              <a:buNone/>
              <a:defRPr sz="900">
                <a:solidFill>
                  <a:srgbClr val="9F276A"/>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0"/>
        <p:cNvGrpSpPr/>
        <p:nvPr/>
      </p:nvGrpSpPr>
      <p:grpSpPr>
        <a:xfrm>
          <a:off x="0" y="0"/>
          <a:ext cx="0" cy="0"/>
          <a:chOff x="0" y="0"/>
          <a:chExt cx="0" cy="0"/>
        </a:xfrm>
      </p:grpSpPr>
      <p:sp>
        <p:nvSpPr>
          <p:cNvPr id="71" name="Google Shape;71;p34"/>
          <p:cNvSpPr txBox="1">
            <a:spLocks noGrp="1"/>
          </p:cNvSpPr>
          <p:nvPr>
            <p:ph type="title"/>
          </p:nvPr>
        </p:nvSpPr>
        <p:spPr>
          <a:xfrm>
            <a:off x="581193" y="4693389"/>
            <a:ext cx="11029616"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400"/>
              <a:buFont typeface="Arial"/>
              <a:buNone/>
              <a:defRPr sz="2400" b="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4"/>
          <p:cNvSpPr>
            <a:spLocks noGrp="1"/>
          </p:cNvSpPr>
          <p:nvPr>
            <p:ph type="pic" idx="2"/>
          </p:nvPr>
        </p:nvSpPr>
        <p:spPr>
          <a:xfrm>
            <a:off x="447817" y="599725"/>
            <a:ext cx="11290859" cy="3557252"/>
          </a:xfrm>
          <a:prstGeom prst="rect">
            <a:avLst/>
          </a:prstGeom>
          <a:noFill/>
          <a:ln>
            <a:noFill/>
          </a:ln>
        </p:spPr>
      </p:sp>
      <p:sp>
        <p:nvSpPr>
          <p:cNvPr id="73" name="Google Shape;73;p34"/>
          <p:cNvSpPr txBox="1">
            <a:spLocks noGrp="1"/>
          </p:cNvSpPr>
          <p:nvPr>
            <p:ph type="body" idx="1"/>
          </p:nvPr>
        </p:nvSpPr>
        <p:spPr>
          <a:xfrm>
            <a:off x="581192" y="5260127"/>
            <a:ext cx="11029617" cy="598671"/>
          </a:xfrm>
          <a:prstGeom prst="rect">
            <a:avLst/>
          </a:prstGeom>
          <a:noFill/>
          <a:ln>
            <a:noFill/>
          </a:ln>
        </p:spPr>
        <p:txBody>
          <a:bodyPr spcFirstLastPara="1" wrap="square" lIns="91425" tIns="45700" rIns="91425" bIns="45700" anchor="ctr" anchorCtr="0">
            <a:normAutofit/>
          </a:bodyPr>
          <a:lstStyle>
            <a:lvl1pPr marL="457200" lvl="0" indent="-228600" algn="l">
              <a:spcBef>
                <a:spcPts val="240"/>
              </a:spcBef>
              <a:spcAft>
                <a:spcPts val="0"/>
              </a:spcAft>
              <a:buSzPts val="1104"/>
              <a:buNone/>
              <a:defRPr sz="1200"/>
            </a:lvl1pPr>
            <a:lvl2pPr marL="914400" lvl="1" indent="-228600" algn="l">
              <a:spcBef>
                <a:spcPts val="600"/>
              </a:spcBef>
              <a:spcAft>
                <a:spcPts val="0"/>
              </a:spcAft>
              <a:buSzPts val="1104"/>
              <a:buNone/>
              <a:defRPr sz="1200"/>
            </a:lvl2pPr>
            <a:lvl3pPr marL="1371600" lvl="2" indent="-228600" algn="l">
              <a:spcBef>
                <a:spcPts val="600"/>
              </a:spcBef>
              <a:spcAft>
                <a:spcPts val="0"/>
              </a:spcAft>
              <a:buSzPts val="920"/>
              <a:buNone/>
              <a:defRPr sz="1000"/>
            </a:lvl3pPr>
            <a:lvl4pPr marL="1828800" lvl="3" indent="-228600" algn="l">
              <a:spcBef>
                <a:spcPts val="600"/>
              </a:spcBef>
              <a:spcAft>
                <a:spcPts val="0"/>
              </a:spcAft>
              <a:buSzPts val="828"/>
              <a:buNone/>
              <a:defRPr sz="900"/>
            </a:lvl4pPr>
            <a:lvl5pPr marL="2286000" lvl="4" indent="-228600" algn="l">
              <a:spcBef>
                <a:spcPts val="600"/>
              </a:spcBef>
              <a:spcAft>
                <a:spcPts val="0"/>
              </a:spcAft>
              <a:buSzPts val="828"/>
              <a:buNone/>
              <a:defRPr sz="900"/>
            </a:lvl5pPr>
            <a:lvl6pPr marL="2743200" lvl="5" indent="-228600" algn="l">
              <a:spcBef>
                <a:spcPts val="600"/>
              </a:spcBef>
              <a:spcAft>
                <a:spcPts val="0"/>
              </a:spcAft>
              <a:buSzPts val="828"/>
              <a:buNone/>
              <a:defRPr sz="900"/>
            </a:lvl6pPr>
            <a:lvl7pPr marL="3200400" lvl="6" indent="-228600" algn="l">
              <a:spcBef>
                <a:spcPts val="600"/>
              </a:spcBef>
              <a:spcAft>
                <a:spcPts val="0"/>
              </a:spcAft>
              <a:buSzPts val="828"/>
              <a:buNone/>
              <a:defRPr sz="900"/>
            </a:lvl7pPr>
            <a:lvl8pPr marL="3657600" lvl="7" indent="-228600" algn="l">
              <a:spcBef>
                <a:spcPts val="600"/>
              </a:spcBef>
              <a:spcAft>
                <a:spcPts val="0"/>
              </a:spcAft>
              <a:buSzPts val="828"/>
              <a:buNone/>
              <a:defRPr sz="900"/>
            </a:lvl8pPr>
            <a:lvl9pPr marL="4114800" lvl="8" indent="-228600" algn="l">
              <a:spcBef>
                <a:spcPts val="600"/>
              </a:spcBef>
              <a:spcAft>
                <a:spcPts val="600"/>
              </a:spcAft>
              <a:buSzPts val="828"/>
              <a:buNone/>
              <a:defRPr sz="900"/>
            </a:lvl9pPr>
          </a:lstStyle>
          <a:p>
            <a:endParaRPr/>
          </a:p>
        </p:txBody>
      </p:sp>
      <p:sp>
        <p:nvSpPr>
          <p:cNvPr id="74" name="Google Shape;74;p34"/>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34"/>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4"/>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7"/>
        <p:cNvGrpSpPr/>
        <p:nvPr/>
      </p:nvGrpSpPr>
      <p:grpSpPr>
        <a:xfrm>
          <a:off x="0" y="0"/>
          <a:ext cx="0" cy="0"/>
          <a:chOff x="0" y="0"/>
          <a:chExt cx="0" cy="0"/>
        </a:xfrm>
      </p:grpSpPr>
      <p:sp>
        <p:nvSpPr>
          <p:cNvPr id="78" name="Google Shape;78;p35"/>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5"/>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35"/>
          <p:cNvSpPr txBox="1">
            <a:spLocks noGrp="1"/>
          </p:cNvSpPr>
          <p:nvPr>
            <p:ph type="body" idx="1"/>
          </p:nvPr>
        </p:nvSpPr>
        <p:spPr>
          <a:xfrm rot="5400000">
            <a:off x="4334603" y="-1417408"/>
            <a:ext cx="3522794" cy="11029616"/>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22072" algn="l">
              <a:spcBef>
                <a:spcPts val="600"/>
              </a:spcBef>
              <a:spcAft>
                <a:spcPts val="0"/>
              </a:spcAft>
              <a:buSzPts val="1472"/>
              <a:buChar char="◼"/>
              <a:defRPr/>
            </a:lvl2pPr>
            <a:lvl3pPr marL="1371600" lvl="2" indent="-310388" algn="l">
              <a:spcBef>
                <a:spcPts val="600"/>
              </a:spcBef>
              <a:spcAft>
                <a:spcPts val="0"/>
              </a:spcAft>
              <a:buSzPts val="1288"/>
              <a:buChar char="◼"/>
              <a:defRPr/>
            </a:lvl3pPr>
            <a:lvl4pPr marL="1828800" lvl="3" indent="-298703" algn="l">
              <a:spcBef>
                <a:spcPts val="600"/>
              </a:spcBef>
              <a:spcAft>
                <a:spcPts val="0"/>
              </a:spcAft>
              <a:buSzPts val="1104"/>
              <a:buChar char="◼"/>
              <a:defRPr/>
            </a:lvl4pPr>
            <a:lvl5pPr marL="2286000" lvl="4" indent="-298704" algn="l">
              <a:spcBef>
                <a:spcPts val="600"/>
              </a:spcBef>
              <a:spcAft>
                <a:spcPts val="0"/>
              </a:spcAft>
              <a:buSzPts val="1104"/>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81" name="Google Shape;81;p35"/>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5"/>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5"/>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4"/>
        <p:cNvGrpSpPr/>
        <p:nvPr/>
      </p:nvGrpSpPr>
      <p:grpSpPr>
        <a:xfrm>
          <a:off x="0" y="0"/>
          <a:ext cx="0" cy="0"/>
          <a:chOff x="0" y="0"/>
          <a:chExt cx="0" cy="0"/>
        </a:xfrm>
      </p:grpSpPr>
      <p:sp>
        <p:nvSpPr>
          <p:cNvPr id="85" name="Google Shape;85;p36"/>
          <p:cNvSpPr/>
          <p:nvPr/>
        </p:nvSpPr>
        <p:spPr>
          <a:xfrm>
            <a:off x="8839201" y="599725"/>
            <a:ext cx="2906817" cy="581695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36"/>
          <p:cNvSpPr txBox="1">
            <a:spLocks noGrp="1"/>
          </p:cNvSpPr>
          <p:nvPr>
            <p:ph type="title"/>
          </p:nvPr>
        </p:nvSpPr>
        <p:spPr>
          <a:xfrm rot="5400000">
            <a:off x="7249746" y="2265181"/>
            <a:ext cx="5183073" cy="2004164"/>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36"/>
          <p:cNvSpPr txBox="1">
            <a:spLocks noGrp="1"/>
          </p:cNvSpPr>
          <p:nvPr>
            <p:ph type="body" idx="1"/>
          </p:nvPr>
        </p:nvSpPr>
        <p:spPr>
          <a:xfrm rot="5400000">
            <a:off x="2131526" y="-680877"/>
            <a:ext cx="5183073" cy="7896279"/>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88" name="Google Shape;88;p36"/>
          <p:cNvSpPr txBox="1">
            <a:spLocks noGrp="1"/>
          </p:cNvSpPr>
          <p:nvPr>
            <p:ph type="dt" idx="10"/>
          </p:nvPr>
        </p:nvSpPr>
        <p:spPr>
          <a:xfrm>
            <a:off x="8993673" y="5956137"/>
            <a:ext cx="1328141"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9F276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36"/>
          <p:cNvSpPr txBox="1">
            <a:spLocks noGrp="1"/>
          </p:cNvSpPr>
          <p:nvPr>
            <p:ph type="ftr" idx="11"/>
          </p:nvPr>
        </p:nvSpPr>
        <p:spPr>
          <a:xfrm>
            <a:off x="774923" y="5951811"/>
            <a:ext cx="789627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36"/>
          <p:cNvSpPr txBox="1">
            <a:spLocks noGrp="1"/>
          </p:cNvSpPr>
          <p:nvPr>
            <p:ph type="sldNum" idx="12"/>
          </p:nvPr>
        </p:nvSpPr>
        <p:spPr>
          <a:xfrm>
            <a:off x="10446615" y="5956137"/>
            <a:ext cx="116419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a:solidFill>
                  <a:srgbClr val="9F276A"/>
                </a:solidFill>
                <a:latin typeface="Arial"/>
                <a:ea typeface="Arial"/>
                <a:cs typeface="Arial"/>
                <a:sym typeface="Arial"/>
              </a:defRPr>
            </a:lvl1pPr>
            <a:lvl2pPr marL="0" lvl="1" indent="0" algn="r">
              <a:spcBef>
                <a:spcPts val="0"/>
              </a:spcBef>
              <a:buNone/>
              <a:defRPr sz="900">
                <a:solidFill>
                  <a:srgbClr val="9F276A"/>
                </a:solidFill>
                <a:latin typeface="Arial"/>
                <a:ea typeface="Arial"/>
                <a:cs typeface="Arial"/>
                <a:sym typeface="Arial"/>
              </a:defRPr>
            </a:lvl2pPr>
            <a:lvl3pPr marL="0" lvl="2" indent="0" algn="r">
              <a:spcBef>
                <a:spcPts val="0"/>
              </a:spcBef>
              <a:buNone/>
              <a:defRPr sz="900">
                <a:solidFill>
                  <a:srgbClr val="9F276A"/>
                </a:solidFill>
                <a:latin typeface="Arial"/>
                <a:ea typeface="Arial"/>
                <a:cs typeface="Arial"/>
                <a:sym typeface="Arial"/>
              </a:defRPr>
            </a:lvl3pPr>
            <a:lvl4pPr marL="0" lvl="3" indent="0" algn="r">
              <a:spcBef>
                <a:spcPts val="0"/>
              </a:spcBef>
              <a:buNone/>
              <a:defRPr sz="900">
                <a:solidFill>
                  <a:srgbClr val="9F276A"/>
                </a:solidFill>
                <a:latin typeface="Arial"/>
                <a:ea typeface="Arial"/>
                <a:cs typeface="Arial"/>
                <a:sym typeface="Arial"/>
              </a:defRPr>
            </a:lvl4pPr>
            <a:lvl5pPr marL="0" lvl="4" indent="0" algn="r">
              <a:spcBef>
                <a:spcPts val="0"/>
              </a:spcBef>
              <a:buNone/>
              <a:defRPr sz="900">
                <a:solidFill>
                  <a:srgbClr val="9F276A"/>
                </a:solidFill>
                <a:latin typeface="Arial"/>
                <a:ea typeface="Arial"/>
                <a:cs typeface="Arial"/>
                <a:sym typeface="Arial"/>
              </a:defRPr>
            </a:lvl5pPr>
            <a:lvl6pPr marL="0" lvl="5" indent="0" algn="r">
              <a:spcBef>
                <a:spcPts val="0"/>
              </a:spcBef>
              <a:buNone/>
              <a:defRPr sz="900">
                <a:solidFill>
                  <a:srgbClr val="9F276A"/>
                </a:solidFill>
                <a:latin typeface="Arial"/>
                <a:ea typeface="Arial"/>
                <a:cs typeface="Arial"/>
                <a:sym typeface="Arial"/>
              </a:defRPr>
            </a:lvl6pPr>
            <a:lvl7pPr marL="0" lvl="6" indent="0" algn="r">
              <a:spcBef>
                <a:spcPts val="0"/>
              </a:spcBef>
              <a:buNone/>
              <a:defRPr sz="900">
                <a:solidFill>
                  <a:srgbClr val="9F276A"/>
                </a:solidFill>
                <a:latin typeface="Arial"/>
                <a:ea typeface="Arial"/>
                <a:cs typeface="Arial"/>
                <a:sym typeface="Arial"/>
              </a:defRPr>
            </a:lvl7pPr>
            <a:lvl8pPr marL="0" lvl="7" indent="0" algn="r">
              <a:spcBef>
                <a:spcPts val="0"/>
              </a:spcBef>
              <a:buNone/>
              <a:defRPr sz="900">
                <a:solidFill>
                  <a:srgbClr val="9F276A"/>
                </a:solidFill>
                <a:latin typeface="Arial"/>
                <a:ea typeface="Arial"/>
                <a:cs typeface="Arial"/>
                <a:sym typeface="Arial"/>
              </a:defRPr>
            </a:lvl8pPr>
            <a:lvl9pPr marL="0" lvl="8" indent="0" algn="r">
              <a:spcBef>
                <a:spcPts val="0"/>
              </a:spcBef>
              <a:buNone/>
              <a:defRPr sz="900">
                <a:solidFill>
                  <a:srgbClr val="9F276A"/>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5"/>
          <p:cNvSpPr txBox="1">
            <a:spLocks noGrp="1"/>
          </p:cNvSpPr>
          <p:nvPr>
            <p:ph type="title"/>
          </p:nvPr>
        </p:nvSpPr>
        <p:spPr>
          <a:xfrm>
            <a:off x="581192" y="705124"/>
            <a:ext cx="11029616" cy="1189554"/>
          </a:xfrm>
          <a:prstGeom prst="rect">
            <a:avLst/>
          </a:prstGeom>
          <a:noFill/>
          <a:ln>
            <a:noFill/>
          </a:ln>
        </p:spPr>
        <p:txBody>
          <a:bodyPr spcFirstLastPara="1" wrap="square" lIns="91425" tIns="45700" rIns="91425" bIns="45700" anchor="b" anchorCtr="0">
            <a:normAutofit/>
          </a:bodyPr>
          <a:lstStyle>
            <a:lvl1pPr marR="0" lvl="0" algn="l" rtl="0">
              <a:spcBef>
                <a:spcPts val="0"/>
              </a:spcBef>
              <a:spcAft>
                <a:spcPts val="0"/>
              </a:spcAft>
              <a:buClr>
                <a:schemeClr val="lt1"/>
              </a:buClr>
              <a:buSzPts val="2800"/>
              <a:buFont typeface="Arial"/>
              <a:buNone/>
              <a:defRPr sz="28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7" name="Google Shape;7;p25"/>
          <p:cNvSpPr txBox="1">
            <a:spLocks noGrp="1"/>
          </p:cNvSpPr>
          <p:nvPr>
            <p:ph type="body" idx="1"/>
          </p:nvPr>
        </p:nvSpPr>
        <p:spPr>
          <a:xfrm>
            <a:off x="581192" y="2336003"/>
            <a:ext cx="11029616" cy="3522794"/>
          </a:xfrm>
          <a:prstGeom prst="rect">
            <a:avLst/>
          </a:prstGeom>
          <a:noFill/>
          <a:ln>
            <a:noFill/>
          </a:ln>
        </p:spPr>
        <p:txBody>
          <a:bodyPr spcFirstLastPara="1" wrap="square" lIns="91425" tIns="45700" rIns="91425" bIns="45700" anchor="ctr" anchorCtr="0">
            <a:normAutofit/>
          </a:bodyPr>
          <a:lstStyle>
            <a:lvl1pPr marL="457200" marR="0" lvl="0" indent="-333756" algn="l" rtl="0">
              <a:spcBef>
                <a:spcPts val="360"/>
              </a:spcBef>
              <a:spcAft>
                <a:spcPts val="0"/>
              </a:spcAft>
              <a:buClr>
                <a:schemeClr val="accent2"/>
              </a:buClr>
              <a:buSzPts val="1656"/>
              <a:buFont typeface="Noto Sans Symbols"/>
              <a:buChar char="◼"/>
              <a:defRPr sz="1800" b="0" i="0" u="none" strike="noStrike" cap="none">
                <a:solidFill>
                  <a:schemeClr val="dk2"/>
                </a:solidFill>
                <a:latin typeface="Arial"/>
                <a:ea typeface="Arial"/>
                <a:cs typeface="Arial"/>
                <a:sym typeface="Arial"/>
              </a:defRPr>
            </a:lvl1pPr>
            <a:lvl2pPr marL="914400" marR="0" lvl="1" indent="-322072" algn="l" rtl="0">
              <a:spcBef>
                <a:spcPts val="600"/>
              </a:spcBef>
              <a:spcAft>
                <a:spcPts val="0"/>
              </a:spcAft>
              <a:buClr>
                <a:schemeClr val="accent2"/>
              </a:buClr>
              <a:buSzPts val="1472"/>
              <a:buFont typeface="Noto Sans Symbols"/>
              <a:buChar char="◼"/>
              <a:defRPr sz="1600" b="0" i="0" u="none" strike="noStrike" cap="none">
                <a:solidFill>
                  <a:schemeClr val="dk2"/>
                </a:solidFill>
                <a:latin typeface="Arial"/>
                <a:ea typeface="Arial"/>
                <a:cs typeface="Arial"/>
                <a:sym typeface="Arial"/>
              </a:defRPr>
            </a:lvl2pPr>
            <a:lvl3pPr marL="1371600" marR="0" lvl="2" indent="-310388" algn="l" rtl="0">
              <a:spcBef>
                <a:spcPts val="600"/>
              </a:spcBef>
              <a:spcAft>
                <a:spcPts val="0"/>
              </a:spcAft>
              <a:buClr>
                <a:schemeClr val="accent2"/>
              </a:buClr>
              <a:buSzPts val="1288"/>
              <a:buFont typeface="Noto Sans Symbols"/>
              <a:buChar char="◼"/>
              <a:defRPr sz="1400" b="0" i="0" u="none" strike="noStrike" cap="none">
                <a:solidFill>
                  <a:schemeClr val="dk2"/>
                </a:solidFill>
                <a:latin typeface="Arial"/>
                <a:ea typeface="Arial"/>
                <a:cs typeface="Arial"/>
                <a:sym typeface="Arial"/>
              </a:defRPr>
            </a:lvl3pPr>
            <a:lvl4pPr marL="1828800" marR="0" lvl="3" indent="-298703" algn="l" rtl="0">
              <a:spcBef>
                <a:spcPts val="600"/>
              </a:spcBef>
              <a:spcAft>
                <a:spcPts val="0"/>
              </a:spcAft>
              <a:buClr>
                <a:schemeClr val="accent2"/>
              </a:buClr>
              <a:buSzPts val="1104"/>
              <a:buFont typeface="Noto Sans Symbols"/>
              <a:buChar char="◼"/>
              <a:defRPr sz="1200" b="0" i="0" u="none" strike="noStrike" cap="none">
                <a:solidFill>
                  <a:schemeClr val="dk2"/>
                </a:solidFill>
                <a:latin typeface="Arial"/>
                <a:ea typeface="Arial"/>
                <a:cs typeface="Arial"/>
                <a:sym typeface="Arial"/>
              </a:defRPr>
            </a:lvl4pPr>
            <a:lvl5pPr marL="2286000" marR="0" lvl="4"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Arial"/>
                <a:ea typeface="Arial"/>
                <a:cs typeface="Arial"/>
                <a:sym typeface="Arial"/>
              </a:defRPr>
            </a:lvl5pPr>
            <a:lvl6pPr marL="2743200" marR="0" lvl="5"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Arial"/>
                <a:ea typeface="Arial"/>
                <a:cs typeface="Arial"/>
                <a:sym typeface="Arial"/>
              </a:defRPr>
            </a:lvl6pPr>
            <a:lvl7pPr marL="3200400" marR="0" lvl="6"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Arial"/>
                <a:ea typeface="Arial"/>
                <a:cs typeface="Arial"/>
                <a:sym typeface="Arial"/>
              </a:defRPr>
            </a:lvl7pPr>
            <a:lvl8pPr marL="3657600" marR="0" lvl="7" indent="-298703" algn="l" rtl="0">
              <a:spcBef>
                <a:spcPts val="600"/>
              </a:spcBef>
              <a:spcAft>
                <a:spcPts val="0"/>
              </a:spcAft>
              <a:buClr>
                <a:schemeClr val="accent2"/>
              </a:buClr>
              <a:buSzPts val="1104"/>
              <a:buFont typeface="Noto Sans Symbols"/>
              <a:buChar char="◼"/>
              <a:defRPr sz="1200" b="0" i="0" u="none" strike="noStrike" cap="none">
                <a:solidFill>
                  <a:schemeClr val="dk2"/>
                </a:solidFill>
                <a:latin typeface="Arial"/>
                <a:ea typeface="Arial"/>
                <a:cs typeface="Arial"/>
                <a:sym typeface="Arial"/>
              </a:defRPr>
            </a:lvl8pPr>
            <a:lvl9pPr marL="4114800" marR="0" lvl="8" indent="-298703" algn="l" rtl="0">
              <a:spcBef>
                <a:spcPts val="600"/>
              </a:spcBef>
              <a:spcAft>
                <a:spcPts val="600"/>
              </a:spcAft>
              <a:buClr>
                <a:schemeClr val="accent2"/>
              </a:buClr>
              <a:buSzPts val="1104"/>
              <a:buFont typeface="Noto Sans Symbols"/>
              <a:buChar char="◼"/>
              <a:defRPr sz="1200" b="0" i="0" u="none" strike="noStrike" cap="none">
                <a:solidFill>
                  <a:schemeClr val="dk2"/>
                </a:solidFill>
                <a:latin typeface="Arial"/>
                <a:ea typeface="Arial"/>
                <a:cs typeface="Arial"/>
                <a:sym typeface="Arial"/>
              </a:defRPr>
            </a:lvl9pPr>
          </a:lstStyle>
          <a:p>
            <a:endParaRPr/>
          </a:p>
        </p:txBody>
      </p:sp>
      <p:sp>
        <p:nvSpPr>
          <p:cNvPr id="8" name="Google Shape;8;p25"/>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chemeClr val="accent2"/>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 name="Google Shape;9;p25"/>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chemeClr val="accent2"/>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 name="Google Shape;10;p25"/>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accent2"/>
                </a:solidFill>
                <a:latin typeface="Arial"/>
                <a:ea typeface="Arial"/>
                <a:cs typeface="Arial"/>
                <a:sym typeface="Arial"/>
              </a:defRPr>
            </a:lvl1pPr>
            <a:lvl2pPr marL="0" marR="0" lvl="1" indent="0" algn="r" rtl="0">
              <a:spcBef>
                <a:spcPts val="0"/>
              </a:spcBef>
              <a:buNone/>
              <a:defRPr sz="900" b="0" i="0" u="none" strike="noStrike" cap="none">
                <a:solidFill>
                  <a:schemeClr val="accent2"/>
                </a:solidFill>
                <a:latin typeface="Arial"/>
                <a:ea typeface="Arial"/>
                <a:cs typeface="Arial"/>
                <a:sym typeface="Arial"/>
              </a:defRPr>
            </a:lvl2pPr>
            <a:lvl3pPr marL="0" marR="0" lvl="2" indent="0" algn="r" rtl="0">
              <a:spcBef>
                <a:spcPts val="0"/>
              </a:spcBef>
              <a:buNone/>
              <a:defRPr sz="900" b="0" i="0" u="none" strike="noStrike" cap="none">
                <a:solidFill>
                  <a:schemeClr val="accent2"/>
                </a:solidFill>
                <a:latin typeface="Arial"/>
                <a:ea typeface="Arial"/>
                <a:cs typeface="Arial"/>
                <a:sym typeface="Arial"/>
              </a:defRPr>
            </a:lvl3pPr>
            <a:lvl4pPr marL="0" marR="0" lvl="3" indent="0" algn="r" rtl="0">
              <a:spcBef>
                <a:spcPts val="0"/>
              </a:spcBef>
              <a:buNone/>
              <a:defRPr sz="900" b="0" i="0" u="none" strike="noStrike" cap="none">
                <a:solidFill>
                  <a:schemeClr val="accent2"/>
                </a:solidFill>
                <a:latin typeface="Arial"/>
                <a:ea typeface="Arial"/>
                <a:cs typeface="Arial"/>
                <a:sym typeface="Arial"/>
              </a:defRPr>
            </a:lvl4pPr>
            <a:lvl5pPr marL="0" marR="0" lvl="4" indent="0" algn="r" rtl="0">
              <a:spcBef>
                <a:spcPts val="0"/>
              </a:spcBef>
              <a:buNone/>
              <a:defRPr sz="900" b="0" i="0" u="none" strike="noStrike" cap="none">
                <a:solidFill>
                  <a:schemeClr val="accent2"/>
                </a:solidFill>
                <a:latin typeface="Arial"/>
                <a:ea typeface="Arial"/>
                <a:cs typeface="Arial"/>
                <a:sym typeface="Arial"/>
              </a:defRPr>
            </a:lvl5pPr>
            <a:lvl6pPr marL="0" marR="0" lvl="5" indent="0" algn="r" rtl="0">
              <a:spcBef>
                <a:spcPts val="0"/>
              </a:spcBef>
              <a:buNone/>
              <a:defRPr sz="900" b="0" i="0" u="none" strike="noStrike" cap="none">
                <a:solidFill>
                  <a:schemeClr val="accent2"/>
                </a:solidFill>
                <a:latin typeface="Arial"/>
                <a:ea typeface="Arial"/>
                <a:cs typeface="Arial"/>
                <a:sym typeface="Arial"/>
              </a:defRPr>
            </a:lvl6pPr>
            <a:lvl7pPr marL="0" marR="0" lvl="6" indent="0" algn="r" rtl="0">
              <a:spcBef>
                <a:spcPts val="0"/>
              </a:spcBef>
              <a:buNone/>
              <a:defRPr sz="900" b="0" i="0" u="none" strike="noStrike" cap="none">
                <a:solidFill>
                  <a:schemeClr val="accent2"/>
                </a:solidFill>
                <a:latin typeface="Arial"/>
                <a:ea typeface="Arial"/>
                <a:cs typeface="Arial"/>
                <a:sym typeface="Arial"/>
              </a:defRPr>
            </a:lvl7pPr>
            <a:lvl8pPr marL="0" marR="0" lvl="7" indent="0" algn="r" rtl="0">
              <a:spcBef>
                <a:spcPts val="0"/>
              </a:spcBef>
              <a:buNone/>
              <a:defRPr sz="900" b="0" i="0" u="none" strike="noStrike" cap="none">
                <a:solidFill>
                  <a:schemeClr val="accent2"/>
                </a:solidFill>
                <a:latin typeface="Arial"/>
                <a:ea typeface="Arial"/>
                <a:cs typeface="Arial"/>
                <a:sym typeface="Arial"/>
              </a:defRPr>
            </a:lvl8pPr>
            <a:lvl9pPr marL="0" marR="0" lvl="8" indent="0" algn="r" rtl="0">
              <a:spcBef>
                <a:spcPts val="0"/>
              </a:spcBef>
              <a:buNone/>
              <a:defRPr sz="900" b="0" i="0" u="none" strike="noStrike" cap="none">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1" name="Google Shape;11;p25"/>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5"/>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5"/>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ebi.ac.uk/biomodels/"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doi.org/10.1016/j.mib.2016.07.008"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hyperlink" Target="https://doi.org/10.1093/bioinformatics/btz020"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doi.org/10.1007/s11538-022-01039-x"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
          <p:cNvSpPr txBox="1">
            <a:spLocks noGrp="1"/>
          </p:cNvSpPr>
          <p:nvPr>
            <p:ph type="ctrTitle"/>
          </p:nvPr>
        </p:nvSpPr>
        <p:spPr>
          <a:xfrm>
            <a:off x="581194" y="883271"/>
            <a:ext cx="10993549" cy="147501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chemeClr val="accent1"/>
              </a:buClr>
              <a:buSzPts val="4800"/>
              <a:buFont typeface="Georgia"/>
              <a:buNone/>
            </a:pPr>
            <a:r>
              <a:rPr lang="en-US" sz="4800" u="sng">
                <a:latin typeface="Georgia"/>
                <a:ea typeface="Georgia"/>
                <a:cs typeface="Georgia"/>
                <a:sym typeface="Georgia"/>
              </a:rPr>
              <a:t>DYNAMIC MODELING OF CELLULAR PROCESSES</a:t>
            </a:r>
            <a:endParaRPr sz="4800" u="sng">
              <a:latin typeface="Georgia"/>
              <a:ea typeface="Georgia"/>
              <a:cs typeface="Georgia"/>
              <a:sym typeface="Georgia"/>
            </a:endParaRPr>
          </a:p>
        </p:txBody>
      </p:sp>
      <p:sp>
        <p:nvSpPr>
          <p:cNvPr id="96" name="Google Shape;96;p1"/>
          <p:cNvSpPr txBox="1"/>
          <p:nvPr/>
        </p:nvSpPr>
        <p:spPr>
          <a:xfrm>
            <a:off x="581198" y="3294175"/>
            <a:ext cx="10318450" cy="26160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dirty="0">
                <a:solidFill>
                  <a:schemeClr val="lt1"/>
                </a:solidFill>
                <a:latin typeface="Arial"/>
                <a:ea typeface="Arial"/>
                <a:cs typeface="Arial"/>
                <a:sym typeface="Arial"/>
              </a:rPr>
              <a:t>Presented By-</a:t>
            </a:r>
          </a:p>
          <a:p>
            <a:pPr marL="0" marR="0" lvl="0" indent="0" algn="l" rtl="0">
              <a:spcBef>
                <a:spcPts val="0"/>
              </a:spcBef>
              <a:spcAft>
                <a:spcPts val="0"/>
              </a:spcAft>
              <a:buNone/>
            </a:pPr>
            <a:endParaRPr sz="2000" dirty="0"/>
          </a:p>
          <a:p>
            <a:pPr marL="0" marR="0" lvl="0" indent="0" algn="l" rtl="0">
              <a:spcBef>
                <a:spcPts val="0"/>
              </a:spcBef>
              <a:spcAft>
                <a:spcPts val="0"/>
              </a:spcAft>
              <a:buNone/>
            </a:pPr>
            <a:r>
              <a:rPr lang="en-US" sz="2400" b="1" dirty="0">
                <a:solidFill>
                  <a:schemeClr val="lt1"/>
                </a:solidFill>
                <a:latin typeface="Arial"/>
                <a:ea typeface="Arial"/>
                <a:cs typeface="Arial"/>
                <a:sym typeface="Arial"/>
              </a:rPr>
              <a:t>Sakshi Sharma and </a:t>
            </a:r>
            <a:r>
              <a:rPr lang="en-US" sz="2400" b="1" dirty="0" err="1">
                <a:solidFill>
                  <a:schemeClr val="lt1"/>
                </a:solidFill>
                <a:latin typeface="Arial"/>
                <a:ea typeface="Arial"/>
                <a:cs typeface="Arial"/>
                <a:sym typeface="Arial"/>
              </a:rPr>
              <a:t>Pakhi</a:t>
            </a:r>
            <a:r>
              <a:rPr lang="en-US" sz="2400" b="1" dirty="0">
                <a:solidFill>
                  <a:schemeClr val="lt1"/>
                </a:solidFill>
                <a:latin typeface="Arial"/>
                <a:ea typeface="Arial"/>
                <a:cs typeface="Arial"/>
                <a:sym typeface="Arial"/>
              </a:rPr>
              <a:t> Chhetri</a:t>
            </a:r>
            <a:endParaRPr sz="2400" b="1" dirty="0">
              <a:solidFill>
                <a:schemeClr val="lt1"/>
              </a:solidFill>
              <a:latin typeface="Arial"/>
              <a:ea typeface="Arial"/>
              <a:cs typeface="Arial"/>
              <a:sym typeface="Arial"/>
            </a:endParaRPr>
          </a:p>
          <a:p>
            <a:pPr marL="0" marR="0" lvl="0" indent="0" algn="l" rtl="0">
              <a:spcBef>
                <a:spcPts val="0"/>
              </a:spcBef>
              <a:spcAft>
                <a:spcPts val="0"/>
              </a:spcAft>
              <a:buNone/>
            </a:pPr>
            <a:r>
              <a:rPr lang="en-US" sz="2400" b="1" dirty="0">
                <a:solidFill>
                  <a:schemeClr val="lt1"/>
                </a:solidFill>
                <a:latin typeface="Arial"/>
                <a:ea typeface="Arial"/>
                <a:cs typeface="Arial"/>
                <a:sym typeface="Arial"/>
              </a:rPr>
              <a:t>MSc. Bioinformatics (Sem </a:t>
            </a:r>
            <a:r>
              <a:rPr lang="en-US" sz="2400" b="1" dirty="0">
                <a:solidFill>
                  <a:schemeClr val="lt1"/>
                </a:solidFill>
              </a:rPr>
              <a:t>II</a:t>
            </a:r>
            <a:r>
              <a:rPr lang="en-US" sz="2400" b="1" dirty="0">
                <a:solidFill>
                  <a:schemeClr val="lt1"/>
                </a:solidFill>
                <a:latin typeface="Arial"/>
                <a:ea typeface="Arial"/>
                <a:cs typeface="Arial"/>
                <a:sym typeface="Arial"/>
              </a:rPr>
              <a:t>) </a:t>
            </a:r>
          </a:p>
          <a:p>
            <a:pPr marL="0" marR="0" lvl="0" indent="0" algn="l" rtl="0">
              <a:spcBef>
                <a:spcPts val="0"/>
              </a:spcBef>
              <a:spcAft>
                <a:spcPts val="0"/>
              </a:spcAft>
              <a:buNone/>
            </a:pPr>
            <a:r>
              <a:rPr lang="en-IN" sz="1800" dirty="0">
                <a:solidFill>
                  <a:schemeClr val="lt1"/>
                </a:solidFill>
              </a:rPr>
              <a:t>Department of Computer Science</a:t>
            </a:r>
          </a:p>
          <a:p>
            <a:pPr marL="0" marR="0" lvl="0" indent="0" algn="l" rtl="0">
              <a:spcBef>
                <a:spcPts val="0"/>
              </a:spcBef>
              <a:spcAft>
                <a:spcPts val="0"/>
              </a:spcAft>
              <a:buNone/>
            </a:pPr>
            <a:r>
              <a:rPr lang="en-IN" sz="1800" dirty="0">
                <a:solidFill>
                  <a:schemeClr val="lt1"/>
                </a:solidFill>
              </a:rPr>
              <a:t>Jamia </a:t>
            </a:r>
            <a:r>
              <a:rPr lang="en-IN" sz="1800" dirty="0" err="1">
                <a:solidFill>
                  <a:schemeClr val="lt1"/>
                </a:solidFill>
              </a:rPr>
              <a:t>Millia</a:t>
            </a:r>
            <a:r>
              <a:rPr lang="en-IN" sz="1800" dirty="0">
                <a:solidFill>
                  <a:schemeClr val="lt1"/>
                </a:solidFill>
              </a:rPr>
              <a:t> Islamia (Central University), New Delhi-110025 </a:t>
            </a:r>
            <a:endParaRPr sz="1800" dirty="0">
              <a:solidFill>
                <a:schemeClr val="lt1"/>
              </a:solidFill>
            </a:endParaRPr>
          </a:p>
          <a:p>
            <a:pPr marL="0" marR="0" lvl="0" indent="0" algn="l" rtl="0">
              <a:spcBef>
                <a:spcPts val="0"/>
              </a:spcBef>
              <a:spcAft>
                <a:spcPts val="0"/>
              </a:spcAft>
              <a:buNone/>
            </a:pPr>
            <a:r>
              <a:rPr lang="en-US" sz="1800" dirty="0">
                <a:solidFill>
                  <a:schemeClr val="lt1"/>
                </a:solidFill>
                <a:latin typeface="Arial"/>
                <a:ea typeface="Arial"/>
                <a:cs typeface="Arial"/>
                <a:sym typeface="Arial"/>
              </a:rPr>
              <a:t>Year : 202</a:t>
            </a:r>
            <a:r>
              <a:rPr lang="en-US" sz="1800" dirty="0">
                <a:solidFill>
                  <a:schemeClr val="lt1"/>
                </a:solidFill>
              </a:rPr>
              <a:t>3-25</a:t>
            </a:r>
            <a:endParaRPr sz="1800" dirty="0"/>
          </a:p>
          <a:p>
            <a:pPr marL="0" marR="0" lvl="0" indent="0" algn="l" rtl="0">
              <a:spcBef>
                <a:spcPts val="0"/>
              </a:spcBef>
              <a:spcAft>
                <a:spcPts val="0"/>
              </a:spcAft>
              <a:buNone/>
            </a:pPr>
            <a:endParaRPr sz="1800" dirty="0">
              <a:solidFill>
                <a:schemeClr val="l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
          <p:cNvSpPr txBox="1">
            <a:spLocks noGrp="1"/>
          </p:cNvSpPr>
          <p:nvPr>
            <p:ph type="title" idx="4294967295"/>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1"/>
              </a:buClr>
              <a:buSzPts val="2800"/>
              <a:buFont typeface="Arial"/>
              <a:buNone/>
            </a:pPr>
            <a:r>
              <a:rPr lang="en-US" b="1"/>
              <a:t>TABLE OF CONTENTS</a:t>
            </a:r>
            <a:endParaRPr b="1"/>
          </a:p>
        </p:txBody>
      </p:sp>
      <p:sp>
        <p:nvSpPr>
          <p:cNvPr id="102" name="Google Shape;102;p2"/>
          <p:cNvSpPr txBox="1">
            <a:spLocks noGrp="1"/>
          </p:cNvSpPr>
          <p:nvPr>
            <p:ph type="body" idx="1"/>
          </p:nvPr>
        </p:nvSpPr>
        <p:spPr>
          <a:xfrm>
            <a:off x="581192" y="1819656"/>
            <a:ext cx="11029615" cy="4718304"/>
          </a:xfrm>
          <a:prstGeom prst="rect">
            <a:avLst/>
          </a:prstGeom>
          <a:noFill/>
          <a:ln>
            <a:noFill/>
          </a:ln>
        </p:spPr>
        <p:txBody>
          <a:bodyPr spcFirstLastPara="1" wrap="square" lIns="91425" tIns="45700" rIns="91425" bIns="45700" anchor="ctr" anchorCtr="0">
            <a:normAutofit/>
          </a:bodyPr>
          <a:lstStyle/>
          <a:p>
            <a:pPr marL="306000" lvl="0" indent="-306000" algn="l" rtl="0">
              <a:lnSpc>
                <a:spcPct val="150000"/>
              </a:lnSpc>
              <a:spcBef>
                <a:spcPts val="0"/>
              </a:spcBef>
              <a:spcAft>
                <a:spcPts val="0"/>
              </a:spcAft>
              <a:buSzPts val="1656"/>
              <a:buChar char="◼"/>
            </a:pPr>
            <a:r>
              <a:rPr lang="en-US"/>
              <a:t>Introduction</a:t>
            </a:r>
            <a:endParaRPr/>
          </a:p>
          <a:p>
            <a:pPr marL="306000" lvl="0" indent="-306000" algn="l" rtl="0">
              <a:lnSpc>
                <a:spcPct val="150000"/>
              </a:lnSpc>
              <a:spcBef>
                <a:spcPts val="0"/>
              </a:spcBef>
              <a:spcAft>
                <a:spcPts val="0"/>
              </a:spcAft>
              <a:buSzPts val="1656"/>
              <a:buChar char="◼"/>
            </a:pPr>
            <a:r>
              <a:rPr lang="en-US"/>
              <a:t>Resources for dynamic modeling research</a:t>
            </a:r>
            <a:endParaRPr/>
          </a:p>
          <a:p>
            <a:pPr marL="306000" lvl="0" indent="-306000" algn="l" rtl="0">
              <a:lnSpc>
                <a:spcPct val="150000"/>
              </a:lnSpc>
              <a:spcBef>
                <a:spcPts val="0"/>
              </a:spcBef>
              <a:spcAft>
                <a:spcPts val="0"/>
              </a:spcAft>
              <a:buSzPts val="1656"/>
              <a:buChar char="◼"/>
            </a:pPr>
            <a:r>
              <a:rPr lang="en-US"/>
              <a:t>Methodology</a:t>
            </a:r>
            <a:endParaRPr/>
          </a:p>
          <a:p>
            <a:pPr marL="306000" lvl="0" indent="-306000" algn="l" rtl="0">
              <a:lnSpc>
                <a:spcPct val="115000"/>
              </a:lnSpc>
              <a:spcBef>
                <a:spcPts val="960"/>
              </a:spcBef>
              <a:spcAft>
                <a:spcPts val="0"/>
              </a:spcAft>
              <a:buSzPts val="1656"/>
              <a:buChar char="◼"/>
            </a:pPr>
            <a:r>
              <a:rPr lang="en-US"/>
              <a:t>Types of Models</a:t>
            </a:r>
            <a:endParaRPr/>
          </a:p>
          <a:p>
            <a:pPr marL="306000" lvl="0" indent="-306000" algn="l" rtl="0">
              <a:lnSpc>
                <a:spcPct val="115000"/>
              </a:lnSpc>
              <a:spcBef>
                <a:spcPts val="960"/>
              </a:spcBef>
              <a:spcAft>
                <a:spcPts val="0"/>
              </a:spcAft>
              <a:buSzPts val="1656"/>
              <a:buChar char="◼"/>
            </a:pPr>
            <a:r>
              <a:rPr lang="en-US"/>
              <a:t>Examples</a:t>
            </a:r>
            <a:endParaRPr/>
          </a:p>
          <a:p>
            <a:pPr marL="306000" lvl="0" indent="-306000" algn="l" rtl="0">
              <a:lnSpc>
                <a:spcPct val="115000"/>
              </a:lnSpc>
              <a:spcBef>
                <a:spcPts val="960"/>
              </a:spcBef>
              <a:spcAft>
                <a:spcPts val="0"/>
              </a:spcAft>
              <a:buSzPts val="1656"/>
              <a:buChar char="◼"/>
            </a:pPr>
            <a:r>
              <a:rPr lang="en-US"/>
              <a:t>Applications of dynamic modeling</a:t>
            </a:r>
            <a:endParaRPr/>
          </a:p>
          <a:p>
            <a:pPr marL="306000" lvl="0" indent="-306000" algn="l" rtl="0">
              <a:lnSpc>
                <a:spcPct val="115000"/>
              </a:lnSpc>
              <a:spcBef>
                <a:spcPts val="960"/>
              </a:spcBef>
              <a:spcAft>
                <a:spcPts val="0"/>
              </a:spcAft>
              <a:buSzPts val="1656"/>
              <a:buChar char="◼"/>
            </a:pPr>
            <a:r>
              <a:rPr lang="en-US"/>
              <a:t>Challenges in modeling cellular processes</a:t>
            </a:r>
            <a:endParaRPr/>
          </a:p>
          <a:p>
            <a:pPr marL="306000" lvl="0" indent="-306000" algn="l" rtl="0">
              <a:lnSpc>
                <a:spcPct val="115000"/>
              </a:lnSpc>
              <a:spcBef>
                <a:spcPts val="960"/>
              </a:spcBef>
              <a:spcAft>
                <a:spcPts val="0"/>
              </a:spcAft>
              <a:buSzPts val="1656"/>
              <a:buChar char="◼"/>
            </a:pPr>
            <a:r>
              <a:rPr lang="en-US"/>
              <a:t>Future perspectives of Dynamic modeling</a:t>
            </a:r>
            <a:endParaRPr/>
          </a:p>
          <a:p>
            <a:pPr marL="306000" lvl="0" indent="-306000" algn="l" rtl="0">
              <a:lnSpc>
                <a:spcPct val="115000"/>
              </a:lnSpc>
              <a:spcBef>
                <a:spcPts val="960"/>
              </a:spcBef>
              <a:spcAft>
                <a:spcPts val="0"/>
              </a:spcAft>
              <a:buSzPts val="1656"/>
              <a:buChar char="◼"/>
            </a:pPr>
            <a:r>
              <a:rPr lang="en-US"/>
              <a:t>Summary</a:t>
            </a:r>
            <a:endParaRPr/>
          </a:p>
          <a:p>
            <a:pPr marL="306000" lvl="0" indent="-306000" algn="l" rtl="0">
              <a:lnSpc>
                <a:spcPct val="115000"/>
              </a:lnSpc>
              <a:spcBef>
                <a:spcPts val="960"/>
              </a:spcBef>
              <a:spcAft>
                <a:spcPts val="0"/>
              </a:spcAft>
              <a:buSzPts val="1656"/>
              <a:buChar char="◼"/>
            </a:pPr>
            <a:r>
              <a:rPr lang="en-US"/>
              <a:t>References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
          <p:cNvSpPr txBox="1">
            <a:spLocks noGrp="1"/>
          </p:cNvSpPr>
          <p:nvPr>
            <p:ph type="title" idx="4294967295"/>
          </p:nvPr>
        </p:nvSpPr>
        <p:spPr>
          <a:xfrm>
            <a:off x="581200" y="749802"/>
            <a:ext cx="11029500" cy="724800"/>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rgbClr val="FFFFFF"/>
              </a:buClr>
              <a:buSzPts val="2800"/>
              <a:buFont typeface="Arial"/>
              <a:buNone/>
            </a:pPr>
            <a:r>
              <a:rPr lang="en-US" sz="3200" b="1">
                <a:solidFill>
                  <a:srgbClr val="FFFFFF"/>
                </a:solidFill>
                <a:latin typeface="Georgia"/>
                <a:ea typeface="Georgia"/>
                <a:cs typeface="Georgia"/>
                <a:sym typeface="Georgia"/>
              </a:rPr>
              <a:t>INTRODUCTION</a:t>
            </a:r>
            <a:r>
              <a:rPr lang="en-US" sz="2200" b="1">
                <a:solidFill>
                  <a:srgbClr val="FFFFFF"/>
                </a:solidFill>
                <a:latin typeface="Georgia"/>
                <a:ea typeface="Georgia"/>
                <a:cs typeface="Georgia"/>
                <a:sym typeface="Georgia"/>
              </a:rPr>
              <a:t>: </a:t>
            </a:r>
            <a:r>
              <a:rPr lang="en-US" sz="3200" b="1" i="0" u="none" strike="noStrike">
                <a:solidFill>
                  <a:srgbClr val="FFFFFF"/>
                </a:solidFill>
                <a:latin typeface="Georgia"/>
                <a:ea typeface="Georgia"/>
                <a:cs typeface="Georgia"/>
                <a:sym typeface="Georgia"/>
              </a:rPr>
              <a:t>MATHEMATICAL</a:t>
            </a:r>
            <a:r>
              <a:rPr lang="en-US" sz="2200" b="1" i="0" u="none" strike="noStrike">
                <a:solidFill>
                  <a:srgbClr val="FFFFFF"/>
                </a:solidFill>
                <a:latin typeface="Georgia"/>
                <a:ea typeface="Georgia"/>
                <a:cs typeface="Georgia"/>
                <a:sym typeface="Georgia"/>
              </a:rPr>
              <a:t> </a:t>
            </a:r>
            <a:r>
              <a:rPr lang="en-US" sz="3200" b="1">
                <a:solidFill>
                  <a:srgbClr val="FFFFFF"/>
                </a:solidFill>
                <a:latin typeface="Georgia"/>
                <a:ea typeface="Georgia"/>
                <a:cs typeface="Georgia"/>
                <a:sym typeface="Georgia"/>
              </a:rPr>
              <a:t>MODELS</a:t>
            </a:r>
            <a:endParaRPr sz="3200" b="1">
              <a:latin typeface="Georgia"/>
              <a:ea typeface="Georgia"/>
              <a:cs typeface="Georgia"/>
              <a:sym typeface="Georgia"/>
            </a:endParaRPr>
          </a:p>
        </p:txBody>
      </p:sp>
      <p:sp>
        <p:nvSpPr>
          <p:cNvPr id="108" name="Google Shape;108;p3"/>
          <p:cNvSpPr txBox="1">
            <a:spLocks noGrp="1"/>
          </p:cNvSpPr>
          <p:nvPr>
            <p:ph type="body" idx="1"/>
          </p:nvPr>
        </p:nvSpPr>
        <p:spPr>
          <a:xfrm>
            <a:off x="581192" y="2180496"/>
            <a:ext cx="11029615" cy="3678303"/>
          </a:xfrm>
          <a:prstGeom prst="rect">
            <a:avLst/>
          </a:prstGeom>
          <a:noFill/>
          <a:ln>
            <a:noFill/>
          </a:ln>
        </p:spPr>
        <p:txBody>
          <a:bodyPr spcFirstLastPara="1" wrap="square" lIns="91425" tIns="45700" rIns="91425" bIns="45700" anchor="ctr" anchorCtr="0">
            <a:normAutofit/>
          </a:bodyPr>
          <a:lstStyle/>
          <a:p>
            <a:pPr marL="306000" lvl="0" indent="-306000" algn="l" rtl="0">
              <a:spcBef>
                <a:spcPts val="0"/>
              </a:spcBef>
              <a:spcAft>
                <a:spcPts val="0"/>
              </a:spcAft>
              <a:buSzPts val="1656"/>
              <a:buChar char="◼"/>
            </a:pPr>
            <a:r>
              <a:rPr lang="en-US"/>
              <a:t>Mathematical models are used to understand</a:t>
            </a:r>
            <a:r>
              <a:rPr lang="en-US" b="1"/>
              <a:t> how biological systems changes over time.</a:t>
            </a:r>
            <a:endParaRPr b="1"/>
          </a:p>
          <a:p>
            <a:pPr marL="306000" lvl="0" indent="-306000" algn="l" rtl="0">
              <a:spcBef>
                <a:spcPts val="960"/>
              </a:spcBef>
              <a:spcAft>
                <a:spcPts val="0"/>
              </a:spcAft>
              <a:buSzPts val="1656"/>
              <a:buChar char="◼"/>
            </a:pPr>
            <a:r>
              <a:rPr lang="en-US"/>
              <a:t>Mathematical model represents cellular process using </a:t>
            </a:r>
            <a:r>
              <a:rPr lang="en-US" b="1"/>
              <a:t>mathematical equations</a:t>
            </a:r>
            <a:r>
              <a:rPr lang="en-US"/>
              <a:t>. </a:t>
            </a:r>
            <a:endParaRPr/>
          </a:p>
          <a:p>
            <a:pPr marL="306000" lvl="0" indent="-306000" algn="l" rtl="0">
              <a:spcBef>
                <a:spcPts val="960"/>
              </a:spcBef>
              <a:spcAft>
                <a:spcPts val="0"/>
              </a:spcAft>
              <a:buSzPts val="1656"/>
              <a:buChar char="◼"/>
            </a:pPr>
            <a:r>
              <a:rPr lang="en-US"/>
              <a:t>They are Constructed based on </a:t>
            </a:r>
            <a:r>
              <a:rPr lang="en-US" b="1"/>
              <a:t>experimental observations</a:t>
            </a:r>
            <a:r>
              <a:rPr lang="en-US"/>
              <a:t> and</a:t>
            </a:r>
            <a:r>
              <a:rPr lang="en-US" b="1"/>
              <a:t> Physical Principles</a:t>
            </a:r>
            <a:r>
              <a:rPr lang="en-US"/>
              <a:t>.</a:t>
            </a:r>
            <a:endParaRPr/>
          </a:p>
          <a:p>
            <a:pPr marL="306000" lvl="0" indent="-306000" algn="l" rtl="0">
              <a:spcBef>
                <a:spcPts val="960"/>
              </a:spcBef>
              <a:spcAft>
                <a:spcPts val="0"/>
              </a:spcAft>
              <a:buSzPts val="1656"/>
              <a:buChar char="◼"/>
            </a:pPr>
            <a:r>
              <a:rPr lang="en-US"/>
              <a:t>They can be classified into two categories: </a:t>
            </a:r>
            <a:endParaRPr/>
          </a:p>
          <a:p>
            <a:pPr marL="306000" lvl="0" indent="-306000" algn="l" rtl="0">
              <a:spcBef>
                <a:spcPts val="960"/>
              </a:spcBef>
              <a:spcAft>
                <a:spcPts val="0"/>
              </a:spcAft>
              <a:buSzPts val="1656"/>
              <a:buChar char="◼"/>
            </a:pPr>
            <a:r>
              <a:rPr lang="en-US" b="1"/>
              <a:t>Static models: </a:t>
            </a:r>
            <a:r>
              <a:rPr lang="en-US"/>
              <a:t>the variables of the system do not change in time</a:t>
            </a:r>
            <a:endParaRPr/>
          </a:p>
          <a:p>
            <a:pPr marL="306000" lvl="0" indent="-306000" algn="l" rtl="0">
              <a:spcBef>
                <a:spcPts val="960"/>
              </a:spcBef>
              <a:spcAft>
                <a:spcPts val="0"/>
              </a:spcAft>
              <a:buSzPts val="1656"/>
              <a:buChar char="◼"/>
            </a:pPr>
            <a:r>
              <a:rPr lang="en-US" b="1"/>
              <a:t>Dynamic models</a:t>
            </a:r>
            <a:r>
              <a:rPr lang="en-US"/>
              <a:t>: accounts for time-dependent changes of the system.</a:t>
            </a:r>
            <a:endParaRPr/>
          </a:p>
          <a:p>
            <a:pPr marL="306000" lvl="0" indent="-200844" algn="l" rtl="0">
              <a:spcBef>
                <a:spcPts val="960"/>
              </a:spcBef>
              <a:spcAft>
                <a:spcPts val="0"/>
              </a:spcAft>
              <a:buSzPts val="1656"/>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4"/>
          <p:cNvSpPr txBox="1">
            <a:spLocks noGrp="1"/>
          </p:cNvSpPr>
          <p:nvPr>
            <p:ph type="title" idx="4294967295"/>
          </p:nvPr>
        </p:nvSpPr>
        <p:spPr>
          <a:xfrm>
            <a:off x="581200" y="702150"/>
            <a:ext cx="11029500" cy="867600"/>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1"/>
              </a:buClr>
              <a:buSzPts val="2800"/>
              <a:buFont typeface="Arial"/>
              <a:buNone/>
            </a:pPr>
            <a:r>
              <a:rPr lang="en-US" sz="3200" b="1">
                <a:latin typeface="Georgia"/>
                <a:ea typeface="Georgia"/>
                <a:cs typeface="Georgia"/>
                <a:sym typeface="Georgia"/>
              </a:rPr>
              <a:t>INTRODUCTION: DYNAMIC MODELS</a:t>
            </a:r>
            <a:endParaRPr sz="3200">
              <a:latin typeface="Georgia"/>
              <a:ea typeface="Georgia"/>
              <a:cs typeface="Georgia"/>
              <a:sym typeface="Georgia"/>
            </a:endParaRPr>
          </a:p>
        </p:txBody>
      </p:sp>
      <p:sp>
        <p:nvSpPr>
          <p:cNvPr id="114" name="Google Shape;114;p4"/>
          <p:cNvSpPr txBox="1">
            <a:spLocks noGrp="1"/>
          </p:cNvSpPr>
          <p:nvPr>
            <p:ph type="body" idx="1"/>
          </p:nvPr>
        </p:nvSpPr>
        <p:spPr>
          <a:xfrm>
            <a:off x="109728" y="2047555"/>
            <a:ext cx="11777472" cy="4608576"/>
          </a:xfrm>
          <a:prstGeom prst="rect">
            <a:avLst/>
          </a:prstGeom>
          <a:noFill/>
          <a:ln>
            <a:noFill/>
          </a:ln>
        </p:spPr>
        <p:txBody>
          <a:bodyPr spcFirstLastPara="1" wrap="square" lIns="91425" tIns="45700" rIns="91425" bIns="45700" anchor="ctr" anchorCtr="0">
            <a:normAutofit/>
          </a:bodyPr>
          <a:lstStyle/>
          <a:p>
            <a:pPr marL="306000" lvl="0" indent="-306000" algn="l" rtl="0">
              <a:spcBef>
                <a:spcPts val="0"/>
              </a:spcBef>
              <a:spcAft>
                <a:spcPts val="0"/>
              </a:spcAft>
              <a:buSzPts val="1656"/>
              <a:buChar char="◼"/>
            </a:pPr>
            <a:r>
              <a:rPr lang="en-US" dirty="0"/>
              <a:t>Dynamic Model is a Mathematical model  which accounts for time-dependent changes of the system. Helps to understand how systems change over time.</a:t>
            </a:r>
          </a:p>
          <a:p>
            <a:pPr marL="306000" lvl="0" indent="-306000" algn="l" rtl="0">
              <a:spcBef>
                <a:spcPts val="0"/>
              </a:spcBef>
              <a:spcAft>
                <a:spcPts val="0"/>
              </a:spcAft>
              <a:buSzPts val="1656"/>
              <a:buChar char="◼"/>
            </a:pPr>
            <a:r>
              <a:rPr lang="en-US" dirty="0"/>
              <a:t>It involves the study of complex </a:t>
            </a:r>
            <a:r>
              <a:rPr lang="en-US" dirty="0" err="1"/>
              <a:t>behaviours</a:t>
            </a:r>
            <a:r>
              <a:rPr lang="en-US" dirty="0"/>
              <a:t> and interactions within biological cell overtime.</a:t>
            </a:r>
            <a:endParaRPr dirty="0"/>
          </a:p>
          <a:p>
            <a:pPr marL="306000" lvl="0" indent="-306000" algn="l" rtl="0">
              <a:spcBef>
                <a:spcPts val="960"/>
              </a:spcBef>
              <a:spcAft>
                <a:spcPts val="0"/>
              </a:spcAft>
              <a:buSzPts val="1656"/>
              <a:buChar char="◼"/>
            </a:pPr>
            <a:r>
              <a:rPr lang="en-US" dirty="0"/>
              <a:t>Most biological systems are time-dependent. (Dynamic i.e. Changing with time)</a:t>
            </a:r>
            <a:endParaRPr dirty="0"/>
          </a:p>
          <a:p>
            <a:pPr marL="306000" lvl="0" indent="-306000" algn="l" rtl="0">
              <a:spcBef>
                <a:spcPts val="960"/>
              </a:spcBef>
              <a:spcAft>
                <a:spcPts val="0"/>
              </a:spcAft>
              <a:buSzPts val="1656"/>
              <a:buChar char="◼"/>
            </a:pPr>
            <a:r>
              <a:rPr lang="en-US" dirty="0"/>
              <a:t>Examples:</a:t>
            </a:r>
            <a:endParaRPr dirty="0"/>
          </a:p>
          <a:p>
            <a:pPr marL="630000" lvl="1" indent="-306000" algn="l" rtl="0">
              <a:spcBef>
                <a:spcPts val="920"/>
              </a:spcBef>
              <a:spcAft>
                <a:spcPts val="0"/>
              </a:spcAft>
              <a:buSzPts val="1472"/>
              <a:buChar char="◼"/>
            </a:pPr>
            <a:r>
              <a:rPr lang="en-US" dirty="0"/>
              <a:t>Spread of infectious diseases</a:t>
            </a:r>
            <a:endParaRPr dirty="0"/>
          </a:p>
          <a:p>
            <a:pPr marL="630000" lvl="1" indent="-306000" algn="l" rtl="0">
              <a:spcBef>
                <a:spcPts val="920"/>
              </a:spcBef>
              <a:spcAft>
                <a:spcPts val="0"/>
              </a:spcAft>
              <a:buSzPts val="1472"/>
              <a:buChar char="◼"/>
            </a:pPr>
            <a:r>
              <a:rPr lang="en-US" dirty="0" err="1"/>
              <a:t>Signalling</a:t>
            </a:r>
            <a:r>
              <a:rPr lang="en-US" dirty="0"/>
              <a:t> Pathway</a:t>
            </a:r>
            <a:endParaRPr dirty="0"/>
          </a:p>
          <a:p>
            <a:pPr marL="630000" lvl="1" indent="-306000" algn="l" rtl="0">
              <a:spcBef>
                <a:spcPts val="920"/>
              </a:spcBef>
              <a:spcAft>
                <a:spcPts val="0"/>
              </a:spcAft>
              <a:buSzPts val="1472"/>
              <a:buChar char="◼"/>
            </a:pPr>
            <a:r>
              <a:rPr lang="en-US" dirty="0"/>
              <a:t>Growth of the human body</a:t>
            </a:r>
            <a:endParaRPr dirty="0"/>
          </a:p>
          <a:p>
            <a:pPr marL="630000" lvl="1" indent="-306000" algn="l" rtl="0">
              <a:spcBef>
                <a:spcPts val="920"/>
              </a:spcBef>
              <a:spcAft>
                <a:spcPts val="0"/>
              </a:spcAft>
              <a:buSzPts val="1472"/>
              <a:buChar char="◼"/>
            </a:pPr>
            <a:r>
              <a:rPr lang="en-US" dirty="0"/>
              <a:t>cell division</a:t>
            </a:r>
            <a:endParaRPr dirty="0"/>
          </a:p>
          <a:p>
            <a:pPr marL="630000" lvl="1" indent="-306000" algn="l" rtl="0">
              <a:spcBef>
                <a:spcPts val="920"/>
              </a:spcBef>
              <a:spcAft>
                <a:spcPts val="0"/>
              </a:spcAft>
              <a:buSzPts val="1472"/>
              <a:buChar char="◼"/>
            </a:pPr>
            <a:r>
              <a:rPr lang="en-US" dirty="0"/>
              <a:t>Protein Production</a:t>
            </a:r>
            <a:endParaRPr dirty="0"/>
          </a:p>
          <a:p>
            <a:pPr marL="630000" lvl="1" indent="-306000" algn="l" rtl="0">
              <a:spcBef>
                <a:spcPts val="920"/>
              </a:spcBef>
              <a:spcAft>
                <a:spcPts val="0"/>
              </a:spcAft>
              <a:buSzPts val="1472"/>
              <a:buChar char="◼"/>
            </a:pPr>
            <a:r>
              <a:rPr lang="en-US" dirty="0"/>
              <a:t>Transcription</a:t>
            </a:r>
            <a:endParaRPr dirty="0"/>
          </a:p>
          <a:p>
            <a:pPr marL="630000" lvl="1" indent="-306000" algn="l" rtl="0">
              <a:spcBef>
                <a:spcPts val="920"/>
              </a:spcBef>
              <a:spcAft>
                <a:spcPts val="0"/>
              </a:spcAft>
              <a:buSzPts val="1472"/>
              <a:buChar char="◼"/>
            </a:pPr>
            <a:r>
              <a:rPr lang="en-US" dirty="0"/>
              <a:t>Gene regulatory networks</a:t>
            </a:r>
            <a:endParaRPr dirty="0"/>
          </a:p>
          <a:p>
            <a:pPr marL="630000" lvl="1" indent="-306000" algn="l" rtl="0">
              <a:spcBef>
                <a:spcPts val="920"/>
              </a:spcBef>
              <a:spcAft>
                <a:spcPts val="0"/>
              </a:spcAft>
              <a:buSzPts val="1472"/>
              <a:buChar char="◼"/>
            </a:pPr>
            <a:r>
              <a:rPr lang="en-US" dirty="0"/>
              <a:t>Gene expression</a:t>
            </a:r>
            <a:endParaRPr dirty="0"/>
          </a:p>
          <a:p>
            <a:pPr marL="306000" lvl="0" indent="-200844" algn="l" rtl="0">
              <a:spcBef>
                <a:spcPts val="960"/>
              </a:spcBef>
              <a:spcAft>
                <a:spcPts val="0"/>
              </a:spcAft>
              <a:buSzPts val="1656"/>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5"/>
          <p:cNvSpPr txBox="1">
            <a:spLocks noGrp="1"/>
          </p:cNvSpPr>
          <p:nvPr>
            <p:ph type="title" idx="4294967295"/>
          </p:nvPr>
        </p:nvSpPr>
        <p:spPr>
          <a:xfrm>
            <a:off x="581200" y="702151"/>
            <a:ext cx="11029500" cy="791400"/>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1"/>
              </a:buClr>
              <a:buSzPts val="2800"/>
              <a:buFont typeface="Arial"/>
              <a:buNone/>
            </a:pPr>
            <a:r>
              <a:rPr lang="en-US" sz="3300" b="1">
                <a:latin typeface="Georgia"/>
                <a:ea typeface="Georgia"/>
                <a:cs typeface="Georgia"/>
                <a:sym typeface="Georgia"/>
              </a:rPr>
              <a:t>THE DATA WE DEAL WITH…</a:t>
            </a:r>
            <a:endParaRPr sz="3300" b="1">
              <a:latin typeface="Georgia"/>
              <a:ea typeface="Georgia"/>
              <a:cs typeface="Georgia"/>
              <a:sym typeface="Georgia"/>
            </a:endParaRPr>
          </a:p>
        </p:txBody>
      </p:sp>
      <p:sp>
        <p:nvSpPr>
          <p:cNvPr id="120" name="Google Shape;120;p5"/>
          <p:cNvSpPr txBox="1">
            <a:spLocks noGrp="1"/>
          </p:cNvSpPr>
          <p:nvPr>
            <p:ph type="body" idx="1"/>
          </p:nvPr>
        </p:nvSpPr>
        <p:spPr>
          <a:xfrm>
            <a:off x="581192" y="2180496"/>
            <a:ext cx="11029615" cy="3678303"/>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1656"/>
              <a:buNone/>
            </a:pPr>
            <a:r>
              <a:rPr lang="en-US"/>
              <a:t>Source of Big Data: Progress in big omics technologies including:</a:t>
            </a:r>
            <a:endParaRPr/>
          </a:p>
          <a:p>
            <a:pPr marL="306000" lvl="0" indent="-306000" algn="l" rtl="0">
              <a:spcBef>
                <a:spcPts val="960"/>
              </a:spcBef>
              <a:spcAft>
                <a:spcPts val="0"/>
              </a:spcAft>
              <a:buSzPts val="1656"/>
              <a:buChar char="◼"/>
            </a:pPr>
            <a:r>
              <a:rPr lang="en-US"/>
              <a:t>Transcriptomics (from microarray)</a:t>
            </a:r>
            <a:endParaRPr/>
          </a:p>
          <a:p>
            <a:pPr marL="306000" lvl="0" indent="-306000" algn="l" rtl="0">
              <a:spcBef>
                <a:spcPts val="960"/>
              </a:spcBef>
              <a:spcAft>
                <a:spcPts val="0"/>
              </a:spcAft>
              <a:buSzPts val="1656"/>
              <a:buChar char="◼"/>
            </a:pPr>
            <a:r>
              <a:rPr lang="en-US"/>
              <a:t>Genomics (next-generation sequencing) </a:t>
            </a:r>
            <a:endParaRPr/>
          </a:p>
          <a:p>
            <a:pPr marL="306000" lvl="0" indent="-306000" algn="l" rtl="0">
              <a:spcBef>
                <a:spcPts val="960"/>
              </a:spcBef>
              <a:spcAft>
                <a:spcPts val="0"/>
              </a:spcAft>
              <a:buSzPts val="1656"/>
              <a:buChar char="◼"/>
            </a:pPr>
            <a:r>
              <a:rPr lang="en-US"/>
              <a:t>Proteomics and Metabolomics (from mass spectrometry)</a:t>
            </a:r>
            <a:endParaRPr/>
          </a:p>
          <a:p>
            <a:pPr marL="306000" lvl="0" indent="-306000" algn="l" rtl="0">
              <a:spcBef>
                <a:spcPts val="960"/>
              </a:spcBef>
              <a:spcAft>
                <a:spcPts val="0"/>
              </a:spcAft>
              <a:buSzPts val="1656"/>
              <a:buChar char="◼"/>
            </a:pPr>
            <a:r>
              <a:rPr lang="en-US"/>
              <a:t>Variomics [from single nucleotide polymorphism (SNP) Genotyping for genetic variant]</a:t>
            </a:r>
            <a:endParaRPr/>
          </a:p>
          <a:p>
            <a:pPr marL="306000" lvl="0" indent="-306000" algn="l" rtl="0">
              <a:spcBef>
                <a:spcPts val="960"/>
              </a:spcBef>
              <a:spcAft>
                <a:spcPts val="0"/>
              </a:spcAft>
              <a:buSzPts val="1656"/>
              <a:buChar char="◼"/>
            </a:pPr>
            <a:r>
              <a:rPr lang="en-US"/>
              <a:t>Glycomics and Lipidomics (from mass spectrometry for carbohydrates and lipids) </a:t>
            </a:r>
            <a:endParaRPr/>
          </a:p>
          <a:p>
            <a:pPr marL="306000" lvl="0" indent="-306000" algn="l" rtl="0">
              <a:spcBef>
                <a:spcPts val="960"/>
              </a:spcBef>
              <a:spcAft>
                <a:spcPts val="0"/>
              </a:spcAft>
              <a:buSzPts val="1656"/>
              <a:buChar char="◼"/>
            </a:pPr>
            <a:r>
              <a:rPr lang="en-US"/>
              <a:t>Interactomics (physical interactions or indirect interactions)</a:t>
            </a:r>
            <a:endParaRPr/>
          </a:p>
          <a:p>
            <a:pPr marL="306000" lvl="0" indent="-200844" algn="l" rtl="0">
              <a:spcBef>
                <a:spcPts val="960"/>
              </a:spcBef>
              <a:spcAft>
                <a:spcPts val="0"/>
              </a:spcAft>
              <a:buSzPts val="1656"/>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lt1"/>
        </a:solidFill>
        <a:effectLst/>
      </p:bgPr>
    </p:bg>
    <p:spTree>
      <p:nvGrpSpPr>
        <p:cNvPr id="1" name="Shape 124"/>
        <p:cNvGrpSpPr/>
        <p:nvPr/>
      </p:nvGrpSpPr>
      <p:grpSpPr>
        <a:xfrm>
          <a:off x="0" y="0"/>
          <a:ext cx="0" cy="0"/>
          <a:chOff x="0" y="0"/>
          <a:chExt cx="0" cy="0"/>
        </a:xfrm>
      </p:grpSpPr>
      <p:sp>
        <p:nvSpPr>
          <p:cNvPr id="125" name="Google Shape;125;p6"/>
          <p:cNvSpPr txBox="1">
            <a:spLocks noGrp="1"/>
          </p:cNvSpPr>
          <p:nvPr>
            <p:ph type="body" idx="1"/>
          </p:nvPr>
        </p:nvSpPr>
        <p:spPr>
          <a:xfrm>
            <a:off x="409750" y="217175"/>
            <a:ext cx="11029500" cy="54279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sz="2100" dirty="0"/>
              <a:t>All these data have come from experimental observations</a:t>
            </a:r>
            <a:r>
              <a:rPr lang="en-US" sz="2100" b="1" dirty="0"/>
              <a:t>. BUT???</a:t>
            </a:r>
            <a:endParaRPr sz="2100" b="1" dirty="0"/>
          </a:p>
          <a:p>
            <a:pPr marL="306000" lvl="0" indent="-325050" algn="l" rtl="0">
              <a:spcBef>
                <a:spcPts val="960"/>
              </a:spcBef>
              <a:spcAft>
                <a:spcPts val="0"/>
              </a:spcAft>
              <a:buSzPts val="1956"/>
              <a:buChar char="◼"/>
            </a:pPr>
            <a:r>
              <a:rPr lang="en-US" sz="2100" dirty="0"/>
              <a:t>some experiments fail to give a clear explanation of the phenomenon</a:t>
            </a:r>
            <a:endParaRPr sz="2100" dirty="0"/>
          </a:p>
          <a:p>
            <a:pPr marL="306000" lvl="0" indent="-325050" algn="l" rtl="0">
              <a:spcBef>
                <a:spcPts val="960"/>
              </a:spcBef>
              <a:spcAft>
                <a:spcPts val="0"/>
              </a:spcAft>
              <a:buSzPts val="1956"/>
              <a:buChar char="◼"/>
            </a:pPr>
            <a:r>
              <a:rPr lang="en-US" sz="2100" dirty="0"/>
              <a:t>Complicated &amp; Difficult to perform</a:t>
            </a:r>
            <a:endParaRPr sz="2100" dirty="0"/>
          </a:p>
          <a:p>
            <a:pPr marL="306000" lvl="0" indent="-325050" algn="l" rtl="0">
              <a:spcBef>
                <a:spcPts val="960"/>
              </a:spcBef>
              <a:spcAft>
                <a:spcPts val="0"/>
              </a:spcAft>
              <a:buSzPts val="1956"/>
              <a:buChar char="◼"/>
            </a:pPr>
            <a:r>
              <a:rPr lang="en-US" sz="2100" dirty="0"/>
              <a:t>Time consuming</a:t>
            </a:r>
            <a:endParaRPr sz="2100" dirty="0"/>
          </a:p>
          <a:p>
            <a:pPr marL="306000" lvl="0" indent="-200844" algn="l" rtl="0">
              <a:spcBef>
                <a:spcPts val="960"/>
              </a:spcBef>
              <a:spcAft>
                <a:spcPts val="0"/>
              </a:spcAft>
              <a:buSzPts val="1656"/>
              <a:buNone/>
            </a:pPr>
            <a:endParaRPr sz="2100" dirty="0"/>
          </a:p>
          <a:p>
            <a:pPr marL="0" lvl="0" indent="0" algn="l" rtl="0">
              <a:spcBef>
                <a:spcPts val="960"/>
              </a:spcBef>
              <a:spcAft>
                <a:spcPts val="0"/>
              </a:spcAft>
              <a:buSzPts val="1656"/>
              <a:buNone/>
            </a:pPr>
            <a:r>
              <a:rPr lang="en-US" sz="2100" b="1" dirty="0"/>
              <a:t>Why Mathematical modeling ??</a:t>
            </a:r>
            <a:endParaRPr sz="2100" dirty="0"/>
          </a:p>
          <a:p>
            <a:pPr marL="306000" lvl="0" indent="-325050" algn="l" rtl="0">
              <a:spcBef>
                <a:spcPts val="960"/>
              </a:spcBef>
              <a:spcAft>
                <a:spcPts val="0"/>
              </a:spcAft>
              <a:buSzPts val="1956"/>
              <a:buChar char="◼"/>
            </a:pPr>
            <a:r>
              <a:rPr lang="en-US" sz="2100" dirty="0"/>
              <a:t>Provides a systematic framework to understand complex problems.</a:t>
            </a:r>
            <a:endParaRPr sz="2100" dirty="0"/>
          </a:p>
          <a:p>
            <a:pPr marL="306000" lvl="0" indent="-325050" algn="l" rtl="0">
              <a:spcBef>
                <a:spcPts val="960"/>
              </a:spcBef>
              <a:spcAft>
                <a:spcPts val="0"/>
              </a:spcAft>
              <a:buSzPts val="1956"/>
              <a:buChar char="◼"/>
            </a:pPr>
            <a:r>
              <a:rPr lang="en-US" sz="2100" dirty="0"/>
              <a:t>Quantitative measurement of the descriptors. </a:t>
            </a:r>
            <a:endParaRPr sz="2100" dirty="0"/>
          </a:p>
          <a:p>
            <a:pPr marL="306000" lvl="0" indent="-325050" algn="l" rtl="0">
              <a:spcBef>
                <a:spcPts val="960"/>
              </a:spcBef>
              <a:spcAft>
                <a:spcPts val="0"/>
              </a:spcAft>
              <a:buSzPts val="1956"/>
              <a:buChar char="◼"/>
            </a:pPr>
            <a:r>
              <a:rPr lang="en-US" sz="2100" dirty="0"/>
              <a:t>Help to test the hypothesis (predictions).</a:t>
            </a:r>
            <a:endParaRPr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8"/>
          <p:cNvSpPr txBox="1">
            <a:spLocks noGrp="1"/>
          </p:cNvSpPr>
          <p:nvPr>
            <p:ph type="title" idx="4294967295"/>
          </p:nvPr>
        </p:nvSpPr>
        <p:spPr>
          <a:xfrm>
            <a:off x="581200" y="702149"/>
            <a:ext cx="11029500" cy="905700"/>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1"/>
              </a:buClr>
              <a:buSzPts val="2800"/>
              <a:buFont typeface="Arial"/>
              <a:buNone/>
            </a:pPr>
            <a:r>
              <a:rPr lang="en-US" b="1">
                <a:latin typeface="Georgia"/>
                <a:ea typeface="Georgia"/>
                <a:cs typeface="Georgia"/>
                <a:sym typeface="Georgia"/>
              </a:rPr>
              <a:t>RESOURCES FOR DYNAMIC MODELING RESEARCH</a:t>
            </a:r>
            <a:endParaRPr b="1">
              <a:latin typeface="Georgia"/>
              <a:ea typeface="Georgia"/>
              <a:cs typeface="Georgia"/>
              <a:sym typeface="Georgia"/>
            </a:endParaRPr>
          </a:p>
        </p:txBody>
      </p:sp>
      <p:sp>
        <p:nvSpPr>
          <p:cNvPr id="131" name="Google Shape;131;p8"/>
          <p:cNvSpPr txBox="1">
            <a:spLocks noGrp="1"/>
          </p:cNvSpPr>
          <p:nvPr>
            <p:ph type="body" idx="1"/>
          </p:nvPr>
        </p:nvSpPr>
        <p:spPr>
          <a:xfrm>
            <a:off x="581192" y="1929384"/>
            <a:ext cx="11029615" cy="4617720"/>
          </a:xfrm>
          <a:prstGeom prst="rect">
            <a:avLst/>
          </a:prstGeom>
          <a:noFill/>
          <a:ln>
            <a:noFill/>
          </a:ln>
        </p:spPr>
        <p:txBody>
          <a:bodyPr spcFirstLastPara="1" wrap="square" lIns="91425" tIns="45700" rIns="91425" bIns="45700" anchor="ctr" anchorCtr="0">
            <a:normAutofit/>
          </a:bodyPr>
          <a:lstStyle/>
          <a:p>
            <a:pPr marL="306000" lvl="0" indent="-306000" algn="l" rtl="0">
              <a:spcBef>
                <a:spcPts val="0"/>
              </a:spcBef>
              <a:spcAft>
                <a:spcPts val="0"/>
              </a:spcAft>
              <a:buSzPts val="1656"/>
              <a:buChar char="◼"/>
            </a:pPr>
            <a:r>
              <a:rPr lang="en-US" sz="2200"/>
              <a:t>The main source for building dynamic models is published literature &amp; databases like </a:t>
            </a:r>
            <a:r>
              <a:rPr lang="en-US" sz="2200" b="1"/>
              <a:t>KEGG, PubMed.</a:t>
            </a:r>
            <a:endParaRPr sz="1600"/>
          </a:p>
          <a:p>
            <a:pPr marL="306000" lvl="0" indent="-293300" algn="l" rtl="0">
              <a:spcBef>
                <a:spcPts val="1080"/>
              </a:spcBef>
              <a:spcAft>
                <a:spcPts val="0"/>
              </a:spcAft>
              <a:buSzPts val="2008"/>
              <a:buChar char="◼"/>
            </a:pPr>
            <a:r>
              <a:rPr lang="en-US" sz="2200"/>
              <a:t>Parameter values are collected from </a:t>
            </a:r>
            <a:r>
              <a:rPr lang="en-US" sz="2200" b="1"/>
              <a:t>literature</a:t>
            </a:r>
            <a:r>
              <a:rPr lang="en-US" sz="2200"/>
              <a:t> reporting experimental data.</a:t>
            </a:r>
            <a:endParaRPr sz="1600"/>
          </a:p>
          <a:p>
            <a:pPr marL="306000" lvl="0" indent="-293300" algn="l" rtl="0">
              <a:spcBef>
                <a:spcPts val="1080"/>
              </a:spcBef>
              <a:spcAft>
                <a:spcPts val="0"/>
              </a:spcAft>
              <a:buSzPts val="2008"/>
              <a:buChar char="◼"/>
            </a:pPr>
            <a:r>
              <a:rPr lang="en-US" sz="2200"/>
              <a:t>Model Databases like </a:t>
            </a:r>
            <a:r>
              <a:rPr lang="en-US" sz="2200" b="1"/>
              <a:t>BioModels </a:t>
            </a:r>
            <a:r>
              <a:rPr lang="en-US" sz="2200"/>
              <a:t>(</a:t>
            </a:r>
            <a:r>
              <a:rPr lang="en-US" sz="2200" u="sng">
                <a:solidFill>
                  <a:schemeClr val="hlink"/>
                </a:solidFill>
                <a:hlinkClick r:id="rId3"/>
              </a:rPr>
              <a:t>https://www.ebi.ac.uk/biomodels/</a:t>
            </a:r>
            <a:r>
              <a:rPr lang="en-US" sz="2200"/>
              <a:t>) are useful for storing, sharing, and recycling of models.</a:t>
            </a:r>
            <a:endParaRPr sz="1600"/>
          </a:p>
          <a:p>
            <a:pPr marL="630000" lvl="1" indent="-293300" algn="l" rtl="0">
              <a:spcBef>
                <a:spcPts val="1080"/>
              </a:spcBef>
              <a:spcAft>
                <a:spcPts val="0"/>
              </a:spcAft>
              <a:buSzPts val="2008"/>
              <a:buFont typeface="Noto Sans Symbols"/>
              <a:buChar char="⮚"/>
            </a:pPr>
            <a:r>
              <a:rPr lang="en-US" sz="2200"/>
              <a:t>BioModels is an open-source and curated repository of mathematical models of biological systems.</a:t>
            </a:r>
            <a:endParaRPr sz="1400"/>
          </a:p>
          <a:p>
            <a:pPr marL="630000" lvl="1" indent="-293300" algn="l" rtl="0">
              <a:spcBef>
                <a:spcPts val="1080"/>
              </a:spcBef>
              <a:spcAft>
                <a:spcPts val="0"/>
              </a:spcAft>
              <a:buSzPts val="2008"/>
              <a:buFont typeface="Noto Sans Symbols"/>
              <a:buChar char="⮚"/>
            </a:pPr>
            <a:r>
              <a:rPr lang="en-US" sz="2200"/>
              <a:t>hosted by the European Bioinformatics Institute (EBI).</a:t>
            </a:r>
            <a:endParaRPr sz="1400"/>
          </a:p>
          <a:p>
            <a:pPr marL="630000" lvl="1" indent="-293300" algn="l" rtl="0">
              <a:spcBef>
                <a:spcPts val="1080"/>
              </a:spcBef>
              <a:spcAft>
                <a:spcPts val="0"/>
              </a:spcAft>
              <a:buSzPts val="2008"/>
              <a:buFont typeface="Noto Sans Symbols"/>
              <a:buChar char="⮚"/>
            </a:pPr>
            <a:r>
              <a:rPr lang="en-US" sz="2200"/>
              <a:t>allow easy search and retrieval of parameter values.</a:t>
            </a:r>
            <a:endParaRPr sz="1400"/>
          </a:p>
          <a:p>
            <a:pPr marL="306000" lvl="0" indent="-200844" algn="l" rtl="0">
              <a:spcBef>
                <a:spcPts val="960"/>
              </a:spcBef>
              <a:spcAft>
                <a:spcPts val="0"/>
              </a:spcAft>
              <a:buSzPts val="1656"/>
              <a:buNone/>
            </a:pPr>
            <a:endParaRPr sz="16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7"/>
          <p:cNvSpPr txBox="1">
            <a:spLocks noGrp="1"/>
          </p:cNvSpPr>
          <p:nvPr>
            <p:ph type="title" idx="4294967295"/>
          </p:nvPr>
        </p:nvSpPr>
        <p:spPr>
          <a:xfrm>
            <a:off x="581200" y="702152"/>
            <a:ext cx="11029500" cy="745800"/>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1"/>
              </a:buClr>
              <a:buSzPts val="2800"/>
              <a:buFont typeface="Arial"/>
              <a:buNone/>
            </a:pPr>
            <a:r>
              <a:rPr lang="en-US" sz="3400" b="1">
                <a:latin typeface="Georgia"/>
                <a:ea typeface="Georgia"/>
                <a:cs typeface="Georgia"/>
                <a:sym typeface="Georgia"/>
              </a:rPr>
              <a:t>METHODOLOGY</a:t>
            </a:r>
            <a:endParaRPr sz="3400">
              <a:latin typeface="Georgia"/>
              <a:ea typeface="Georgia"/>
              <a:cs typeface="Georgia"/>
              <a:sym typeface="Georgia"/>
            </a:endParaRPr>
          </a:p>
        </p:txBody>
      </p:sp>
      <p:sp>
        <p:nvSpPr>
          <p:cNvPr id="137" name="Google Shape;137;p7"/>
          <p:cNvSpPr txBox="1">
            <a:spLocks noGrp="1"/>
          </p:cNvSpPr>
          <p:nvPr>
            <p:ph type="body" idx="1"/>
          </p:nvPr>
        </p:nvSpPr>
        <p:spPr>
          <a:xfrm>
            <a:off x="581200" y="2066544"/>
            <a:ext cx="11029500" cy="4599432"/>
          </a:xfrm>
          <a:prstGeom prst="rect">
            <a:avLst/>
          </a:prstGeom>
          <a:noFill/>
          <a:ln>
            <a:noFill/>
          </a:ln>
        </p:spPr>
        <p:txBody>
          <a:bodyPr spcFirstLastPara="1" wrap="square" lIns="91425" tIns="45700" rIns="91425" bIns="45700" anchor="ctr" anchorCtr="0">
            <a:normAutofit lnSpcReduction="10000"/>
          </a:bodyPr>
          <a:lstStyle/>
          <a:p>
            <a:pPr marL="306000" lvl="0" indent="-298113" algn="l" rtl="0">
              <a:lnSpc>
                <a:spcPct val="115000"/>
              </a:lnSpc>
              <a:spcBef>
                <a:spcPts val="0"/>
              </a:spcBef>
              <a:spcAft>
                <a:spcPts val="0"/>
              </a:spcAft>
              <a:buSzPct val="91999"/>
              <a:buChar char="◼"/>
            </a:pPr>
            <a:r>
              <a:rPr lang="en-US" dirty="0">
                <a:latin typeface="Pacifico"/>
                <a:ea typeface="Pacifico"/>
                <a:cs typeface="Pacifico"/>
                <a:sym typeface="Pacifico"/>
              </a:rPr>
              <a:t>Step1</a:t>
            </a:r>
            <a:r>
              <a:rPr lang="en-US" dirty="0"/>
              <a:t> : Defining the system/Understanding the problem</a:t>
            </a:r>
            <a:endParaRPr dirty="0"/>
          </a:p>
          <a:p>
            <a:pPr marL="306000" lvl="0" indent="-298113" algn="l" rtl="0">
              <a:lnSpc>
                <a:spcPct val="115000"/>
              </a:lnSpc>
              <a:spcBef>
                <a:spcPts val="960"/>
              </a:spcBef>
              <a:spcAft>
                <a:spcPts val="0"/>
              </a:spcAft>
              <a:buSzPct val="91999"/>
              <a:buChar char="◼"/>
            </a:pPr>
            <a:r>
              <a:rPr lang="en-US" dirty="0">
                <a:latin typeface="Pacifico"/>
                <a:ea typeface="Pacifico"/>
                <a:cs typeface="Pacifico"/>
                <a:sym typeface="Pacifico"/>
              </a:rPr>
              <a:t>Step2</a:t>
            </a:r>
            <a:r>
              <a:rPr lang="en-US" dirty="0"/>
              <a:t>: Identification of </a:t>
            </a:r>
            <a:r>
              <a:rPr lang="en-US" b="1" dirty="0"/>
              <a:t>Variables</a:t>
            </a:r>
            <a:r>
              <a:rPr lang="en-US" dirty="0"/>
              <a:t> (quantities that can change over time)</a:t>
            </a:r>
            <a:endParaRPr dirty="0"/>
          </a:p>
          <a:p>
            <a:pPr marL="306000" lvl="0" indent="0" algn="l" rtl="0">
              <a:lnSpc>
                <a:spcPct val="115000"/>
              </a:lnSpc>
              <a:spcBef>
                <a:spcPts val="960"/>
              </a:spcBef>
              <a:spcAft>
                <a:spcPts val="0"/>
              </a:spcAft>
              <a:buNone/>
            </a:pPr>
            <a:r>
              <a:rPr lang="en-US" dirty="0"/>
              <a:t>           and </a:t>
            </a:r>
            <a:r>
              <a:rPr lang="en-US" b="1" dirty="0"/>
              <a:t>Parameters</a:t>
            </a:r>
            <a:r>
              <a:rPr lang="en-US" dirty="0"/>
              <a:t> (fixed values that influences the system) </a:t>
            </a:r>
            <a:endParaRPr dirty="0"/>
          </a:p>
          <a:p>
            <a:pPr marL="306000" lvl="0" indent="-298113" algn="l" rtl="0">
              <a:lnSpc>
                <a:spcPct val="115000"/>
              </a:lnSpc>
              <a:spcBef>
                <a:spcPts val="960"/>
              </a:spcBef>
              <a:spcAft>
                <a:spcPts val="0"/>
              </a:spcAft>
              <a:buSzPct val="91999"/>
              <a:buChar char="◼"/>
            </a:pPr>
            <a:r>
              <a:rPr lang="en-US" dirty="0">
                <a:latin typeface="Pacifico"/>
                <a:ea typeface="Pacifico"/>
                <a:cs typeface="Pacifico"/>
                <a:sym typeface="Pacifico"/>
              </a:rPr>
              <a:t>Step3</a:t>
            </a:r>
            <a:r>
              <a:rPr lang="en-US" dirty="0"/>
              <a:t>:  The behavior of the system is analyzed over </a:t>
            </a:r>
            <a:r>
              <a:rPr lang="en-US" b="1" dirty="0"/>
              <a:t>Time</a:t>
            </a:r>
            <a:endParaRPr b="1" dirty="0"/>
          </a:p>
          <a:p>
            <a:pPr marL="306000" lvl="0" indent="-298113" algn="l" rtl="0">
              <a:lnSpc>
                <a:spcPct val="115000"/>
              </a:lnSpc>
              <a:spcBef>
                <a:spcPts val="960"/>
              </a:spcBef>
              <a:spcAft>
                <a:spcPts val="0"/>
              </a:spcAft>
              <a:buSzPct val="91999"/>
              <a:buChar char="◼"/>
            </a:pPr>
            <a:r>
              <a:rPr lang="en-US" dirty="0">
                <a:latin typeface="Pacifico"/>
                <a:ea typeface="Pacifico"/>
                <a:cs typeface="Pacifico"/>
                <a:sym typeface="Pacifico"/>
              </a:rPr>
              <a:t>Step4</a:t>
            </a:r>
            <a:r>
              <a:rPr lang="en-US" dirty="0"/>
              <a:t>: </a:t>
            </a:r>
            <a:r>
              <a:rPr lang="en-US" b="1" dirty="0"/>
              <a:t>Differential equations</a:t>
            </a:r>
            <a:r>
              <a:rPr lang="en-US" dirty="0"/>
              <a:t> are derived to  describe how the variables change concerning time </a:t>
            </a:r>
            <a:endParaRPr dirty="0"/>
          </a:p>
          <a:p>
            <a:pPr marL="306000" lvl="0" indent="0" algn="l" rtl="0">
              <a:lnSpc>
                <a:spcPct val="115000"/>
              </a:lnSpc>
              <a:spcBef>
                <a:spcPts val="960"/>
              </a:spcBef>
              <a:spcAft>
                <a:spcPts val="0"/>
              </a:spcAft>
              <a:buNone/>
            </a:pPr>
            <a:r>
              <a:rPr lang="en-US" dirty="0"/>
              <a:t>            and  the relationships between them.</a:t>
            </a:r>
            <a:endParaRPr dirty="0"/>
          </a:p>
          <a:p>
            <a:pPr marL="306000" lvl="0" indent="-298113" algn="l" rtl="0">
              <a:lnSpc>
                <a:spcPct val="115000"/>
              </a:lnSpc>
              <a:spcBef>
                <a:spcPts val="960"/>
              </a:spcBef>
              <a:spcAft>
                <a:spcPts val="0"/>
              </a:spcAft>
              <a:buSzPct val="91999"/>
              <a:buChar char="◼"/>
            </a:pPr>
            <a:r>
              <a:rPr lang="en-US" dirty="0">
                <a:latin typeface="Pacifico"/>
                <a:ea typeface="Pacifico"/>
                <a:cs typeface="Pacifico"/>
                <a:sym typeface="Pacifico"/>
              </a:rPr>
              <a:t>Step5</a:t>
            </a:r>
            <a:r>
              <a:rPr lang="en-US" dirty="0"/>
              <a:t>: Dynamic models often involve </a:t>
            </a:r>
            <a:r>
              <a:rPr lang="en-US" b="1" dirty="0"/>
              <a:t>feedback loops</a:t>
            </a:r>
            <a:r>
              <a:rPr lang="en-US" dirty="0"/>
              <a:t>, where the output of the system influences its</a:t>
            </a:r>
            <a:endParaRPr dirty="0"/>
          </a:p>
          <a:p>
            <a:pPr marL="306000" lvl="0" indent="0" algn="l" rtl="0">
              <a:lnSpc>
                <a:spcPct val="115000"/>
              </a:lnSpc>
              <a:spcBef>
                <a:spcPts val="960"/>
              </a:spcBef>
              <a:spcAft>
                <a:spcPts val="0"/>
              </a:spcAft>
              <a:buNone/>
            </a:pPr>
            <a:r>
              <a:rPr lang="en-US" dirty="0"/>
              <a:t>            own behavior.</a:t>
            </a:r>
            <a:endParaRPr dirty="0"/>
          </a:p>
          <a:p>
            <a:pPr marL="306000" lvl="0" indent="-298113" algn="l" rtl="0">
              <a:lnSpc>
                <a:spcPct val="115000"/>
              </a:lnSpc>
              <a:spcBef>
                <a:spcPts val="960"/>
              </a:spcBef>
              <a:spcAft>
                <a:spcPts val="0"/>
              </a:spcAft>
              <a:buSzPct val="91999"/>
              <a:buChar char="◼"/>
            </a:pPr>
            <a:r>
              <a:rPr lang="en-US" dirty="0">
                <a:latin typeface="Pacifico"/>
                <a:ea typeface="Pacifico"/>
                <a:cs typeface="Pacifico"/>
                <a:sym typeface="Pacifico"/>
              </a:rPr>
              <a:t>Step6</a:t>
            </a:r>
            <a:r>
              <a:rPr lang="en-US" dirty="0"/>
              <a:t>: </a:t>
            </a:r>
            <a:r>
              <a:rPr lang="en-US" b="1" dirty="0"/>
              <a:t>Model Validation</a:t>
            </a:r>
            <a:r>
              <a:rPr lang="en-US" dirty="0"/>
              <a:t>: The initial model must be validated with new experiments, comparing</a:t>
            </a:r>
            <a:endParaRPr dirty="0"/>
          </a:p>
          <a:p>
            <a:pPr marL="306000" lvl="0" indent="0" algn="l" rtl="0">
              <a:lnSpc>
                <a:spcPct val="115000"/>
              </a:lnSpc>
              <a:spcBef>
                <a:spcPts val="960"/>
              </a:spcBef>
              <a:spcAft>
                <a:spcPts val="0"/>
              </a:spcAft>
              <a:buNone/>
            </a:pPr>
            <a:r>
              <a:rPr lang="en-US" dirty="0"/>
              <a:t>            its  predictions with real-world data. Sensitivity analysis helps identify which parameters have the </a:t>
            </a:r>
            <a:endParaRPr dirty="0"/>
          </a:p>
          <a:p>
            <a:pPr marL="306000" lvl="0" indent="0" algn="l" rtl="0">
              <a:lnSpc>
                <a:spcPct val="115000"/>
              </a:lnSpc>
              <a:spcBef>
                <a:spcPts val="960"/>
              </a:spcBef>
              <a:spcAft>
                <a:spcPts val="0"/>
              </a:spcAft>
              <a:buNone/>
            </a:pPr>
            <a:r>
              <a:rPr lang="en-US" dirty="0"/>
              <a:t>            most  significant impact on the behavior of the system.</a:t>
            </a:r>
            <a:endParaRPr dirty="0"/>
          </a:p>
          <a:p>
            <a:pPr marL="306000" lvl="0" indent="-200844" algn="l" rtl="0">
              <a:lnSpc>
                <a:spcPct val="115000"/>
              </a:lnSpc>
              <a:spcBef>
                <a:spcPts val="960"/>
              </a:spcBef>
              <a:spcAft>
                <a:spcPts val="0"/>
              </a:spcAft>
              <a:buSzPct val="91999"/>
              <a:buNone/>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1"/>
        <p:cNvGrpSpPr/>
        <p:nvPr/>
      </p:nvGrpSpPr>
      <p:grpSpPr>
        <a:xfrm>
          <a:off x="0" y="0"/>
          <a:ext cx="0" cy="0"/>
          <a:chOff x="0" y="0"/>
          <a:chExt cx="0" cy="0"/>
        </a:xfrm>
      </p:grpSpPr>
      <p:sp>
        <p:nvSpPr>
          <p:cNvPr id="142" name="Google Shape;142;p9"/>
          <p:cNvSpPr txBox="1">
            <a:spLocks noGrp="1"/>
          </p:cNvSpPr>
          <p:nvPr>
            <p:ph type="title" idx="4294967295"/>
          </p:nvPr>
        </p:nvSpPr>
        <p:spPr>
          <a:xfrm>
            <a:off x="4340671" y="702156"/>
            <a:ext cx="7208958"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rgbClr val="FFFFFF"/>
              </a:buClr>
              <a:buSzPts val="2800"/>
              <a:buFont typeface="Arial"/>
              <a:buNone/>
            </a:pPr>
            <a:r>
              <a:rPr lang="en-US" b="1">
                <a:solidFill>
                  <a:srgbClr val="FFFFFF"/>
                </a:solidFill>
              </a:rPr>
              <a:t>TYPES OF MODELS</a:t>
            </a:r>
            <a:endParaRPr b="1">
              <a:solidFill>
                <a:srgbClr val="FFFFFF"/>
              </a:solidFill>
            </a:endParaRPr>
          </a:p>
        </p:txBody>
      </p:sp>
      <p:sp>
        <p:nvSpPr>
          <p:cNvPr id="143" name="Google Shape;143;p9"/>
          <p:cNvSpPr txBox="1">
            <a:spLocks noGrp="1"/>
          </p:cNvSpPr>
          <p:nvPr>
            <p:ph type="body" idx="1"/>
          </p:nvPr>
        </p:nvSpPr>
        <p:spPr>
          <a:xfrm>
            <a:off x="385850" y="1865925"/>
            <a:ext cx="11806200" cy="4849200"/>
          </a:xfrm>
          <a:prstGeom prst="rect">
            <a:avLst/>
          </a:prstGeom>
          <a:noFill/>
          <a:ln>
            <a:noFill/>
          </a:ln>
        </p:spPr>
        <p:txBody>
          <a:bodyPr spcFirstLastPara="1" wrap="square" lIns="91425" tIns="45700" rIns="91425" bIns="45700" anchor="ctr" anchorCtr="0">
            <a:noAutofit/>
          </a:bodyPr>
          <a:lstStyle/>
          <a:p>
            <a:pPr marL="306000" lvl="0" indent="-325050" algn="l" rtl="0">
              <a:lnSpc>
                <a:spcPct val="150000"/>
              </a:lnSpc>
              <a:spcBef>
                <a:spcPts val="0"/>
              </a:spcBef>
              <a:spcAft>
                <a:spcPts val="0"/>
              </a:spcAft>
              <a:buSzPts val="1404"/>
              <a:buChar char="◼"/>
            </a:pPr>
            <a:r>
              <a:rPr lang="en-US" sz="1500" b="1" i="0" u="none" strike="noStrike">
                <a:latin typeface="Arial"/>
                <a:ea typeface="Arial"/>
                <a:cs typeface="Arial"/>
                <a:sym typeface="Arial"/>
              </a:rPr>
              <a:t>Discrete models-</a:t>
            </a:r>
            <a:endParaRPr sz="1500" b="0"/>
          </a:p>
          <a:p>
            <a:pPr marL="306000" lvl="0" indent="-325050" algn="l" rtl="0">
              <a:lnSpc>
                <a:spcPct val="150000"/>
              </a:lnSpc>
              <a:spcBef>
                <a:spcPts val="0"/>
              </a:spcBef>
              <a:spcAft>
                <a:spcPts val="0"/>
              </a:spcAft>
              <a:buSzPts val="1358"/>
              <a:buChar char="◼"/>
            </a:pPr>
            <a:r>
              <a:rPr lang="en-US" sz="1450" b="1" i="0" u="none" strike="noStrike">
                <a:latin typeface="Arial"/>
                <a:ea typeface="Arial"/>
                <a:cs typeface="Arial"/>
                <a:sym typeface="Arial"/>
              </a:rPr>
              <a:t>Boolean Network Models </a:t>
            </a:r>
            <a:endParaRPr sz="1450" b="0"/>
          </a:p>
          <a:p>
            <a:pPr marL="306000" lvl="0" indent="-325050" algn="l" rtl="0">
              <a:lnSpc>
                <a:spcPct val="150000"/>
              </a:lnSpc>
              <a:spcBef>
                <a:spcPts val="0"/>
              </a:spcBef>
              <a:spcAft>
                <a:spcPts val="0"/>
              </a:spcAft>
              <a:buSzPts val="1358"/>
              <a:buFont typeface="Arial"/>
              <a:buChar char="•"/>
            </a:pPr>
            <a:r>
              <a:rPr lang="en-US" sz="1450" b="0" i="0" u="none" strike="noStrike">
                <a:latin typeface="Arial"/>
                <a:ea typeface="Arial"/>
                <a:cs typeface="Arial"/>
                <a:sym typeface="Arial"/>
              </a:rPr>
              <a:t>One popular approach to model switching networks is to represent all gene (or protein) states by Boolean variables σi</a:t>
            </a:r>
            <a:r>
              <a:rPr lang="en-US" sz="1450">
                <a:latin typeface="Arial"/>
                <a:ea typeface="Arial"/>
                <a:cs typeface="Arial"/>
                <a:sym typeface="Arial"/>
              </a:rPr>
              <a:t>.</a:t>
            </a:r>
            <a:endParaRPr sz="1450" b="0" i="0" u="none" strike="noStrike">
              <a:latin typeface="Arial"/>
              <a:ea typeface="Arial"/>
              <a:cs typeface="Arial"/>
              <a:sym typeface="Arial"/>
            </a:endParaRPr>
          </a:p>
          <a:p>
            <a:pPr marL="306000" lvl="0" indent="-325050" algn="l" rtl="0">
              <a:lnSpc>
                <a:spcPct val="150000"/>
              </a:lnSpc>
              <a:spcBef>
                <a:spcPts val="0"/>
              </a:spcBef>
              <a:spcAft>
                <a:spcPts val="0"/>
              </a:spcAft>
              <a:buSzPts val="1358"/>
              <a:buFont typeface="Arial"/>
              <a:buChar char="•"/>
            </a:pPr>
            <a:r>
              <a:rPr lang="en-US" sz="1450" b="0" i="0" u="none" strike="noStrike">
                <a:latin typeface="Arial"/>
                <a:ea typeface="Arial"/>
                <a:cs typeface="Arial"/>
                <a:sym typeface="Arial"/>
              </a:rPr>
              <a:t>In this approach σi =1 if gene i is being expressed  and 0 if gene i is silent</a:t>
            </a:r>
            <a:r>
              <a:rPr lang="en-US" sz="1450"/>
              <a:t>.</a:t>
            </a:r>
            <a:endParaRPr sz="1450"/>
          </a:p>
          <a:p>
            <a:pPr marL="306000" lvl="0" indent="-325050" algn="l" rtl="0">
              <a:lnSpc>
                <a:spcPct val="150000"/>
              </a:lnSpc>
              <a:spcBef>
                <a:spcPts val="0"/>
              </a:spcBef>
              <a:spcAft>
                <a:spcPts val="0"/>
              </a:spcAft>
              <a:buSzPts val="1358"/>
              <a:buFont typeface="Arial"/>
              <a:buChar char="•"/>
            </a:pPr>
            <a:r>
              <a:rPr lang="en-US" sz="1450" b="0" i="0" u="none" strike="noStrike">
                <a:latin typeface="Arial"/>
                <a:ea typeface="Arial"/>
                <a:cs typeface="Arial"/>
                <a:sym typeface="Arial"/>
              </a:rPr>
              <a:t>The value of Boolean variables is determined through a set of Boolean functions B.</a:t>
            </a:r>
            <a:endParaRPr sz="1450" b="0" i="0" u="none" strike="noStrike">
              <a:latin typeface="Arial"/>
              <a:ea typeface="Arial"/>
              <a:cs typeface="Arial"/>
              <a:sym typeface="Arial"/>
            </a:endParaRPr>
          </a:p>
          <a:p>
            <a:pPr marL="306000" lvl="0" indent="-325050" algn="l" rtl="0">
              <a:lnSpc>
                <a:spcPct val="150000"/>
              </a:lnSpc>
              <a:spcBef>
                <a:spcPts val="0"/>
              </a:spcBef>
              <a:spcAft>
                <a:spcPts val="0"/>
              </a:spcAft>
              <a:buSzPts val="1358"/>
              <a:buFont typeface="Arial"/>
              <a:buChar char="•"/>
            </a:pPr>
            <a:r>
              <a:rPr lang="en-US" sz="1450" b="0" i="0" u="none" strike="noStrike">
                <a:latin typeface="Arial"/>
                <a:ea typeface="Arial"/>
                <a:cs typeface="Arial"/>
                <a:sym typeface="Arial"/>
              </a:rPr>
              <a:t> </a:t>
            </a:r>
            <a:r>
              <a:rPr lang="en-US" sz="1450"/>
              <a:t>Boolean function can also be represented by a truth table.</a:t>
            </a:r>
            <a:r>
              <a:rPr lang="en-US" sz="1450" b="0" i="0" u="none" strike="noStrike">
                <a:latin typeface="Arial"/>
                <a:ea typeface="Arial"/>
                <a:cs typeface="Arial"/>
                <a:sym typeface="Arial"/>
              </a:rPr>
              <a:t> </a:t>
            </a:r>
            <a:endParaRPr sz="1450" b="0"/>
          </a:p>
          <a:p>
            <a:pPr marL="306000" lvl="0" indent="-325050" algn="l" rtl="0">
              <a:lnSpc>
                <a:spcPct val="150000"/>
              </a:lnSpc>
              <a:spcBef>
                <a:spcPts val="0"/>
              </a:spcBef>
              <a:spcAft>
                <a:spcPts val="0"/>
              </a:spcAft>
              <a:buSzPts val="1358"/>
              <a:buFont typeface="Arial"/>
              <a:buChar char="•"/>
            </a:pPr>
            <a:r>
              <a:rPr lang="en-US" sz="1450" b="0" i="0" u="sng" strike="noStrike">
                <a:latin typeface="Arial"/>
                <a:ea typeface="Arial"/>
                <a:cs typeface="Arial"/>
                <a:sym typeface="Arial"/>
              </a:rPr>
              <a:t>Boolean models have several appealing features-</a:t>
            </a:r>
            <a:endParaRPr sz="2100" u="sng"/>
          </a:p>
          <a:p>
            <a:pPr marL="306000" lvl="0" indent="-325050" algn="l" rtl="0">
              <a:lnSpc>
                <a:spcPct val="150000"/>
              </a:lnSpc>
              <a:spcBef>
                <a:spcPts val="0"/>
              </a:spcBef>
              <a:spcAft>
                <a:spcPts val="0"/>
              </a:spcAft>
              <a:buSzPts val="1358"/>
              <a:buFont typeface="Arial"/>
              <a:buChar char="•"/>
            </a:pPr>
            <a:r>
              <a:rPr lang="en-US" sz="1450" b="0" i="0" u="none" strike="noStrike">
                <a:latin typeface="Arial"/>
                <a:ea typeface="Arial"/>
                <a:cs typeface="Arial"/>
                <a:sym typeface="Arial"/>
              </a:rPr>
              <a:t>They are relatively easy to build and simulate, </a:t>
            </a:r>
            <a:endParaRPr sz="2100"/>
          </a:p>
          <a:p>
            <a:pPr marL="306000" lvl="0" indent="-325050" algn="l" rtl="0">
              <a:lnSpc>
                <a:spcPct val="150000"/>
              </a:lnSpc>
              <a:spcBef>
                <a:spcPts val="0"/>
              </a:spcBef>
              <a:spcAft>
                <a:spcPts val="0"/>
              </a:spcAft>
              <a:buSzPts val="1358"/>
              <a:buFont typeface="Arial"/>
              <a:buChar char="•"/>
            </a:pPr>
            <a:r>
              <a:rPr lang="en-US" sz="1450">
                <a:latin typeface="Arial"/>
                <a:ea typeface="Arial"/>
                <a:cs typeface="Arial"/>
                <a:sym typeface="Arial"/>
              </a:rPr>
              <a:t>E</a:t>
            </a:r>
            <a:r>
              <a:rPr lang="en-US" sz="1450" b="0" i="0" u="none" strike="noStrike">
                <a:latin typeface="Arial"/>
                <a:ea typeface="Arial"/>
                <a:cs typeface="Arial"/>
                <a:sym typeface="Arial"/>
              </a:rPr>
              <a:t>asy to understand </a:t>
            </a:r>
            <a:endParaRPr sz="2100"/>
          </a:p>
          <a:p>
            <a:pPr marL="306000" lvl="0" indent="-325050" algn="l" rtl="0">
              <a:lnSpc>
                <a:spcPct val="150000"/>
              </a:lnSpc>
              <a:spcBef>
                <a:spcPts val="0"/>
              </a:spcBef>
              <a:spcAft>
                <a:spcPts val="0"/>
              </a:spcAft>
              <a:buSzPts val="1358"/>
              <a:buFont typeface="Arial"/>
              <a:buChar char="•"/>
            </a:pPr>
            <a:r>
              <a:rPr lang="en-US" sz="1450" b="0" i="0" u="none" strike="noStrike">
                <a:latin typeface="Arial"/>
                <a:ea typeface="Arial"/>
                <a:cs typeface="Arial"/>
                <a:sym typeface="Arial"/>
              </a:rPr>
              <a:t>There are no kinetic parameters in the model. </a:t>
            </a:r>
            <a:endParaRPr sz="2100"/>
          </a:p>
          <a:p>
            <a:pPr marL="306000" lvl="0" indent="-325050" algn="l" rtl="0">
              <a:lnSpc>
                <a:spcPct val="150000"/>
              </a:lnSpc>
              <a:spcBef>
                <a:spcPts val="0"/>
              </a:spcBef>
              <a:spcAft>
                <a:spcPts val="0"/>
              </a:spcAft>
              <a:buSzPts val="1358"/>
              <a:buFont typeface="Arial"/>
              <a:buChar char="•"/>
            </a:pPr>
            <a:r>
              <a:rPr lang="en-US" sz="1450"/>
              <a:t>E</a:t>
            </a:r>
            <a:r>
              <a:rPr lang="en-US" sz="1450" b="0" i="0" u="none" strike="noStrike">
                <a:latin typeface="Arial"/>
                <a:ea typeface="Arial"/>
                <a:cs typeface="Arial"/>
                <a:sym typeface="Arial"/>
              </a:rPr>
              <a:t>xpedient when we lack the quantitative observations necessary</a:t>
            </a:r>
            <a:r>
              <a:rPr lang="en-US" sz="1450"/>
              <a:t>.</a:t>
            </a:r>
            <a:endParaRPr sz="2100"/>
          </a:p>
          <a:p>
            <a:pPr marL="306000" lvl="0" indent="-325050" algn="l" rtl="0">
              <a:lnSpc>
                <a:spcPct val="150000"/>
              </a:lnSpc>
              <a:spcBef>
                <a:spcPts val="0"/>
              </a:spcBef>
              <a:spcAft>
                <a:spcPts val="0"/>
              </a:spcAft>
              <a:buSzPts val="1358"/>
              <a:buFont typeface="Arial"/>
              <a:buChar char="•"/>
            </a:pPr>
            <a:r>
              <a:rPr lang="en-US" sz="1450"/>
              <a:t>Cannot </a:t>
            </a:r>
            <a:r>
              <a:rPr lang="en-US" sz="1450" b="0" i="0" u="none" strike="noStrike">
                <a:latin typeface="Arial"/>
                <a:ea typeface="Arial"/>
                <a:cs typeface="Arial"/>
                <a:sym typeface="Arial"/>
              </a:rPr>
              <a:t>address detailed quantitative questions about mechanisms and cellular behaviors. </a:t>
            </a:r>
            <a:endParaRPr sz="2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pic>
        <p:nvPicPr>
          <p:cNvPr id="148" name="Google Shape;148;g2ce171da899_0_0"/>
          <p:cNvPicPr preferRelativeResize="0"/>
          <p:nvPr/>
        </p:nvPicPr>
        <p:blipFill>
          <a:blip r:embed="rId3">
            <a:alphaModFix/>
          </a:blip>
          <a:stretch>
            <a:fillRect/>
          </a:stretch>
        </p:blipFill>
        <p:spPr>
          <a:xfrm>
            <a:off x="1170351" y="905070"/>
            <a:ext cx="9410563" cy="4985694"/>
          </a:xfrm>
          <a:prstGeom prst="rect">
            <a:avLst/>
          </a:prstGeom>
          <a:noFill/>
          <a:ln>
            <a:noFill/>
          </a:ln>
        </p:spPr>
      </p:pic>
      <p:sp>
        <p:nvSpPr>
          <p:cNvPr id="2" name="TextBox 1">
            <a:extLst>
              <a:ext uri="{FF2B5EF4-FFF2-40B4-BE49-F238E27FC236}">
                <a16:creationId xmlns:a16="http://schemas.microsoft.com/office/drawing/2014/main" id="{B59775DC-4F3C-8CB6-72A1-A57BFCA48269}"/>
              </a:ext>
            </a:extLst>
          </p:cNvPr>
          <p:cNvSpPr txBox="1"/>
          <p:nvPr/>
        </p:nvSpPr>
        <p:spPr>
          <a:xfrm>
            <a:off x="110412" y="6100674"/>
            <a:ext cx="11971176" cy="646331"/>
          </a:xfrm>
          <a:prstGeom prst="rect">
            <a:avLst/>
          </a:prstGeom>
          <a:noFill/>
        </p:spPr>
        <p:txBody>
          <a:bodyPr wrap="square" rtlCol="0">
            <a:spAutoFit/>
          </a:bodyPr>
          <a:lstStyle/>
          <a:p>
            <a:pPr algn="ctr"/>
            <a:r>
              <a:rPr lang="en-US" sz="1050" b="1" i="1" dirty="0"/>
              <a:t>Image credit:</a:t>
            </a:r>
            <a:r>
              <a:rPr lang="en-US" sz="1050" i="1" dirty="0"/>
              <a:t> </a:t>
            </a:r>
            <a:r>
              <a:rPr lang="en-US" sz="1050" dirty="0"/>
              <a:t>Wang, R. S., </a:t>
            </a:r>
            <a:r>
              <a:rPr lang="en-US" sz="1050" dirty="0" err="1"/>
              <a:t>Saadatpour</a:t>
            </a:r>
            <a:r>
              <a:rPr lang="en-US" sz="1050" dirty="0"/>
              <a:t>, A., &amp; Albert, R. (2012, September 25). Boolean modeling in systems biology: an overview of methodology and applications. Physical Biology, 9(5), 055001. https://doi.org/10.1088/1478-3975/9/5/055001</a:t>
            </a:r>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0"/>
          <p:cNvSpPr txBox="1">
            <a:spLocks noGrp="1"/>
          </p:cNvSpPr>
          <p:nvPr>
            <p:ph type="title" idx="4294967295"/>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1"/>
              </a:buClr>
              <a:buSzPts val="2800"/>
              <a:buFont typeface="Arial"/>
              <a:buNone/>
            </a:pPr>
            <a:r>
              <a:rPr lang="en-US" b="1"/>
              <a:t>TYPES OF MODELS</a:t>
            </a:r>
            <a:endParaRPr b="1"/>
          </a:p>
        </p:txBody>
      </p:sp>
      <p:sp>
        <p:nvSpPr>
          <p:cNvPr id="154" name="Google Shape;154;p10"/>
          <p:cNvSpPr txBox="1">
            <a:spLocks noGrp="1"/>
          </p:cNvSpPr>
          <p:nvPr>
            <p:ph type="body" idx="1"/>
          </p:nvPr>
        </p:nvSpPr>
        <p:spPr>
          <a:xfrm>
            <a:off x="581192" y="2180496"/>
            <a:ext cx="11029615" cy="4174584"/>
          </a:xfrm>
          <a:prstGeom prst="rect">
            <a:avLst/>
          </a:prstGeom>
          <a:noFill/>
          <a:ln>
            <a:noFill/>
          </a:ln>
        </p:spPr>
        <p:txBody>
          <a:bodyPr spcFirstLastPara="1" wrap="square" lIns="91425" tIns="45700" rIns="91425" bIns="45700" anchor="ctr" anchorCtr="0">
            <a:normAutofit fontScale="92500" lnSpcReduction="10000"/>
          </a:bodyPr>
          <a:lstStyle/>
          <a:p>
            <a:pPr marL="306000" lvl="0" indent="-306000" algn="l" rtl="0">
              <a:lnSpc>
                <a:spcPct val="150000"/>
              </a:lnSpc>
              <a:spcBef>
                <a:spcPts val="0"/>
              </a:spcBef>
              <a:spcAft>
                <a:spcPts val="0"/>
              </a:spcAft>
              <a:buSzPct val="91999"/>
              <a:buChar char="◼"/>
            </a:pPr>
            <a:r>
              <a:rPr lang="en-US" sz="1800" b="1" i="0" u="none" strike="noStrike">
                <a:solidFill>
                  <a:srgbClr val="000000"/>
                </a:solidFill>
                <a:latin typeface="Arial"/>
                <a:ea typeface="Arial"/>
                <a:cs typeface="Arial"/>
                <a:sym typeface="Arial"/>
              </a:rPr>
              <a:t>Bayesian models-</a:t>
            </a:r>
            <a:endParaRPr/>
          </a:p>
          <a:p>
            <a:pPr marL="0" lvl="0" indent="0" algn="l" rtl="0">
              <a:lnSpc>
                <a:spcPct val="150000"/>
              </a:lnSpc>
              <a:spcBef>
                <a:spcPts val="0"/>
              </a:spcBef>
              <a:spcAft>
                <a:spcPts val="0"/>
              </a:spcAft>
              <a:buSzPct val="91999"/>
              <a:buNone/>
            </a:pPr>
            <a:endParaRPr b="0"/>
          </a:p>
          <a:p>
            <a:pPr marL="306000" lvl="0" indent="-306000" algn="l" rtl="0">
              <a:lnSpc>
                <a:spcPct val="150000"/>
              </a:lnSpc>
              <a:spcBef>
                <a:spcPts val="0"/>
              </a:spcBef>
              <a:spcAft>
                <a:spcPts val="0"/>
              </a:spcAft>
              <a:buSzPct val="91999"/>
              <a:buFont typeface="Arial"/>
              <a:buChar char="•"/>
            </a:pPr>
            <a:r>
              <a:rPr lang="en-US" sz="1800" b="0" i="0" u="none" strike="noStrike">
                <a:solidFill>
                  <a:srgbClr val="000000"/>
                </a:solidFill>
                <a:latin typeface="Arial"/>
                <a:ea typeface="Arial"/>
                <a:cs typeface="Arial"/>
                <a:sym typeface="Arial"/>
              </a:rPr>
              <a:t>Bayesian models</a:t>
            </a:r>
            <a:r>
              <a:rPr lang="en-US">
                <a:solidFill>
                  <a:srgbClr val="000000"/>
                </a:solidFill>
              </a:rPr>
              <a:t> </a:t>
            </a:r>
            <a:r>
              <a:rPr lang="en-US" sz="1800" b="0" i="0" u="none" strike="noStrike">
                <a:solidFill>
                  <a:srgbClr val="000000"/>
                </a:solidFill>
                <a:latin typeface="Arial"/>
                <a:ea typeface="Arial"/>
                <a:cs typeface="Arial"/>
                <a:sym typeface="Arial"/>
              </a:rPr>
              <a:t>makes use of Bayes theorem to condition inferences about the values of biological parameters</a:t>
            </a:r>
            <a:r>
              <a:rPr lang="en-US">
                <a:solidFill>
                  <a:srgbClr val="000000"/>
                </a:solidFill>
              </a:rPr>
              <a:t>.</a:t>
            </a:r>
            <a:endParaRPr/>
          </a:p>
          <a:p>
            <a:pPr marL="306000" lvl="0" indent="-306000" algn="l" rtl="0">
              <a:lnSpc>
                <a:spcPct val="150000"/>
              </a:lnSpc>
              <a:spcBef>
                <a:spcPts val="0"/>
              </a:spcBef>
              <a:spcAft>
                <a:spcPts val="0"/>
              </a:spcAft>
              <a:buSzPct val="91999"/>
              <a:buFont typeface="Arial"/>
              <a:buChar char="•"/>
            </a:pPr>
            <a:r>
              <a:rPr lang="en-US" sz="1800" b="0" i="0" u="none" strike="noStrike">
                <a:solidFill>
                  <a:srgbClr val="000000"/>
                </a:solidFill>
                <a:latin typeface="Arial"/>
                <a:ea typeface="Arial"/>
                <a:cs typeface="Arial"/>
                <a:sym typeface="Arial"/>
              </a:rPr>
              <a:t>These parameters are modelled as probability distributions</a:t>
            </a:r>
            <a:r>
              <a:rPr lang="en-US">
                <a:solidFill>
                  <a:srgbClr val="000000"/>
                </a:solidFill>
              </a:rPr>
              <a:t>.</a:t>
            </a:r>
            <a:r>
              <a:rPr lang="en-US" sz="1800" b="0" i="0" u="none" strike="noStrike">
                <a:solidFill>
                  <a:srgbClr val="000000"/>
                </a:solidFill>
                <a:latin typeface="Arial"/>
                <a:ea typeface="Arial"/>
                <a:cs typeface="Arial"/>
                <a:sym typeface="Arial"/>
              </a:rPr>
              <a:t> </a:t>
            </a:r>
            <a:endParaRPr/>
          </a:p>
          <a:p>
            <a:pPr marL="306000" lvl="0" indent="-306000" algn="l" rtl="0">
              <a:lnSpc>
                <a:spcPct val="150000"/>
              </a:lnSpc>
              <a:spcBef>
                <a:spcPts val="0"/>
              </a:spcBef>
              <a:spcAft>
                <a:spcPts val="0"/>
              </a:spcAft>
              <a:buSzPct val="91999"/>
              <a:buFont typeface="Arial"/>
              <a:buChar char="•"/>
            </a:pPr>
            <a:r>
              <a:rPr lang="en-US" sz="1800" b="0" i="0" u="none" strike="noStrike">
                <a:solidFill>
                  <a:srgbClr val="000000"/>
                </a:solidFill>
                <a:latin typeface="Arial"/>
                <a:ea typeface="Arial"/>
                <a:cs typeface="Arial"/>
                <a:sym typeface="Arial"/>
              </a:rPr>
              <a:t>They can be used in the case when there are more covariates than observations. </a:t>
            </a:r>
            <a:endParaRPr/>
          </a:p>
          <a:p>
            <a:pPr marL="306000" lvl="0" indent="-306000" algn="l" rtl="0">
              <a:lnSpc>
                <a:spcPct val="150000"/>
              </a:lnSpc>
              <a:spcBef>
                <a:spcPts val="0"/>
              </a:spcBef>
              <a:spcAft>
                <a:spcPts val="0"/>
              </a:spcAft>
              <a:buSzPct val="91999"/>
              <a:buFont typeface="Arial"/>
              <a:buChar char="•"/>
            </a:pPr>
            <a:r>
              <a:rPr lang="en-US" sz="1800" b="0" i="0" u="none" strike="noStrike">
                <a:solidFill>
                  <a:srgbClr val="000000"/>
                </a:solidFill>
                <a:latin typeface="Arial"/>
                <a:ea typeface="Arial"/>
                <a:cs typeface="Arial"/>
                <a:sym typeface="Arial"/>
              </a:rPr>
              <a:t>They can effectively capture linear, nonlinear, combinatorial and stochastic types of relationships among variables (i.e. genes or metabolites).</a:t>
            </a:r>
            <a:endParaRPr sz="1800" b="0" i="0" u="none" strike="noStrike">
              <a:solidFill>
                <a:srgbClr val="000000"/>
              </a:solidFill>
              <a:latin typeface="Arial"/>
              <a:ea typeface="Arial"/>
              <a:cs typeface="Arial"/>
              <a:sym typeface="Arial"/>
            </a:endParaRPr>
          </a:p>
          <a:p>
            <a:pPr marL="306000" lvl="0" indent="-306000" algn="l" rtl="0">
              <a:lnSpc>
                <a:spcPct val="150000"/>
              </a:lnSpc>
              <a:spcBef>
                <a:spcPts val="0"/>
              </a:spcBef>
              <a:spcAft>
                <a:spcPts val="0"/>
              </a:spcAft>
              <a:buSzPct val="91999"/>
              <a:buFont typeface="Arial"/>
              <a:buChar char="•"/>
            </a:pPr>
            <a:r>
              <a:rPr lang="en-US" sz="1800" b="0" i="0" u="none" strike="noStrike">
                <a:solidFill>
                  <a:srgbClr val="000000"/>
                </a:solidFill>
                <a:highlight>
                  <a:srgbClr val="FFFFFF"/>
                </a:highlight>
                <a:latin typeface="Arial"/>
                <a:ea typeface="Arial"/>
                <a:cs typeface="Arial"/>
                <a:sym typeface="Arial"/>
              </a:rPr>
              <a:t>It is also possible to improve parameter estimation using proper prior modelling of parameter uncertainty.</a:t>
            </a:r>
            <a:endParaRPr sz="1800" b="0" i="0" u="none" strike="noStrike">
              <a:solidFill>
                <a:srgbClr val="000000"/>
              </a:solidFill>
              <a:latin typeface="Arial"/>
              <a:ea typeface="Arial"/>
              <a:cs typeface="Arial"/>
              <a:sym typeface="Arial"/>
            </a:endParaRPr>
          </a:p>
          <a:p>
            <a:pPr marL="306000" lvl="0" indent="-306000" algn="l" rtl="0">
              <a:lnSpc>
                <a:spcPct val="150000"/>
              </a:lnSpc>
              <a:spcBef>
                <a:spcPts val="0"/>
              </a:spcBef>
              <a:spcAft>
                <a:spcPts val="0"/>
              </a:spcAft>
              <a:buSzPct val="91999"/>
              <a:buFont typeface="Arial"/>
              <a:buChar char="•"/>
            </a:pPr>
            <a:r>
              <a:rPr lang="en-US" sz="1800" b="0" i="0" u="none" strike="noStrike">
                <a:solidFill>
                  <a:srgbClr val="000000"/>
                </a:solidFill>
                <a:highlight>
                  <a:srgbClr val="FFFFFF"/>
                </a:highlight>
                <a:latin typeface="Arial"/>
                <a:ea typeface="Arial"/>
                <a:cs typeface="Arial"/>
                <a:sym typeface="Arial"/>
              </a:rPr>
              <a:t>The main drawback of fully Bayesian methods are the computational demands associated with their computer implementation</a:t>
            </a:r>
            <a:endParaRPr sz="1800" b="0" i="0" u="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1"/>
          <p:cNvSpPr txBox="1">
            <a:spLocks noGrp="1"/>
          </p:cNvSpPr>
          <p:nvPr>
            <p:ph type="title" idx="4294967295"/>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1"/>
              </a:buClr>
              <a:buSzPts val="2800"/>
              <a:buFont typeface="Arial"/>
              <a:buNone/>
            </a:pPr>
            <a:r>
              <a:rPr lang="en-US" b="1"/>
              <a:t>TYPES OF MODELS</a:t>
            </a:r>
            <a:endParaRPr b="1"/>
          </a:p>
        </p:txBody>
      </p:sp>
      <p:sp>
        <p:nvSpPr>
          <p:cNvPr id="160" name="Google Shape;160;p11"/>
          <p:cNvSpPr txBox="1">
            <a:spLocks noGrp="1"/>
          </p:cNvSpPr>
          <p:nvPr>
            <p:ph type="body" idx="1"/>
          </p:nvPr>
        </p:nvSpPr>
        <p:spPr>
          <a:xfrm>
            <a:off x="295450" y="2026775"/>
            <a:ext cx="11580000" cy="1013700"/>
          </a:xfrm>
          <a:prstGeom prst="rect">
            <a:avLst/>
          </a:prstGeom>
          <a:noFill/>
          <a:ln>
            <a:noFill/>
          </a:ln>
        </p:spPr>
        <p:txBody>
          <a:bodyPr spcFirstLastPara="1" wrap="square" lIns="91425" tIns="45700" rIns="91425" bIns="45700" anchor="ctr" anchorCtr="0">
            <a:noAutofit/>
          </a:bodyPr>
          <a:lstStyle/>
          <a:p>
            <a:pPr marL="306000" lvl="0" indent="-318700" algn="l" rtl="0">
              <a:spcBef>
                <a:spcPts val="0"/>
              </a:spcBef>
              <a:spcAft>
                <a:spcPts val="0"/>
              </a:spcAft>
              <a:buSzPts val="1304"/>
              <a:buChar char="◼"/>
            </a:pPr>
            <a:r>
              <a:rPr lang="en-US" sz="1400" b="1" i="0" u="none" strike="noStrike">
                <a:solidFill>
                  <a:srgbClr val="000000"/>
                </a:solidFill>
                <a:latin typeface="Arial"/>
                <a:ea typeface="Arial"/>
                <a:cs typeface="Arial"/>
                <a:sym typeface="Arial"/>
              </a:rPr>
              <a:t>Deterministic Models</a:t>
            </a:r>
            <a:endParaRPr sz="1400" b="0"/>
          </a:p>
          <a:p>
            <a:pPr marL="306000" lvl="0" indent="-318700" algn="l" rtl="0">
              <a:spcBef>
                <a:spcPts val="0"/>
              </a:spcBef>
              <a:spcAft>
                <a:spcPts val="0"/>
              </a:spcAft>
              <a:buSzPts val="1304"/>
              <a:buChar char="◼"/>
            </a:pPr>
            <a:r>
              <a:rPr lang="en-US" sz="1400" b="1" i="0" u="none" strike="noStrike">
                <a:solidFill>
                  <a:srgbClr val="000000"/>
                </a:solidFill>
                <a:latin typeface="Arial"/>
                <a:ea typeface="Arial"/>
                <a:cs typeface="Arial"/>
                <a:sym typeface="Arial"/>
              </a:rPr>
              <a:t>Nonlinear ODE Models </a:t>
            </a:r>
            <a:endParaRPr sz="1400" b="0"/>
          </a:p>
          <a:p>
            <a:pPr marL="306000" lvl="0" indent="-318700" algn="l" rtl="0">
              <a:spcBef>
                <a:spcPts val="0"/>
              </a:spcBef>
              <a:spcAft>
                <a:spcPts val="0"/>
              </a:spcAft>
              <a:buSzPts val="1304"/>
              <a:buFont typeface="Arial"/>
              <a:buChar char="•"/>
            </a:pPr>
            <a:r>
              <a:rPr lang="en-US" sz="1400" b="0" i="0" u="none" strike="noStrike">
                <a:solidFill>
                  <a:srgbClr val="000000"/>
                </a:solidFill>
                <a:latin typeface="Arial"/>
                <a:ea typeface="Arial"/>
                <a:cs typeface="Arial"/>
                <a:sym typeface="Arial"/>
              </a:rPr>
              <a:t>ODE modeling uses the basic principles of biochemical reaction kinetics to write a set of nonlinear ODEs for each time-dependent variable</a:t>
            </a:r>
            <a:r>
              <a:rPr lang="en-US" sz="1400">
                <a:solidFill>
                  <a:srgbClr val="000000"/>
                </a:solidFill>
              </a:rPr>
              <a:t>.</a:t>
            </a:r>
            <a:endParaRPr sz="1400">
              <a:solidFill>
                <a:srgbClr val="000000"/>
              </a:solidFill>
            </a:endParaRPr>
          </a:p>
          <a:p>
            <a:pPr marL="306000" lvl="0" indent="-318700" algn="l" rtl="0">
              <a:spcBef>
                <a:spcPts val="0"/>
              </a:spcBef>
              <a:spcAft>
                <a:spcPts val="0"/>
              </a:spcAft>
              <a:buSzPts val="1304"/>
              <a:buFont typeface="Arial"/>
              <a:buChar char="•"/>
            </a:pPr>
            <a:r>
              <a:rPr lang="en-US" sz="1400" b="0" i="0" u="none" strike="noStrike">
                <a:solidFill>
                  <a:srgbClr val="000000"/>
                </a:solidFill>
                <a:latin typeface="Arial"/>
                <a:ea typeface="Arial"/>
                <a:cs typeface="Arial"/>
                <a:sym typeface="Arial"/>
              </a:rPr>
              <a:t>On the right-hand-side of ODE is a sum of terms representing the rates of accumulation and removal of each substance</a:t>
            </a:r>
            <a:endParaRPr sz="1400"/>
          </a:p>
        </p:txBody>
      </p:sp>
      <p:pic>
        <p:nvPicPr>
          <p:cNvPr id="161" name="Google Shape;161;p11"/>
          <p:cNvPicPr preferRelativeResize="0"/>
          <p:nvPr/>
        </p:nvPicPr>
        <p:blipFill rotWithShape="1">
          <a:blip r:embed="rId3">
            <a:alphaModFix/>
          </a:blip>
          <a:srcRect/>
          <a:stretch/>
        </p:blipFill>
        <p:spPr>
          <a:xfrm>
            <a:off x="1267572" y="3325000"/>
            <a:ext cx="8774801" cy="589650"/>
          </a:xfrm>
          <a:prstGeom prst="rect">
            <a:avLst/>
          </a:prstGeom>
          <a:noFill/>
          <a:ln>
            <a:noFill/>
          </a:ln>
        </p:spPr>
      </p:pic>
      <p:sp>
        <p:nvSpPr>
          <p:cNvPr id="162" name="Google Shape;162;p11"/>
          <p:cNvSpPr txBox="1"/>
          <p:nvPr/>
        </p:nvSpPr>
        <p:spPr>
          <a:xfrm>
            <a:off x="295442" y="4427035"/>
            <a:ext cx="11029615" cy="3678303"/>
          </a:xfrm>
          <a:prstGeom prst="rect">
            <a:avLst/>
          </a:prstGeom>
          <a:noFill/>
          <a:ln>
            <a:noFill/>
          </a:ln>
        </p:spPr>
        <p:txBody>
          <a:bodyPr spcFirstLastPara="1" wrap="square" lIns="91425" tIns="45700" rIns="91425" bIns="45700" anchor="ctr" anchorCtr="0">
            <a:normAutofit/>
          </a:bodyPr>
          <a:lstStyle/>
          <a:p>
            <a:pPr marL="306000" marR="0" lvl="0" indent="-200844" algn="l" rtl="0">
              <a:spcBef>
                <a:spcPts val="0"/>
              </a:spcBef>
              <a:spcAft>
                <a:spcPts val="0"/>
              </a:spcAft>
              <a:buClr>
                <a:schemeClr val="accent2"/>
              </a:buClr>
              <a:buSzPts val="1656"/>
              <a:buFont typeface="Noto Sans Symbols"/>
              <a:buNone/>
            </a:pPr>
            <a:endParaRPr sz="1800">
              <a:solidFill>
                <a:srgbClr val="000000"/>
              </a:solidFill>
              <a:latin typeface="Arial"/>
              <a:ea typeface="Arial"/>
              <a:cs typeface="Arial"/>
              <a:sym typeface="Arial"/>
            </a:endParaRPr>
          </a:p>
          <a:p>
            <a:pPr marL="0" marR="0" lvl="0" indent="0" algn="l" rtl="0">
              <a:spcBef>
                <a:spcPts val="0"/>
              </a:spcBef>
              <a:spcAft>
                <a:spcPts val="0"/>
              </a:spcAft>
              <a:buClr>
                <a:schemeClr val="accent2"/>
              </a:buClr>
              <a:buSzPts val="1656"/>
              <a:buFont typeface="Noto Sans Symbols"/>
              <a:buNone/>
            </a:pPr>
            <a:endParaRPr sz="1800">
              <a:solidFill>
                <a:srgbClr val="000000"/>
              </a:solidFill>
              <a:latin typeface="Arial"/>
              <a:ea typeface="Arial"/>
              <a:cs typeface="Arial"/>
              <a:sym typeface="Arial"/>
            </a:endParaRPr>
          </a:p>
          <a:p>
            <a:pPr marL="306000" marR="0" lvl="0" indent="-200844" algn="l" rtl="0">
              <a:spcBef>
                <a:spcPts val="360"/>
              </a:spcBef>
              <a:spcAft>
                <a:spcPts val="0"/>
              </a:spcAft>
              <a:buClr>
                <a:schemeClr val="accent2"/>
              </a:buClr>
              <a:buSzPts val="1656"/>
              <a:buFont typeface="Noto Sans Symbols"/>
              <a:buNone/>
            </a:pPr>
            <a:endParaRPr sz="1800">
              <a:solidFill>
                <a:schemeClr val="dk2"/>
              </a:solidFill>
              <a:latin typeface="Arial"/>
              <a:ea typeface="Arial"/>
              <a:cs typeface="Arial"/>
              <a:sym typeface="Arial"/>
            </a:endParaRPr>
          </a:p>
        </p:txBody>
      </p:sp>
      <p:sp>
        <p:nvSpPr>
          <p:cNvPr id="163" name="Google Shape;163;p11"/>
          <p:cNvSpPr txBox="1"/>
          <p:nvPr/>
        </p:nvSpPr>
        <p:spPr>
          <a:xfrm>
            <a:off x="153150" y="3999550"/>
            <a:ext cx="11457600" cy="2678100"/>
          </a:xfrm>
          <a:prstGeom prst="rect">
            <a:avLst/>
          </a:prstGeom>
          <a:noFill/>
          <a:ln>
            <a:noFill/>
          </a:ln>
        </p:spPr>
        <p:txBody>
          <a:bodyPr spcFirstLastPara="1" wrap="square" lIns="91425" tIns="45700" rIns="91425" bIns="45700" anchor="t" anchorCtr="0">
            <a:spAutoFit/>
          </a:bodyPr>
          <a:lstStyle/>
          <a:p>
            <a:pPr marL="0" marR="0" lvl="0" indent="-88900" algn="l" rtl="0">
              <a:spcBef>
                <a:spcPts val="0"/>
              </a:spcBef>
              <a:spcAft>
                <a:spcPts val="0"/>
              </a:spcAft>
              <a:buClr>
                <a:srgbClr val="000000"/>
              </a:buClr>
              <a:buSzPts val="1400"/>
              <a:buFont typeface="Arial"/>
              <a:buChar char="•"/>
            </a:pPr>
            <a:r>
              <a:rPr lang="en-US" b="0" i="0" u="none" strike="noStrike">
                <a:solidFill>
                  <a:srgbClr val="000000"/>
                </a:solidFill>
                <a:latin typeface="Arial"/>
                <a:ea typeface="Arial"/>
                <a:cs typeface="Arial"/>
                <a:sym typeface="Arial"/>
              </a:rPr>
              <a:t>In the above equation </a:t>
            </a:r>
            <a:endParaRPr sz="1600"/>
          </a:p>
          <a:p>
            <a:pPr marL="742950" marR="0" lvl="1" indent="-298450" algn="l" rtl="0">
              <a:spcBef>
                <a:spcPts val="0"/>
              </a:spcBef>
              <a:spcAft>
                <a:spcPts val="0"/>
              </a:spcAft>
              <a:buClr>
                <a:srgbClr val="000000"/>
              </a:buClr>
              <a:buSzPts val="1400"/>
              <a:buFont typeface="Arial"/>
              <a:buChar char="•"/>
            </a:pPr>
            <a:r>
              <a:rPr lang="en-US" b="1" i="0" u="none" strike="noStrike" cap="none">
                <a:solidFill>
                  <a:srgbClr val="000000"/>
                </a:solidFill>
                <a:latin typeface="Arial"/>
                <a:ea typeface="Arial"/>
                <a:cs typeface="Arial"/>
                <a:sym typeface="Arial"/>
              </a:rPr>
              <a:t>ν1j</a:t>
            </a:r>
            <a:r>
              <a:rPr lang="en-US" b="0" i="0" u="none" strike="noStrike" cap="none">
                <a:solidFill>
                  <a:srgbClr val="000000"/>
                </a:solidFill>
                <a:latin typeface="Arial"/>
                <a:ea typeface="Arial"/>
                <a:cs typeface="Arial"/>
                <a:sym typeface="Arial"/>
              </a:rPr>
              <a:t> is the stoichiometric coefficient of species </a:t>
            </a:r>
            <a:r>
              <a:rPr lang="en-US" b="1" i="0" u="none" strike="noStrike" cap="none">
                <a:solidFill>
                  <a:srgbClr val="000000"/>
                </a:solidFill>
                <a:latin typeface="Arial"/>
                <a:ea typeface="Arial"/>
                <a:cs typeface="Arial"/>
                <a:sym typeface="Arial"/>
              </a:rPr>
              <a:t>C1 </a:t>
            </a:r>
            <a:r>
              <a:rPr lang="en-US" b="0" i="0" u="none" strike="noStrike" cap="none">
                <a:solidFill>
                  <a:srgbClr val="000000"/>
                </a:solidFill>
                <a:latin typeface="Arial"/>
                <a:ea typeface="Arial"/>
                <a:cs typeface="Arial"/>
                <a:sym typeface="Arial"/>
              </a:rPr>
              <a:t>in the </a:t>
            </a:r>
            <a:r>
              <a:rPr lang="en-US" b="1" i="0" u="none" strike="noStrike" cap="none">
                <a:solidFill>
                  <a:srgbClr val="000000"/>
                </a:solidFill>
                <a:latin typeface="Arial"/>
                <a:ea typeface="Arial"/>
                <a:cs typeface="Arial"/>
                <a:sym typeface="Arial"/>
              </a:rPr>
              <a:t>j-th </a:t>
            </a:r>
            <a:r>
              <a:rPr lang="en-US" b="0" i="0" u="none" strike="noStrike" cap="none">
                <a:solidFill>
                  <a:srgbClr val="000000"/>
                </a:solidFill>
                <a:latin typeface="Arial"/>
                <a:ea typeface="Arial"/>
                <a:cs typeface="Arial"/>
                <a:sym typeface="Arial"/>
              </a:rPr>
              <a:t>reaction, </a:t>
            </a:r>
            <a:endParaRPr sz="1600"/>
          </a:p>
          <a:p>
            <a:pPr marL="742950" marR="0" lvl="1" indent="-298450" algn="l" rtl="0">
              <a:spcBef>
                <a:spcPts val="0"/>
              </a:spcBef>
              <a:spcAft>
                <a:spcPts val="0"/>
              </a:spcAft>
              <a:buClr>
                <a:srgbClr val="000000"/>
              </a:buClr>
              <a:buSzPts val="1400"/>
              <a:buFont typeface="Arial"/>
              <a:buChar char="•"/>
            </a:pPr>
            <a:r>
              <a:rPr lang="en-US" b="1" i="0" u="none" strike="noStrike" cap="none">
                <a:solidFill>
                  <a:srgbClr val="000000"/>
                </a:solidFill>
                <a:latin typeface="Arial"/>
                <a:ea typeface="Arial"/>
                <a:cs typeface="Arial"/>
                <a:sym typeface="Arial"/>
              </a:rPr>
              <a:t>kj</a:t>
            </a:r>
            <a:r>
              <a:rPr lang="en-US" b="0" i="0" u="none" strike="noStrike" cap="none">
                <a:solidFill>
                  <a:srgbClr val="000000"/>
                </a:solidFill>
                <a:latin typeface="Arial"/>
                <a:ea typeface="Arial"/>
                <a:cs typeface="Arial"/>
                <a:sym typeface="Arial"/>
              </a:rPr>
              <a:t> is the rate constant of the j-th reaction, and </a:t>
            </a:r>
            <a:endParaRPr sz="1600"/>
          </a:p>
          <a:p>
            <a:pPr marL="742950" marR="0" lvl="1" indent="-298450" algn="l" rtl="0">
              <a:spcBef>
                <a:spcPts val="0"/>
              </a:spcBef>
              <a:spcAft>
                <a:spcPts val="0"/>
              </a:spcAft>
              <a:buClr>
                <a:srgbClr val="000000"/>
              </a:buClr>
              <a:buSzPts val="1400"/>
              <a:buFont typeface="Arial"/>
              <a:buChar char="•"/>
            </a:pPr>
            <a:r>
              <a:rPr lang="en-US" b="1" i="0" u="none" strike="noStrike" cap="none">
                <a:solidFill>
                  <a:srgbClr val="000000"/>
                </a:solidFill>
                <a:latin typeface="Arial"/>
                <a:ea typeface="Arial"/>
                <a:cs typeface="Arial"/>
                <a:sym typeface="Arial"/>
              </a:rPr>
              <a:t>fj(C1,…) </a:t>
            </a:r>
            <a:r>
              <a:rPr lang="en-US" b="0" i="0" u="none" strike="noStrike" cap="none">
                <a:solidFill>
                  <a:srgbClr val="000000"/>
                </a:solidFill>
                <a:latin typeface="Arial"/>
                <a:ea typeface="Arial"/>
                <a:cs typeface="Arial"/>
                <a:sym typeface="Arial"/>
              </a:rPr>
              <a:t>is the rate law for the j-th reaction (e.g., mass-action rate law, Michaelis-Menten rate law, Hill function, etc.). </a:t>
            </a:r>
            <a:endParaRPr sz="1600"/>
          </a:p>
          <a:p>
            <a:pPr marL="0" marR="0" lvl="0" indent="0" algn="l" rtl="0">
              <a:spcBef>
                <a:spcPts val="0"/>
              </a:spcBef>
              <a:spcAft>
                <a:spcPts val="0"/>
              </a:spcAft>
              <a:buNone/>
            </a:pPr>
            <a:r>
              <a:rPr lang="en-US" b="0" i="0" u="none" strike="noStrike">
                <a:solidFill>
                  <a:srgbClr val="000000"/>
                </a:solidFill>
                <a:latin typeface="Arial"/>
                <a:ea typeface="Arial"/>
                <a:cs typeface="Arial"/>
                <a:sym typeface="Arial"/>
              </a:rPr>
              <a:t>Here we are assuming that C1 is a product of reactions 1,2,… and a reactant of reactions 3,4,…</a:t>
            </a:r>
            <a:endParaRPr b="0">
              <a:solidFill>
                <a:schemeClr val="dk1"/>
              </a:solidFill>
              <a:latin typeface="Arial"/>
              <a:ea typeface="Arial"/>
              <a:cs typeface="Arial"/>
              <a:sym typeface="Arial"/>
            </a:endParaRPr>
          </a:p>
          <a:p>
            <a:pPr marL="0" marR="0" lvl="0" indent="-88900" algn="l" rtl="0">
              <a:spcBef>
                <a:spcPts val="0"/>
              </a:spcBef>
              <a:spcAft>
                <a:spcPts val="0"/>
              </a:spcAft>
              <a:buClr>
                <a:srgbClr val="000000"/>
              </a:buClr>
              <a:buSzPts val="1400"/>
              <a:buFont typeface="Arial"/>
              <a:buChar char="•"/>
            </a:pPr>
            <a:r>
              <a:rPr lang="en-US">
                <a:solidFill>
                  <a:srgbClr val="000000"/>
                </a:solidFill>
                <a:latin typeface="Arial"/>
                <a:ea typeface="Arial"/>
                <a:cs typeface="Arial"/>
                <a:sym typeface="Arial"/>
              </a:rPr>
              <a:t>These models can be extremely powerful and informative. </a:t>
            </a:r>
            <a:endParaRPr sz="1600"/>
          </a:p>
          <a:p>
            <a:pPr marL="0" marR="0" lvl="0" indent="-88900" algn="l" rtl="0">
              <a:spcBef>
                <a:spcPts val="0"/>
              </a:spcBef>
              <a:spcAft>
                <a:spcPts val="0"/>
              </a:spcAft>
              <a:buClr>
                <a:srgbClr val="000000"/>
              </a:buClr>
              <a:buSzPts val="1400"/>
              <a:buFont typeface="Arial"/>
              <a:buChar char="•"/>
            </a:pPr>
            <a:r>
              <a:rPr lang="en-US">
                <a:solidFill>
                  <a:srgbClr val="000000"/>
                </a:solidFill>
                <a:latin typeface="Arial"/>
                <a:ea typeface="Arial"/>
                <a:cs typeface="Arial"/>
                <a:sym typeface="Arial"/>
              </a:rPr>
              <a:t>But they can be difficult to build, to parametrize and to comprehend.</a:t>
            </a:r>
            <a:endParaRPr sz="1600"/>
          </a:p>
          <a:p>
            <a:pPr marL="0" marR="0" lvl="0" indent="-88900" algn="l" rtl="0">
              <a:spcBef>
                <a:spcPts val="0"/>
              </a:spcBef>
              <a:spcAft>
                <a:spcPts val="0"/>
              </a:spcAft>
              <a:buClr>
                <a:srgbClr val="000000"/>
              </a:buClr>
              <a:buSzPts val="1400"/>
              <a:buFont typeface="Arial"/>
              <a:buChar char="•"/>
            </a:pPr>
            <a:r>
              <a:rPr lang="en-US">
                <a:solidFill>
                  <a:srgbClr val="000000"/>
                </a:solidFill>
                <a:latin typeface="Arial"/>
                <a:ea typeface="Arial"/>
                <a:cs typeface="Arial"/>
                <a:sym typeface="Arial"/>
              </a:rPr>
              <a:t>The system of nonlinear ODEs, that implements the biological processes has to be solved numerically.</a:t>
            </a:r>
            <a:endParaRPr sz="1600"/>
          </a:p>
          <a:p>
            <a:pPr marL="0" marR="0" lvl="0" indent="-88900" algn="l" rtl="0">
              <a:spcBef>
                <a:spcPts val="0"/>
              </a:spcBef>
              <a:spcAft>
                <a:spcPts val="0"/>
              </a:spcAft>
              <a:buClr>
                <a:srgbClr val="000000"/>
              </a:buClr>
              <a:buSzPts val="1400"/>
              <a:buFont typeface="Arial"/>
              <a:buChar char="•"/>
            </a:pPr>
            <a:r>
              <a:rPr lang="en-US">
                <a:solidFill>
                  <a:srgbClr val="000000"/>
                </a:solidFill>
                <a:latin typeface="Arial"/>
                <a:ea typeface="Arial"/>
                <a:cs typeface="Arial"/>
                <a:sym typeface="Arial"/>
              </a:rPr>
              <a:t>No randomness</a:t>
            </a:r>
            <a:endParaRPr sz="1600"/>
          </a:p>
          <a:p>
            <a:pPr marL="0" marR="0" lvl="0" indent="-88900" algn="l" rtl="0">
              <a:spcBef>
                <a:spcPts val="0"/>
              </a:spcBef>
              <a:spcAft>
                <a:spcPts val="0"/>
              </a:spcAft>
              <a:buClr>
                <a:srgbClr val="000000"/>
              </a:buClr>
              <a:buSzPts val="1400"/>
              <a:buFont typeface="Arial"/>
              <a:buChar char="•"/>
            </a:pPr>
            <a:r>
              <a:rPr lang="en-US"/>
              <a:t>N</a:t>
            </a:r>
            <a:r>
              <a:rPr lang="en-US">
                <a:solidFill>
                  <a:srgbClr val="000000"/>
                </a:solidFill>
                <a:latin typeface="Arial"/>
                <a:ea typeface="Arial"/>
                <a:cs typeface="Arial"/>
                <a:sym typeface="Arial"/>
              </a:rPr>
              <a:t>eed to know the mechanism of the system and we have to obtain sufficient kinetic data, which, however, may not be available in many cases.</a:t>
            </a:r>
            <a:endParaRPr sz="1600"/>
          </a:p>
          <a:p>
            <a:pPr marL="0" marR="0" lvl="0" indent="-88900" algn="l" rtl="0">
              <a:spcBef>
                <a:spcPts val="0"/>
              </a:spcBef>
              <a:spcAft>
                <a:spcPts val="0"/>
              </a:spcAft>
              <a:buClr>
                <a:srgbClr val="000000"/>
              </a:buClr>
              <a:buSzPts val="1400"/>
              <a:buFont typeface="Arial"/>
              <a:buChar char="•"/>
            </a:pPr>
            <a:r>
              <a:rPr lang="en-US"/>
              <a:t>C</a:t>
            </a:r>
            <a:r>
              <a:rPr lang="en-US">
                <a:solidFill>
                  <a:srgbClr val="000000"/>
                </a:solidFill>
                <a:latin typeface="Arial"/>
                <a:ea typeface="Arial"/>
                <a:cs typeface="Arial"/>
                <a:sym typeface="Arial"/>
              </a:rPr>
              <a:t>omputational burden of numerical simulation of a large number of ODEs, makes the analysis of a large model extremely expensive. </a:t>
            </a:r>
            <a:endParaRPr sz="1600"/>
          </a:p>
          <a:p>
            <a:pPr marL="0" marR="0" lvl="0" indent="-88900" algn="l" rtl="0">
              <a:spcBef>
                <a:spcPts val="0"/>
              </a:spcBef>
              <a:spcAft>
                <a:spcPts val="0"/>
              </a:spcAft>
              <a:buClr>
                <a:srgbClr val="000000"/>
              </a:buClr>
              <a:buSzPts val="1400"/>
              <a:buFont typeface="Arial"/>
              <a:buChar char="•"/>
            </a:pPr>
            <a:r>
              <a:rPr lang="en-US"/>
              <a:t>L</a:t>
            </a:r>
            <a:r>
              <a:rPr lang="en-US">
                <a:solidFill>
                  <a:srgbClr val="000000"/>
                </a:solidFill>
                <a:latin typeface="Arial"/>
                <a:ea typeface="Arial"/>
                <a:cs typeface="Arial"/>
                <a:sym typeface="Arial"/>
              </a:rPr>
              <a:t>ack of graphical representation.</a:t>
            </a:r>
            <a:endParaRPr>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2"/>
          <p:cNvSpPr txBox="1">
            <a:spLocks noGrp="1"/>
          </p:cNvSpPr>
          <p:nvPr>
            <p:ph type="title" idx="4294967295"/>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1"/>
              </a:buClr>
              <a:buSzPts val="2800"/>
              <a:buFont typeface="Arial"/>
              <a:buNone/>
            </a:pPr>
            <a:r>
              <a:rPr lang="en-US" b="1"/>
              <a:t>TYPES OF MODELS</a:t>
            </a:r>
            <a:endParaRPr b="1"/>
          </a:p>
        </p:txBody>
      </p:sp>
      <p:sp>
        <p:nvSpPr>
          <p:cNvPr id="169" name="Google Shape;169;p12"/>
          <p:cNvSpPr txBox="1">
            <a:spLocks noGrp="1"/>
          </p:cNvSpPr>
          <p:nvPr>
            <p:ph type="body" idx="1"/>
          </p:nvPr>
        </p:nvSpPr>
        <p:spPr>
          <a:xfrm>
            <a:off x="581192" y="2180496"/>
            <a:ext cx="11029615" cy="3678303"/>
          </a:xfrm>
          <a:prstGeom prst="rect">
            <a:avLst/>
          </a:prstGeom>
          <a:noFill/>
          <a:ln>
            <a:noFill/>
          </a:ln>
        </p:spPr>
        <p:txBody>
          <a:bodyPr spcFirstLastPara="1" wrap="square" lIns="91425" tIns="45700" rIns="91425" bIns="45700" anchor="ctr" anchorCtr="0">
            <a:normAutofit/>
          </a:bodyPr>
          <a:lstStyle/>
          <a:p>
            <a:pPr marL="0" lvl="0" indent="0" algn="l" rtl="0">
              <a:lnSpc>
                <a:spcPct val="150000"/>
              </a:lnSpc>
              <a:spcBef>
                <a:spcPts val="0"/>
              </a:spcBef>
              <a:spcAft>
                <a:spcPts val="0"/>
              </a:spcAft>
              <a:buSzPct val="91999"/>
              <a:buNone/>
            </a:pPr>
            <a:r>
              <a:rPr lang="en-US" sz="1800" b="1" i="0" u="none" strike="noStrike" dirty="0">
                <a:solidFill>
                  <a:srgbClr val="000000"/>
                </a:solidFill>
                <a:latin typeface="Arial"/>
                <a:ea typeface="Arial"/>
                <a:cs typeface="Arial"/>
                <a:sym typeface="Arial"/>
              </a:rPr>
              <a:t>Deterministic Models</a:t>
            </a:r>
            <a:endParaRPr sz="1800" b="0" dirty="0"/>
          </a:p>
          <a:p>
            <a:pPr marL="0" lvl="0" indent="0" algn="l" rtl="0">
              <a:lnSpc>
                <a:spcPct val="150000"/>
              </a:lnSpc>
              <a:spcBef>
                <a:spcPts val="0"/>
              </a:spcBef>
              <a:spcAft>
                <a:spcPts val="0"/>
              </a:spcAft>
              <a:buSzPct val="91999"/>
              <a:buNone/>
            </a:pPr>
            <a:r>
              <a:rPr lang="en-US" sz="1800" b="1" i="0" u="none" strike="noStrike" dirty="0">
                <a:solidFill>
                  <a:srgbClr val="000000"/>
                </a:solidFill>
                <a:latin typeface="Arial"/>
                <a:ea typeface="Arial"/>
                <a:cs typeface="Arial"/>
                <a:sym typeface="Arial"/>
              </a:rPr>
              <a:t>PDE Models-</a:t>
            </a:r>
            <a:endParaRPr dirty="0"/>
          </a:p>
          <a:p>
            <a:pPr marL="0" lvl="0" indent="0" algn="l" rtl="0">
              <a:lnSpc>
                <a:spcPct val="150000"/>
              </a:lnSpc>
              <a:spcBef>
                <a:spcPts val="0"/>
              </a:spcBef>
              <a:spcAft>
                <a:spcPts val="0"/>
              </a:spcAft>
              <a:buSzPct val="91999"/>
              <a:buNone/>
            </a:pPr>
            <a:endParaRPr b="0" dirty="0"/>
          </a:p>
          <a:p>
            <a:pPr marL="306000" lvl="0" indent="-298113" algn="l" rtl="0">
              <a:lnSpc>
                <a:spcPct val="150000"/>
              </a:lnSpc>
              <a:spcBef>
                <a:spcPts val="0"/>
              </a:spcBef>
              <a:spcAft>
                <a:spcPts val="0"/>
              </a:spcAft>
              <a:buSzPct val="91999"/>
              <a:buChar char="◼"/>
            </a:pPr>
            <a:r>
              <a:rPr lang="en-US" sz="1800" b="0" i="0" u="none" strike="noStrike" dirty="0">
                <a:solidFill>
                  <a:srgbClr val="000000"/>
                </a:solidFill>
                <a:latin typeface="Arial"/>
                <a:ea typeface="Arial"/>
                <a:cs typeface="Arial"/>
                <a:sym typeface="Arial"/>
              </a:rPr>
              <a:t>Partial differential equations and ODEs are often complementary modeling tools and may coexist in the analysis of the same system.</a:t>
            </a:r>
            <a:endParaRPr b="0" dirty="0"/>
          </a:p>
          <a:p>
            <a:pPr marL="306000" lvl="0" indent="-298113" algn="l" rtl="0">
              <a:lnSpc>
                <a:spcPct val="150000"/>
              </a:lnSpc>
              <a:spcBef>
                <a:spcPts val="0"/>
              </a:spcBef>
              <a:spcAft>
                <a:spcPts val="0"/>
              </a:spcAft>
              <a:buSzPct val="91999"/>
              <a:buChar char="◼"/>
            </a:pPr>
            <a:r>
              <a:rPr lang="en-US" dirty="0">
                <a:solidFill>
                  <a:srgbClr val="000000"/>
                </a:solidFill>
              </a:rPr>
              <a:t>M</a:t>
            </a:r>
            <a:r>
              <a:rPr lang="en-US" sz="1800" b="0" i="0" u="none" strike="noStrike" dirty="0">
                <a:solidFill>
                  <a:srgbClr val="000000"/>
                </a:solidFill>
                <a:latin typeface="Arial"/>
                <a:ea typeface="Arial"/>
                <a:cs typeface="Arial"/>
                <a:sym typeface="Arial"/>
              </a:rPr>
              <a:t>uch more computationally demanding than ODEs</a:t>
            </a:r>
            <a:r>
              <a:rPr lang="en-US" dirty="0">
                <a:solidFill>
                  <a:srgbClr val="000000"/>
                </a:solidFill>
              </a:rPr>
              <a:t>.</a:t>
            </a:r>
            <a:endParaRPr dirty="0">
              <a:solidFill>
                <a:srgbClr val="000000"/>
              </a:solidFill>
            </a:endParaRPr>
          </a:p>
          <a:p>
            <a:pPr marL="0" lvl="0" indent="0" algn="l" rtl="0">
              <a:spcBef>
                <a:spcPts val="360"/>
              </a:spcBef>
              <a:spcAft>
                <a:spcPts val="0"/>
              </a:spcAft>
              <a:buSzPct val="91999"/>
              <a:buNone/>
            </a:pP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3"/>
          <p:cNvSpPr txBox="1">
            <a:spLocks noGrp="1"/>
          </p:cNvSpPr>
          <p:nvPr>
            <p:ph type="title" idx="4294967295"/>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1"/>
              </a:buClr>
              <a:buSzPts val="2800"/>
              <a:buFont typeface="Arial"/>
              <a:buNone/>
            </a:pPr>
            <a:r>
              <a:rPr lang="en-US" b="1"/>
              <a:t>TYPES OF MODELS</a:t>
            </a:r>
            <a:endParaRPr b="1"/>
          </a:p>
        </p:txBody>
      </p:sp>
      <p:sp>
        <p:nvSpPr>
          <p:cNvPr id="175" name="Google Shape;175;p13"/>
          <p:cNvSpPr txBox="1">
            <a:spLocks noGrp="1"/>
          </p:cNvSpPr>
          <p:nvPr>
            <p:ph type="body" idx="1"/>
          </p:nvPr>
        </p:nvSpPr>
        <p:spPr>
          <a:xfrm>
            <a:off x="253700" y="1923775"/>
            <a:ext cx="11654700" cy="4762500"/>
          </a:xfrm>
          <a:prstGeom prst="rect">
            <a:avLst/>
          </a:prstGeom>
          <a:noFill/>
          <a:ln>
            <a:noFill/>
          </a:ln>
        </p:spPr>
        <p:txBody>
          <a:bodyPr spcFirstLastPara="1" wrap="square" lIns="91425" tIns="45700" rIns="91425" bIns="45700" anchor="ctr" anchorCtr="0">
            <a:normAutofit fontScale="85000" lnSpcReduction="10000"/>
          </a:bodyPr>
          <a:lstStyle/>
          <a:p>
            <a:pPr marL="306000" lvl="0" indent="-313886" algn="l" rtl="0">
              <a:lnSpc>
                <a:spcPct val="150000"/>
              </a:lnSpc>
              <a:spcBef>
                <a:spcPts val="0"/>
              </a:spcBef>
              <a:spcAft>
                <a:spcPts val="0"/>
              </a:spcAft>
              <a:buSzPct val="91999"/>
              <a:buChar char="◼"/>
            </a:pPr>
            <a:r>
              <a:rPr lang="en-US" sz="1800" b="1" i="0" u="none" strike="noStrike">
                <a:solidFill>
                  <a:srgbClr val="000000"/>
                </a:solidFill>
                <a:latin typeface="Arial"/>
                <a:ea typeface="Arial"/>
                <a:cs typeface="Arial"/>
                <a:sym typeface="Arial"/>
              </a:rPr>
              <a:t>Stochastic models-</a:t>
            </a:r>
            <a:endParaRPr/>
          </a:p>
          <a:p>
            <a:pPr marL="0" lvl="0" indent="0" algn="l" rtl="0">
              <a:lnSpc>
                <a:spcPct val="150000"/>
              </a:lnSpc>
              <a:spcBef>
                <a:spcPts val="0"/>
              </a:spcBef>
              <a:spcAft>
                <a:spcPts val="0"/>
              </a:spcAft>
              <a:buSzPct val="91999"/>
              <a:buNone/>
            </a:pPr>
            <a:endParaRPr b="0"/>
          </a:p>
          <a:p>
            <a:pPr marL="306000" lvl="0" indent="-313886" algn="l" rtl="0">
              <a:lnSpc>
                <a:spcPct val="150000"/>
              </a:lnSpc>
              <a:spcBef>
                <a:spcPts val="0"/>
              </a:spcBef>
              <a:spcAft>
                <a:spcPts val="0"/>
              </a:spcAft>
              <a:buSzPct val="91999"/>
              <a:buFont typeface="Arial"/>
              <a:buChar char="•"/>
            </a:pPr>
            <a:r>
              <a:rPr lang="en-US" sz="1800" b="0" i="0" u="none" strike="noStrike">
                <a:solidFill>
                  <a:srgbClr val="000000"/>
                </a:solidFill>
                <a:latin typeface="Arial"/>
                <a:ea typeface="Arial"/>
                <a:cs typeface="Arial"/>
                <a:sym typeface="Arial"/>
              </a:rPr>
              <a:t>Stochastic modeling forecasts the probability of various outcomes under different conditions, using random variables.</a:t>
            </a:r>
            <a:endParaRPr/>
          </a:p>
          <a:p>
            <a:pPr marL="306000" lvl="0" indent="-313886" algn="l" rtl="0">
              <a:lnSpc>
                <a:spcPct val="150000"/>
              </a:lnSpc>
              <a:spcBef>
                <a:spcPts val="0"/>
              </a:spcBef>
              <a:spcAft>
                <a:spcPts val="0"/>
              </a:spcAft>
              <a:buSzPct val="91999"/>
              <a:buFont typeface="Arial"/>
              <a:buChar char="•"/>
            </a:pPr>
            <a:r>
              <a:rPr lang="en-US">
                <a:solidFill>
                  <a:srgbClr val="000000"/>
                </a:solidFill>
              </a:rPr>
              <a:t>It</a:t>
            </a:r>
            <a:r>
              <a:rPr lang="en-US" sz="1800" b="0" i="0" u="none" strike="noStrike">
                <a:solidFill>
                  <a:srgbClr val="000000"/>
                </a:solidFill>
                <a:latin typeface="Arial"/>
                <a:ea typeface="Arial"/>
                <a:cs typeface="Arial"/>
                <a:sym typeface="Arial"/>
              </a:rPr>
              <a:t> presents data and predicts outcomes that account for certain levels of unpredictability or randomness.</a:t>
            </a:r>
            <a:endParaRPr/>
          </a:p>
          <a:p>
            <a:pPr marL="306000" lvl="0" indent="-313886" algn="l" rtl="0">
              <a:lnSpc>
                <a:spcPct val="150000"/>
              </a:lnSpc>
              <a:spcBef>
                <a:spcPts val="0"/>
              </a:spcBef>
              <a:spcAft>
                <a:spcPts val="0"/>
              </a:spcAft>
              <a:buSzPct val="91999"/>
              <a:buFont typeface="Arial"/>
              <a:buChar char="•"/>
            </a:pPr>
            <a:r>
              <a:rPr lang="en-US">
                <a:solidFill>
                  <a:srgbClr val="000000"/>
                </a:solidFill>
              </a:rPr>
              <a:t>U</a:t>
            </a:r>
            <a:r>
              <a:rPr lang="en-US" sz="1800" b="0" i="0" u="none" strike="noStrike">
                <a:solidFill>
                  <a:srgbClr val="000000"/>
                </a:solidFill>
                <a:latin typeface="Arial"/>
                <a:ea typeface="Arial"/>
                <a:cs typeface="Arial"/>
                <a:sym typeface="Arial"/>
              </a:rPr>
              <a:t>ses probabilistic methods to describe and simulate the behavior of biological systems. </a:t>
            </a:r>
            <a:endParaRPr/>
          </a:p>
          <a:p>
            <a:pPr marL="306000" lvl="0" indent="-313886" algn="l" rtl="0">
              <a:lnSpc>
                <a:spcPct val="150000"/>
              </a:lnSpc>
              <a:spcBef>
                <a:spcPts val="0"/>
              </a:spcBef>
              <a:spcAft>
                <a:spcPts val="0"/>
              </a:spcAft>
              <a:buSzPct val="91999"/>
              <a:buFont typeface="Arial"/>
              <a:buChar char="•"/>
            </a:pPr>
            <a:r>
              <a:rPr lang="en-US">
                <a:solidFill>
                  <a:srgbClr val="000000"/>
                </a:solidFill>
              </a:rPr>
              <a:t>A</a:t>
            </a:r>
            <a:r>
              <a:rPr lang="en-US" sz="1800" b="0" i="0" u="none" strike="noStrike">
                <a:solidFill>
                  <a:srgbClr val="000000"/>
                </a:solidFill>
                <a:latin typeface="Arial"/>
                <a:ea typeface="Arial"/>
                <a:cs typeface="Arial"/>
                <a:sym typeface="Arial"/>
              </a:rPr>
              <a:t>ccounts for randomness and uncertainty inherent in biological processes.</a:t>
            </a:r>
            <a:endParaRPr/>
          </a:p>
          <a:p>
            <a:pPr marL="306000" lvl="0" indent="-313886" algn="l" rtl="0">
              <a:lnSpc>
                <a:spcPct val="150000"/>
              </a:lnSpc>
              <a:spcBef>
                <a:spcPts val="0"/>
              </a:spcBef>
              <a:spcAft>
                <a:spcPts val="0"/>
              </a:spcAft>
              <a:buSzPct val="91999"/>
              <a:buFont typeface="Arial"/>
              <a:buChar char="•"/>
            </a:pPr>
            <a:r>
              <a:rPr lang="en-US" sz="1800" b="0" i="0" u="none" strike="noStrike">
                <a:solidFill>
                  <a:srgbClr val="000000"/>
                </a:solidFill>
                <a:latin typeface="Arial"/>
                <a:ea typeface="Arial"/>
                <a:cs typeface="Arial"/>
                <a:sym typeface="Arial"/>
              </a:rPr>
              <a:t>The discrete and random occurrence of chemical reactions, and low copy numbers of chemical species, in systems biology necessitate stochastic approaches.</a:t>
            </a:r>
            <a:endParaRPr/>
          </a:p>
          <a:p>
            <a:pPr marL="306000" lvl="0" indent="-313886" algn="l" rtl="0">
              <a:lnSpc>
                <a:spcPct val="150000"/>
              </a:lnSpc>
              <a:spcBef>
                <a:spcPts val="0"/>
              </a:spcBef>
              <a:spcAft>
                <a:spcPts val="0"/>
              </a:spcAft>
              <a:buSzPct val="91999"/>
              <a:buFont typeface="Arial"/>
              <a:buChar char="•"/>
            </a:pPr>
            <a:r>
              <a:rPr lang="en-US" sz="1800" b="0" i="0" u="none" strike="noStrike">
                <a:solidFill>
                  <a:srgbClr val="000000"/>
                </a:solidFill>
                <a:latin typeface="Arial"/>
                <a:ea typeface="Arial"/>
                <a:cs typeface="Arial"/>
                <a:sym typeface="Arial"/>
              </a:rPr>
              <a:t>In stochastic modeling, the state of the system evolves over time in a probabilistic manner. </a:t>
            </a:r>
            <a:endParaRPr sz="1800" b="0" i="0" u="none" strike="noStrike">
              <a:solidFill>
                <a:srgbClr val="000000"/>
              </a:solidFill>
              <a:latin typeface="Arial"/>
              <a:ea typeface="Arial"/>
              <a:cs typeface="Arial"/>
              <a:sym typeface="Arial"/>
            </a:endParaRPr>
          </a:p>
          <a:p>
            <a:pPr marL="306000" lvl="0" indent="-313886" algn="l" rtl="0">
              <a:lnSpc>
                <a:spcPct val="150000"/>
              </a:lnSpc>
              <a:spcBef>
                <a:spcPts val="0"/>
              </a:spcBef>
              <a:spcAft>
                <a:spcPts val="0"/>
              </a:spcAft>
              <a:buSzPct val="91999"/>
              <a:buFont typeface="Arial"/>
              <a:buChar char="•"/>
            </a:pPr>
            <a:r>
              <a:rPr lang="en-US" sz="1800" b="0" i="0" u="none" strike="noStrike">
                <a:solidFill>
                  <a:srgbClr val="000000"/>
                </a:solidFill>
                <a:latin typeface="Arial"/>
                <a:ea typeface="Arial"/>
                <a:cs typeface="Arial"/>
                <a:sym typeface="Arial"/>
              </a:rPr>
              <a:t>This randomness can arise from various sources, including molecular </a:t>
            </a:r>
            <a:r>
              <a:rPr lang="en-US">
                <a:solidFill>
                  <a:srgbClr val="000000"/>
                </a:solidFill>
                <a:latin typeface="Arial"/>
                <a:ea typeface="Arial"/>
                <a:cs typeface="Arial"/>
                <a:sym typeface="Arial"/>
              </a:rPr>
              <a:t>f</a:t>
            </a:r>
            <a:r>
              <a:rPr lang="en-US" sz="1800" b="0" i="0" u="none" strike="noStrike">
                <a:solidFill>
                  <a:srgbClr val="000000"/>
                </a:solidFill>
                <a:latin typeface="Arial"/>
                <a:ea typeface="Arial"/>
                <a:cs typeface="Arial"/>
                <a:sym typeface="Arial"/>
              </a:rPr>
              <a:t>luctuations, environmental </a:t>
            </a:r>
            <a:r>
              <a:rPr lang="en-US">
                <a:solidFill>
                  <a:srgbClr val="000000"/>
                </a:solidFill>
                <a:latin typeface="Arial"/>
                <a:ea typeface="Arial"/>
                <a:cs typeface="Arial"/>
                <a:sym typeface="Arial"/>
              </a:rPr>
              <a:t>v</a:t>
            </a:r>
            <a:r>
              <a:rPr lang="en-US" sz="1800" b="0" i="0" u="none" strike="noStrike">
                <a:solidFill>
                  <a:srgbClr val="000000"/>
                </a:solidFill>
                <a:latin typeface="Arial"/>
                <a:ea typeface="Arial"/>
                <a:cs typeface="Arial"/>
                <a:sym typeface="Arial"/>
              </a:rPr>
              <a:t>ariability, and intrinsic </a:t>
            </a:r>
            <a:r>
              <a:rPr lang="en-US">
                <a:solidFill>
                  <a:srgbClr val="000000"/>
                </a:solidFill>
              </a:rPr>
              <a:t>n</a:t>
            </a:r>
            <a:r>
              <a:rPr lang="en-US" sz="1800" b="0" i="0" u="none" strike="noStrike">
                <a:solidFill>
                  <a:srgbClr val="000000"/>
                </a:solidFill>
                <a:latin typeface="Arial"/>
                <a:ea typeface="Arial"/>
                <a:cs typeface="Arial"/>
                <a:sym typeface="Arial"/>
              </a:rPr>
              <a:t>oise </a:t>
            </a:r>
            <a:endParaRPr/>
          </a:p>
          <a:p>
            <a:pPr marL="306000" lvl="0" indent="-313886" algn="l" rtl="0">
              <a:lnSpc>
                <a:spcPct val="150000"/>
              </a:lnSpc>
              <a:spcBef>
                <a:spcPts val="0"/>
              </a:spcBef>
              <a:spcAft>
                <a:spcPts val="0"/>
              </a:spcAft>
              <a:buSzPct val="91999"/>
              <a:buFont typeface="Arial"/>
              <a:buChar char="•"/>
            </a:pPr>
            <a:r>
              <a:rPr lang="en-US" sz="1800" b="0" i="0" u="none" strike="noStrike">
                <a:solidFill>
                  <a:srgbClr val="000000"/>
                </a:solidFill>
                <a:latin typeface="Arial"/>
                <a:ea typeface="Arial"/>
                <a:cs typeface="Arial"/>
                <a:sym typeface="Arial"/>
              </a:rPr>
              <a:t>Stochastic modeling approaches in systems biology include- Stochastic Differential Equations (SDEs), Gillespie Algorithm and Markov Chains</a:t>
            </a:r>
            <a:endParaRPr/>
          </a:p>
          <a:p>
            <a:pPr marL="306000" lvl="0" indent="-216617" algn="l" rtl="0">
              <a:spcBef>
                <a:spcPts val="306"/>
              </a:spcBef>
              <a:spcAft>
                <a:spcPts val="0"/>
              </a:spcAft>
              <a:buSzPct val="91999"/>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4"/>
          <p:cNvSpPr txBox="1">
            <a:spLocks noGrp="1"/>
          </p:cNvSpPr>
          <p:nvPr>
            <p:ph type="title" idx="4294967295"/>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1"/>
              </a:buClr>
              <a:buSzPts val="2800"/>
              <a:buFont typeface="Arial"/>
              <a:buNone/>
            </a:pPr>
            <a:r>
              <a:rPr lang="en-US" b="1"/>
              <a:t>TYPES OF MODELS</a:t>
            </a:r>
            <a:endParaRPr b="1"/>
          </a:p>
        </p:txBody>
      </p:sp>
      <p:sp>
        <p:nvSpPr>
          <p:cNvPr id="181" name="Google Shape;181;p14"/>
          <p:cNvSpPr txBox="1">
            <a:spLocks noGrp="1"/>
          </p:cNvSpPr>
          <p:nvPr>
            <p:ph type="body" idx="1"/>
          </p:nvPr>
        </p:nvSpPr>
        <p:spPr>
          <a:xfrm>
            <a:off x="201168" y="1856232"/>
            <a:ext cx="11878056" cy="4892040"/>
          </a:xfrm>
          <a:prstGeom prst="rect">
            <a:avLst/>
          </a:prstGeom>
          <a:noFill/>
          <a:ln>
            <a:noFill/>
          </a:ln>
        </p:spPr>
        <p:txBody>
          <a:bodyPr spcFirstLastPara="1" wrap="square" lIns="91425" tIns="45700" rIns="91425" bIns="45700" anchor="ctr" anchorCtr="0">
            <a:normAutofit fontScale="92500"/>
          </a:bodyPr>
          <a:lstStyle/>
          <a:p>
            <a:pPr marL="306000" lvl="0" indent="-321773" algn="l" rtl="0">
              <a:lnSpc>
                <a:spcPct val="120000"/>
              </a:lnSpc>
              <a:spcBef>
                <a:spcPts val="0"/>
              </a:spcBef>
              <a:spcAft>
                <a:spcPts val="0"/>
              </a:spcAft>
              <a:buSzPts val="1656"/>
              <a:buChar char="◼"/>
            </a:pPr>
            <a:r>
              <a:rPr lang="en-US" sz="1800" b="1" i="0" u="none" strike="noStrike">
                <a:solidFill>
                  <a:srgbClr val="000000"/>
                </a:solidFill>
                <a:latin typeface="Arial"/>
                <a:ea typeface="Arial"/>
                <a:cs typeface="Arial"/>
                <a:sym typeface="Arial"/>
              </a:rPr>
              <a:t> Agent-based models-</a:t>
            </a:r>
            <a:endParaRPr b="0"/>
          </a:p>
          <a:p>
            <a:pPr marL="306000" lvl="0" indent="-321773" algn="l" rtl="0">
              <a:lnSpc>
                <a:spcPct val="120000"/>
              </a:lnSpc>
              <a:spcBef>
                <a:spcPts val="0"/>
              </a:spcBef>
              <a:spcAft>
                <a:spcPts val="0"/>
              </a:spcAft>
              <a:buSzPts val="1656"/>
              <a:buFont typeface="Arial"/>
              <a:buChar char="•"/>
            </a:pPr>
            <a:r>
              <a:rPr lang="en-US" sz="1800" b="0" i="0" u="none" strike="noStrike">
                <a:solidFill>
                  <a:srgbClr val="000000"/>
                </a:solidFill>
                <a:latin typeface="Arial"/>
                <a:ea typeface="Arial"/>
                <a:cs typeface="Arial"/>
                <a:sym typeface="Arial"/>
              </a:rPr>
              <a:t>ABM is a complex systems approach for simulating the interactions between multiple independent entities, termed ‘agents’</a:t>
            </a:r>
            <a:r>
              <a:rPr lang="en-US">
                <a:solidFill>
                  <a:srgbClr val="000000"/>
                </a:solidFill>
              </a:rPr>
              <a:t>.</a:t>
            </a:r>
            <a:endParaRPr/>
          </a:p>
          <a:p>
            <a:pPr marL="306000" lvl="0" indent="-321773" algn="l" rtl="0">
              <a:lnSpc>
                <a:spcPct val="120000"/>
              </a:lnSpc>
              <a:spcBef>
                <a:spcPts val="0"/>
              </a:spcBef>
              <a:spcAft>
                <a:spcPts val="0"/>
              </a:spcAft>
              <a:buSzPts val="1656"/>
              <a:buFont typeface="Arial"/>
              <a:buChar char="•"/>
            </a:pPr>
            <a:r>
              <a:rPr lang="en-US">
                <a:solidFill>
                  <a:srgbClr val="000000"/>
                </a:solidFill>
              </a:rPr>
              <a:t>B</a:t>
            </a:r>
            <a:r>
              <a:rPr lang="en-US" sz="1800" b="0" i="0" u="none" strike="noStrike">
                <a:solidFill>
                  <a:srgbClr val="000000"/>
                </a:solidFill>
                <a:latin typeface="Arial"/>
                <a:ea typeface="Arial"/>
                <a:cs typeface="Arial"/>
                <a:sym typeface="Arial"/>
              </a:rPr>
              <a:t>ottom-up approach that models a complex system from the perspective of its constituent components.</a:t>
            </a:r>
            <a:endParaRPr/>
          </a:p>
          <a:p>
            <a:pPr marL="306000" lvl="0" indent="-321773" algn="l" rtl="0">
              <a:lnSpc>
                <a:spcPct val="120000"/>
              </a:lnSpc>
              <a:spcBef>
                <a:spcPts val="0"/>
              </a:spcBef>
              <a:spcAft>
                <a:spcPts val="0"/>
              </a:spcAft>
              <a:buSzPts val="1656"/>
              <a:buFont typeface="Arial"/>
              <a:buChar char="•"/>
            </a:pPr>
            <a:r>
              <a:rPr lang="en-US" sz="1800" b="0" i="0" u="none" strike="noStrike">
                <a:solidFill>
                  <a:srgbClr val="000000"/>
                </a:solidFill>
                <a:latin typeface="Arial"/>
                <a:ea typeface="Arial"/>
                <a:cs typeface="Arial"/>
                <a:sym typeface="Arial"/>
              </a:rPr>
              <a:t>Governing rules define how each agent moves and interacts leading to the reproduction of a complex phenomenon.</a:t>
            </a:r>
            <a:endParaRPr/>
          </a:p>
          <a:p>
            <a:pPr marL="306000" lvl="0" indent="-216617" algn="l" rtl="0">
              <a:spcBef>
                <a:spcPts val="0"/>
              </a:spcBef>
              <a:spcAft>
                <a:spcPts val="0"/>
              </a:spcAft>
              <a:buSzPts val="1656"/>
              <a:buFont typeface="Arial"/>
              <a:buNone/>
            </a:pPr>
            <a:endParaRPr>
              <a:solidFill>
                <a:srgbClr val="000000"/>
              </a:solidFill>
              <a:latin typeface="Arial"/>
              <a:ea typeface="Arial"/>
              <a:cs typeface="Arial"/>
              <a:sym typeface="Arial"/>
            </a:endParaRPr>
          </a:p>
          <a:p>
            <a:pPr marL="306000" lvl="0" indent="-216617" algn="l" rtl="0">
              <a:spcBef>
                <a:spcPts val="0"/>
              </a:spcBef>
              <a:spcAft>
                <a:spcPts val="0"/>
              </a:spcAft>
              <a:buSzPts val="1656"/>
              <a:buFont typeface="Arial"/>
              <a:buNone/>
            </a:pPr>
            <a:endParaRPr sz="1800" b="0" i="0" u="none" strike="noStrike">
              <a:solidFill>
                <a:srgbClr val="000000"/>
              </a:solidFill>
              <a:latin typeface="Arial"/>
              <a:ea typeface="Arial"/>
              <a:cs typeface="Arial"/>
              <a:sym typeface="Arial"/>
            </a:endParaRPr>
          </a:p>
          <a:p>
            <a:pPr marL="306000" lvl="0" indent="-321773" algn="l" rtl="0">
              <a:lnSpc>
                <a:spcPct val="120000"/>
              </a:lnSpc>
              <a:spcBef>
                <a:spcPts val="0"/>
              </a:spcBef>
              <a:spcAft>
                <a:spcPts val="0"/>
              </a:spcAft>
              <a:buSzPts val="1656"/>
              <a:buChar char="◼"/>
            </a:pPr>
            <a:r>
              <a:rPr lang="en-US" sz="1800" b="1" i="0" u="none" strike="noStrike">
                <a:solidFill>
                  <a:srgbClr val="000000"/>
                </a:solidFill>
                <a:latin typeface="Arial"/>
                <a:ea typeface="Arial"/>
                <a:cs typeface="Arial"/>
                <a:sym typeface="Arial"/>
              </a:rPr>
              <a:t>Hybrid Models-</a:t>
            </a:r>
            <a:endParaRPr b="0"/>
          </a:p>
          <a:p>
            <a:pPr marL="306000" lvl="0" indent="-321773" algn="l" rtl="0">
              <a:lnSpc>
                <a:spcPct val="120000"/>
              </a:lnSpc>
              <a:spcBef>
                <a:spcPts val="0"/>
              </a:spcBef>
              <a:spcAft>
                <a:spcPts val="0"/>
              </a:spcAft>
              <a:buSzPts val="1656"/>
              <a:buFont typeface="Arial"/>
              <a:buChar char="•"/>
            </a:pPr>
            <a:r>
              <a:rPr lang="en-US" sz="1800" b="0" i="0" u="none" strike="noStrike">
                <a:solidFill>
                  <a:srgbClr val="000000"/>
                </a:solidFill>
                <a:latin typeface="Arial"/>
                <a:ea typeface="Arial"/>
                <a:cs typeface="Arial"/>
                <a:sym typeface="Arial"/>
              </a:rPr>
              <a:t>The term hybrid refers to something of a mixed origin or composition. </a:t>
            </a:r>
            <a:endParaRPr/>
          </a:p>
          <a:p>
            <a:pPr marL="306000" lvl="0" indent="-321773" algn="l" rtl="0">
              <a:lnSpc>
                <a:spcPct val="120000"/>
              </a:lnSpc>
              <a:spcBef>
                <a:spcPts val="0"/>
              </a:spcBef>
              <a:spcAft>
                <a:spcPts val="0"/>
              </a:spcAft>
              <a:buSzPts val="1656"/>
              <a:buFont typeface="Arial"/>
              <a:buChar char="•"/>
            </a:pPr>
            <a:r>
              <a:rPr lang="en-US" sz="1800" b="0" i="0" u="none" strike="noStrike">
                <a:solidFill>
                  <a:srgbClr val="000000"/>
                </a:solidFill>
                <a:latin typeface="Arial"/>
                <a:ea typeface="Arial"/>
                <a:cs typeface="Arial"/>
                <a:sym typeface="Arial"/>
              </a:rPr>
              <a:t>A biological system is inherently hybrid.</a:t>
            </a:r>
            <a:endParaRPr/>
          </a:p>
          <a:p>
            <a:pPr marL="306000" lvl="0" indent="-321773" algn="l" rtl="0">
              <a:lnSpc>
                <a:spcPct val="120000"/>
              </a:lnSpc>
              <a:spcBef>
                <a:spcPts val="0"/>
              </a:spcBef>
              <a:spcAft>
                <a:spcPts val="0"/>
              </a:spcAft>
              <a:buSzPts val="1656"/>
              <a:buFont typeface="Arial"/>
              <a:buChar char="•"/>
            </a:pPr>
            <a:r>
              <a:rPr lang="en-US" sz="1800" b="0" i="0" u="none" strike="noStrike">
                <a:solidFill>
                  <a:srgbClr val="000000"/>
                </a:solidFill>
                <a:latin typeface="Arial"/>
                <a:ea typeface="Arial"/>
                <a:cs typeface="Arial"/>
                <a:sym typeface="Arial"/>
              </a:rPr>
              <a:t>For such biological phenomena, hybrid models that integrate discrete with continuous or stochastic with deterministic methods could be more appropriate.</a:t>
            </a:r>
            <a:endParaRPr/>
          </a:p>
          <a:p>
            <a:pPr marL="306000" lvl="0" indent="-321773" algn="l" rtl="0">
              <a:lnSpc>
                <a:spcPct val="120000"/>
              </a:lnSpc>
              <a:spcBef>
                <a:spcPts val="0"/>
              </a:spcBef>
              <a:spcAft>
                <a:spcPts val="0"/>
              </a:spcAft>
              <a:buSzPts val="1656"/>
              <a:buFont typeface="Arial"/>
              <a:buChar char="•"/>
            </a:pPr>
            <a:r>
              <a:rPr lang="en-US" sz="1800" b="0" i="0" u="none" strike="noStrike">
                <a:solidFill>
                  <a:srgbClr val="000000"/>
                </a:solidFill>
                <a:latin typeface="Arial"/>
                <a:ea typeface="Arial"/>
                <a:cs typeface="Arial"/>
                <a:sym typeface="Arial"/>
              </a:rPr>
              <a:t>Hybrid modeling in biology is mainly understood as the coupling of continuous and discrete formulations. </a:t>
            </a:r>
            <a:endParaRPr/>
          </a:p>
          <a:p>
            <a:pPr marL="306000" lvl="0" indent="-321773" algn="l" rtl="0">
              <a:lnSpc>
                <a:spcPct val="120000"/>
              </a:lnSpc>
              <a:spcBef>
                <a:spcPts val="0"/>
              </a:spcBef>
              <a:spcAft>
                <a:spcPts val="0"/>
              </a:spcAft>
              <a:buSzPts val="1656"/>
              <a:buFont typeface="Arial"/>
              <a:buChar char="•"/>
            </a:pPr>
            <a:r>
              <a:rPr lang="en-US" sz="1800" b="0" i="0" u="none" strike="noStrike">
                <a:solidFill>
                  <a:srgbClr val="000000"/>
                </a:solidFill>
                <a:latin typeface="Arial"/>
                <a:ea typeface="Arial"/>
                <a:cs typeface="Arial"/>
                <a:sym typeface="Arial"/>
              </a:rPr>
              <a:t>Classically reaction-diffusion systems of partial differential equations, representing the evolutions of chemical concentrations or densities, are coupled with cellular automata or agent-based models</a:t>
            </a:r>
            <a:r>
              <a:rPr lang="en-US">
                <a:solidFill>
                  <a:srgbClr val="000000"/>
                </a:solidFill>
              </a:rPr>
              <a:t>, </a:t>
            </a:r>
            <a:r>
              <a:rPr lang="en-US" sz="1800" b="0" i="0" u="none" strike="noStrike">
                <a:solidFill>
                  <a:srgbClr val="000000"/>
                </a:solidFill>
                <a:latin typeface="Arial"/>
                <a:ea typeface="Arial"/>
                <a:cs typeface="Arial"/>
                <a:sym typeface="Arial"/>
              </a:rPr>
              <a:t>used to represent the individual behavior of entities of interest.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5"/>
          <p:cNvSpPr txBox="1">
            <a:spLocks noGrp="1"/>
          </p:cNvSpPr>
          <p:nvPr>
            <p:ph type="title" idx="4294967295"/>
          </p:nvPr>
        </p:nvSpPr>
        <p:spPr>
          <a:xfrm>
            <a:off x="581200" y="702150"/>
            <a:ext cx="11029500" cy="840900"/>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1"/>
              </a:buClr>
              <a:buSzPts val="2800"/>
              <a:buFont typeface="Arial"/>
              <a:buNone/>
            </a:pPr>
            <a:r>
              <a:rPr lang="en-US" sz="3000" b="1">
                <a:latin typeface="Georgia"/>
                <a:ea typeface="Georgia"/>
                <a:cs typeface="Georgia"/>
                <a:sym typeface="Georgia"/>
              </a:rPr>
              <a:t>EXAMPLE 1: CENTRAL DOGMA ODE MODEL</a:t>
            </a:r>
            <a:endParaRPr sz="3000">
              <a:latin typeface="Georgia"/>
              <a:ea typeface="Georgia"/>
              <a:cs typeface="Georgia"/>
              <a:sym typeface="Georgia"/>
            </a:endParaRPr>
          </a:p>
        </p:txBody>
      </p:sp>
      <p:sp>
        <p:nvSpPr>
          <p:cNvPr id="187" name="Google Shape;187;p15"/>
          <p:cNvSpPr txBox="1">
            <a:spLocks noGrp="1"/>
          </p:cNvSpPr>
          <p:nvPr>
            <p:ph type="body" idx="1"/>
          </p:nvPr>
        </p:nvSpPr>
        <p:spPr>
          <a:xfrm>
            <a:off x="781217" y="2056671"/>
            <a:ext cx="11029615" cy="762729"/>
          </a:xfrm>
          <a:prstGeom prst="rect">
            <a:avLst/>
          </a:prstGeom>
          <a:noFill/>
          <a:ln>
            <a:noFill/>
          </a:ln>
        </p:spPr>
        <p:txBody>
          <a:bodyPr spcFirstLastPara="1" wrap="square" lIns="91425" tIns="45700" rIns="91425" bIns="45700" anchor="ctr" anchorCtr="0">
            <a:normAutofit/>
          </a:bodyPr>
          <a:lstStyle/>
          <a:p>
            <a:pPr marL="457200" lvl="0" indent="-333756" algn="l" rtl="0">
              <a:spcBef>
                <a:spcPts val="0"/>
              </a:spcBef>
              <a:spcAft>
                <a:spcPts val="0"/>
              </a:spcAft>
              <a:buSzPts val="1656"/>
              <a:buChar char="❖"/>
            </a:pPr>
            <a:r>
              <a:rPr lang="en-US" u="sng" dirty="0"/>
              <a:t>Understanding the System</a:t>
            </a:r>
            <a:r>
              <a:rPr lang="en-US" dirty="0"/>
              <a:t> : Define The cellular process/problem</a:t>
            </a:r>
            <a:endParaRPr dirty="0"/>
          </a:p>
        </p:txBody>
      </p:sp>
      <p:pic>
        <p:nvPicPr>
          <p:cNvPr id="188" name="Google Shape;188;p15"/>
          <p:cNvPicPr preferRelativeResize="0"/>
          <p:nvPr/>
        </p:nvPicPr>
        <p:blipFill rotWithShape="1">
          <a:blip r:embed="rId3">
            <a:alphaModFix/>
          </a:blip>
          <a:srcRect/>
          <a:stretch/>
        </p:blipFill>
        <p:spPr>
          <a:xfrm>
            <a:off x="2064078" y="2690253"/>
            <a:ext cx="7640199" cy="1516000"/>
          </a:xfrm>
          <a:prstGeom prst="rect">
            <a:avLst/>
          </a:prstGeom>
          <a:noFill/>
          <a:ln>
            <a:noFill/>
          </a:ln>
        </p:spPr>
      </p:pic>
      <p:sp>
        <p:nvSpPr>
          <p:cNvPr id="189" name="Google Shape;189;p15"/>
          <p:cNvSpPr txBox="1"/>
          <p:nvPr/>
        </p:nvSpPr>
        <p:spPr>
          <a:xfrm>
            <a:off x="458500" y="3796821"/>
            <a:ext cx="11029500" cy="2604000"/>
          </a:xfrm>
          <a:prstGeom prst="rect">
            <a:avLst/>
          </a:prstGeom>
          <a:noFill/>
          <a:ln>
            <a:noFill/>
          </a:ln>
        </p:spPr>
        <p:txBody>
          <a:bodyPr spcFirstLastPara="1" wrap="square" lIns="91425" tIns="45700" rIns="91425" bIns="45700" anchor="ctr" anchorCtr="0">
            <a:normAutofit fontScale="92500" lnSpcReduction="10000"/>
          </a:bodyPr>
          <a:lstStyle/>
          <a:p>
            <a:pPr marL="457200" marR="0" lvl="0" indent="0" algn="l" rtl="0">
              <a:lnSpc>
                <a:spcPct val="150000"/>
              </a:lnSpc>
              <a:spcBef>
                <a:spcPts val="0"/>
              </a:spcBef>
              <a:spcAft>
                <a:spcPts val="0"/>
              </a:spcAft>
              <a:buNone/>
            </a:pPr>
            <a:endParaRPr sz="1800">
              <a:solidFill>
                <a:schemeClr val="dk2"/>
              </a:solidFill>
            </a:endParaRPr>
          </a:p>
          <a:p>
            <a:pPr marL="306000" marR="0" lvl="0" indent="-298113" algn="l" rtl="0">
              <a:lnSpc>
                <a:spcPct val="150000"/>
              </a:lnSpc>
              <a:spcBef>
                <a:spcPts val="0"/>
              </a:spcBef>
              <a:spcAft>
                <a:spcPts val="0"/>
              </a:spcAft>
              <a:buClr>
                <a:schemeClr val="accent2"/>
              </a:buClr>
              <a:buSzPct val="91999"/>
              <a:buFont typeface="Noto Sans Symbols"/>
              <a:buChar char="◼"/>
            </a:pPr>
            <a:r>
              <a:rPr lang="en-US" sz="1800">
                <a:solidFill>
                  <a:schemeClr val="dk2"/>
                </a:solidFill>
                <a:latin typeface="Arial"/>
                <a:ea typeface="Arial"/>
                <a:cs typeface="Arial"/>
                <a:sym typeface="Arial"/>
              </a:rPr>
              <a:t>The Central Dogma ODE model describes the </a:t>
            </a:r>
            <a:r>
              <a:rPr lang="en-US" sz="1800" b="1">
                <a:solidFill>
                  <a:schemeClr val="dk2"/>
                </a:solidFill>
              </a:rPr>
              <a:t>dynamics</a:t>
            </a:r>
            <a:r>
              <a:rPr lang="en-US" sz="1800">
                <a:solidFill>
                  <a:schemeClr val="dk2"/>
                </a:solidFill>
                <a:latin typeface="Arial"/>
                <a:ea typeface="Arial"/>
                <a:cs typeface="Arial"/>
                <a:sym typeface="Arial"/>
              </a:rPr>
              <a:t> of DNA, RNA, and protein molecules inside cells.</a:t>
            </a:r>
            <a:endParaRPr/>
          </a:p>
          <a:p>
            <a:pPr marL="306000" marR="0" lvl="0" indent="-298113" algn="l" rtl="0">
              <a:lnSpc>
                <a:spcPct val="150000"/>
              </a:lnSpc>
              <a:spcBef>
                <a:spcPts val="960"/>
              </a:spcBef>
              <a:spcAft>
                <a:spcPts val="0"/>
              </a:spcAft>
              <a:buClr>
                <a:schemeClr val="accent2"/>
              </a:buClr>
              <a:buSzPct val="91999"/>
              <a:buFont typeface="Noto Sans Symbols"/>
              <a:buChar char="◼"/>
            </a:pPr>
            <a:r>
              <a:rPr lang="en-US" sz="1800">
                <a:solidFill>
                  <a:schemeClr val="dk2"/>
                </a:solidFill>
                <a:latin typeface="Arial"/>
                <a:ea typeface="Arial"/>
                <a:cs typeface="Arial"/>
                <a:sym typeface="Arial"/>
              </a:rPr>
              <a:t>The processes of </a:t>
            </a:r>
            <a:r>
              <a:rPr lang="en-US" sz="1800" b="1">
                <a:solidFill>
                  <a:schemeClr val="dk2"/>
                </a:solidFill>
              </a:rPr>
              <a:t>transcription</a:t>
            </a:r>
            <a:r>
              <a:rPr lang="en-US" sz="1800">
                <a:solidFill>
                  <a:schemeClr val="dk2"/>
                </a:solidFill>
                <a:latin typeface="Arial"/>
                <a:ea typeface="Arial"/>
                <a:cs typeface="Arial"/>
                <a:sym typeface="Arial"/>
              </a:rPr>
              <a:t> and </a:t>
            </a:r>
            <a:r>
              <a:rPr lang="en-US" sz="1800" b="1">
                <a:solidFill>
                  <a:schemeClr val="dk2"/>
                </a:solidFill>
              </a:rPr>
              <a:t>translation</a:t>
            </a:r>
            <a:r>
              <a:rPr lang="en-US" sz="1800">
                <a:solidFill>
                  <a:schemeClr val="dk2"/>
                </a:solidFill>
                <a:latin typeface="Arial"/>
                <a:ea typeface="Arial"/>
                <a:cs typeface="Arial"/>
                <a:sym typeface="Arial"/>
              </a:rPr>
              <a:t> ensure </a:t>
            </a:r>
            <a:r>
              <a:rPr lang="en-US" sz="1800" b="1">
                <a:solidFill>
                  <a:schemeClr val="dk2"/>
                </a:solidFill>
              </a:rPr>
              <a:t>accurate gene expression </a:t>
            </a:r>
            <a:r>
              <a:rPr lang="en-US" sz="1800">
                <a:solidFill>
                  <a:schemeClr val="dk2"/>
                </a:solidFill>
                <a:latin typeface="Arial"/>
                <a:ea typeface="Arial"/>
                <a:cs typeface="Arial"/>
                <a:sym typeface="Arial"/>
              </a:rPr>
              <a:t>and </a:t>
            </a:r>
            <a:r>
              <a:rPr lang="en-US" sz="1800" b="1">
                <a:solidFill>
                  <a:schemeClr val="dk2"/>
                </a:solidFill>
              </a:rPr>
              <a:t>protein synthesis </a:t>
            </a:r>
            <a:r>
              <a:rPr lang="en-US" sz="1800">
                <a:solidFill>
                  <a:schemeClr val="dk2"/>
                </a:solidFill>
                <a:latin typeface="Arial"/>
                <a:ea typeface="Arial"/>
                <a:cs typeface="Arial"/>
                <a:sym typeface="Arial"/>
              </a:rPr>
              <a:t>within individual cells.</a:t>
            </a:r>
            <a:endParaRPr/>
          </a:p>
          <a:p>
            <a:pPr marL="306000" marR="0" lvl="0" indent="-298113" algn="l" rtl="0">
              <a:lnSpc>
                <a:spcPct val="150000"/>
              </a:lnSpc>
              <a:spcBef>
                <a:spcPts val="960"/>
              </a:spcBef>
              <a:spcAft>
                <a:spcPts val="0"/>
              </a:spcAft>
              <a:buClr>
                <a:schemeClr val="accent2"/>
              </a:buClr>
              <a:buSzPct val="91999"/>
              <a:buFont typeface="Noto Sans Symbols"/>
              <a:buChar char="◼"/>
            </a:pPr>
            <a:r>
              <a:rPr lang="en-US" sz="1800">
                <a:solidFill>
                  <a:schemeClr val="dk2"/>
                </a:solidFill>
                <a:latin typeface="Arial"/>
                <a:ea typeface="Arial"/>
                <a:cs typeface="Arial"/>
                <a:sym typeface="Arial"/>
              </a:rPr>
              <a:t>The flow of genetic information from DNA to protein ultimately determines the </a:t>
            </a:r>
            <a:r>
              <a:rPr lang="en-US" sz="1800" b="1">
                <a:solidFill>
                  <a:schemeClr val="dk2"/>
                </a:solidFill>
              </a:rPr>
              <a:t>cellular phenotype</a:t>
            </a:r>
            <a:r>
              <a:rPr lang="en-US" sz="1800">
                <a:solidFill>
                  <a:schemeClr val="dk2"/>
                </a:solidFill>
                <a:latin typeface="Arial"/>
                <a:ea typeface="Arial"/>
                <a:cs typeface="Arial"/>
                <a:sym typeface="Arial"/>
              </a:rPr>
              <a:t> and </a:t>
            </a:r>
            <a:r>
              <a:rPr lang="en-US" sz="1800" b="1">
                <a:solidFill>
                  <a:schemeClr val="dk2"/>
                </a:solidFill>
              </a:rPr>
              <a:t>function</a:t>
            </a:r>
            <a:endParaRPr sz="1800" b="1">
              <a:solidFill>
                <a:schemeClr val="dk2"/>
              </a:solidFill>
            </a:endParaRPr>
          </a:p>
        </p:txBody>
      </p:sp>
      <p:sp>
        <p:nvSpPr>
          <p:cNvPr id="190" name="Google Shape;190;p15"/>
          <p:cNvSpPr txBox="1"/>
          <p:nvPr/>
        </p:nvSpPr>
        <p:spPr>
          <a:xfrm>
            <a:off x="458500" y="6460024"/>
            <a:ext cx="1770900" cy="2615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i="1" dirty="0">
                <a:solidFill>
                  <a:schemeClr val="dk1"/>
                </a:solidFill>
                <a:latin typeface="Arial"/>
                <a:ea typeface="Arial"/>
                <a:cs typeface="Arial"/>
                <a:sym typeface="Arial"/>
              </a:rPr>
              <a:t>Image source:</a:t>
            </a:r>
            <a:r>
              <a:rPr lang="en-US" sz="1100" dirty="0">
                <a:solidFill>
                  <a:schemeClr val="dk1"/>
                </a:solidFill>
                <a:latin typeface="Arial"/>
                <a:ea typeface="Arial"/>
                <a:cs typeface="Arial"/>
                <a:sym typeface="Arial"/>
              </a:rPr>
              <a:t> google</a:t>
            </a:r>
            <a:endParaRPr sz="1100" dirty="0">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194"/>
        <p:cNvGrpSpPr/>
        <p:nvPr/>
      </p:nvGrpSpPr>
      <p:grpSpPr>
        <a:xfrm>
          <a:off x="0" y="0"/>
          <a:ext cx="0" cy="0"/>
          <a:chOff x="0" y="0"/>
          <a:chExt cx="0" cy="0"/>
        </a:xfrm>
      </p:grpSpPr>
      <p:sp>
        <p:nvSpPr>
          <p:cNvPr id="195" name="Google Shape;195;p16"/>
          <p:cNvSpPr txBox="1">
            <a:spLocks noGrp="1"/>
          </p:cNvSpPr>
          <p:nvPr>
            <p:ph type="body" idx="1"/>
          </p:nvPr>
        </p:nvSpPr>
        <p:spPr>
          <a:xfrm>
            <a:off x="438325" y="0"/>
            <a:ext cx="11029500" cy="7049700"/>
          </a:xfrm>
          <a:prstGeom prst="rect">
            <a:avLst/>
          </a:prstGeom>
          <a:noFill/>
          <a:ln>
            <a:noFill/>
          </a:ln>
        </p:spPr>
        <p:txBody>
          <a:bodyPr spcFirstLastPara="1" wrap="square" lIns="91425" tIns="45700" rIns="91425" bIns="45700" anchor="ctr" anchorCtr="0">
            <a:normAutofit/>
          </a:bodyPr>
          <a:lstStyle/>
          <a:p>
            <a:pPr marL="306000" lvl="0" indent="-306000" algn="l" rtl="0">
              <a:lnSpc>
                <a:spcPct val="150000"/>
              </a:lnSpc>
              <a:spcBef>
                <a:spcPts val="0"/>
              </a:spcBef>
              <a:spcAft>
                <a:spcPts val="0"/>
              </a:spcAft>
              <a:buSzPts val="1840"/>
              <a:buChar char="❖"/>
            </a:pPr>
            <a:r>
              <a:rPr lang="en-US" sz="2000"/>
              <a:t>Determination of </a:t>
            </a:r>
            <a:r>
              <a:rPr lang="en-US" sz="2000" b="1"/>
              <a:t>variables</a:t>
            </a:r>
            <a:r>
              <a:rPr lang="en-US" sz="2000"/>
              <a:t> that affect the system’s behaviour:</a:t>
            </a:r>
            <a:endParaRPr/>
          </a:p>
          <a:p>
            <a:pPr marL="972900" lvl="2" indent="-342900" algn="l" rtl="0">
              <a:lnSpc>
                <a:spcPct val="150000"/>
              </a:lnSpc>
              <a:spcBef>
                <a:spcPts val="1000"/>
              </a:spcBef>
              <a:spcAft>
                <a:spcPts val="0"/>
              </a:spcAft>
              <a:buSzPts val="1840"/>
              <a:buFont typeface="Arial"/>
              <a:buChar char="■"/>
            </a:pPr>
            <a:r>
              <a:rPr lang="en-US" sz="2000"/>
              <a:t>[D]: Concentration of DNA molecules</a:t>
            </a:r>
            <a:endParaRPr/>
          </a:p>
          <a:p>
            <a:pPr marL="972900" lvl="2" indent="-342900" algn="l" rtl="0">
              <a:lnSpc>
                <a:spcPct val="150000"/>
              </a:lnSpc>
              <a:spcBef>
                <a:spcPts val="1000"/>
              </a:spcBef>
              <a:spcAft>
                <a:spcPts val="0"/>
              </a:spcAft>
              <a:buSzPts val="1840"/>
              <a:buFont typeface="Arial"/>
              <a:buChar char="■"/>
            </a:pPr>
            <a:r>
              <a:rPr lang="en-US" sz="2000"/>
              <a:t>[M]: Concentration of mRNA molecules</a:t>
            </a:r>
            <a:endParaRPr/>
          </a:p>
          <a:p>
            <a:pPr marL="972900" lvl="2" indent="-342900" algn="l" rtl="0">
              <a:lnSpc>
                <a:spcPct val="150000"/>
              </a:lnSpc>
              <a:spcBef>
                <a:spcPts val="1000"/>
              </a:spcBef>
              <a:spcAft>
                <a:spcPts val="0"/>
              </a:spcAft>
              <a:buSzPts val="1840"/>
              <a:buFont typeface="Arial"/>
              <a:buChar char="■"/>
            </a:pPr>
            <a:r>
              <a:rPr lang="en-US" sz="2000"/>
              <a:t>[P]: Concentration of protein molecules</a:t>
            </a:r>
            <a:endParaRPr/>
          </a:p>
          <a:p>
            <a:pPr marL="306000" lvl="0" indent="-306000" algn="l" rtl="0">
              <a:lnSpc>
                <a:spcPct val="150000"/>
              </a:lnSpc>
              <a:spcBef>
                <a:spcPts val="1040"/>
              </a:spcBef>
              <a:spcAft>
                <a:spcPts val="0"/>
              </a:spcAft>
              <a:buSzPts val="2024"/>
              <a:buChar char="❖"/>
            </a:pPr>
            <a:r>
              <a:rPr lang="en-US" sz="2200" b="1"/>
              <a:t>Reactions</a:t>
            </a:r>
            <a:r>
              <a:rPr lang="en-US" sz="2200"/>
              <a:t> that define the Biological System:</a:t>
            </a:r>
            <a:endParaRPr/>
          </a:p>
          <a:p>
            <a:pPr marL="972900" lvl="2" indent="-342900" algn="l" rtl="0">
              <a:lnSpc>
                <a:spcPct val="150000"/>
              </a:lnSpc>
              <a:spcBef>
                <a:spcPts val="1000"/>
              </a:spcBef>
              <a:spcAft>
                <a:spcPts val="0"/>
              </a:spcAft>
              <a:buSzPts val="1840"/>
              <a:buFont typeface="Arial"/>
              <a:buChar char="■"/>
            </a:pPr>
            <a:r>
              <a:rPr lang="en-US" sz="2000"/>
              <a:t>Transcription:  D→M</a:t>
            </a:r>
            <a:endParaRPr/>
          </a:p>
          <a:p>
            <a:pPr marL="972900" lvl="2" indent="-342900" algn="l" rtl="0">
              <a:lnSpc>
                <a:spcPct val="150000"/>
              </a:lnSpc>
              <a:spcBef>
                <a:spcPts val="1000"/>
              </a:spcBef>
              <a:spcAft>
                <a:spcPts val="0"/>
              </a:spcAft>
              <a:buSzPts val="1840"/>
              <a:buFont typeface="Arial"/>
              <a:buChar char="■"/>
            </a:pPr>
            <a:r>
              <a:rPr lang="en-US" sz="2000"/>
              <a:t>Translation:     M→P</a:t>
            </a:r>
            <a:endParaRPr/>
          </a:p>
          <a:p>
            <a:pPr marL="306000" lvl="0" indent="-306000" algn="l" rtl="0">
              <a:lnSpc>
                <a:spcPct val="150000"/>
              </a:lnSpc>
              <a:spcBef>
                <a:spcPts val="1000"/>
              </a:spcBef>
              <a:spcAft>
                <a:spcPts val="0"/>
              </a:spcAft>
              <a:buSzPts val="1840"/>
              <a:buChar char="❖"/>
            </a:pPr>
            <a:r>
              <a:rPr lang="en-US" sz="2000"/>
              <a:t>Estimation of fixed values (</a:t>
            </a:r>
            <a:r>
              <a:rPr lang="en-US" sz="2000" b="1"/>
              <a:t>Parameters</a:t>
            </a:r>
            <a:r>
              <a:rPr lang="en-US" sz="2000"/>
              <a:t>) that influence the behavior of the system</a:t>
            </a:r>
            <a:endParaRPr/>
          </a:p>
          <a:p>
            <a:pPr marL="666900" lvl="1" indent="-342900" algn="l" rtl="0">
              <a:lnSpc>
                <a:spcPct val="150000"/>
              </a:lnSpc>
              <a:spcBef>
                <a:spcPts val="1000"/>
              </a:spcBef>
              <a:spcAft>
                <a:spcPts val="0"/>
              </a:spcAft>
              <a:buSzPts val="1840"/>
              <a:buFont typeface="Arial"/>
              <a:buAutoNum type="arabicPeriod"/>
            </a:pPr>
            <a:r>
              <a:rPr lang="en-US" sz="2000"/>
              <a:t>km: Transcription rate constant</a:t>
            </a:r>
            <a:endParaRPr/>
          </a:p>
          <a:p>
            <a:pPr marL="666900" lvl="1" indent="-342900" algn="l" rtl="0">
              <a:lnSpc>
                <a:spcPct val="150000"/>
              </a:lnSpc>
              <a:spcBef>
                <a:spcPts val="1000"/>
              </a:spcBef>
              <a:spcAft>
                <a:spcPts val="0"/>
              </a:spcAft>
              <a:buSzPts val="1840"/>
              <a:buFont typeface="Arial"/>
              <a:buAutoNum type="arabicPeriod"/>
            </a:pPr>
            <a:r>
              <a:rPr lang="en-US" sz="2000"/>
              <a:t>kp: Translation rate constant</a:t>
            </a:r>
            <a:endParaRPr sz="2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199"/>
        <p:cNvGrpSpPr/>
        <p:nvPr/>
      </p:nvGrpSpPr>
      <p:grpSpPr>
        <a:xfrm>
          <a:off x="0" y="0"/>
          <a:ext cx="0" cy="0"/>
          <a:chOff x="0" y="0"/>
          <a:chExt cx="0" cy="0"/>
        </a:xfrm>
      </p:grpSpPr>
      <p:sp>
        <p:nvSpPr>
          <p:cNvPr id="200" name="Google Shape;200;p17"/>
          <p:cNvSpPr txBox="1">
            <a:spLocks noGrp="1"/>
          </p:cNvSpPr>
          <p:nvPr>
            <p:ph type="body" idx="1"/>
          </p:nvPr>
        </p:nvSpPr>
        <p:spPr>
          <a:xfrm>
            <a:off x="395300" y="0"/>
            <a:ext cx="11215500" cy="7169400"/>
          </a:xfrm>
          <a:prstGeom prst="rect">
            <a:avLst/>
          </a:prstGeom>
          <a:noFill/>
          <a:ln>
            <a:noFill/>
          </a:ln>
        </p:spPr>
        <p:txBody>
          <a:bodyPr spcFirstLastPara="1" wrap="square" lIns="91425" tIns="45700" rIns="91425" bIns="45700" anchor="ctr" anchorCtr="0">
            <a:noAutofit/>
          </a:bodyPr>
          <a:lstStyle/>
          <a:p>
            <a:pPr marL="457200" lvl="0" indent="-346075" algn="l" rtl="0">
              <a:lnSpc>
                <a:spcPct val="140000"/>
              </a:lnSpc>
              <a:spcBef>
                <a:spcPts val="0"/>
              </a:spcBef>
              <a:spcAft>
                <a:spcPts val="0"/>
              </a:spcAft>
              <a:buSzPts val="1850"/>
              <a:buChar char="❖"/>
            </a:pPr>
            <a:r>
              <a:rPr lang="en-US" sz="1850" b="1"/>
              <a:t>Assumption</a:t>
            </a:r>
            <a:r>
              <a:rPr lang="en-US" sz="1850"/>
              <a:t>:-</a:t>
            </a:r>
            <a:endParaRPr sz="1665"/>
          </a:p>
          <a:p>
            <a:pPr marL="306000" lvl="0" indent="-297237" algn="l" rtl="0">
              <a:lnSpc>
                <a:spcPct val="140000"/>
              </a:lnSpc>
              <a:spcBef>
                <a:spcPts val="1000"/>
              </a:spcBef>
              <a:spcAft>
                <a:spcPts val="0"/>
              </a:spcAft>
              <a:buSzPts val="1702"/>
              <a:buChar char="◼"/>
            </a:pPr>
            <a:r>
              <a:rPr lang="en-US" sz="1850"/>
              <a:t>concentration of DNA, mRNA and Protein is assumed to remain</a:t>
            </a:r>
            <a:r>
              <a:rPr lang="en-US" sz="1850" b="1"/>
              <a:t> constant</a:t>
            </a:r>
            <a:r>
              <a:rPr lang="en-US" sz="1850"/>
              <a:t> over the short time- period</a:t>
            </a:r>
            <a:endParaRPr sz="1665"/>
          </a:p>
          <a:p>
            <a:pPr marL="666900" lvl="1" indent="-334137" algn="l" rtl="0">
              <a:lnSpc>
                <a:spcPct val="100000"/>
              </a:lnSpc>
              <a:spcBef>
                <a:spcPts val="1000"/>
              </a:spcBef>
              <a:spcAft>
                <a:spcPts val="0"/>
              </a:spcAft>
              <a:buSzPts val="1702"/>
              <a:buFont typeface="Arial"/>
              <a:buAutoNum type="arabicPeriod"/>
            </a:pPr>
            <a:r>
              <a:rPr lang="en-US" sz="1850"/>
              <a:t>d[D]/dt=0             [at Equilibrium]</a:t>
            </a:r>
            <a:endParaRPr sz="1480"/>
          </a:p>
          <a:p>
            <a:pPr marL="666900" lvl="1" indent="-334137" algn="l" rtl="0">
              <a:lnSpc>
                <a:spcPct val="100000"/>
              </a:lnSpc>
              <a:spcBef>
                <a:spcPts val="1000"/>
              </a:spcBef>
              <a:spcAft>
                <a:spcPts val="0"/>
              </a:spcAft>
              <a:buSzPts val="1702"/>
              <a:buFont typeface="Arial"/>
              <a:buAutoNum type="arabicPeriod"/>
            </a:pPr>
            <a:r>
              <a:rPr lang="en-US" sz="1850"/>
              <a:t>d[M]/dt=0</a:t>
            </a:r>
            <a:endParaRPr sz="1480"/>
          </a:p>
          <a:p>
            <a:pPr marL="666899" lvl="1" indent="-334137" algn="l" rtl="0">
              <a:lnSpc>
                <a:spcPct val="100000"/>
              </a:lnSpc>
              <a:spcBef>
                <a:spcPts val="1000"/>
              </a:spcBef>
              <a:spcAft>
                <a:spcPts val="0"/>
              </a:spcAft>
              <a:buSzPts val="1702"/>
              <a:buFont typeface="Arial"/>
              <a:buAutoNum type="arabicPeriod"/>
            </a:pPr>
            <a:r>
              <a:rPr lang="en-US" sz="1850"/>
              <a:t>d[P]/dt=0</a:t>
            </a:r>
            <a:endParaRPr sz="1850"/>
          </a:p>
          <a:p>
            <a:pPr marL="0" lvl="0" indent="0" algn="l" rtl="0">
              <a:lnSpc>
                <a:spcPct val="100000"/>
              </a:lnSpc>
              <a:spcBef>
                <a:spcPts val="1000"/>
              </a:spcBef>
              <a:spcAft>
                <a:spcPts val="0"/>
              </a:spcAft>
              <a:buNone/>
            </a:pPr>
            <a:endParaRPr sz="1850"/>
          </a:p>
          <a:p>
            <a:pPr marL="457200" lvl="0" indent="-346075" algn="l" rtl="0">
              <a:lnSpc>
                <a:spcPct val="140000"/>
              </a:lnSpc>
              <a:spcBef>
                <a:spcPts val="1000"/>
              </a:spcBef>
              <a:spcAft>
                <a:spcPts val="0"/>
              </a:spcAft>
              <a:buSzPts val="1850"/>
              <a:buChar char="❖"/>
            </a:pPr>
            <a:r>
              <a:rPr lang="en-US" sz="1850" b="1"/>
              <a:t>Equations</a:t>
            </a:r>
            <a:r>
              <a:rPr lang="en-US" sz="1850"/>
              <a:t> that defines the system are:-</a:t>
            </a:r>
            <a:endParaRPr sz="1850"/>
          </a:p>
          <a:p>
            <a:pPr marL="457200" lvl="0" indent="0" algn="l" rtl="0">
              <a:lnSpc>
                <a:spcPct val="140000"/>
              </a:lnSpc>
              <a:spcBef>
                <a:spcPts val="1000"/>
              </a:spcBef>
              <a:spcAft>
                <a:spcPts val="0"/>
              </a:spcAft>
              <a:buNone/>
            </a:pPr>
            <a:r>
              <a:rPr lang="en-US" sz="1850"/>
              <a:t>Analyzing system behavior over time using differential equations.</a:t>
            </a:r>
            <a:endParaRPr sz="1850"/>
          </a:p>
          <a:p>
            <a:pPr marL="457200" lvl="0" indent="-346075" algn="l" rtl="0">
              <a:lnSpc>
                <a:spcPct val="140000"/>
              </a:lnSpc>
              <a:spcBef>
                <a:spcPts val="1000"/>
              </a:spcBef>
              <a:spcAft>
                <a:spcPts val="0"/>
              </a:spcAft>
              <a:buSzPts val="1850"/>
              <a:buAutoNum type="arabicPeriod"/>
            </a:pPr>
            <a:r>
              <a:rPr lang="en-US" sz="1850"/>
              <a:t>d[M]/dt = Km – ΓmM                                                 (</a:t>
            </a:r>
            <a:r>
              <a:rPr lang="en-US" sz="1665"/>
              <a:t>Γm= degradation rate)</a:t>
            </a:r>
            <a:r>
              <a:rPr lang="en-US" sz="1850"/>
              <a:t> </a:t>
            </a:r>
            <a:endParaRPr sz="1850"/>
          </a:p>
          <a:p>
            <a:pPr marL="457200" lvl="0" indent="-346075" algn="l" rtl="0">
              <a:lnSpc>
                <a:spcPct val="100000"/>
              </a:lnSpc>
              <a:spcBef>
                <a:spcPts val="0"/>
              </a:spcBef>
              <a:spcAft>
                <a:spcPts val="0"/>
              </a:spcAft>
              <a:buSzPts val="1850"/>
              <a:buAutoNum type="arabicPeriod"/>
            </a:pPr>
            <a:r>
              <a:rPr lang="en-US" sz="1850"/>
              <a:t>d[P] /dt = KpM – ΓmP</a:t>
            </a:r>
            <a:endParaRPr sz="1850"/>
          </a:p>
          <a:p>
            <a:pPr marL="0" lvl="0" indent="0" algn="l" rtl="0">
              <a:lnSpc>
                <a:spcPct val="100000"/>
              </a:lnSpc>
              <a:spcBef>
                <a:spcPts val="1000"/>
              </a:spcBef>
              <a:spcAft>
                <a:spcPts val="0"/>
              </a:spcAft>
              <a:buNone/>
            </a:pPr>
            <a:endParaRPr sz="1850"/>
          </a:p>
          <a:p>
            <a:pPr marL="457200" lvl="0" indent="-325869" algn="l" rtl="0">
              <a:lnSpc>
                <a:spcPct val="100000"/>
              </a:lnSpc>
              <a:spcBef>
                <a:spcPts val="1000"/>
              </a:spcBef>
              <a:spcAft>
                <a:spcPts val="0"/>
              </a:spcAft>
              <a:buSzPts val="1532"/>
              <a:buChar char="❖"/>
            </a:pPr>
            <a:r>
              <a:rPr lang="en-US" sz="2035" b="1" u="sng"/>
              <a:t>Questions</a:t>
            </a:r>
            <a:r>
              <a:rPr lang="en-US" sz="2035" u="sng"/>
              <a:t> that this  model can answer are:</a:t>
            </a:r>
            <a:r>
              <a:rPr lang="en-US" sz="1942"/>
              <a:t>-</a:t>
            </a:r>
            <a:endParaRPr sz="1942"/>
          </a:p>
          <a:p>
            <a:pPr marL="457200" lvl="0" indent="-351948" algn="l" rtl="0">
              <a:lnSpc>
                <a:spcPct val="100000"/>
              </a:lnSpc>
              <a:spcBef>
                <a:spcPts val="0"/>
              </a:spcBef>
              <a:spcAft>
                <a:spcPts val="0"/>
              </a:spcAft>
              <a:buSzPts val="1942"/>
              <a:buChar char="❖"/>
            </a:pPr>
            <a:endParaRPr sz="1942"/>
          </a:p>
          <a:p>
            <a:pPr marL="457200" lvl="0" indent="-351948" algn="l" rtl="0">
              <a:lnSpc>
                <a:spcPct val="100000"/>
              </a:lnSpc>
              <a:spcBef>
                <a:spcPts val="0"/>
              </a:spcBef>
              <a:spcAft>
                <a:spcPts val="0"/>
              </a:spcAft>
              <a:buSzPts val="1942"/>
              <a:buChar char="◼"/>
            </a:pPr>
            <a:r>
              <a:rPr lang="en-US" sz="1942"/>
              <a:t>How do changes in transcription and translation rates affect the concentrations of mRNA and protein molecules within the cell over time?</a:t>
            </a:r>
            <a:endParaRPr sz="1942"/>
          </a:p>
          <a:p>
            <a:pPr marL="457200" lvl="0" indent="-351948" algn="l" rtl="0">
              <a:lnSpc>
                <a:spcPct val="140000"/>
              </a:lnSpc>
              <a:spcBef>
                <a:spcPts val="0"/>
              </a:spcBef>
              <a:spcAft>
                <a:spcPts val="0"/>
              </a:spcAft>
              <a:buSzPts val="1942"/>
              <a:buChar char="◼"/>
            </a:pPr>
            <a:r>
              <a:rPr lang="en-US" sz="1942"/>
              <a:t>What are the steady-state levels of mRNA and protein molecules under different conditions?</a:t>
            </a:r>
            <a:endParaRPr sz="1942"/>
          </a:p>
          <a:p>
            <a:pPr marL="306000" lvl="0" indent="0" algn="l" rtl="0">
              <a:lnSpc>
                <a:spcPct val="90000"/>
              </a:lnSpc>
              <a:spcBef>
                <a:spcPts val="1000"/>
              </a:spcBef>
              <a:spcAft>
                <a:spcPts val="0"/>
              </a:spcAft>
              <a:buSzPts val="1018"/>
              <a:buNone/>
            </a:pPr>
            <a:endParaRPr sz="1942"/>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g2ce05626edf_1_0"/>
          <p:cNvSpPr txBox="1">
            <a:spLocks noGrp="1"/>
          </p:cNvSpPr>
          <p:nvPr>
            <p:ph type="body" idx="1"/>
          </p:nvPr>
        </p:nvSpPr>
        <p:spPr>
          <a:xfrm>
            <a:off x="333000" y="1908075"/>
            <a:ext cx="11707500" cy="4849500"/>
          </a:xfrm>
          <a:prstGeom prst="rect">
            <a:avLst/>
          </a:prstGeom>
        </p:spPr>
        <p:txBody>
          <a:bodyPr spcFirstLastPara="1" wrap="square" lIns="91425" tIns="45700" rIns="91425" bIns="45700" anchor="ctr" anchorCtr="0">
            <a:normAutofit/>
          </a:bodyPr>
          <a:lstStyle/>
          <a:p>
            <a:pPr marL="457200" lvl="0" indent="-333890" algn="l" rtl="0">
              <a:lnSpc>
                <a:spcPct val="115000"/>
              </a:lnSpc>
              <a:spcBef>
                <a:spcPts val="600"/>
              </a:spcBef>
              <a:spcAft>
                <a:spcPts val="0"/>
              </a:spcAft>
              <a:buClr>
                <a:schemeClr val="dk1"/>
              </a:buClr>
              <a:buSzPts val="1658"/>
              <a:buFont typeface="Roboto"/>
              <a:buChar char="●"/>
            </a:pPr>
            <a:r>
              <a:rPr lang="en-US" sz="1658" b="1">
                <a:solidFill>
                  <a:schemeClr val="dk1"/>
                </a:solidFill>
                <a:latin typeface="Roboto"/>
                <a:ea typeface="Roboto"/>
                <a:cs typeface="Roboto"/>
                <a:sym typeface="Roboto"/>
              </a:rPr>
              <a:t>CD200 and CD200R Expression</a:t>
            </a:r>
            <a:r>
              <a:rPr lang="en-US" sz="1658">
                <a:solidFill>
                  <a:schemeClr val="dk1"/>
                </a:solidFill>
                <a:latin typeface="Roboto"/>
                <a:ea typeface="Roboto"/>
                <a:cs typeface="Roboto"/>
                <a:sym typeface="Roboto"/>
              </a:rPr>
              <a:t>:</a:t>
            </a:r>
            <a:endParaRPr sz="1658">
              <a:solidFill>
                <a:schemeClr val="dk1"/>
              </a:solidFill>
              <a:latin typeface="Roboto"/>
              <a:ea typeface="Roboto"/>
              <a:cs typeface="Roboto"/>
              <a:sym typeface="Roboto"/>
            </a:endParaRPr>
          </a:p>
          <a:p>
            <a:pPr marL="914400" lvl="1" indent="-333890" algn="l" rtl="0">
              <a:lnSpc>
                <a:spcPct val="115000"/>
              </a:lnSpc>
              <a:spcBef>
                <a:spcPts val="0"/>
              </a:spcBef>
              <a:spcAft>
                <a:spcPts val="0"/>
              </a:spcAft>
              <a:buClr>
                <a:schemeClr val="dk1"/>
              </a:buClr>
              <a:buSzPts val="1658"/>
              <a:buFont typeface="Roboto"/>
              <a:buChar char="○"/>
            </a:pPr>
            <a:r>
              <a:rPr lang="en-US" sz="1658">
                <a:solidFill>
                  <a:schemeClr val="dk1"/>
                </a:solidFill>
                <a:latin typeface="Roboto"/>
                <a:ea typeface="Roboto"/>
                <a:cs typeface="Roboto"/>
                <a:sym typeface="Roboto"/>
              </a:rPr>
              <a:t>CD200 is a cell membrane protein expressed by tumor cells. When CD200 is present on tumor cells, it interacts with its receptor CD200R.</a:t>
            </a:r>
            <a:endParaRPr sz="1658">
              <a:solidFill>
                <a:schemeClr val="dk1"/>
              </a:solidFill>
              <a:latin typeface="Roboto"/>
              <a:ea typeface="Roboto"/>
              <a:cs typeface="Roboto"/>
              <a:sym typeface="Roboto"/>
            </a:endParaRPr>
          </a:p>
          <a:p>
            <a:pPr marL="914400" lvl="1" indent="-333890" algn="l" rtl="0">
              <a:lnSpc>
                <a:spcPct val="115000"/>
              </a:lnSpc>
              <a:spcBef>
                <a:spcPts val="0"/>
              </a:spcBef>
              <a:spcAft>
                <a:spcPts val="0"/>
              </a:spcAft>
              <a:buClr>
                <a:schemeClr val="dk1"/>
              </a:buClr>
              <a:buSzPts val="1658"/>
              <a:buFont typeface="Roboto"/>
              <a:buChar char="○"/>
            </a:pPr>
            <a:r>
              <a:rPr lang="en-US" sz="1658">
                <a:solidFill>
                  <a:schemeClr val="dk1"/>
                </a:solidFill>
                <a:latin typeface="Roboto"/>
                <a:ea typeface="Roboto"/>
                <a:cs typeface="Roboto"/>
                <a:sym typeface="Roboto"/>
              </a:rPr>
              <a:t>CD200R is the receptor for CD200 and is typically found on immune cells, M1, M2 macrophages and dendritic cells (DCs) within the tumor microenvironment (TME).</a:t>
            </a:r>
            <a:endParaRPr sz="1658">
              <a:solidFill>
                <a:schemeClr val="dk1"/>
              </a:solidFill>
              <a:latin typeface="Roboto"/>
              <a:ea typeface="Roboto"/>
              <a:cs typeface="Roboto"/>
              <a:sym typeface="Roboto"/>
            </a:endParaRPr>
          </a:p>
          <a:p>
            <a:pPr marL="457200" lvl="0" indent="-333890" algn="l" rtl="0">
              <a:lnSpc>
                <a:spcPct val="115000"/>
              </a:lnSpc>
              <a:spcBef>
                <a:spcPts val="0"/>
              </a:spcBef>
              <a:spcAft>
                <a:spcPts val="0"/>
              </a:spcAft>
              <a:buClr>
                <a:schemeClr val="dk1"/>
              </a:buClr>
              <a:buSzPts val="1658"/>
              <a:buFont typeface="Roboto"/>
              <a:buChar char="●"/>
            </a:pPr>
            <a:r>
              <a:rPr lang="en-US" sz="1658" b="1">
                <a:solidFill>
                  <a:schemeClr val="dk1"/>
                </a:solidFill>
                <a:latin typeface="Roboto"/>
                <a:ea typeface="Roboto"/>
                <a:cs typeface="Roboto"/>
                <a:sym typeface="Roboto"/>
              </a:rPr>
              <a:t>Inhibition of Immune Responses</a:t>
            </a:r>
            <a:r>
              <a:rPr lang="en-US" sz="1658">
                <a:solidFill>
                  <a:schemeClr val="dk1"/>
                </a:solidFill>
                <a:latin typeface="Roboto"/>
                <a:ea typeface="Roboto"/>
                <a:cs typeface="Roboto"/>
                <a:sym typeface="Roboto"/>
              </a:rPr>
              <a:t>:</a:t>
            </a:r>
            <a:endParaRPr sz="1658">
              <a:solidFill>
                <a:schemeClr val="dk1"/>
              </a:solidFill>
              <a:latin typeface="Roboto"/>
              <a:ea typeface="Roboto"/>
              <a:cs typeface="Roboto"/>
              <a:sym typeface="Roboto"/>
            </a:endParaRPr>
          </a:p>
          <a:p>
            <a:pPr marL="914400" lvl="1" indent="-333890" algn="l" rtl="0">
              <a:lnSpc>
                <a:spcPct val="115000"/>
              </a:lnSpc>
              <a:spcBef>
                <a:spcPts val="0"/>
              </a:spcBef>
              <a:spcAft>
                <a:spcPts val="0"/>
              </a:spcAft>
              <a:buClr>
                <a:schemeClr val="dk1"/>
              </a:buClr>
              <a:buSzPts val="1658"/>
              <a:buFont typeface="Roboto"/>
              <a:buChar char="○"/>
            </a:pPr>
            <a:r>
              <a:rPr lang="en-US" sz="1658">
                <a:solidFill>
                  <a:schemeClr val="dk1"/>
                </a:solidFill>
                <a:latin typeface="Roboto"/>
                <a:ea typeface="Roboto"/>
                <a:cs typeface="Roboto"/>
                <a:sym typeface="Roboto"/>
              </a:rPr>
              <a:t>The binding of CD200 to CD200R leads to the inhibition of immune responses mediated by M1 and M2 macrophages and DCs.</a:t>
            </a:r>
            <a:endParaRPr sz="1658">
              <a:solidFill>
                <a:schemeClr val="dk1"/>
              </a:solidFill>
              <a:latin typeface="Roboto"/>
              <a:ea typeface="Roboto"/>
              <a:cs typeface="Roboto"/>
              <a:sym typeface="Roboto"/>
            </a:endParaRPr>
          </a:p>
          <a:p>
            <a:pPr marL="914400" lvl="1" indent="-333890" algn="l" rtl="0">
              <a:lnSpc>
                <a:spcPct val="115000"/>
              </a:lnSpc>
              <a:spcBef>
                <a:spcPts val="0"/>
              </a:spcBef>
              <a:spcAft>
                <a:spcPts val="0"/>
              </a:spcAft>
              <a:buClr>
                <a:schemeClr val="dk1"/>
              </a:buClr>
              <a:buSzPts val="1658"/>
              <a:buFont typeface="Roboto"/>
              <a:buChar char="○"/>
            </a:pPr>
            <a:r>
              <a:rPr lang="en-US" sz="1658">
                <a:solidFill>
                  <a:schemeClr val="dk1"/>
                </a:solidFill>
                <a:latin typeface="Roboto"/>
                <a:ea typeface="Roboto"/>
                <a:cs typeface="Roboto"/>
                <a:sym typeface="Roboto"/>
              </a:rPr>
              <a:t>Resulting in the downregulation of pro-inflammatory cytokines- interleukin-10 (IL-10) and interleukin-12 (IL-12).</a:t>
            </a:r>
            <a:endParaRPr sz="1658">
              <a:solidFill>
                <a:schemeClr val="dk1"/>
              </a:solidFill>
              <a:latin typeface="Roboto"/>
              <a:ea typeface="Roboto"/>
              <a:cs typeface="Roboto"/>
              <a:sym typeface="Roboto"/>
            </a:endParaRPr>
          </a:p>
          <a:p>
            <a:pPr marL="457200" lvl="0" indent="-333890" algn="l" rtl="0">
              <a:lnSpc>
                <a:spcPct val="115000"/>
              </a:lnSpc>
              <a:spcBef>
                <a:spcPts val="0"/>
              </a:spcBef>
              <a:spcAft>
                <a:spcPts val="0"/>
              </a:spcAft>
              <a:buClr>
                <a:schemeClr val="dk1"/>
              </a:buClr>
              <a:buSzPts val="1658"/>
              <a:buFont typeface="Roboto"/>
              <a:buChar char="●"/>
            </a:pPr>
            <a:r>
              <a:rPr lang="en-US" sz="1658" b="1">
                <a:solidFill>
                  <a:schemeClr val="dk1"/>
                </a:solidFill>
                <a:latin typeface="Roboto"/>
                <a:ea typeface="Roboto"/>
                <a:cs typeface="Roboto"/>
                <a:sym typeface="Roboto"/>
              </a:rPr>
              <a:t>Effect on T Cell Activation</a:t>
            </a:r>
            <a:r>
              <a:rPr lang="en-US" sz="1658">
                <a:solidFill>
                  <a:schemeClr val="dk1"/>
                </a:solidFill>
                <a:latin typeface="Roboto"/>
                <a:ea typeface="Roboto"/>
                <a:cs typeface="Roboto"/>
                <a:sym typeface="Roboto"/>
              </a:rPr>
              <a:t>:</a:t>
            </a:r>
            <a:endParaRPr sz="1658">
              <a:solidFill>
                <a:schemeClr val="dk1"/>
              </a:solidFill>
              <a:latin typeface="Roboto"/>
              <a:ea typeface="Roboto"/>
              <a:cs typeface="Roboto"/>
              <a:sym typeface="Roboto"/>
            </a:endParaRPr>
          </a:p>
          <a:p>
            <a:pPr marL="914400" lvl="1" indent="-333890" algn="l" rtl="0">
              <a:lnSpc>
                <a:spcPct val="115000"/>
              </a:lnSpc>
              <a:spcBef>
                <a:spcPts val="0"/>
              </a:spcBef>
              <a:spcAft>
                <a:spcPts val="0"/>
              </a:spcAft>
              <a:buClr>
                <a:schemeClr val="dk1"/>
              </a:buClr>
              <a:buSzPts val="1658"/>
              <a:buFont typeface="Roboto"/>
              <a:buChar char="○"/>
            </a:pPr>
            <a:r>
              <a:rPr lang="en-US" sz="1658">
                <a:solidFill>
                  <a:schemeClr val="dk1"/>
                </a:solidFill>
                <a:latin typeface="Roboto"/>
                <a:ea typeface="Roboto"/>
                <a:cs typeface="Roboto"/>
                <a:sym typeface="Roboto"/>
              </a:rPr>
              <a:t>By modulating the immune responses of M1 and M2 macrophages and DCs, the CD200–CD200R complex affects the activation of cytotoxic T lymphocytes (T cells) .</a:t>
            </a:r>
            <a:endParaRPr sz="1658">
              <a:solidFill>
                <a:schemeClr val="dk1"/>
              </a:solidFill>
              <a:latin typeface="Roboto"/>
              <a:ea typeface="Roboto"/>
              <a:cs typeface="Roboto"/>
              <a:sym typeface="Roboto"/>
            </a:endParaRPr>
          </a:p>
          <a:p>
            <a:pPr marL="457200" lvl="0" indent="-333890" algn="l" rtl="0">
              <a:lnSpc>
                <a:spcPct val="115000"/>
              </a:lnSpc>
              <a:spcBef>
                <a:spcPts val="0"/>
              </a:spcBef>
              <a:spcAft>
                <a:spcPts val="0"/>
              </a:spcAft>
              <a:buClr>
                <a:schemeClr val="dk1"/>
              </a:buClr>
              <a:buSzPts val="1658"/>
              <a:buFont typeface="Roboto"/>
              <a:buChar char="●"/>
            </a:pPr>
            <a:r>
              <a:rPr lang="en-US" sz="1658" b="1">
                <a:solidFill>
                  <a:schemeClr val="dk1"/>
                </a:solidFill>
                <a:latin typeface="Roboto"/>
                <a:ea typeface="Roboto"/>
                <a:cs typeface="Roboto"/>
                <a:sym typeface="Roboto"/>
              </a:rPr>
              <a:t>Tumor Immune Evasion</a:t>
            </a:r>
            <a:r>
              <a:rPr lang="en-US" sz="1658">
                <a:solidFill>
                  <a:schemeClr val="dk1"/>
                </a:solidFill>
                <a:latin typeface="Roboto"/>
                <a:ea typeface="Roboto"/>
                <a:cs typeface="Roboto"/>
                <a:sym typeface="Roboto"/>
              </a:rPr>
              <a:t>:</a:t>
            </a:r>
            <a:endParaRPr sz="1658">
              <a:solidFill>
                <a:schemeClr val="dk1"/>
              </a:solidFill>
              <a:latin typeface="Roboto"/>
              <a:ea typeface="Roboto"/>
              <a:cs typeface="Roboto"/>
              <a:sym typeface="Roboto"/>
            </a:endParaRPr>
          </a:p>
          <a:p>
            <a:pPr marL="914400" lvl="1" indent="-333890" algn="l" rtl="0">
              <a:lnSpc>
                <a:spcPct val="115000"/>
              </a:lnSpc>
              <a:spcBef>
                <a:spcPts val="0"/>
              </a:spcBef>
              <a:spcAft>
                <a:spcPts val="0"/>
              </a:spcAft>
              <a:buClr>
                <a:schemeClr val="dk1"/>
              </a:buClr>
              <a:buSzPts val="1658"/>
              <a:buFont typeface="Roboto"/>
              <a:buChar char="○"/>
            </a:pPr>
            <a:r>
              <a:rPr lang="en-US" sz="1658">
                <a:solidFill>
                  <a:schemeClr val="dk1"/>
                </a:solidFill>
                <a:latin typeface="Roboto"/>
                <a:ea typeface="Roboto"/>
                <a:cs typeface="Roboto"/>
                <a:sym typeface="Roboto"/>
              </a:rPr>
              <a:t>This contributes to tumor immune evasion by creating an immunosuppressive microenvironment.</a:t>
            </a:r>
            <a:endParaRPr sz="1658">
              <a:solidFill>
                <a:schemeClr val="dk1"/>
              </a:solidFill>
              <a:latin typeface="Roboto"/>
              <a:ea typeface="Roboto"/>
              <a:cs typeface="Roboto"/>
              <a:sym typeface="Roboto"/>
            </a:endParaRPr>
          </a:p>
          <a:p>
            <a:pPr marL="914400" lvl="1" indent="-333890" algn="l" rtl="0">
              <a:lnSpc>
                <a:spcPct val="115000"/>
              </a:lnSpc>
              <a:spcBef>
                <a:spcPts val="0"/>
              </a:spcBef>
              <a:spcAft>
                <a:spcPts val="0"/>
              </a:spcAft>
              <a:buClr>
                <a:schemeClr val="dk1"/>
              </a:buClr>
              <a:buSzPts val="1658"/>
              <a:buFont typeface="Roboto"/>
              <a:buChar char="○"/>
            </a:pPr>
            <a:r>
              <a:rPr lang="en-US" sz="1658">
                <a:solidFill>
                  <a:schemeClr val="dk1"/>
                </a:solidFill>
                <a:latin typeface="Roboto"/>
                <a:ea typeface="Roboto"/>
                <a:cs typeface="Roboto"/>
                <a:sym typeface="Roboto"/>
              </a:rPr>
              <a:t>This immunosuppressive environment promotes tumor growth and progression.</a:t>
            </a:r>
            <a:endParaRPr/>
          </a:p>
        </p:txBody>
      </p:sp>
      <p:sp>
        <p:nvSpPr>
          <p:cNvPr id="206" name="Google Shape;206;g2ce05626edf_1_0"/>
          <p:cNvSpPr txBox="1">
            <a:spLocks noGrp="1"/>
          </p:cNvSpPr>
          <p:nvPr>
            <p:ph type="title" idx="4294967295"/>
          </p:nvPr>
        </p:nvSpPr>
        <p:spPr>
          <a:xfrm>
            <a:off x="581200" y="702150"/>
            <a:ext cx="11029500" cy="1298400"/>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1"/>
              </a:buClr>
              <a:buSzPct val="93333"/>
              <a:buFont typeface="Arial"/>
              <a:buNone/>
            </a:pPr>
            <a:r>
              <a:rPr lang="en-US" sz="3000" b="1">
                <a:latin typeface="Georgia"/>
                <a:ea typeface="Georgia"/>
                <a:cs typeface="Georgia"/>
                <a:sym typeface="Georgia"/>
              </a:rPr>
              <a:t>EXAMPLE 2: Modeling the CD200–CD200R Signaling Pathway: Implications for Cancer Therapy</a:t>
            </a:r>
            <a:endParaRPr sz="3000" b="1">
              <a:latin typeface="Georgia"/>
              <a:ea typeface="Georgia"/>
              <a:cs typeface="Georgia"/>
              <a:sym typeface="Georgia"/>
            </a:endParaRPr>
          </a:p>
          <a:p>
            <a:pPr marL="0" lvl="0" indent="0" algn="ctr" rtl="0">
              <a:spcBef>
                <a:spcPts val="0"/>
              </a:spcBef>
              <a:spcAft>
                <a:spcPts val="0"/>
              </a:spcAft>
              <a:buClr>
                <a:schemeClr val="lt1"/>
              </a:buClr>
              <a:buSzPct val="93333"/>
              <a:buFont typeface="Arial"/>
              <a:buNone/>
            </a:pPr>
            <a:endParaRPr sz="3000" b="1">
              <a:latin typeface="Georgia"/>
              <a:ea typeface="Georgia"/>
              <a:cs typeface="Georgia"/>
              <a:sym typeface="Georgi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0"/>
        <p:cNvGrpSpPr/>
        <p:nvPr/>
      </p:nvGrpSpPr>
      <p:grpSpPr>
        <a:xfrm>
          <a:off x="0" y="0"/>
          <a:ext cx="0" cy="0"/>
          <a:chOff x="0" y="0"/>
          <a:chExt cx="0" cy="0"/>
        </a:xfrm>
      </p:grpSpPr>
      <p:sp>
        <p:nvSpPr>
          <p:cNvPr id="211" name="Google Shape;211;g2ce05626edf_1_5"/>
          <p:cNvSpPr txBox="1">
            <a:spLocks noGrp="1"/>
          </p:cNvSpPr>
          <p:nvPr>
            <p:ph type="body" idx="4294967295"/>
          </p:nvPr>
        </p:nvSpPr>
        <p:spPr>
          <a:xfrm>
            <a:off x="174425" y="679200"/>
            <a:ext cx="11932200" cy="5985900"/>
          </a:xfrm>
          <a:prstGeom prst="rect">
            <a:avLst/>
          </a:prstGeom>
        </p:spPr>
        <p:txBody>
          <a:bodyPr spcFirstLastPara="1" wrap="square" lIns="91425" tIns="45700" rIns="91425" bIns="45700" anchor="ctr" anchorCtr="0">
            <a:normAutofit/>
          </a:bodyPr>
          <a:lstStyle/>
          <a:p>
            <a:pPr marL="457200" lvl="0" indent="-298450" algn="l" rtl="0">
              <a:lnSpc>
                <a:spcPct val="200000"/>
              </a:lnSpc>
              <a:spcBef>
                <a:spcPts val="0"/>
              </a:spcBef>
              <a:spcAft>
                <a:spcPts val="0"/>
              </a:spcAft>
              <a:buClr>
                <a:schemeClr val="dk1"/>
              </a:buClr>
              <a:buSzPts val="1100"/>
              <a:buFont typeface="Arial"/>
              <a:buChar char="●"/>
            </a:pPr>
            <a:r>
              <a:rPr lang="en-US" sz="1400" b="1">
                <a:solidFill>
                  <a:schemeClr val="dk1"/>
                </a:solidFill>
              </a:rPr>
              <a:t>V</a:t>
            </a:r>
            <a:r>
              <a:rPr lang="en-US" sz="1700" b="1">
                <a:solidFill>
                  <a:schemeClr val="dk1"/>
                </a:solidFill>
              </a:rPr>
              <a:t>ariables in the Model:</a:t>
            </a:r>
            <a:endParaRPr sz="1700" b="1">
              <a:solidFill>
                <a:schemeClr val="dk1"/>
              </a:solidFill>
            </a:endParaRPr>
          </a:p>
          <a:p>
            <a:pPr marL="914400" lvl="1" indent="-336550" algn="l" rtl="0">
              <a:lnSpc>
                <a:spcPct val="200000"/>
              </a:lnSpc>
              <a:spcBef>
                <a:spcPts val="0"/>
              </a:spcBef>
              <a:spcAft>
                <a:spcPts val="0"/>
              </a:spcAft>
              <a:buClr>
                <a:schemeClr val="dk1"/>
              </a:buClr>
              <a:buSzPts val="1700"/>
              <a:buFont typeface="Arial"/>
              <a:buChar char="○"/>
            </a:pPr>
            <a:r>
              <a:rPr lang="en-US" sz="1700" b="1">
                <a:solidFill>
                  <a:schemeClr val="dk1"/>
                </a:solidFill>
              </a:rPr>
              <a:t>C(t):</a:t>
            </a:r>
            <a:r>
              <a:rPr lang="en-US" sz="1700">
                <a:solidFill>
                  <a:schemeClr val="dk1"/>
                </a:solidFill>
              </a:rPr>
              <a:t> Density of tumor cells at time t</a:t>
            </a:r>
            <a:endParaRPr sz="1700">
              <a:solidFill>
                <a:schemeClr val="dk1"/>
              </a:solidFill>
            </a:endParaRPr>
          </a:p>
          <a:p>
            <a:pPr marL="914400" lvl="1" indent="-336550" algn="l" rtl="0">
              <a:lnSpc>
                <a:spcPct val="200000"/>
              </a:lnSpc>
              <a:spcBef>
                <a:spcPts val="0"/>
              </a:spcBef>
              <a:spcAft>
                <a:spcPts val="0"/>
              </a:spcAft>
              <a:buClr>
                <a:schemeClr val="dk1"/>
              </a:buClr>
              <a:buSzPts val="1700"/>
              <a:buFont typeface="Arial"/>
              <a:buChar char="○"/>
            </a:pPr>
            <a:r>
              <a:rPr lang="en-US" sz="1700" b="1">
                <a:solidFill>
                  <a:schemeClr val="dk1"/>
                </a:solidFill>
              </a:rPr>
              <a:t>q(t): </a:t>
            </a:r>
            <a:r>
              <a:rPr lang="en-US" sz="1700">
                <a:solidFill>
                  <a:schemeClr val="dk1"/>
                </a:solidFill>
              </a:rPr>
              <a:t>Concentration of macrophage colony-stimulating factor (M-CSF) at time t</a:t>
            </a:r>
            <a:endParaRPr sz="1700">
              <a:solidFill>
                <a:schemeClr val="dk1"/>
              </a:solidFill>
            </a:endParaRPr>
          </a:p>
          <a:p>
            <a:pPr marL="914400" lvl="1" indent="-336550" algn="l" rtl="0">
              <a:lnSpc>
                <a:spcPct val="200000"/>
              </a:lnSpc>
              <a:spcBef>
                <a:spcPts val="0"/>
              </a:spcBef>
              <a:spcAft>
                <a:spcPts val="0"/>
              </a:spcAft>
              <a:buClr>
                <a:schemeClr val="dk1"/>
              </a:buClr>
              <a:buSzPts val="1700"/>
              <a:buFont typeface="Arial"/>
              <a:buChar char="○"/>
            </a:pPr>
            <a:r>
              <a:rPr lang="en-US" sz="1700" b="1">
                <a:solidFill>
                  <a:schemeClr val="dk1"/>
                </a:solidFill>
              </a:rPr>
              <a:t>M1(t)</a:t>
            </a:r>
            <a:r>
              <a:rPr lang="en-US" sz="1700">
                <a:solidFill>
                  <a:schemeClr val="dk1"/>
                </a:solidFill>
              </a:rPr>
              <a:t>: Density of M1 macrophages at time t</a:t>
            </a:r>
            <a:endParaRPr sz="1700">
              <a:solidFill>
                <a:schemeClr val="dk1"/>
              </a:solidFill>
            </a:endParaRPr>
          </a:p>
          <a:p>
            <a:pPr marL="914400" lvl="1" indent="-336550" algn="l" rtl="0">
              <a:lnSpc>
                <a:spcPct val="200000"/>
              </a:lnSpc>
              <a:spcBef>
                <a:spcPts val="0"/>
              </a:spcBef>
              <a:spcAft>
                <a:spcPts val="0"/>
              </a:spcAft>
              <a:buClr>
                <a:schemeClr val="dk1"/>
              </a:buClr>
              <a:buSzPts val="1700"/>
              <a:buFont typeface="Arial"/>
              <a:buChar char="○"/>
            </a:pPr>
            <a:r>
              <a:rPr lang="en-US" sz="1700" b="1">
                <a:solidFill>
                  <a:schemeClr val="dk1"/>
                </a:solidFill>
              </a:rPr>
              <a:t>M2(t):</a:t>
            </a:r>
            <a:r>
              <a:rPr lang="en-US" sz="1700">
                <a:solidFill>
                  <a:schemeClr val="dk1"/>
                </a:solidFill>
              </a:rPr>
              <a:t> Density of M2 macrophages at time t</a:t>
            </a:r>
            <a:endParaRPr sz="1700">
              <a:solidFill>
                <a:schemeClr val="dk1"/>
              </a:solidFill>
            </a:endParaRPr>
          </a:p>
          <a:p>
            <a:pPr marL="914400" lvl="1" indent="-336550" algn="l" rtl="0">
              <a:lnSpc>
                <a:spcPct val="200000"/>
              </a:lnSpc>
              <a:spcBef>
                <a:spcPts val="0"/>
              </a:spcBef>
              <a:spcAft>
                <a:spcPts val="0"/>
              </a:spcAft>
              <a:buClr>
                <a:schemeClr val="dk1"/>
              </a:buClr>
              <a:buSzPts val="1700"/>
              <a:buFont typeface="Arial"/>
              <a:buChar char="○"/>
            </a:pPr>
            <a:r>
              <a:rPr lang="en-US" sz="1700" b="1">
                <a:solidFill>
                  <a:schemeClr val="dk1"/>
                </a:solidFill>
              </a:rPr>
              <a:t>D(t):</a:t>
            </a:r>
            <a:r>
              <a:rPr lang="en-US" sz="1700">
                <a:solidFill>
                  <a:schemeClr val="dk1"/>
                </a:solidFill>
              </a:rPr>
              <a:t> Density of dendritic cells (DCs) at time t</a:t>
            </a:r>
            <a:endParaRPr sz="1700">
              <a:solidFill>
                <a:schemeClr val="dk1"/>
              </a:solidFill>
            </a:endParaRPr>
          </a:p>
          <a:p>
            <a:pPr marL="914400" lvl="1" indent="-336550" algn="l" rtl="0">
              <a:lnSpc>
                <a:spcPct val="200000"/>
              </a:lnSpc>
              <a:spcBef>
                <a:spcPts val="0"/>
              </a:spcBef>
              <a:spcAft>
                <a:spcPts val="0"/>
              </a:spcAft>
              <a:buClr>
                <a:schemeClr val="dk1"/>
              </a:buClr>
              <a:buSzPts val="1700"/>
              <a:buFont typeface="Arial"/>
              <a:buChar char="○"/>
            </a:pPr>
            <a:r>
              <a:rPr lang="en-US" sz="1700" b="1">
                <a:solidFill>
                  <a:schemeClr val="dk1"/>
                </a:solidFill>
              </a:rPr>
              <a:t>I10(t): </a:t>
            </a:r>
            <a:r>
              <a:rPr lang="en-US" sz="1700">
                <a:solidFill>
                  <a:schemeClr val="dk1"/>
                </a:solidFill>
              </a:rPr>
              <a:t>Concentration of interleukin-10 (IL-10) at time t</a:t>
            </a:r>
            <a:endParaRPr sz="1700">
              <a:solidFill>
                <a:schemeClr val="dk1"/>
              </a:solidFill>
            </a:endParaRPr>
          </a:p>
          <a:p>
            <a:pPr marL="914400" lvl="1" indent="-336550" algn="l" rtl="0">
              <a:lnSpc>
                <a:spcPct val="200000"/>
              </a:lnSpc>
              <a:spcBef>
                <a:spcPts val="0"/>
              </a:spcBef>
              <a:spcAft>
                <a:spcPts val="0"/>
              </a:spcAft>
              <a:buClr>
                <a:schemeClr val="dk1"/>
              </a:buClr>
              <a:buSzPts val="1700"/>
              <a:buFont typeface="Arial"/>
              <a:buChar char="○"/>
            </a:pPr>
            <a:r>
              <a:rPr lang="en-US" sz="1700" b="1">
                <a:solidFill>
                  <a:schemeClr val="dk1"/>
                </a:solidFill>
              </a:rPr>
              <a:t>I12(t):</a:t>
            </a:r>
            <a:r>
              <a:rPr lang="en-US" sz="1700">
                <a:solidFill>
                  <a:schemeClr val="dk1"/>
                </a:solidFill>
              </a:rPr>
              <a:t> Concentration of interleukin-12 (IL-12) at time t</a:t>
            </a:r>
            <a:endParaRPr sz="1700">
              <a:solidFill>
                <a:schemeClr val="dk1"/>
              </a:solidFill>
            </a:endParaRPr>
          </a:p>
          <a:p>
            <a:pPr marL="914400" lvl="1" indent="-336550" algn="l" rtl="0">
              <a:lnSpc>
                <a:spcPct val="200000"/>
              </a:lnSpc>
              <a:spcBef>
                <a:spcPts val="0"/>
              </a:spcBef>
              <a:spcAft>
                <a:spcPts val="0"/>
              </a:spcAft>
              <a:buClr>
                <a:schemeClr val="dk1"/>
              </a:buClr>
              <a:buSzPts val="1700"/>
              <a:buFont typeface="Arial"/>
              <a:buChar char="○"/>
            </a:pPr>
            <a:r>
              <a:rPr lang="en-US" sz="1700" b="1">
                <a:solidFill>
                  <a:schemeClr val="dk1"/>
                </a:solidFill>
              </a:rPr>
              <a:t>T(t):</a:t>
            </a:r>
            <a:r>
              <a:rPr lang="en-US" sz="1700">
                <a:solidFill>
                  <a:schemeClr val="dk1"/>
                </a:solidFill>
              </a:rPr>
              <a:t> Density of T cells at time t</a:t>
            </a:r>
            <a:endParaRPr sz="1700">
              <a:solidFill>
                <a:schemeClr val="dk1"/>
              </a:solidFill>
            </a:endParaRPr>
          </a:p>
          <a:p>
            <a:pPr marL="914400" lvl="1" indent="-336550" algn="l" rtl="0">
              <a:lnSpc>
                <a:spcPct val="200000"/>
              </a:lnSpc>
              <a:spcBef>
                <a:spcPts val="0"/>
              </a:spcBef>
              <a:spcAft>
                <a:spcPts val="0"/>
              </a:spcAft>
              <a:buClr>
                <a:schemeClr val="dk1"/>
              </a:buClr>
              <a:buSzPts val="1700"/>
              <a:buFont typeface="Arial"/>
              <a:buChar char="○"/>
            </a:pPr>
            <a:r>
              <a:rPr lang="en-US" sz="1700" b="1">
                <a:solidFill>
                  <a:schemeClr val="dk1"/>
                </a:solidFill>
              </a:rPr>
              <a:t>h(t): </a:t>
            </a:r>
            <a:r>
              <a:rPr lang="en-US" sz="1700">
                <a:solidFill>
                  <a:schemeClr val="dk1"/>
                </a:solidFill>
              </a:rPr>
              <a:t>Concentration of vascular endothelial growth factor (VEGF) at time t</a:t>
            </a:r>
            <a:endParaRPr sz="1700">
              <a:solidFill>
                <a:schemeClr val="dk1"/>
              </a:solidFill>
            </a:endParaRPr>
          </a:p>
          <a:p>
            <a:pPr marL="914400" lvl="1" indent="-336550" algn="l" rtl="0">
              <a:lnSpc>
                <a:spcPct val="200000"/>
              </a:lnSpc>
              <a:spcBef>
                <a:spcPts val="0"/>
              </a:spcBef>
              <a:spcAft>
                <a:spcPts val="0"/>
              </a:spcAft>
              <a:buClr>
                <a:schemeClr val="dk1"/>
              </a:buClr>
              <a:buSzPts val="1700"/>
              <a:buFont typeface="Arial"/>
              <a:buChar char="○"/>
            </a:pPr>
            <a:r>
              <a:rPr lang="en-US" sz="1700" b="1">
                <a:solidFill>
                  <a:schemeClr val="dk1"/>
                </a:solidFill>
              </a:rPr>
              <a:t>w(t):</a:t>
            </a:r>
            <a:r>
              <a:rPr lang="en-US" sz="1700">
                <a:solidFill>
                  <a:schemeClr val="dk1"/>
                </a:solidFill>
              </a:rPr>
              <a:t> Concentration of oxygen at time t</a:t>
            </a:r>
            <a:endParaRPr sz="1700">
              <a:solidFill>
                <a:schemeClr val="dk1"/>
              </a:solidFill>
            </a:endParaRPr>
          </a:p>
          <a:p>
            <a:pPr marL="457200" lvl="0" indent="0" algn="l" rtl="0">
              <a:lnSpc>
                <a:spcPct val="150000"/>
              </a:lnSpc>
              <a:spcBef>
                <a:spcPts val="0"/>
              </a:spcBef>
              <a:spcAft>
                <a:spcPts val="0"/>
              </a:spcAft>
              <a:buNone/>
            </a:pPr>
            <a:endParaRPr sz="22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g2ce05626edf_1_9"/>
          <p:cNvSpPr txBox="1"/>
          <p:nvPr/>
        </p:nvSpPr>
        <p:spPr>
          <a:xfrm>
            <a:off x="333000" y="692400"/>
            <a:ext cx="11575500" cy="6434700"/>
          </a:xfrm>
          <a:prstGeom prst="rect">
            <a:avLst/>
          </a:prstGeom>
          <a:noFill/>
          <a:ln>
            <a:noFill/>
          </a:ln>
        </p:spPr>
        <p:txBody>
          <a:bodyPr spcFirstLastPara="1" wrap="square" lIns="91425" tIns="91425" rIns="91425" bIns="91425" anchor="t" anchorCtr="0">
            <a:spAutoFit/>
          </a:bodyPr>
          <a:lstStyle/>
          <a:p>
            <a:pPr marL="457200" lvl="0" indent="-323850" algn="l" rtl="0">
              <a:lnSpc>
                <a:spcPct val="115000"/>
              </a:lnSpc>
              <a:spcBef>
                <a:spcPts val="0"/>
              </a:spcBef>
              <a:spcAft>
                <a:spcPts val="0"/>
              </a:spcAft>
              <a:buClr>
                <a:schemeClr val="dk1"/>
              </a:buClr>
              <a:buSzPts val="1500"/>
              <a:buFont typeface="Arial"/>
              <a:buChar char="●"/>
            </a:pPr>
            <a:r>
              <a:rPr lang="en-US" sz="1500" b="1">
                <a:solidFill>
                  <a:schemeClr val="dk1"/>
                </a:solidFill>
              </a:rPr>
              <a:t>Model Equations</a:t>
            </a:r>
            <a:r>
              <a:rPr lang="en-US" sz="1500">
                <a:solidFill>
                  <a:schemeClr val="dk1"/>
                </a:solidFill>
              </a:rPr>
              <a:t>:</a:t>
            </a:r>
            <a:endParaRPr sz="1500">
              <a:solidFill>
                <a:schemeClr val="dk1"/>
              </a:solidFill>
            </a:endParaRPr>
          </a:p>
          <a:p>
            <a:pPr marL="914400" lvl="1" indent="-323850" algn="l" rtl="0">
              <a:lnSpc>
                <a:spcPct val="115000"/>
              </a:lnSpc>
              <a:spcBef>
                <a:spcPts val="0"/>
              </a:spcBef>
              <a:spcAft>
                <a:spcPts val="0"/>
              </a:spcAft>
              <a:buClr>
                <a:schemeClr val="dk1"/>
              </a:buClr>
              <a:buSzPts val="1500"/>
              <a:buFont typeface="Arial"/>
              <a:buChar char="○"/>
            </a:pPr>
            <a:r>
              <a:rPr lang="en-US" sz="1500">
                <a:solidFill>
                  <a:schemeClr val="dk1"/>
                </a:solidFill>
              </a:rPr>
              <a:t>The ODE model consists of a set of equations that describe the dynamics of the interactions between tumor cells, immune cells, cytokines, and other components in the TME. </a:t>
            </a:r>
            <a:endParaRPr sz="1500">
              <a:solidFill>
                <a:schemeClr val="dk1"/>
              </a:solidFill>
            </a:endParaRPr>
          </a:p>
          <a:p>
            <a:pPr marL="914400" lvl="0" indent="0" algn="l" rtl="0">
              <a:lnSpc>
                <a:spcPct val="115000"/>
              </a:lnSpc>
              <a:spcBef>
                <a:spcPts val="0"/>
              </a:spcBef>
              <a:spcAft>
                <a:spcPts val="0"/>
              </a:spcAft>
              <a:buNone/>
            </a:pPr>
            <a:endParaRPr sz="1500">
              <a:solidFill>
                <a:schemeClr val="dk1"/>
              </a:solidFill>
            </a:endParaRPr>
          </a:p>
          <a:p>
            <a:pPr marL="914400" lvl="0" indent="0" algn="l" rtl="0">
              <a:lnSpc>
                <a:spcPct val="115000"/>
              </a:lnSpc>
              <a:spcBef>
                <a:spcPts val="0"/>
              </a:spcBef>
              <a:spcAft>
                <a:spcPts val="0"/>
              </a:spcAft>
              <a:buNone/>
            </a:pPr>
            <a:r>
              <a:rPr lang="en-US" sz="1500" u="sng">
                <a:solidFill>
                  <a:schemeClr val="dk1"/>
                </a:solidFill>
              </a:rPr>
              <a:t>Generalized ODE Model Structure:</a:t>
            </a:r>
            <a:endParaRPr sz="1500" u="sng">
              <a:solidFill>
                <a:schemeClr val="dk1"/>
              </a:solidFill>
            </a:endParaRPr>
          </a:p>
          <a:p>
            <a:pPr marL="1371600" lvl="2" indent="-292100" algn="l" rtl="0">
              <a:lnSpc>
                <a:spcPct val="115000"/>
              </a:lnSpc>
              <a:spcBef>
                <a:spcPts val="0"/>
              </a:spcBef>
              <a:spcAft>
                <a:spcPts val="0"/>
              </a:spcAft>
              <a:buClr>
                <a:schemeClr val="dk1"/>
              </a:buClr>
              <a:buSzPts val="1000"/>
              <a:buFont typeface="Arial"/>
              <a:buChar char="■"/>
            </a:pPr>
            <a:r>
              <a:rPr lang="en-US" sz="1500" b="1">
                <a:solidFill>
                  <a:schemeClr val="dk1"/>
                </a:solidFill>
              </a:rPr>
              <a:t>dC/dt</a:t>
            </a:r>
            <a:r>
              <a:rPr lang="en-US" sz="1500">
                <a:solidFill>
                  <a:schemeClr val="dk1"/>
                </a:solidFill>
              </a:rPr>
              <a:t> = f(C, M1, M2, D, I10, I12, T, q, h, w) </a:t>
            </a:r>
            <a:endParaRPr sz="1500">
              <a:solidFill>
                <a:schemeClr val="dk1"/>
              </a:solidFill>
            </a:endParaRPr>
          </a:p>
          <a:p>
            <a:pPr marL="1828800" lvl="3" indent="-298450" algn="l" rtl="0">
              <a:lnSpc>
                <a:spcPct val="115000"/>
              </a:lnSpc>
              <a:spcBef>
                <a:spcPts val="0"/>
              </a:spcBef>
              <a:spcAft>
                <a:spcPts val="0"/>
              </a:spcAft>
              <a:buClr>
                <a:schemeClr val="dk1"/>
              </a:buClr>
              <a:buSzPts val="1100"/>
              <a:buFont typeface="Arial"/>
              <a:buChar char="●"/>
            </a:pPr>
            <a:r>
              <a:rPr lang="en-US" sz="1500">
                <a:solidFill>
                  <a:schemeClr val="dk1"/>
                </a:solidFill>
              </a:rPr>
              <a:t>[</a:t>
            </a:r>
            <a:r>
              <a:rPr lang="en-US" sz="1450">
                <a:solidFill>
                  <a:schemeClr val="dk1"/>
                </a:solidFill>
                <a:latin typeface="Roboto"/>
                <a:ea typeface="Roboto"/>
                <a:cs typeface="Roboto"/>
                <a:sym typeface="Roboto"/>
              </a:rPr>
              <a:t>Rate of change of tumor cell density (C(t)) is influenced by interactions with immune cells and cytokines]</a:t>
            </a:r>
            <a:endParaRPr sz="1450">
              <a:solidFill>
                <a:schemeClr val="dk1"/>
              </a:solidFill>
              <a:latin typeface="Roboto"/>
              <a:ea typeface="Roboto"/>
              <a:cs typeface="Roboto"/>
              <a:sym typeface="Roboto"/>
            </a:endParaRPr>
          </a:p>
          <a:p>
            <a:pPr marL="1828800" lvl="0" indent="0" algn="l" rtl="0">
              <a:lnSpc>
                <a:spcPct val="115000"/>
              </a:lnSpc>
              <a:spcBef>
                <a:spcPts val="0"/>
              </a:spcBef>
              <a:spcAft>
                <a:spcPts val="0"/>
              </a:spcAft>
              <a:buNone/>
            </a:pPr>
            <a:endParaRPr sz="1450">
              <a:solidFill>
                <a:schemeClr val="dk1"/>
              </a:solidFill>
              <a:latin typeface="Roboto"/>
              <a:ea typeface="Roboto"/>
              <a:cs typeface="Roboto"/>
              <a:sym typeface="Roboto"/>
            </a:endParaRPr>
          </a:p>
          <a:p>
            <a:pPr marL="1371600" lvl="2" indent="-323850" algn="l" rtl="0">
              <a:lnSpc>
                <a:spcPct val="115000"/>
              </a:lnSpc>
              <a:spcBef>
                <a:spcPts val="0"/>
              </a:spcBef>
              <a:spcAft>
                <a:spcPts val="0"/>
              </a:spcAft>
              <a:buClr>
                <a:schemeClr val="dk1"/>
              </a:buClr>
              <a:buSzPts val="1500"/>
              <a:buFont typeface="Arial"/>
              <a:buChar char="■"/>
            </a:pPr>
            <a:r>
              <a:rPr lang="en-US" sz="1500" b="1">
                <a:solidFill>
                  <a:schemeClr val="dk1"/>
                </a:solidFill>
              </a:rPr>
              <a:t>dM1/dt</a:t>
            </a:r>
            <a:r>
              <a:rPr lang="en-US" sz="1500">
                <a:solidFill>
                  <a:schemeClr val="dk1"/>
                </a:solidFill>
              </a:rPr>
              <a:t> = g(C, M1, M2, D, I10, I12, T, q, h, w)</a:t>
            </a:r>
            <a:endParaRPr sz="1500">
              <a:solidFill>
                <a:schemeClr val="dk1"/>
              </a:solidFill>
            </a:endParaRPr>
          </a:p>
          <a:p>
            <a:pPr marL="1371600" lvl="2" indent="-323850" algn="l" rtl="0">
              <a:lnSpc>
                <a:spcPct val="115000"/>
              </a:lnSpc>
              <a:spcBef>
                <a:spcPts val="0"/>
              </a:spcBef>
              <a:spcAft>
                <a:spcPts val="0"/>
              </a:spcAft>
              <a:buClr>
                <a:schemeClr val="dk1"/>
              </a:buClr>
              <a:buSzPts val="1500"/>
              <a:buFont typeface="Arial"/>
              <a:buChar char="■"/>
            </a:pPr>
            <a:r>
              <a:rPr lang="en-US" sz="1500" b="1">
                <a:solidFill>
                  <a:schemeClr val="dk1"/>
                </a:solidFill>
              </a:rPr>
              <a:t>dM2/dt</a:t>
            </a:r>
            <a:r>
              <a:rPr lang="en-US" sz="1500">
                <a:solidFill>
                  <a:schemeClr val="dk1"/>
                </a:solidFill>
              </a:rPr>
              <a:t> = h(C, M1, M2, D, I10, I12, T, q, h, w)</a:t>
            </a:r>
            <a:endParaRPr sz="1500">
              <a:solidFill>
                <a:schemeClr val="dk1"/>
              </a:solidFill>
            </a:endParaRPr>
          </a:p>
          <a:p>
            <a:pPr marL="1371600" lvl="2" indent="-323850" algn="l" rtl="0">
              <a:lnSpc>
                <a:spcPct val="115000"/>
              </a:lnSpc>
              <a:spcBef>
                <a:spcPts val="0"/>
              </a:spcBef>
              <a:spcAft>
                <a:spcPts val="0"/>
              </a:spcAft>
              <a:buClr>
                <a:schemeClr val="dk1"/>
              </a:buClr>
              <a:buSzPts val="1500"/>
              <a:buFont typeface="Arial"/>
              <a:buChar char="■"/>
            </a:pPr>
            <a:r>
              <a:rPr lang="en-US" sz="1500" b="1">
                <a:solidFill>
                  <a:schemeClr val="dk1"/>
                </a:solidFill>
              </a:rPr>
              <a:t>dD/dt</a:t>
            </a:r>
            <a:r>
              <a:rPr lang="en-US" sz="1500">
                <a:solidFill>
                  <a:schemeClr val="dk1"/>
                </a:solidFill>
              </a:rPr>
              <a:t> = i(C, M1, M2, D, I10, I12, T, q, h, w)</a:t>
            </a:r>
            <a:endParaRPr sz="1500">
              <a:solidFill>
                <a:schemeClr val="dk1"/>
              </a:solidFill>
            </a:endParaRPr>
          </a:p>
          <a:p>
            <a:pPr marL="1828800" lvl="3" indent="-298450" algn="l" rtl="0">
              <a:lnSpc>
                <a:spcPct val="115000"/>
              </a:lnSpc>
              <a:spcBef>
                <a:spcPts val="0"/>
              </a:spcBef>
              <a:spcAft>
                <a:spcPts val="0"/>
              </a:spcAft>
              <a:buClr>
                <a:schemeClr val="dk1"/>
              </a:buClr>
              <a:buSzPts val="1100"/>
              <a:buFont typeface="Arial"/>
              <a:buChar char="●"/>
            </a:pPr>
            <a:r>
              <a:rPr lang="en-US" sz="1500">
                <a:solidFill>
                  <a:schemeClr val="dk1"/>
                </a:solidFill>
              </a:rPr>
              <a:t>[</a:t>
            </a:r>
            <a:r>
              <a:rPr lang="en-US" sz="1450">
                <a:solidFill>
                  <a:schemeClr val="dk1"/>
                </a:solidFill>
                <a:latin typeface="Roboto"/>
                <a:ea typeface="Roboto"/>
                <a:cs typeface="Roboto"/>
                <a:sym typeface="Roboto"/>
              </a:rPr>
              <a:t>Rates of change of M1 macrophages (M1(t)), M2 macrophages (M2(t)), and dendritic cells (D(t)) are determined by their production, recruitment, activation, and interactions with other components in the TME]</a:t>
            </a:r>
            <a:endParaRPr sz="1450">
              <a:solidFill>
                <a:schemeClr val="dk1"/>
              </a:solidFill>
              <a:latin typeface="Roboto"/>
              <a:ea typeface="Roboto"/>
              <a:cs typeface="Roboto"/>
              <a:sym typeface="Roboto"/>
            </a:endParaRPr>
          </a:p>
          <a:p>
            <a:pPr marL="1828800" lvl="0" indent="0" algn="l" rtl="0">
              <a:lnSpc>
                <a:spcPct val="115000"/>
              </a:lnSpc>
              <a:spcBef>
                <a:spcPts val="0"/>
              </a:spcBef>
              <a:spcAft>
                <a:spcPts val="0"/>
              </a:spcAft>
              <a:buNone/>
            </a:pPr>
            <a:endParaRPr sz="1450">
              <a:solidFill>
                <a:schemeClr val="dk1"/>
              </a:solidFill>
              <a:latin typeface="Roboto"/>
              <a:ea typeface="Roboto"/>
              <a:cs typeface="Roboto"/>
              <a:sym typeface="Roboto"/>
            </a:endParaRPr>
          </a:p>
          <a:p>
            <a:pPr marL="1371600" lvl="2" indent="-323850" algn="l" rtl="0">
              <a:lnSpc>
                <a:spcPct val="115000"/>
              </a:lnSpc>
              <a:spcBef>
                <a:spcPts val="0"/>
              </a:spcBef>
              <a:spcAft>
                <a:spcPts val="0"/>
              </a:spcAft>
              <a:buClr>
                <a:schemeClr val="dk1"/>
              </a:buClr>
              <a:buSzPts val="1500"/>
              <a:buFont typeface="Arial"/>
              <a:buChar char="■"/>
            </a:pPr>
            <a:r>
              <a:rPr lang="en-US" sz="1500" b="1">
                <a:solidFill>
                  <a:schemeClr val="dk1"/>
                </a:solidFill>
              </a:rPr>
              <a:t>dI10/dt</a:t>
            </a:r>
            <a:r>
              <a:rPr lang="en-US" sz="1500">
                <a:solidFill>
                  <a:schemeClr val="dk1"/>
                </a:solidFill>
              </a:rPr>
              <a:t> = j(C, M1, M2, D, I10, I12, T, q, h, w)</a:t>
            </a:r>
            <a:endParaRPr sz="1500">
              <a:solidFill>
                <a:schemeClr val="dk1"/>
              </a:solidFill>
            </a:endParaRPr>
          </a:p>
          <a:p>
            <a:pPr marL="1371600" lvl="2" indent="-323850" algn="l" rtl="0">
              <a:lnSpc>
                <a:spcPct val="115000"/>
              </a:lnSpc>
              <a:spcBef>
                <a:spcPts val="0"/>
              </a:spcBef>
              <a:spcAft>
                <a:spcPts val="0"/>
              </a:spcAft>
              <a:buClr>
                <a:schemeClr val="dk1"/>
              </a:buClr>
              <a:buSzPts val="1500"/>
              <a:buFont typeface="Arial"/>
              <a:buChar char="■"/>
            </a:pPr>
            <a:r>
              <a:rPr lang="en-US" sz="1500" b="1">
                <a:solidFill>
                  <a:schemeClr val="dk1"/>
                </a:solidFill>
              </a:rPr>
              <a:t>dI12/dt</a:t>
            </a:r>
            <a:r>
              <a:rPr lang="en-US" sz="1500">
                <a:solidFill>
                  <a:schemeClr val="dk1"/>
                </a:solidFill>
              </a:rPr>
              <a:t> = k(C, M1, M2, D, I10, I12, T, q, h, w)</a:t>
            </a:r>
            <a:endParaRPr sz="1500">
              <a:solidFill>
                <a:schemeClr val="dk1"/>
              </a:solidFill>
            </a:endParaRPr>
          </a:p>
          <a:p>
            <a:pPr marL="1828800" lvl="3" indent="-320675" algn="l" rtl="0">
              <a:lnSpc>
                <a:spcPct val="115000"/>
              </a:lnSpc>
              <a:spcBef>
                <a:spcPts val="0"/>
              </a:spcBef>
              <a:spcAft>
                <a:spcPts val="0"/>
              </a:spcAft>
              <a:buClr>
                <a:schemeClr val="dk1"/>
              </a:buClr>
              <a:buSzPts val="1450"/>
              <a:buFont typeface="Roboto"/>
              <a:buChar char="●"/>
            </a:pPr>
            <a:r>
              <a:rPr lang="en-US" sz="1450">
                <a:solidFill>
                  <a:schemeClr val="dk1"/>
                </a:solidFill>
                <a:latin typeface="Roboto"/>
                <a:ea typeface="Roboto"/>
                <a:cs typeface="Roboto"/>
                <a:sym typeface="Roboto"/>
              </a:rPr>
              <a:t>[IL-10 (I10(t)) and IL-12 (I12(t)) concentrations change over time based on production, degradation, and interactions with immune cells]</a:t>
            </a:r>
            <a:endParaRPr sz="1450">
              <a:solidFill>
                <a:schemeClr val="dk1"/>
              </a:solidFill>
              <a:latin typeface="Roboto"/>
              <a:ea typeface="Roboto"/>
              <a:cs typeface="Roboto"/>
              <a:sym typeface="Roboto"/>
            </a:endParaRPr>
          </a:p>
          <a:p>
            <a:pPr marL="1828800" lvl="0" indent="0" algn="l" rtl="0">
              <a:lnSpc>
                <a:spcPct val="115000"/>
              </a:lnSpc>
              <a:spcBef>
                <a:spcPts val="600"/>
              </a:spcBef>
              <a:spcAft>
                <a:spcPts val="0"/>
              </a:spcAft>
              <a:buNone/>
            </a:pPr>
            <a:endParaRPr sz="1450">
              <a:solidFill>
                <a:schemeClr val="dk1"/>
              </a:solidFill>
              <a:latin typeface="Roboto"/>
              <a:ea typeface="Roboto"/>
              <a:cs typeface="Roboto"/>
              <a:sym typeface="Roboto"/>
            </a:endParaRPr>
          </a:p>
          <a:p>
            <a:pPr marL="914400" lvl="1" indent="-323850" algn="l" rtl="0">
              <a:lnSpc>
                <a:spcPct val="115000"/>
              </a:lnSpc>
              <a:spcBef>
                <a:spcPts val="600"/>
              </a:spcBef>
              <a:spcAft>
                <a:spcPts val="0"/>
              </a:spcAft>
              <a:buClr>
                <a:schemeClr val="dk1"/>
              </a:buClr>
              <a:buSzPts val="1500"/>
              <a:buFont typeface="Arial"/>
              <a:buChar char="○"/>
            </a:pPr>
            <a:r>
              <a:rPr lang="en-US" sz="1500">
                <a:solidFill>
                  <a:schemeClr val="dk1"/>
                </a:solidFill>
              </a:rPr>
              <a:t>The functions f, g, h, i, j, k represent the specific interactions and dynamics of the variables in the model.</a:t>
            </a:r>
            <a:endParaRPr sz="1500">
              <a:solidFill>
                <a:schemeClr val="dk1"/>
              </a:solidFill>
            </a:endParaRPr>
          </a:p>
          <a:p>
            <a:pPr marL="914400" lvl="1" indent="-323850" algn="l" rtl="0">
              <a:lnSpc>
                <a:spcPct val="115000"/>
              </a:lnSpc>
              <a:spcBef>
                <a:spcPts val="0"/>
              </a:spcBef>
              <a:spcAft>
                <a:spcPts val="0"/>
              </a:spcAft>
              <a:buClr>
                <a:schemeClr val="dk1"/>
              </a:buClr>
              <a:buSzPts val="1500"/>
              <a:buFont typeface="Arial"/>
              <a:buChar char="○"/>
            </a:pPr>
            <a:r>
              <a:rPr lang="en-US" sz="1500">
                <a:solidFill>
                  <a:schemeClr val="dk1"/>
                </a:solidFill>
              </a:rPr>
              <a:t>The actual ODE model equations with specific functional forms and parameters would be detailed in the original paper by Liao and Watt.</a:t>
            </a:r>
            <a:endParaRPr sz="2000">
              <a:solidFill>
                <a:schemeClr val="dk2"/>
              </a:solidFill>
            </a:endParaRPr>
          </a:p>
          <a:p>
            <a:pPr marL="0" lvl="0" indent="0" algn="l" rtl="0">
              <a:lnSpc>
                <a:spcPct val="100000"/>
              </a:lnSpc>
              <a:spcBef>
                <a:spcPts val="0"/>
              </a:spcBef>
              <a:spcAft>
                <a:spcPts val="0"/>
              </a:spcAft>
              <a:buNone/>
            </a:pPr>
            <a:endParaRPr sz="2000">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g2ce05626edf_1_13"/>
          <p:cNvSpPr txBox="1"/>
          <p:nvPr/>
        </p:nvSpPr>
        <p:spPr>
          <a:xfrm>
            <a:off x="227250" y="705625"/>
            <a:ext cx="11707500" cy="6207000"/>
          </a:xfrm>
          <a:prstGeom prst="rect">
            <a:avLst/>
          </a:prstGeom>
          <a:noFill/>
          <a:ln>
            <a:noFill/>
          </a:ln>
        </p:spPr>
        <p:txBody>
          <a:bodyPr spcFirstLastPara="1" wrap="square" lIns="91425" tIns="91425" rIns="91425" bIns="91425" anchor="t" anchorCtr="0">
            <a:spAutoFit/>
          </a:bodyPr>
          <a:lstStyle/>
          <a:p>
            <a:pPr marL="457200" lvl="0" indent="-336550" algn="l" rtl="0">
              <a:lnSpc>
                <a:spcPct val="150000"/>
              </a:lnSpc>
              <a:spcBef>
                <a:spcPts val="0"/>
              </a:spcBef>
              <a:spcAft>
                <a:spcPts val="0"/>
              </a:spcAft>
              <a:buClr>
                <a:schemeClr val="dk1"/>
              </a:buClr>
              <a:buSzPts val="1700"/>
              <a:buChar char="●"/>
            </a:pPr>
            <a:r>
              <a:rPr lang="en-US" sz="1700" b="1">
                <a:solidFill>
                  <a:schemeClr val="dk1"/>
                </a:solidFill>
              </a:rPr>
              <a:t>Purpose of the Model:</a:t>
            </a:r>
            <a:endParaRPr sz="1700" b="1">
              <a:solidFill>
                <a:schemeClr val="dk1"/>
              </a:solidFill>
            </a:endParaRPr>
          </a:p>
          <a:p>
            <a:pPr marL="914400" lvl="1" indent="-336550" algn="l" rtl="0">
              <a:lnSpc>
                <a:spcPct val="150000"/>
              </a:lnSpc>
              <a:spcBef>
                <a:spcPts val="0"/>
              </a:spcBef>
              <a:spcAft>
                <a:spcPts val="0"/>
              </a:spcAft>
              <a:buClr>
                <a:schemeClr val="dk1"/>
              </a:buClr>
              <a:buSzPts val="1700"/>
              <a:buChar char="○"/>
            </a:pPr>
            <a:r>
              <a:rPr lang="en-US" sz="1700">
                <a:solidFill>
                  <a:schemeClr val="dk1"/>
                </a:solidFill>
              </a:rPr>
              <a:t>The ODE model serves as a tool to simulate and analyze the behavior of the CD200–CD200R complex and its effects on tumor growth. </a:t>
            </a:r>
            <a:endParaRPr sz="1700">
              <a:solidFill>
                <a:schemeClr val="dk1"/>
              </a:solidFill>
            </a:endParaRPr>
          </a:p>
          <a:p>
            <a:pPr marL="914400" lvl="1" indent="-336550" algn="l" rtl="0">
              <a:lnSpc>
                <a:spcPct val="150000"/>
              </a:lnSpc>
              <a:spcBef>
                <a:spcPts val="0"/>
              </a:spcBef>
              <a:spcAft>
                <a:spcPts val="0"/>
              </a:spcAft>
              <a:buClr>
                <a:schemeClr val="dk1"/>
              </a:buClr>
              <a:buSzPts val="1700"/>
              <a:buChar char="○"/>
            </a:pPr>
            <a:r>
              <a:rPr lang="en-US" sz="1700">
                <a:solidFill>
                  <a:schemeClr val="dk1"/>
                </a:solidFill>
              </a:rPr>
              <a:t>The model provides insights into how changes in binding affinities and immune cell populations influence tumor progression.</a:t>
            </a:r>
            <a:endParaRPr sz="1700">
              <a:solidFill>
                <a:schemeClr val="dk1"/>
              </a:solidFill>
            </a:endParaRPr>
          </a:p>
          <a:p>
            <a:pPr marL="457200" lvl="0" indent="-333375" algn="l" rtl="0">
              <a:lnSpc>
                <a:spcPct val="150000"/>
              </a:lnSpc>
              <a:spcBef>
                <a:spcPts val="0"/>
              </a:spcBef>
              <a:spcAft>
                <a:spcPts val="0"/>
              </a:spcAft>
              <a:buClr>
                <a:schemeClr val="dk1"/>
              </a:buClr>
              <a:buSzPts val="1650"/>
              <a:buFont typeface="Roboto"/>
              <a:buChar char="●"/>
            </a:pPr>
            <a:r>
              <a:rPr lang="en-US" sz="1650" b="1">
                <a:solidFill>
                  <a:schemeClr val="dk1"/>
                </a:solidFill>
                <a:latin typeface="Roboto"/>
                <a:ea typeface="Roboto"/>
                <a:cs typeface="Roboto"/>
                <a:sym typeface="Roboto"/>
              </a:rPr>
              <a:t>Therapeutic Implications</a:t>
            </a:r>
            <a:r>
              <a:rPr lang="en-US" sz="1650">
                <a:solidFill>
                  <a:schemeClr val="dk1"/>
                </a:solidFill>
                <a:latin typeface="Roboto"/>
                <a:ea typeface="Roboto"/>
                <a:cs typeface="Roboto"/>
                <a:sym typeface="Roboto"/>
              </a:rPr>
              <a:t>:</a:t>
            </a:r>
            <a:endParaRPr sz="1650">
              <a:solidFill>
                <a:schemeClr val="dk1"/>
              </a:solidFill>
              <a:latin typeface="Roboto"/>
              <a:ea typeface="Roboto"/>
              <a:cs typeface="Roboto"/>
              <a:sym typeface="Roboto"/>
            </a:endParaRPr>
          </a:p>
          <a:p>
            <a:pPr marL="914400" lvl="1" indent="-333375" algn="l" rtl="0">
              <a:lnSpc>
                <a:spcPct val="150000"/>
              </a:lnSpc>
              <a:spcBef>
                <a:spcPts val="0"/>
              </a:spcBef>
              <a:spcAft>
                <a:spcPts val="0"/>
              </a:spcAft>
              <a:buClr>
                <a:schemeClr val="dk1"/>
              </a:buClr>
              <a:buSzPts val="1650"/>
              <a:buFont typeface="Roboto"/>
              <a:buChar char="○"/>
            </a:pPr>
            <a:r>
              <a:rPr lang="en-US" sz="1650">
                <a:solidFill>
                  <a:schemeClr val="dk1"/>
                </a:solidFill>
                <a:latin typeface="Roboto"/>
                <a:ea typeface="Roboto"/>
                <a:cs typeface="Roboto"/>
                <a:sym typeface="Roboto"/>
              </a:rPr>
              <a:t>Targeting the CD200–CD200R pathway through blockade or modulation may represent a potential strategy to enhance anti-tumor immune responses and improve treatment outcomes in cancer.</a:t>
            </a:r>
            <a:endParaRPr sz="1650">
              <a:solidFill>
                <a:schemeClr val="dk1"/>
              </a:solidFill>
              <a:latin typeface="Roboto"/>
              <a:ea typeface="Roboto"/>
              <a:cs typeface="Roboto"/>
              <a:sym typeface="Roboto"/>
            </a:endParaRPr>
          </a:p>
          <a:p>
            <a:pPr marL="914400" lvl="0" indent="0" algn="l" rtl="0">
              <a:lnSpc>
                <a:spcPct val="150000"/>
              </a:lnSpc>
              <a:spcBef>
                <a:spcPts val="1200"/>
              </a:spcBef>
              <a:spcAft>
                <a:spcPts val="0"/>
              </a:spcAft>
              <a:buNone/>
            </a:pPr>
            <a:endParaRPr sz="1650">
              <a:solidFill>
                <a:schemeClr val="dk1"/>
              </a:solidFill>
              <a:latin typeface="Roboto"/>
              <a:ea typeface="Roboto"/>
              <a:cs typeface="Roboto"/>
              <a:sym typeface="Roboto"/>
            </a:endParaRPr>
          </a:p>
          <a:p>
            <a:pPr marL="457200" lvl="0" indent="-333375" algn="l" rtl="0">
              <a:lnSpc>
                <a:spcPct val="150000"/>
              </a:lnSpc>
              <a:spcBef>
                <a:spcPts val="1200"/>
              </a:spcBef>
              <a:spcAft>
                <a:spcPts val="0"/>
              </a:spcAft>
              <a:buClr>
                <a:schemeClr val="dk1"/>
              </a:buClr>
              <a:buSzPts val="1650"/>
              <a:buFont typeface="Roboto"/>
              <a:buChar char="●"/>
            </a:pPr>
            <a:r>
              <a:rPr lang="en-US" sz="1650" b="1">
                <a:solidFill>
                  <a:schemeClr val="dk1"/>
                </a:solidFill>
                <a:latin typeface="Roboto"/>
                <a:ea typeface="Roboto"/>
                <a:cs typeface="Roboto"/>
                <a:sym typeface="Roboto"/>
              </a:rPr>
              <a:t>Questions Answered through this model</a:t>
            </a:r>
            <a:endParaRPr sz="1650" b="1">
              <a:solidFill>
                <a:schemeClr val="dk1"/>
              </a:solidFill>
              <a:latin typeface="Roboto"/>
              <a:ea typeface="Roboto"/>
              <a:cs typeface="Roboto"/>
              <a:sym typeface="Roboto"/>
            </a:endParaRPr>
          </a:p>
          <a:p>
            <a:pPr marL="914400" lvl="1" indent="-336550" algn="l" rtl="0">
              <a:lnSpc>
                <a:spcPct val="150000"/>
              </a:lnSpc>
              <a:spcBef>
                <a:spcPts val="0"/>
              </a:spcBef>
              <a:spcAft>
                <a:spcPts val="0"/>
              </a:spcAft>
              <a:buClr>
                <a:schemeClr val="dk1"/>
              </a:buClr>
              <a:buSzPts val="1700"/>
              <a:buChar char="○"/>
            </a:pPr>
            <a:r>
              <a:rPr lang="en-US" sz="1700">
                <a:solidFill>
                  <a:schemeClr val="dk1"/>
                </a:solidFill>
              </a:rPr>
              <a:t>How do CD200 and CD200R interact to modulate immune responses in cancer?</a:t>
            </a:r>
            <a:endParaRPr sz="1700">
              <a:solidFill>
                <a:schemeClr val="dk1"/>
              </a:solidFill>
            </a:endParaRPr>
          </a:p>
          <a:p>
            <a:pPr marL="914400" lvl="1" indent="-336550" algn="l" rtl="0">
              <a:lnSpc>
                <a:spcPct val="150000"/>
              </a:lnSpc>
              <a:spcBef>
                <a:spcPts val="0"/>
              </a:spcBef>
              <a:spcAft>
                <a:spcPts val="0"/>
              </a:spcAft>
              <a:buClr>
                <a:schemeClr val="dk1"/>
              </a:buClr>
              <a:buSzPts val="1700"/>
              <a:buChar char="○"/>
            </a:pPr>
            <a:r>
              <a:rPr lang="en-US" sz="1700">
                <a:solidFill>
                  <a:schemeClr val="dk1"/>
                </a:solidFill>
              </a:rPr>
              <a:t>What are the key factors influencing the dynamics of this interaction?</a:t>
            </a:r>
            <a:endParaRPr sz="1700">
              <a:solidFill>
                <a:schemeClr val="dk1"/>
              </a:solidFill>
            </a:endParaRPr>
          </a:p>
          <a:p>
            <a:pPr marL="914400" lvl="1" indent="-336550" algn="l" rtl="0">
              <a:lnSpc>
                <a:spcPct val="150000"/>
              </a:lnSpc>
              <a:spcBef>
                <a:spcPts val="0"/>
              </a:spcBef>
              <a:spcAft>
                <a:spcPts val="0"/>
              </a:spcAft>
              <a:buClr>
                <a:schemeClr val="dk1"/>
              </a:buClr>
              <a:buSzPts val="1700"/>
              <a:buChar char="○"/>
            </a:pPr>
            <a:r>
              <a:rPr lang="en-US" sz="1700">
                <a:solidFill>
                  <a:schemeClr val="dk1"/>
                </a:solidFill>
              </a:rPr>
              <a:t>How does the CD200–CD200R pathway contribute to tumor immune evasion?</a:t>
            </a:r>
            <a:endParaRPr sz="1700">
              <a:solidFill>
                <a:schemeClr val="dk1"/>
              </a:solidFill>
            </a:endParaRPr>
          </a:p>
          <a:p>
            <a:pPr marL="914400" lvl="1" indent="-336550" algn="l" rtl="0">
              <a:lnSpc>
                <a:spcPct val="150000"/>
              </a:lnSpc>
              <a:spcBef>
                <a:spcPts val="0"/>
              </a:spcBef>
              <a:spcAft>
                <a:spcPts val="0"/>
              </a:spcAft>
              <a:buClr>
                <a:schemeClr val="dk1"/>
              </a:buClr>
              <a:buSzPts val="1700"/>
              <a:buChar char="○"/>
            </a:pPr>
            <a:r>
              <a:rPr lang="en-US" sz="1700">
                <a:solidFill>
                  <a:schemeClr val="dk1"/>
                </a:solidFill>
              </a:rPr>
              <a:t>What potential strategies can be developed to target this pathway for cancer therapy?</a:t>
            </a:r>
            <a:endParaRPr sz="1800">
              <a:solidFill>
                <a:srgbClr val="ECECEC"/>
              </a:solidFill>
              <a:latin typeface="Roboto"/>
              <a:ea typeface="Roboto"/>
              <a:cs typeface="Roboto"/>
              <a:sym typeface="Roboto"/>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18"/>
          <p:cNvSpPr txBox="1">
            <a:spLocks noGrp="1"/>
          </p:cNvSpPr>
          <p:nvPr>
            <p:ph type="title" idx="4294967295"/>
          </p:nvPr>
        </p:nvSpPr>
        <p:spPr>
          <a:xfrm>
            <a:off x="581250" y="551025"/>
            <a:ext cx="11029500" cy="868500"/>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1"/>
              </a:buClr>
              <a:buSzPts val="2800"/>
              <a:buFont typeface="Arial"/>
              <a:buNone/>
            </a:pPr>
            <a:r>
              <a:rPr lang="en-US" sz="3300" b="1">
                <a:latin typeface="Georgia"/>
                <a:ea typeface="Georgia"/>
                <a:cs typeface="Georgia"/>
                <a:sym typeface="Georgia"/>
              </a:rPr>
              <a:t> APPLICATION OF DYNAMIC MODELLING</a:t>
            </a:r>
            <a:endParaRPr sz="3300">
              <a:latin typeface="Georgia"/>
              <a:ea typeface="Georgia"/>
              <a:cs typeface="Georgia"/>
              <a:sym typeface="Georgia"/>
            </a:endParaRPr>
          </a:p>
        </p:txBody>
      </p:sp>
      <p:sp>
        <p:nvSpPr>
          <p:cNvPr id="227" name="Google Shape;227;p18"/>
          <p:cNvSpPr txBox="1">
            <a:spLocks noGrp="1"/>
          </p:cNvSpPr>
          <p:nvPr>
            <p:ph type="body" idx="1"/>
          </p:nvPr>
        </p:nvSpPr>
        <p:spPr>
          <a:xfrm>
            <a:off x="581250" y="1419525"/>
            <a:ext cx="11029500" cy="54384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endParaRPr sz="1729"/>
          </a:p>
          <a:p>
            <a:pPr marL="0" lvl="0" indent="0" algn="l" rtl="0">
              <a:lnSpc>
                <a:spcPct val="100000"/>
              </a:lnSpc>
              <a:spcBef>
                <a:spcPts val="0"/>
              </a:spcBef>
              <a:spcAft>
                <a:spcPts val="0"/>
              </a:spcAft>
              <a:buNone/>
            </a:pPr>
            <a:endParaRPr sz="1729"/>
          </a:p>
          <a:p>
            <a:pPr marL="306000" lvl="0" indent="-302926" algn="l" rtl="0">
              <a:lnSpc>
                <a:spcPct val="100000"/>
              </a:lnSpc>
              <a:spcBef>
                <a:spcPts val="0"/>
              </a:spcBef>
              <a:spcAft>
                <a:spcPts val="0"/>
              </a:spcAft>
              <a:buSzPts val="1608"/>
              <a:buChar char="◼"/>
            </a:pPr>
            <a:r>
              <a:rPr lang="en-US" sz="1729"/>
              <a:t>Pathogenesis for Predictive, Preventive, Precision, Personalized medicine system</a:t>
            </a:r>
            <a:endParaRPr sz="1729"/>
          </a:p>
          <a:p>
            <a:pPr marL="914400" lvl="1" indent="-327660" algn="l" rtl="0">
              <a:lnSpc>
                <a:spcPct val="100000"/>
              </a:lnSpc>
              <a:spcBef>
                <a:spcPts val="0"/>
              </a:spcBef>
              <a:spcAft>
                <a:spcPts val="0"/>
              </a:spcAft>
              <a:buSzPts val="1560"/>
              <a:buChar char="➢"/>
            </a:pPr>
            <a:r>
              <a:rPr lang="en-US" sz="1560" b="1"/>
              <a:t>Predictive: </a:t>
            </a:r>
            <a:r>
              <a:rPr lang="en-US" sz="1560"/>
              <a:t>can predict disease outcomes, treatment responses, and patient outcomes based on individual characteristics. Eg. Models of disease progression(diabetes)</a:t>
            </a:r>
            <a:endParaRPr sz="1560"/>
          </a:p>
          <a:p>
            <a:pPr marL="914400" lvl="1" indent="-327660" algn="l" rtl="0">
              <a:lnSpc>
                <a:spcPct val="100000"/>
              </a:lnSpc>
              <a:spcBef>
                <a:spcPts val="0"/>
              </a:spcBef>
              <a:spcAft>
                <a:spcPts val="0"/>
              </a:spcAft>
              <a:buSzPts val="1560"/>
              <a:buChar char="➢"/>
            </a:pPr>
            <a:r>
              <a:rPr lang="en-US" sz="1560" b="1"/>
              <a:t>Preventive:</a:t>
            </a:r>
            <a:r>
              <a:rPr lang="en-US" sz="1560"/>
              <a:t> can evaluate the impact of preventive measures, such as lifestyle modifications or vaccination strategies .Eg. Epidemiological models of infectious diseases</a:t>
            </a:r>
            <a:endParaRPr sz="1560"/>
          </a:p>
          <a:p>
            <a:pPr marL="914400" lvl="1" indent="-327660" algn="l" rtl="0">
              <a:lnSpc>
                <a:spcPct val="100000"/>
              </a:lnSpc>
              <a:spcBef>
                <a:spcPts val="0"/>
              </a:spcBef>
              <a:spcAft>
                <a:spcPts val="0"/>
              </a:spcAft>
              <a:buSzPts val="1560"/>
              <a:buChar char="➢"/>
            </a:pPr>
            <a:r>
              <a:rPr lang="en-US" sz="1560" b="1"/>
              <a:t>Precision: </a:t>
            </a:r>
            <a:r>
              <a:rPr lang="en-US" sz="1560"/>
              <a:t>Divides patients into subgroups with distinct disease trajectories, and treatment responses.</a:t>
            </a:r>
            <a:endParaRPr sz="1560"/>
          </a:p>
          <a:p>
            <a:pPr marL="914400" lvl="1" indent="-327660" algn="l" rtl="0">
              <a:lnSpc>
                <a:spcPct val="100000"/>
              </a:lnSpc>
              <a:spcBef>
                <a:spcPts val="0"/>
              </a:spcBef>
              <a:spcAft>
                <a:spcPts val="0"/>
              </a:spcAft>
              <a:buSzPts val="1560"/>
              <a:buChar char="➢"/>
            </a:pPr>
            <a:r>
              <a:rPr lang="en-US" sz="1560" b="1"/>
              <a:t>Personalized:</a:t>
            </a:r>
            <a:r>
              <a:rPr lang="en-US" sz="1560"/>
              <a:t> Introduces treatment strategies to individual patients based on their unique genetic makeup and disease history. Eg. Pharmacokinetic models can predict drug concentrations in individual patients based on factors such as metabolism rates, drug interactions</a:t>
            </a:r>
            <a:endParaRPr sz="1729"/>
          </a:p>
          <a:p>
            <a:pPr marL="306000" lvl="0" indent="-302926" algn="l" rtl="0">
              <a:lnSpc>
                <a:spcPct val="100000"/>
              </a:lnSpc>
              <a:spcBef>
                <a:spcPts val="960"/>
              </a:spcBef>
              <a:spcAft>
                <a:spcPts val="0"/>
              </a:spcAft>
              <a:buSzPts val="1608"/>
              <a:buChar char="◼"/>
            </a:pPr>
            <a:r>
              <a:rPr lang="en-US" sz="1729"/>
              <a:t>Drug-disease-gene network studies:  </a:t>
            </a:r>
            <a:endParaRPr sz="1729"/>
          </a:p>
          <a:p>
            <a:pPr marL="914400" lvl="1" indent="-338455" algn="l" rtl="0">
              <a:lnSpc>
                <a:spcPct val="100000"/>
              </a:lnSpc>
              <a:spcBef>
                <a:spcPts val="0"/>
              </a:spcBef>
              <a:spcAft>
                <a:spcPts val="0"/>
              </a:spcAft>
              <a:buSzPts val="1730"/>
              <a:buChar char="➢"/>
            </a:pPr>
            <a:r>
              <a:rPr lang="en-US" sz="1729"/>
              <a:t>Depicts </a:t>
            </a:r>
            <a:r>
              <a:rPr lang="en-US" sz="1729" b="1"/>
              <a:t>complex interactions</a:t>
            </a:r>
            <a:r>
              <a:rPr lang="en-US" sz="1729"/>
              <a:t> between drugs, diseases, &amp; genetic factors</a:t>
            </a:r>
            <a:endParaRPr sz="1729"/>
          </a:p>
          <a:p>
            <a:pPr marL="914400" lvl="1" indent="-338455" algn="l" rtl="0">
              <a:lnSpc>
                <a:spcPct val="100000"/>
              </a:lnSpc>
              <a:spcBef>
                <a:spcPts val="0"/>
              </a:spcBef>
              <a:spcAft>
                <a:spcPts val="0"/>
              </a:spcAft>
              <a:buSzPts val="1730"/>
              <a:buChar char="➢"/>
            </a:pPr>
            <a:r>
              <a:rPr lang="en-US" sz="1729"/>
              <a:t>Facilitates discovery of </a:t>
            </a:r>
            <a:r>
              <a:rPr lang="en-US" sz="1729" b="1"/>
              <a:t>new drug targets </a:t>
            </a:r>
            <a:r>
              <a:rPr lang="en-US" sz="1729"/>
              <a:t>and </a:t>
            </a:r>
            <a:r>
              <a:rPr lang="en-US" sz="1729" b="1"/>
              <a:t>personalized treatment </a:t>
            </a:r>
            <a:r>
              <a:rPr lang="en-US" sz="1729"/>
              <a:t>strategies</a:t>
            </a:r>
            <a:endParaRPr sz="1729"/>
          </a:p>
          <a:p>
            <a:pPr marL="306000" lvl="0" indent="-302926" algn="l" rtl="0">
              <a:lnSpc>
                <a:spcPct val="100000"/>
              </a:lnSpc>
              <a:spcBef>
                <a:spcPts val="960"/>
              </a:spcBef>
              <a:spcAft>
                <a:spcPts val="0"/>
              </a:spcAft>
              <a:buSzPts val="1608"/>
              <a:buChar char="◼"/>
            </a:pPr>
            <a:r>
              <a:rPr lang="en-US" sz="1729"/>
              <a:t>Identification of Integrative pathway and Biomarker discovery.:</a:t>
            </a:r>
            <a:endParaRPr sz="1729"/>
          </a:p>
          <a:p>
            <a:pPr marL="914400" lvl="1" indent="-338455" algn="l" rtl="0">
              <a:lnSpc>
                <a:spcPct val="100000"/>
              </a:lnSpc>
              <a:spcBef>
                <a:spcPts val="0"/>
              </a:spcBef>
              <a:spcAft>
                <a:spcPts val="0"/>
              </a:spcAft>
              <a:buSzPts val="1730"/>
              <a:buChar char="➢"/>
            </a:pPr>
            <a:r>
              <a:rPr lang="en-US" sz="1729"/>
              <a:t>Network-based models of disease pathways </a:t>
            </a:r>
            <a:r>
              <a:rPr lang="en-US" sz="1729" b="1"/>
              <a:t>integrates</a:t>
            </a:r>
            <a:r>
              <a:rPr lang="en-US" sz="1729"/>
              <a:t> gene expression data, PPIs, and clinical outcomes</a:t>
            </a:r>
            <a:endParaRPr sz="1729"/>
          </a:p>
          <a:p>
            <a:pPr marL="914400" lvl="1" indent="-338455" algn="l" rtl="0">
              <a:lnSpc>
                <a:spcPct val="100000"/>
              </a:lnSpc>
              <a:spcBef>
                <a:spcPts val="0"/>
              </a:spcBef>
              <a:spcAft>
                <a:spcPts val="0"/>
              </a:spcAft>
              <a:buSzPts val="1730"/>
              <a:buChar char="➢"/>
            </a:pPr>
            <a:r>
              <a:rPr lang="en-US" sz="1729"/>
              <a:t>identify dysregulated pathways and potential biomarkers</a:t>
            </a:r>
            <a:endParaRPr sz="1729"/>
          </a:p>
          <a:p>
            <a:pPr marL="914400" lvl="1" indent="-338455" algn="l" rtl="0">
              <a:lnSpc>
                <a:spcPct val="100000"/>
              </a:lnSpc>
              <a:spcBef>
                <a:spcPts val="0"/>
              </a:spcBef>
              <a:spcAft>
                <a:spcPts val="0"/>
              </a:spcAft>
              <a:buSzPts val="1730"/>
              <a:buChar char="➢"/>
            </a:pPr>
            <a:r>
              <a:rPr lang="en-US" sz="1729"/>
              <a:t>Facilitates </a:t>
            </a:r>
            <a:r>
              <a:rPr lang="en-US" sz="1729" b="1"/>
              <a:t>disease diagnosis and prognosis</a:t>
            </a:r>
            <a:r>
              <a:rPr lang="en-US" sz="1729"/>
              <a:t>.</a:t>
            </a:r>
            <a:endParaRPr sz="1729"/>
          </a:p>
          <a:p>
            <a:pPr marL="457200" lvl="0" indent="0" algn="l" rtl="0">
              <a:lnSpc>
                <a:spcPct val="80000"/>
              </a:lnSpc>
              <a:spcBef>
                <a:spcPts val="960"/>
              </a:spcBef>
              <a:spcAft>
                <a:spcPts val="0"/>
              </a:spcAft>
              <a:buNone/>
            </a:pPr>
            <a:endParaRPr sz="1729"/>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19"/>
          <p:cNvSpPr txBox="1">
            <a:spLocks noGrp="1"/>
          </p:cNvSpPr>
          <p:nvPr>
            <p:ph type="title" idx="4294967295"/>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1"/>
              </a:buClr>
              <a:buSzPts val="2800"/>
              <a:buFont typeface="Arial"/>
              <a:buNone/>
            </a:pPr>
            <a:r>
              <a:rPr lang="en-US" b="1"/>
              <a:t>CHALLENGES IN MODELING CELLULAR PROCESSES</a:t>
            </a:r>
            <a:endParaRPr b="1"/>
          </a:p>
        </p:txBody>
      </p:sp>
      <p:sp>
        <p:nvSpPr>
          <p:cNvPr id="233" name="Google Shape;233;p19"/>
          <p:cNvSpPr txBox="1">
            <a:spLocks noGrp="1"/>
          </p:cNvSpPr>
          <p:nvPr>
            <p:ph type="body" idx="1"/>
          </p:nvPr>
        </p:nvSpPr>
        <p:spPr>
          <a:xfrm>
            <a:off x="182880" y="1874520"/>
            <a:ext cx="11503152" cy="4828032"/>
          </a:xfrm>
          <a:prstGeom prst="rect">
            <a:avLst/>
          </a:prstGeom>
          <a:noFill/>
          <a:ln>
            <a:noFill/>
          </a:ln>
        </p:spPr>
        <p:txBody>
          <a:bodyPr spcFirstLastPara="1" wrap="square" lIns="91425" tIns="45700" rIns="91425" bIns="45700" anchor="ctr" anchorCtr="0">
            <a:normAutofit fontScale="85000" lnSpcReduction="10000"/>
          </a:bodyPr>
          <a:lstStyle/>
          <a:p>
            <a:pPr marL="342900" lvl="0" indent="-342900" algn="l" rtl="0">
              <a:lnSpc>
                <a:spcPct val="150000"/>
              </a:lnSpc>
              <a:spcBef>
                <a:spcPts val="0"/>
              </a:spcBef>
              <a:spcAft>
                <a:spcPts val="0"/>
              </a:spcAft>
              <a:buSzPct val="91999"/>
              <a:buFont typeface="Arial"/>
              <a:buAutoNum type="arabicPeriod"/>
            </a:pPr>
            <a:r>
              <a:rPr lang="en-US" sz="1800" b="1" i="0" u="none" strike="noStrike">
                <a:solidFill>
                  <a:srgbClr val="000000"/>
                </a:solidFill>
                <a:latin typeface="Arial"/>
                <a:ea typeface="Arial"/>
                <a:cs typeface="Arial"/>
                <a:sym typeface="Arial"/>
              </a:rPr>
              <a:t>Data Integration-</a:t>
            </a:r>
            <a:r>
              <a:rPr lang="en-US" sz="1800" b="0" i="0" u="none" strike="noStrike">
                <a:solidFill>
                  <a:srgbClr val="000000"/>
                </a:solidFill>
                <a:latin typeface="Arial"/>
                <a:ea typeface="Arial"/>
                <a:cs typeface="Arial"/>
                <a:sym typeface="Arial"/>
              </a:rPr>
              <a:t> The cellular processes depend on various cellular functions and mechanisms, like transcription, translation, post-translational modifications, allosteric control, and enzyme concentration. For each level, techniques have been developed to monitor changes in vivo, but the integration of data and its interpretation remains highly challenging.</a:t>
            </a:r>
            <a:endParaRPr/>
          </a:p>
          <a:p>
            <a:pPr marL="342900" lvl="0" indent="-342900" algn="l" rtl="0">
              <a:lnSpc>
                <a:spcPct val="150000"/>
              </a:lnSpc>
              <a:spcBef>
                <a:spcPts val="0"/>
              </a:spcBef>
              <a:spcAft>
                <a:spcPts val="0"/>
              </a:spcAft>
              <a:buSzPct val="91999"/>
              <a:buFont typeface="Arial"/>
              <a:buAutoNum type="arabicPeriod"/>
            </a:pPr>
            <a:r>
              <a:rPr lang="en-US" sz="1800" b="1" i="0" u="none" strike="noStrike">
                <a:solidFill>
                  <a:srgbClr val="000000"/>
                </a:solidFill>
                <a:latin typeface="Arial"/>
                <a:ea typeface="Arial"/>
                <a:cs typeface="Arial"/>
                <a:sym typeface="Arial"/>
              </a:rPr>
              <a:t>Parameter estimation and identification- </a:t>
            </a:r>
            <a:r>
              <a:rPr lang="en-US" sz="1800" b="0" i="0" u="none" strike="noStrike">
                <a:solidFill>
                  <a:srgbClr val="000000"/>
                </a:solidFill>
                <a:latin typeface="Arial"/>
                <a:ea typeface="Arial"/>
                <a:cs typeface="Arial"/>
                <a:sym typeface="Arial"/>
              </a:rPr>
              <a:t>Accurate and reliable quantification of the parameters is essential for the development of predictive models. Reaching predictive kinetic models requires sufficient informative experimental data for parameter identification.</a:t>
            </a:r>
            <a:endParaRPr/>
          </a:p>
          <a:p>
            <a:pPr marL="342900" lvl="0" indent="-342900" algn="l" rtl="0">
              <a:lnSpc>
                <a:spcPct val="150000"/>
              </a:lnSpc>
              <a:spcBef>
                <a:spcPts val="0"/>
              </a:spcBef>
              <a:spcAft>
                <a:spcPts val="0"/>
              </a:spcAft>
              <a:buSzPct val="91999"/>
              <a:buFont typeface="Arial"/>
              <a:buAutoNum type="arabicPeriod"/>
            </a:pPr>
            <a:r>
              <a:rPr lang="en-US" sz="1800" b="1" i="0" u="none" strike="noStrike">
                <a:solidFill>
                  <a:srgbClr val="000000"/>
                </a:solidFill>
                <a:latin typeface="Arial"/>
                <a:ea typeface="Arial"/>
                <a:cs typeface="Arial"/>
                <a:sym typeface="Arial"/>
              </a:rPr>
              <a:t>Known or Given Initial Conditions</a:t>
            </a:r>
            <a:r>
              <a:rPr lang="en-US" sz="1800" b="0" i="0" u="none" strike="noStrike">
                <a:solidFill>
                  <a:srgbClr val="000000"/>
                </a:solidFill>
                <a:latin typeface="Arial"/>
                <a:ea typeface="Arial"/>
                <a:cs typeface="Arial"/>
                <a:sym typeface="Arial"/>
              </a:rPr>
              <a:t>: One challenge in the dynamic modeling of cellular processes is accurately determining the system’s initial conditions. While some initial conditions may be known or provided based on existing knowledge or experimental data, ensuring their accuracy and relevance to the specific cellular process under study remains a challenge. For instance, initial conditions might represent the concentrations of signaling molecules before any external stimuli are applied in modeling cellular signaling pathways.</a:t>
            </a:r>
            <a:endParaRPr/>
          </a:p>
          <a:p>
            <a:pPr marL="342900" lvl="0" indent="-342900" algn="l" rtl="0">
              <a:lnSpc>
                <a:spcPct val="150000"/>
              </a:lnSpc>
              <a:spcBef>
                <a:spcPts val="0"/>
              </a:spcBef>
              <a:spcAft>
                <a:spcPts val="0"/>
              </a:spcAft>
              <a:buSzPct val="91999"/>
              <a:buFont typeface="Arial"/>
              <a:buAutoNum type="arabicPeriod"/>
            </a:pPr>
            <a:r>
              <a:rPr lang="en-US" sz="1800" b="1" i="0" u="none" strike="noStrike">
                <a:solidFill>
                  <a:srgbClr val="000000"/>
                </a:solidFill>
                <a:latin typeface="Arial"/>
                <a:ea typeface="Arial"/>
                <a:cs typeface="Arial"/>
                <a:sym typeface="Arial"/>
              </a:rPr>
              <a:t>Complex Specification: </a:t>
            </a:r>
            <a:r>
              <a:rPr lang="en-US" sz="1800" b="0" i="0" u="none" strike="noStrike">
                <a:solidFill>
                  <a:srgbClr val="000000"/>
                </a:solidFill>
                <a:latin typeface="Arial"/>
                <a:ea typeface="Arial"/>
                <a:cs typeface="Arial"/>
                <a:sym typeface="Arial"/>
              </a:rPr>
              <a:t>Furthermore, initial conditions are specified in multiple ways, e.g., as equilibrium points of an unperturbed condition, and different types of noise models and input functions are used. This results in a large number of combinations that have to be covered by computational modeling tools.</a:t>
            </a:r>
            <a:endParaRPr sz="1800" b="0" i="0" u="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20"/>
          <p:cNvSpPr txBox="1">
            <a:spLocks noGrp="1"/>
          </p:cNvSpPr>
          <p:nvPr>
            <p:ph type="title" idx="4294967295"/>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1"/>
              </a:buClr>
              <a:buSzPts val="2800"/>
              <a:buFont typeface="Arial"/>
              <a:buNone/>
            </a:pPr>
            <a:r>
              <a:rPr lang="en-US" b="1"/>
              <a:t>CHALLENGES IN MODELING CELLULAR PROCESSES</a:t>
            </a:r>
            <a:endParaRPr b="1"/>
          </a:p>
        </p:txBody>
      </p:sp>
      <p:sp>
        <p:nvSpPr>
          <p:cNvPr id="239" name="Google Shape;239;p20"/>
          <p:cNvSpPr txBox="1">
            <a:spLocks noGrp="1"/>
          </p:cNvSpPr>
          <p:nvPr>
            <p:ph type="body" idx="1"/>
          </p:nvPr>
        </p:nvSpPr>
        <p:spPr>
          <a:xfrm>
            <a:off x="288025" y="1956825"/>
            <a:ext cx="11616000" cy="4629000"/>
          </a:xfrm>
          <a:prstGeom prst="rect">
            <a:avLst/>
          </a:prstGeom>
          <a:noFill/>
          <a:ln>
            <a:noFill/>
          </a:ln>
        </p:spPr>
        <p:txBody>
          <a:bodyPr spcFirstLastPara="1" wrap="square" lIns="91425" tIns="45700" rIns="91425" bIns="45700" anchor="ctr" anchorCtr="0">
            <a:normAutofit fontScale="85000" lnSpcReduction="10000"/>
          </a:bodyPr>
          <a:lstStyle/>
          <a:p>
            <a:pPr marL="306000" lvl="0" indent="-290226" algn="l" rtl="0">
              <a:lnSpc>
                <a:spcPct val="150000"/>
              </a:lnSpc>
              <a:spcBef>
                <a:spcPts val="306"/>
              </a:spcBef>
              <a:spcAft>
                <a:spcPts val="0"/>
              </a:spcAft>
              <a:buSzPct val="91999"/>
              <a:buFont typeface="Arial"/>
              <a:buAutoNum type="arabicPeriod"/>
            </a:pPr>
            <a:r>
              <a:rPr lang="en-US" b="1">
                <a:solidFill>
                  <a:schemeClr val="dk1"/>
                </a:solidFill>
              </a:rPr>
              <a:t>Measurement errors-</a:t>
            </a:r>
            <a:r>
              <a:rPr lang="en-US">
                <a:solidFill>
                  <a:schemeClr val="dk1"/>
                </a:solidFill>
              </a:rPr>
              <a:t> The standard deviation of measurement errors might be determined as part of the experiment and processing of raw data and therefore described as error models with error parameters that might be jointly estimated with other model parameters.</a:t>
            </a:r>
            <a:endParaRPr/>
          </a:p>
          <a:p>
            <a:pPr marL="306000" lvl="0" indent="-290226" algn="l" rtl="0">
              <a:lnSpc>
                <a:spcPct val="150000"/>
              </a:lnSpc>
              <a:spcBef>
                <a:spcPts val="906"/>
              </a:spcBef>
              <a:spcAft>
                <a:spcPts val="0"/>
              </a:spcAft>
              <a:buSzPct val="91999"/>
              <a:buFont typeface="Arial"/>
              <a:buAutoNum type="arabicPeriod"/>
            </a:pPr>
            <a:r>
              <a:rPr lang="en-US" b="1">
                <a:solidFill>
                  <a:schemeClr val="dk1"/>
                </a:solidFill>
              </a:rPr>
              <a:t>Noise handling-</a:t>
            </a:r>
            <a:r>
              <a:rPr lang="en-US">
                <a:solidFill>
                  <a:schemeClr val="dk1"/>
                </a:solidFill>
              </a:rPr>
              <a:t> Experimental data contain measurement noise, adequate assessment of the measurement of noise is important.</a:t>
            </a:r>
            <a:endParaRPr/>
          </a:p>
          <a:p>
            <a:pPr marL="342900" lvl="0" indent="-327126" algn="l" rtl="0">
              <a:lnSpc>
                <a:spcPct val="150000"/>
              </a:lnSpc>
              <a:spcBef>
                <a:spcPts val="0"/>
              </a:spcBef>
              <a:spcAft>
                <a:spcPts val="0"/>
              </a:spcAft>
              <a:buSzPct val="91999"/>
              <a:buFont typeface="Arial"/>
              <a:buAutoNum type="arabicPeriod"/>
            </a:pPr>
            <a:r>
              <a:rPr lang="en-US" sz="1800" b="0" i="0" u="none" strike="noStrike">
                <a:solidFill>
                  <a:srgbClr val="000000"/>
                </a:solidFill>
                <a:latin typeface="Arial"/>
                <a:ea typeface="Arial"/>
                <a:cs typeface="Arial"/>
                <a:sym typeface="Arial"/>
              </a:rPr>
              <a:t>Experimental data sets for modeling are often derived from well-defined and controlled environmental conditions, whereas cells in production processes are faced with sub-optimal conditions, Such environmental factors are one source leading to a limited accuracy of model predictions for dynamic process conditions.</a:t>
            </a:r>
            <a:endParaRPr/>
          </a:p>
          <a:p>
            <a:pPr marL="342900" lvl="0" indent="-327126" algn="l" rtl="0">
              <a:lnSpc>
                <a:spcPct val="150000"/>
              </a:lnSpc>
              <a:spcBef>
                <a:spcPts val="960"/>
              </a:spcBef>
              <a:spcAft>
                <a:spcPts val="0"/>
              </a:spcAft>
              <a:buSzPct val="91999"/>
              <a:buFont typeface="Arial"/>
              <a:buAutoNum type="arabicPeriod"/>
            </a:pPr>
            <a:r>
              <a:rPr lang="en-US" sz="1800" b="0" i="0" u="none" strike="noStrike">
                <a:solidFill>
                  <a:srgbClr val="000000"/>
                </a:solidFill>
                <a:latin typeface="Arial"/>
                <a:ea typeface="Arial"/>
                <a:cs typeface="Arial"/>
                <a:sym typeface="Arial"/>
              </a:rPr>
              <a:t>One frequent limitation is that realistic measurements are typically not available for evaluation. Simulated data, as an example, is often much more informative in terms of number of data points and does not have a complex noise structure like measurements from living cells.</a:t>
            </a:r>
            <a:endParaRPr/>
          </a:p>
          <a:p>
            <a:pPr marL="342900" lvl="0" indent="-327126" algn="l" rtl="0">
              <a:lnSpc>
                <a:spcPct val="150000"/>
              </a:lnSpc>
              <a:spcBef>
                <a:spcPts val="960"/>
              </a:spcBef>
              <a:spcAft>
                <a:spcPts val="0"/>
              </a:spcAft>
              <a:buSzPct val="91999"/>
              <a:buFont typeface="Arial"/>
              <a:buAutoNum type="arabicPeriod"/>
            </a:pPr>
            <a:r>
              <a:rPr lang="en-US" sz="1800" b="0" i="0" u="none" strike="noStrike">
                <a:solidFill>
                  <a:srgbClr val="000000"/>
                </a:solidFill>
                <a:latin typeface="Arial"/>
                <a:ea typeface="Arial"/>
                <a:cs typeface="Arial"/>
                <a:sym typeface="Arial"/>
              </a:rPr>
              <a:t>In most cases experimental measurements require augmenting the equations of the dynamic model with so-called observation functions containing scalings and/or offset parameters, together with transformations of the data such as a log-transformation. </a:t>
            </a:r>
            <a:endParaRPr/>
          </a:p>
        </p:txBody>
      </p:sp>
      <p:sp>
        <p:nvSpPr>
          <p:cNvPr id="240" name="Google Shape;240;p20"/>
          <p:cNvSpPr txBox="1"/>
          <p:nvPr/>
        </p:nvSpPr>
        <p:spPr>
          <a:xfrm>
            <a:off x="288036" y="5303520"/>
            <a:ext cx="11615928" cy="8771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br>
              <a:rPr lang="en-US" sz="1100">
                <a:solidFill>
                  <a:schemeClr val="dk1"/>
                </a:solidFill>
                <a:latin typeface="Arial"/>
                <a:ea typeface="Arial"/>
                <a:cs typeface="Arial"/>
                <a:sym typeface="Arial"/>
              </a:rPr>
            </a:br>
            <a:endParaRPr sz="1100">
              <a:solidFill>
                <a:srgbClr val="000000"/>
              </a:solidFill>
              <a:latin typeface="Arial"/>
              <a:ea typeface="Arial"/>
              <a:cs typeface="Arial"/>
              <a:sym typeface="Arial"/>
            </a:endParaRPr>
          </a:p>
          <a:p>
            <a:pPr marL="0" marR="0" lvl="0" indent="0" algn="l" rtl="0">
              <a:spcBef>
                <a:spcPts val="0"/>
              </a:spcBef>
              <a:spcAft>
                <a:spcPts val="0"/>
              </a:spcAft>
              <a:buNone/>
            </a:pPr>
            <a:endParaRPr sz="1100">
              <a:solidFill>
                <a:srgbClr val="000000"/>
              </a:solidFill>
              <a:latin typeface="Arial"/>
              <a:ea typeface="Arial"/>
              <a:cs typeface="Arial"/>
              <a:sym typeface="Arial"/>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1"/>
          <p:cNvSpPr txBox="1">
            <a:spLocks noGrp="1"/>
          </p:cNvSpPr>
          <p:nvPr>
            <p:ph type="title" idx="4294967295"/>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1"/>
              </a:buClr>
              <a:buSzPts val="2800"/>
              <a:buFont typeface="Arial"/>
              <a:buNone/>
            </a:pPr>
            <a:r>
              <a:rPr lang="en-US" b="1"/>
              <a:t>FUTURE PERSPECTIVES OF DYNAMIC MODELING</a:t>
            </a:r>
            <a:endParaRPr b="1"/>
          </a:p>
        </p:txBody>
      </p:sp>
      <p:sp>
        <p:nvSpPr>
          <p:cNvPr id="246" name="Google Shape;246;p21"/>
          <p:cNvSpPr txBox="1">
            <a:spLocks noGrp="1"/>
          </p:cNvSpPr>
          <p:nvPr>
            <p:ph type="body" idx="1"/>
          </p:nvPr>
        </p:nvSpPr>
        <p:spPr>
          <a:xfrm>
            <a:off x="200850" y="1894875"/>
            <a:ext cx="11409900" cy="4862700"/>
          </a:xfrm>
          <a:prstGeom prst="rect">
            <a:avLst/>
          </a:prstGeom>
          <a:noFill/>
          <a:ln>
            <a:noFill/>
          </a:ln>
        </p:spPr>
        <p:txBody>
          <a:bodyPr spcFirstLastPara="1" wrap="square" lIns="91425" tIns="45700" rIns="91425" bIns="45700" anchor="ctr" anchorCtr="0">
            <a:normAutofit/>
          </a:bodyPr>
          <a:lstStyle/>
          <a:p>
            <a:pPr marL="285750" indent="-285750">
              <a:lnSpc>
                <a:spcPct val="200000"/>
              </a:lnSpc>
              <a:spcBef>
                <a:spcPts val="0"/>
              </a:spcBef>
            </a:pPr>
            <a:r>
              <a:rPr lang="en-US" sz="1800" b="1" i="0" u="none" strike="noStrike" dirty="0">
                <a:solidFill>
                  <a:srgbClr val="000000"/>
                </a:solidFill>
                <a:latin typeface="Arial"/>
                <a:ea typeface="Arial"/>
                <a:cs typeface="Arial"/>
                <a:sym typeface="Arial"/>
              </a:rPr>
              <a:t>Multi-scale Modeling: </a:t>
            </a:r>
            <a:r>
              <a:rPr lang="en-US" sz="1800" b="0" i="0" u="none" strike="noStrike" dirty="0">
                <a:solidFill>
                  <a:srgbClr val="000000"/>
                </a:solidFill>
                <a:latin typeface="Arial"/>
                <a:ea typeface="Arial"/>
                <a:cs typeface="Arial"/>
                <a:sym typeface="Arial"/>
              </a:rPr>
              <a:t>Biological processes involve interactions at different scales, from molecular interactions within cells to tissue-level organization</a:t>
            </a:r>
            <a:endParaRPr lang="en-US" dirty="0">
              <a:solidFill>
                <a:srgbClr val="000000"/>
              </a:solidFill>
            </a:endParaRPr>
          </a:p>
          <a:p>
            <a:pPr marL="285750" indent="-285750">
              <a:lnSpc>
                <a:spcPct val="200000"/>
              </a:lnSpc>
              <a:spcBef>
                <a:spcPts val="0"/>
              </a:spcBef>
            </a:pPr>
            <a:r>
              <a:rPr lang="en-US" sz="1800" b="1" i="0" u="none" strike="noStrike" dirty="0">
                <a:solidFill>
                  <a:srgbClr val="000000"/>
                </a:solidFill>
                <a:latin typeface="Arial"/>
                <a:ea typeface="Arial"/>
                <a:cs typeface="Arial"/>
                <a:sym typeface="Arial"/>
              </a:rPr>
              <a:t>Integration of Omics Data: </a:t>
            </a:r>
            <a:r>
              <a:rPr lang="en-US" dirty="0">
                <a:solidFill>
                  <a:srgbClr val="000000"/>
                </a:solidFill>
              </a:rPr>
              <a:t>D</a:t>
            </a:r>
            <a:r>
              <a:rPr lang="en-US" sz="1800" b="0" i="0" u="none" strike="noStrike" dirty="0">
                <a:solidFill>
                  <a:srgbClr val="000000"/>
                </a:solidFill>
                <a:latin typeface="Arial"/>
                <a:ea typeface="Arial"/>
                <a:cs typeface="Arial"/>
                <a:sym typeface="Arial"/>
              </a:rPr>
              <a:t>atasets generated by high-throughput needs to be Integrated and analyzed within dynamic models</a:t>
            </a:r>
            <a:r>
              <a:rPr lang="en-US" dirty="0">
                <a:solidFill>
                  <a:srgbClr val="000000"/>
                </a:solidFill>
              </a:rPr>
              <a:t>.</a:t>
            </a:r>
          </a:p>
          <a:p>
            <a:pPr marL="285750" indent="-285750">
              <a:lnSpc>
                <a:spcPct val="200000"/>
              </a:lnSpc>
              <a:spcBef>
                <a:spcPts val="0"/>
              </a:spcBef>
            </a:pPr>
            <a:r>
              <a:rPr lang="en-US" sz="1800" b="1" i="0" u="none" strike="noStrike" dirty="0">
                <a:solidFill>
                  <a:srgbClr val="000000"/>
                </a:solidFill>
                <a:latin typeface="Arial"/>
                <a:ea typeface="Arial"/>
                <a:cs typeface="Arial"/>
                <a:sym typeface="Arial"/>
              </a:rPr>
              <a:t>Personalized Medicine: </a:t>
            </a:r>
            <a:r>
              <a:rPr lang="en-US" sz="1800" b="0" i="0" u="none" strike="noStrike" dirty="0">
                <a:solidFill>
                  <a:srgbClr val="000000"/>
                </a:solidFill>
                <a:latin typeface="Arial"/>
                <a:ea typeface="Arial"/>
                <a:cs typeface="Arial"/>
                <a:sym typeface="Arial"/>
              </a:rPr>
              <a:t>Building sound dynamic models of biochemical networks is a key step towards the development of predictive models for cells or whole organisms..</a:t>
            </a:r>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23"/>
          <p:cNvSpPr txBox="1">
            <a:spLocks noGrp="1"/>
          </p:cNvSpPr>
          <p:nvPr>
            <p:ph type="title" idx="4294967295"/>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Arial"/>
              <a:buNone/>
            </a:pPr>
            <a:r>
              <a:rPr lang="en-US"/>
              <a:t>SUMMARY</a:t>
            </a:r>
            <a:endParaRPr/>
          </a:p>
        </p:txBody>
      </p:sp>
      <p:sp>
        <p:nvSpPr>
          <p:cNvPr id="252" name="Google Shape;252;p23"/>
          <p:cNvSpPr txBox="1">
            <a:spLocks noGrp="1"/>
          </p:cNvSpPr>
          <p:nvPr>
            <p:ph type="body" idx="1"/>
          </p:nvPr>
        </p:nvSpPr>
        <p:spPr>
          <a:xfrm>
            <a:off x="581200" y="1987825"/>
            <a:ext cx="11029500" cy="4551000"/>
          </a:xfrm>
          <a:prstGeom prst="rect">
            <a:avLst/>
          </a:prstGeom>
          <a:noFill/>
          <a:ln>
            <a:noFill/>
          </a:ln>
        </p:spPr>
        <p:txBody>
          <a:bodyPr spcFirstLastPara="1" wrap="square" lIns="91425" tIns="45700" rIns="91425" bIns="45700" anchor="ctr" anchorCtr="0">
            <a:normAutofit/>
          </a:bodyPr>
          <a:lstStyle/>
          <a:p>
            <a:pPr marL="306000" lvl="0" indent="-306000" algn="l" rtl="0">
              <a:spcBef>
                <a:spcPts val="0"/>
              </a:spcBef>
              <a:spcAft>
                <a:spcPts val="0"/>
              </a:spcAft>
              <a:buSzPts val="1656"/>
              <a:buChar char="◼"/>
            </a:pPr>
            <a:r>
              <a:rPr lang="en-US"/>
              <a:t>We looked the basics of dynamic modeling, studied different types of models. </a:t>
            </a:r>
            <a:endParaRPr/>
          </a:p>
          <a:p>
            <a:pPr marL="306000" lvl="0" indent="-306000" algn="l" rtl="0">
              <a:spcBef>
                <a:spcPts val="0"/>
              </a:spcBef>
              <a:spcAft>
                <a:spcPts val="0"/>
              </a:spcAft>
              <a:buSzPts val="1656"/>
              <a:buChar char="◼"/>
            </a:pPr>
            <a:r>
              <a:rPr lang="en-US"/>
              <a:t>The Boolean models are the easiest models; ODE models and Stochastic models are the most frequently used models in experiments. </a:t>
            </a:r>
            <a:endParaRPr/>
          </a:p>
          <a:p>
            <a:pPr marL="306000" lvl="0" indent="-306000" algn="l" rtl="0">
              <a:spcBef>
                <a:spcPts val="0"/>
              </a:spcBef>
              <a:spcAft>
                <a:spcPts val="0"/>
              </a:spcAft>
              <a:buSzPts val="1656"/>
              <a:buChar char="◼"/>
            </a:pPr>
            <a:r>
              <a:rPr lang="en-US"/>
              <a:t>Hybrid modeling; a new approach, which can combine more than one model to infer a network.</a:t>
            </a:r>
            <a:endParaRPr/>
          </a:p>
          <a:p>
            <a:pPr marL="306000" lvl="0" indent="-306000" algn="l" rtl="0">
              <a:spcBef>
                <a:spcPts val="0"/>
              </a:spcBef>
              <a:spcAft>
                <a:spcPts val="0"/>
              </a:spcAft>
              <a:buSzPts val="1656"/>
              <a:buChar char="◼"/>
            </a:pPr>
            <a:r>
              <a:rPr lang="en-US"/>
              <a:t>We looked upon some limitations in modeling cellular processes and the future perspectives of dynamic modeling.</a:t>
            </a:r>
            <a:endParaRPr/>
          </a:p>
          <a:p>
            <a:pPr marL="306000" lvl="0" indent="-306000" algn="l" rtl="0">
              <a:spcBef>
                <a:spcPts val="960"/>
              </a:spcBef>
              <a:spcAft>
                <a:spcPts val="0"/>
              </a:spcAft>
              <a:buSzPts val="1656"/>
              <a:buChar char="◼"/>
            </a:pPr>
            <a:r>
              <a:rPr lang="en-US"/>
              <a:t>Dynamic mathematical modeling plays vital role in  defining  the behavior of biological systems, integrating experimental data, and advancing biomedical research and applications</a:t>
            </a:r>
            <a:endParaRPr/>
          </a:p>
          <a:p>
            <a:pPr marL="306000" lvl="0" indent="-306000" algn="l" rtl="0">
              <a:spcBef>
                <a:spcPts val="960"/>
              </a:spcBef>
              <a:spcAft>
                <a:spcPts val="0"/>
              </a:spcAft>
              <a:buSzPts val="1656"/>
              <a:buChar char="◼"/>
            </a:pPr>
            <a:r>
              <a:rPr lang="en-US"/>
              <a:t>Ordinary differential equations (ODE) are the most common mathematical tools to model biological systems.</a:t>
            </a:r>
            <a:endParaRPr/>
          </a:p>
          <a:p>
            <a:pPr marL="306000" lvl="0" indent="-306000" algn="l" rtl="0">
              <a:spcBef>
                <a:spcPts val="0"/>
              </a:spcBef>
              <a:spcAft>
                <a:spcPts val="0"/>
              </a:spcAft>
              <a:buSzPts val="1656"/>
              <a:buChar char="◼"/>
            </a:pPr>
            <a:r>
              <a:rPr lang="en-US"/>
              <a:t>Once the ODEs and parameters are defined, the model can be solved numerically to simulate the behavior of the system over time under different conditions.</a:t>
            </a:r>
            <a:endParaRPr/>
          </a:p>
          <a:p>
            <a:pPr marL="306000" lvl="0" indent="-306000" algn="l" rtl="0">
              <a:spcBef>
                <a:spcPts val="960"/>
              </a:spcBef>
              <a:spcAft>
                <a:spcPts val="0"/>
              </a:spcAft>
              <a:buSzPts val="1656"/>
              <a:buChar char="◼"/>
            </a:pPr>
            <a:r>
              <a:rPr lang="en-US"/>
              <a:t>The models can be further used for therapeutic purposes, personalised medicine and study complex behaviour of systems.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24"/>
          <p:cNvSpPr txBox="1">
            <a:spLocks noGrp="1"/>
          </p:cNvSpPr>
          <p:nvPr>
            <p:ph type="title" idx="4294967295"/>
          </p:nvPr>
        </p:nvSpPr>
        <p:spPr>
          <a:xfrm>
            <a:off x="581200" y="702150"/>
            <a:ext cx="11029500" cy="927000"/>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1"/>
              </a:buClr>
              <a:buSzPts val="2800"/>
              <a:buFont typeface="Arial"/>
              <a:buNone/>
            </a:pPr>
            <a:r>
              <a:rPr lang="en-US" sz="4800" b="1">
                <a:latin typeface="Georgia"/>
                <a:ea typeface="Georgia"/>
                <a:cs typeface="Georgia"/>
                <a:sym typeface="Georgia"/>
              </a:rPr>
              <a:t>REFERENCES</a:t>
            </a:r>
            <a:endParaRPr sz="4800" b="1">
              <a:latin typeface="Georgia"/>
              <a:ea typeface="Georgia"/>
              <a:cs typeface="Georgia"/>
              <a:sym typeface="Georgia"/>
            </a:endParaRPr>
          </a:p>
        </p:txBody>
      </p:sp>
      <p:sp>
        <p:nvSpPr>
          <p:cNvPr id="258" name="Google Shape;258;p24"/>
          <p:cNvSpPr txBox="1">
            <a:spLocks noGrp="1"/>
          </p:cNvSpPr>
          <p:nvPr>
            <p:ph type="body" idx="1"/>
          </p:nvPr>
        </p:nvSpPr>
        <p:spPr>
          <a:xfrm>
            <a:off x="581200" y="1936050"/>
            <a:ext cx="11029500" cy="4835100"/>
          </a:xfrm>
          <a:prstGeom prst="rect">
            <a:avLst/>
          </a:prstGeom>
          <a:noFill/>
          <a:ln>
            <a:noFill/>
          </a:ln>
        </p:spPr>
        <p:txBody>
          <a:bodyPr spcFirstLastPara="1" wrap="square" lIns="91425" tIns="45700" rIns="91425" bIns="45700" anchor="ctr" anchorCtr="0">
            <a:normAutofit fontScale="47500" lnSpcReduction="20000"/>
          </a:bodyPr>
          <a:lstStyle/>
          <a:p>
            <a:pPr marL="306000" marR="0" lvl="0" indent="-282340" algn="l" rtl="0">
              <a:lnSpc>
                <a:spcPct val="150000"/>
              </a:lnSpc>
              <a:spcBef>
                <a:spcPts val="879"/>
              </a:spcBef>
              <a:spcAft>
                <a:spcPts val="0"/>
              </a:spcAft>
              <a:buSzPct val="91999"/>
              <a:buChar char="◼"/>
            </a:pPr>
            <a:r>
              <a:rPr lang="en-US" dirty="0"/>
              <a:t>Wang, Y. C. (2017, November 26). Dynamic Modeling. A Practical Guide to Cancer Systems Biology, 103–111. https://doi.org/10.1142/9789813229150_0009</a:t>
            </a:r>
            <a:endParaRPr dirty="0"/>
          </a:p>
          <a:p>
            <a:pPr marL="306000" marR="0" lvl="0" indent="-282340" algn="l" rtl="0">
              <a:lnSpc>
                <a:spcPct val="150000"/>
              </a:lnSpc>
              <a:spcBef>
                <a:spcPts val="879"/>
              </a:spcBef>
              <a:spcAft>
                <a:spcPts val="0"/>
              </a:spcAft>
              <a:buSzPct val="91999"/>
              <a:buChar char="◼"/>
            </a:pPr>
            <a:r>
              <a:rPr lang="en-US" dirty="0" err="1"/>
              <a:t>Raue</a:t>
            </a:r>
            <a:r>
              <a:rPr lang="en-US" dirty="0"/>
              <a:t> A, Schilling M, Bachmann J, Matteson A, </a:t>
            </a:r>
            <a:r>
              <a:rPr lang="en-US" dirty="0" err="1"/>
              <a:t>Schelker</a:t>
            </a:r>
            <a:r>
              <a:rPr lang="en-US" dirty="0"/>
              <a:t> M, </a:t>
            </a:r>
            <a:r>
              <a:rPr lang="en-US" dirty="0" err="1"/>
              <a:t>Kaschek</a:t>
            </a:r>
            <a:r>
              <a:rPr lang="en-US" dirty="0"/>
              <a:t> D, Hug S, Kreutz C, Harms BD, Theis FJ, </a:t>
            </a:r>
            <a:r>
              <a:rPr lang="en-US" dirty="0" err="1"/>
              <a:t>Klingmüller</a:t>
            </a:r>
            <a:r>
              <a:rPr lang="en-US" dirty="0"/>
              <a:t> U, Timmer J. Lessons learned from quantitative dynamical modeling in systems biology. </a:t>
            </a:r>
            <a:r>
              <a:rPr lang="en-US" dirty="0" err="1"/>
              <a:t>PLoS</a:t>
            </a:r>
            <a:r>
              <a:rPr lang="en-US" dirty="0"/>
              <a:t> One. 2013 Sep 30;8(9):e74335. </a:t>
            </a:r>
            <a:r>
              <a:rPr lang="en-US" dirty="0" err="1"/>
              <a:t>doi</a:t>
            </a:r>
            <a:r>
              <a:rPr lang="en-US" dirty="0"/>
              <a:t>: 10.1371/journal.pone.0074335. Erratum in: </a:t>
            </a:r>
            <a:r>
              <a:rPr lang="en-US" dirty="0" err="1"/>
              <a:t>PLoS</a:t>
            </a:r>
            <a:r>
              <a:rPr lang="en-US" dirty="0"/>
              <a:t> One. 2013;8(12). doi:10.1371/annotation/ea0193d8-1f7f-492a-b0b7-d877629fdcee. </a:t>
            </a:r>
            <a:r>
              <a:rPr lang="en-US" dirty="0" err="1"/>
              <a:t>Schelke</a:t>
            </a:r>
            <a:r>
              <a:rPr lang="en-US" dirty="0"/>
              <a:t>, Max [corrected to </a:t>
            </a:r>
            <a:r>
              <a:rPr lang="en-US" dirty="0" err="1"/>
              <a:t>Schelker</a:t>
            </a:r>
            <a:r>
              <a:rPr lang="en-US" dirty="0"/>
              <a:t>, Max]. PMID: 24098642; PMCID: PMC3787051.</a:t>
            </a:r>
            <a:endParaRPr dirty="0"/>
          </a:p>
          <a:p>
            <a:pPr marL="306000" marR="0" lvl="0" indent="-282340" algn="l" rtl="0">
              <a:lnSpc>
                <a:spcPct val="150000"/>
              </a:lnSpc>
              <a:spcBef>
                <a:spcPts val="879"/>
              </a:spcBef>
              <a:spcAft>
                <a:spcPts val="0"/>
              </a:spcAft>
              <a:buSzPct val="91999"/>
              <a:buChar char="◼"/>
            </a:pPr>
            <a:r>
              <a:rPr lang="en-US" dirty="0"/>
              <a:t>van Riel NA. Dynamic modelling and analysis of biochemical networks: mechanism-based models and model-based experiments. Brief </a:t>
            </a:r>
            <a:r>
              <a:rPr lang="en-US" dirty="0" err="1"/>
              <a:t>Bioinform</a:t>
            </a:r>
            <a:r>
              <a:rPr lang="en-US" dirty="0"/>
              <a:t>. 2006 Dec;7(4):364-74. </a:t>
            </a:r>
            <a:r>
              <a:rPr lang="en-US" dirty="0" err="1"/>
              <a:t>doi</a:t>
            </a:r>
            <a:r>
              <a:rPr lang="en-US" dirty="0"/>
              <a:t>: 10.1093/bib/bbl040. </a:t>
            </a:r>
            <a:r>
              <a:rPr lang="en-US" dirty="0" err="1"/>
              <a:t>Epub</a:t>
            </a:r>
            <a:r>
              <a:rPr lang="en-US" dirty="0"/>
              <a:t> 2006 Nov 14. PMID: 17107967.</a:t>
            </a:r>
            <a:endParaRPr dirty="0"/>
          </a:p>
          <a:p>
            <a:pPr marL="306000" marR="0" lvl="0" indent="-282340" algn="l" rtl="0">
              <a:lnSpc>
                <a:spcPct val="150000"/>
              </a:lnSpc>
              <a:spcBef>
                <a:spcPts val="879"/>
              </a:spcBef>
              <a:spcAft>
                <a:spcPts val="0"/>
              </a:spcAft>
              <a:buSzPct val="91999"/>
              <a:buChar char="◼"/>
            </a:pPr>
            <a:r>
              <a:rPr lang="en-US" dirty="0"/>
              <a:t>Liang Y, Kelemen A. Dynamic modeling and network approaches for omics time course data: overview of computational approaches and applications. Brief </a:t>
            </a:r>
            <a:r>
              <a:rPr lang="en-US" dirty="0" err="1"/>
              <a:t>Bioinform</a:t>
            </a:r>
            <a:r>
              <a:rPr lang="en-US" dirty="0"/>
              <a:t>. 2018 Sep 28;19(5):1051-1068. </a:t>
            </a:r>
            <a:r>
              <a:rPr lang="en-US" dirty="0" err="1"/>
              <a:t>doi</a:t>
            </a:r>
            <a:r>
              <a:rPr lang="en-US" dirty="0"/>
              <a:t>: 10.1093/bib/bbx036. PMID: 28430854.</a:t>
            </a:r>
            <a:endParaRPr dirty="0"/>
          </a:p>
          <a:p>
            <a:pPr marL="306000" marR="0" lvl="0" indent="-282340" algn="l" rtl="0">
              <a:lnSpc>
                <a:spcPct val="150000"/>
              </a:lnSpc>
              <a:spcBef>
                <a:spcPts val="879"/>
              </a:spcBef>
              <a:spcAft>
                <a:spcPts val="0"/>
              </a:spcAft>
              <a:buSzPct val="91999"/>
              <a:buChar char="◼"/>
            </a:pPr>
            <a:r>
              <a:rPr lang="en-US" dirty="0" err="1"/>
              <a:t>Vasilakou</a:t>
            </a:r>
            <a:r>
              <a:rPr lang="en-US" dirty="0"/>
              <a:t>, E., Machado, D., Theorell, A., Rocha, I., </a:t>
            </a:r>
            <a:r>
              <a:rPr lang="en-US" dirty="0" err="1"/>
              <a:t>Nöh</a:t>
            </a:r>
            <a:r>
              <a:rPr lang="en-US" dirty="0"/>
              <a:t>, K., </a:t>
            </a:r>
            <a:r>
              <a:rPr lang="en-US" dirty="0" err="1"/>
              <a:t>Oldiges</a:t>
            </a:r>
            <a:r>
              <a:rPr lang="en-US" dirty="0"/>
              <a:t>, M., &amp; Wahl, S. A. (2016, October). Current state and challenges for dynamic metabolic modeling. Current Opinion in Microbiology, 33, 97–104. </a:t>
            </a:r>
            <a:r>
              <a:rPr lang="en-US" dirty="0">
                <a:uFill>
                  <a:noFill/>
                </a:uFill>
                <a:hlinkClick r:id="rId3"/>
              </a:rPr>
              <a:t>https://doi.org/10.1016/j.mib.2016.07.008</a:t>
            </a:r>
            <a:endParaRPr dirty="0"/>
          </a:p>
          <a:p>
            <a:pPr marL="306000" marR="0" lvl="0" indent="-282340" algn="l" rtl="0">
              <a:lnSpc>
                <a:spcPct val="150000"/>
              </a:lnSpc>
              <a:spcBef>
                <a:spcPts val="879"/>
              </a:spcBef>
              <a:spcAft>
                <a:spcPts val="0"/>
              </a:spcAft>
              <a:buSzPct val="91999"/>
              <a:buChar char="◼"/>
            </a:pPr>
            <a:r>
              <a:rPr lang="en-US" dirty="0"/>
              <a:t>Hass, H., Loos, C., </a:t>
            </a:r>
            <a:r>
              <a:rPr lang="en-US" dirty="0" err="1"/>
              <a:t>Raimúndez</a:t>
            </a:r>
            <a:r>
              <a:rPr lang="en-US" dirty="0"/>
              <a:t>-Álvarez, E., Timmer, J., </a:t>
            </a:r>
            <a:r>
              <a:rPr lang="en-US" dirty="0" err="1"/>
              <a:t>Hasenauer</a:t>
            </a:r>
            <a:r>
              <a:rPr lang="en-US" dirty="0"/>
              <a:t>, J., &amp; Kreutz, C. (2019, January 8). Benchmark problems for dynamic modeling of intracellular processes. Bioinformatics, 35(17), 3073–3082. </a:t>
            </a:r>
            <a:r>
              <a:rPr lang="en-US" dirty="0">
                <a:uFill>
                  <a:noFill/>
                </a:uFill>
                <a:hlinkClick r:id="rId4"/>
              </a:rPr>
              <a:t>https://doi.org/10.1093/bioinformatics/btz020</a:t>
            </a:r>
            <a:endParaRPr dirty="0"/>
          </a:p>
          <a:p>
            <a:pPr marL="306000" marR="0" lvl="0" indent="-282340" algn="l" rtl="0">
              <a:lnSpc>
                <a:spcPct val="150000"/>
              </a:lnSpc>
              <a:spcBef>
                <a:spcPts val="879"/>
              </a:spcBef>
              <a:spcAft>
                <a:spcPts val="0"/>
              </a:spcAft>
              <a:buSzPct val="91999"/>
              <a:buChar char="◼"/>
            </a:pPr>
            <a:r>
              <a:rPr lang="en-US" dirty="0"/>
              <a:t>Lessons Learned from Quantitative Dynamical Modeling in Systems Biology</a:t>
            </a:r>
            <a:endParaRPr dirty="0"/>
          </a:p>
          <a:p>
            <a:pPr marL="306000" marR="0" lvl="0" indent="-282340" algn="l" rtl="0">
              <a:lnSpc>
                <a:spcPct val="150000"/>
              </a:lnSpc>
              <a:spcBef>
                <a:spcPts val="879"/>
              </a:spcBef>
              <a:spcAft>
                <a:spcPts val="0"/>
              </a:spcAft>
              <a:buSzPct val="91999"/>
              <a:buChar char="◼"/>
            </a:pPr>
            <a:r>
              <a:rPr lang="en-US" dirty="0"/>
              <a:t>Wang, R. S., </a:t>
            </a:r>
            <a:r>
              <a:rPr lang="en-US" dirty="0" err="1"/>
              <a:t>Saadatpour</a:t>
            </a:r>
            <a:r>
              <a:rPr lang="en-US" dirty="0"/>
              <a:t>, A., &amp; Albert, R. (2012, September 25). Boolean modeling in systems biology: an overview of methodology and applications. Physical Biology, 9(5), 055001. https://doi.org/10.1088/1478-3975/9/5/055001</a:t>
            </a:r>
            <a:endParaRPr dirty="0"/>
          </a:p>
          <a:p>
            <a:pPr marL="306000" marR="0" lvl="0" indent="-282340" algn="l" rtl="0">
              <a:lnSpc>
                <a:spcPct val="150000"/>
              </a:lnSpc>
              <a:spcBef>
                <a:spcPts val="879"/>
              </a:spcBef>
              <a:spcAft>
                <a:spcPts val="0"/>
              </a:spcAft>
              <a:buSzPct val="91999"/>
              <a:buChar char="◼"/>
            </a:pPr>
            <a:r>
              <a:rPr lang="en-US" dirty="0"/>
              <a:t>Wilkinson, D. J. (2006, December 19). Bayesian methods in bioinformatics and computational systems biology. Briefings in Bioinformatics, 8(2), 109–116. https://doi.org/10.1093/bib/bbm007</a:t>
            </a:r>
            <a:endParaRPr dirty="0"/>
          </a:p>
          <a:p>
            <a:pPr marL="306000" marR="0" lvl="0" indent="-282340" algn="l" rtl="0">
              <a:lnSpc>
                <a:spcPct val="150000"/>
              </a:lnSpc>
              <a:spcBef>
                <a:spcPts val="879"/>
              </a:spcBef>
              <a:spcAft>
                <a:spcPts val="0"/>
              </a:spcAft>
              <a:buSzPct val="91999"/>
              <a:buChar char="◼"/>
            </a:pPr>
            <a:r>
              <a:rPr lang="en-US" dirty="0"/>
              <a:t>Liang, Y., &amp; Kelemen, A. (2017, April 18). Dynamic modeling and network approaches for omics time course data: overview of computational approaches and applications. Briefings in Bioinformatics, 19(5), 1051–1068. https://doi.org/10.1093/bib/bbx036</a:t>
            </a: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ce05626edf_1_31"/>
          <p:cNvSpPr txBox="1">
            <a:spLocks noGrp="1"/>
          </p:cNvSpPr>
          <p:nvPr>
            <p:ph type="body" idx="1"/>
          </p:nvPr>
        </p:nvSpPr>
        <p:spPr>
          <a:xfrm>
            <a:off x="124250" y="1894650"/>
            <a:ext cx="11802600" cy="4783200"/>
          </a:xfrm>
          <a:prstGeom prst="rect">
            <a:avLst/>
          </a:prstGeom>
        </p:spPr>
        <p:txBody>
          <a:bodyPr spcFirstLastPara="1" wrap="square" lIns="91425" tIns="45700" rIns="91425" bIns="45700" anchor="ctr" anchorCtr="0">
            <a:normAutofit fontScale="77500" lnSpcReduction="20000"/>
          </a:bodyPr>
          <a:lstStyle/>
          <a:p>
            <a:pPr marL="457200" marR="0" lvl="0" indent="-310095" algn="l" rtl="0">
              <a:lnSpc>
                <a:spcPct val="150000"/>
              </a:lnSpc>
              <a:spcBef>
                <a:spcPts val="360"/>
              </a:spcBef>
              <a:spcAft>
                <a:spcPts val="0"/>
              </a:spcAft>
              <a:buSzPct val="91999"/>
              <a:buChar char="◼"/>
            </a:pPr>
            <a:r>
              <a:rPr lang="en-US"/>
              <a:t>Daun, S., Rubin, J., Vodovotz, Y., &amp; Clermont, G. (2008, December). Equation-based models of dynamic biological systems. Journal of Critical Care, 23(4), 585–594. https://doi.org/10.1016/j.jcrc.2008.02.003</a:t>
            </a:r>
            <a:endParaRPr/>
          </a:p>
          <a:p>
            <a:pPr marL="457200" marR="0" lvl="0" indent="-310095" algn="l" rtl="0">
              <a:lnSpc>
                <a:spcPct val="150000"/>
              </a:lnSpc>
              <a:spcBef>
                <a:spcPts val="0"/>
              </a:spcBef>
              <a:spcAft>
                <a:spcPts val="0"/>
              </a:spcAft>
              <a:buSzPct val="91999"/>
              <a:buChar char="◼"/>
            </a:pPr>
            <a:r>
              <a:rPr lang="en-US"/>
              <a:t>Ullah, M., &amp; Wolkenhauer, O. (2010, June 15). Stochastic approaches in systems biology. WIREs Systems Biology and Medicine, 2(4), 385–397. https://doi.org/10.1002/wsbm.78</a:t>
            </a:r>
            <a:endParaRPr/>
          </a:p>
          <a:p>
            <a:pPr marL="457200" marR="0" lvl="0" indent="-310095" algn="l" rtl="0">
              <a:lnSpc>
                <a:spcPct val="150000"/>
              </a:lnSpc>
              <a:spcBef>
                <a:spcPts val="0"/>
              </a:spcBef>
              <a:spcAft>
                <a:spcPts val="0"/>
              </a:spcAft>
              <a:buSzPct val="91999"/>
              <a:buChar char="◼"/>
            </a:pPr>
            <a:r>
              <a:rPr lang="en-US"/>
              <a:t>Kenton, W. (2021, October 20). Stochastic Modeling. Investopedia. https://www.investopedia.com/terms/s/stochastic-modeling.asp#:~:text=using%20random%20variables.-,Stochastic%20modeling%20presents%20data%20and%20predicts%20outcomes%20that%20account%20for,liabilities%20and%20optimize%20their%20portfolios.</a:t>
            </a:r>
            <a:endParaRPr/>
          </a:p>
          <a:p>
            <a:pPr marL="457200" marR="0" lvl="0" indent="-310095" algn="l" rtl="0">
              <a:lnSpc>
                <a:spcPct val="150000"/>
              </a:lnSpc>
              <a:spcBef>
                <a:spcPts val="0"/>
              </a:spcBef>
              <a:spcAft>
                <a:spcPts val="0"/>
              </a:spcAft>
              <a:buSzPct val="91999"/>
              <a:buChar char="◼"/>
            </a:pPr>
            <a:r>
              <a:rPr lang="en-US"/>
              <a:t>Soheilypour, M., &amp; Mofrad, M. R. K. (2018, June 8). Agent‐Based Modeling in Molecular Systems Biology. BioEssays, 40(7). https://doi.org/10.1002/bies.201800020</a:t>
            </a:r>
            <a:endParaRPr/>
          </a:p>
          <a:p>
            <a:pPr marL="457200" marR="0" lvl="0" indent="-310095" algn="l" rtl="0">
              <a:lnSpc>
                <a:spcPct val="150000"/>
              </a:lnSpc>
              <a:spcBef>
                <a:spcPts val="0"/>
              </a:spcBef>
              <a:spcAft>
                <a:spcPts val="0"/>
              </a:spcAft>
              <a:buSzPct val="91999"/>
              <a:buChar char="◼"/>
            </a:pPr>
            <a:r>
              <a:rPr lang="en-US"/>
              <a:t>Stéphanou, A., &amp; Volpert, V. (2015, December 3). Hybrid Modelling in Biology: a Classification Review. Mathematical Modelling of Natural Phenomena, 11(1), 37–48. https://doi.org/10.1051/mmnp/201611103</a:t>
            </a:r>
            <a:endParaRPr/>
          </a:p>
          <a:p>
            <a:pPr marL="457200" marR="0" lvl="0" indent="-310095" algn="l" rtl="0">
              <a:lnSpc>
                <a:spcPct val="150000"/>
              </a:lnSpc>
              <a:spcBef>
                <a:spcPts val="0"/>
              </a:spcBef>
              <a:spcAft>
                <a:spcPts val="0"/>
              </a:spcAft>
              <a:buSzPct val="91999"/>
              <a:buChar char="◼"/>
            </a:pPr>
            <a:r>
              <a:rPr lang="en-US"/>
              <a:t>Liu, F., Heiner, M., &amp; Gilbert, D. (2022, March 30). Hybrid modelling of biological systems: current progress and future prospects. Briefings in Bioinformatics, 23(3). https://doi.org/10.1093/bib/bbac081</a:t>
            </a:r>
            <a:endParaRPr/>
          </a:p>
          <a:p>
            <a:pPr marL="457200" marR="0" lvl="0" indent="-310095" algn="l" rtl="0">
              <a:lnSpc>
                <a:spcPct val="150000"/>
              </a:lnSpc>
              <a:spcBef>
                <a:spcPts val="0"/>
              </a:spcBef>
              <a:spcAft>
                <a:spcPts val="0"/>
              </a:spcAft>
              <a:buSzPct val="91999"/>
              <a:buChar char="◼"/>
            </a:pPr>
            <a:r>
              <a:rPr lang="en-US"/>
              <a:t>Liao, K. L., &amp; Watt, K. D. (2022, July 6). Mathematical Modeling and Analysis of CD200–CD200R in Cancer Treatment. Bulletin of Mathematical Biology, 84(8). </a:t>
            </a:r>
            <a:r>
              <a:rPr lang="en-US">
                <a:uFill>
                  <a:noFill/>
                </a:uFill>
                <a:hlinkClick r:id="rId3"/>
              </a:rPr>
              <a:t>https://doi.org/10.1007/s11538-022-01039-x</a:t>
            </a:r>
            <a:endParaRPr/>
          </a:p>
        </p:txBody>
      </p:sp>
      <p:sp>
        <p:nvSpPr>
          <p:cNvPr id="264" name="Google Shape;264;g2ce05626edf_1_31"/>
          <p:cNvSpPr txBox="1">
            <a:spLocks noGrp="1"/>
          </p:cNvSpPr>
          <p:nvPr>
            <p:ph type="title" idx="4294967295"/>
          </p:nvPr>
        </p:nvSpPr>
        <p:spPr>
          <a:xfrm>
            <a:off x="581200" y="702150"/>
            <a:ext cx="11029500" cy="927000"/>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1"/>
              </a:buClr>
              <a:buSzPts val="2800"/>
              <a:buFont typeface="Arial"/>
              <a:buNone/>
            </a:pPr>
            <a:r>
              <a:rPr lang="en-US" sz="4800" b="1">
                <a:latin typeface="Georgia"/>
                <a:ea typeface="Georgia"/>
                <a:cs typeface="Georgia"/>
                <a:sym typeface="Georgia"/>
              </a:rPr>
              <a:t>REFERENCES</a:t>
            </a:r>
            <a:endParaRPr sz="4800" b="1">
              <a:latin typeface="Georgia"/>
              <a:ea typeface="Georgia"/>
              <a:cs typeface="Georgia"/>
              <a:sym typeface="Georgi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g2ce05626edf_3_0"/>
          <p:cNvSpPr txBox="1"/>
          <p:nvPr/>
        </p:nvSpPr>
        <p:spPr>
          <a:xfrm>
            <a:off x="841800" y="1843300"/>
            <a:ext cx="10508400" cy="209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2400" b="1">
                <a:solidFill>
                  <a:schemeClr val="dk2"/>
                </a:solidFill>
                <a:latin typeface="Noto Serif Georgian"/>
                <a:ea typeface="Noto Serif Georgian"/>
                <a:cs typeface="Noto Serif Georgian"/>
                <a:sym typeface="Noto Serif Georgian"/>
              </a:rPr>
              <a:t>THANK YOU</a:t>
            </a:r>
            <a:endParaRPr sz="12400" b="1">
              <a:solidFill>
                <a:schemeClr val="dk2"/>
              </a:solidFill>
              <a:latin typeface="Noto Serif Georgian"/>
              <a:ea typeface="Noto Serif Georgian"/>
              <a:cs typeface="Noto Serif Georgian"/>
              <a:sym typeface="Noto Serif Georgian"/>
            </a:endParaRPr>
          </a:p>
        </p:txBody>
      </p:sp>
    </p:spTree>
  </p:cSld>
  <p:clrMapOvr>
    <a:masterClrMapping/>
  </p:clrMapOvr>
</p:sld>
</file>

<file path=ppt/theme/theme1.xml><?xml version="1.0" encoding="utf-8"?>
<a:theme xmlns:a="http://schemas.openxmlformats.org/drawingml/2006/main" name="Dividend">
  <a:themeElements>
    <a:clrScheme name="Dividend">
      <a:dk1>
        <a:srgbClr val="000000"/>
      </a:dk1>
      <a:lt1>
        <a:srgbClr val="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TotalTime>
  <Words>4130</Words>
  <Application>Microsoft Office PowerPoint</Application>
  <PresentationFormat>Widescreen</PresentationFormat>
  <Paragraphs>290</Paragraphs>
  <Slides>30</Slides>
  <Notes>30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Noto Sans Symbols</vt:lpstr>
      <vt:lpstr>Noto Serif Georgian</vt:lpstr>
      <vt:lpstr>Pacifico</vt:lpstr>
      <vt:lpstr>Georgia</vt:lpstr>
      <vt:lpstr>Arial</vt:lpstr>
      <vt:lpstr>Roboto</vt:lpstr>
      <vt:lpstr>Dividend</vt:lpstr>
      <vt:lpstr>DYNAMIC MODELING OF CELLULAR PROCESSES</vt:lpstr>
      <vt:lpstr>TABLE OF CONTENTS</vt:lpstr>
      <vt:lpstr>INTRODUCTION: MATHEMATICAL MODELS</vt:lpstr>
      <vt:lpstr>INTRODUCTION: DYNAMIC MODELS</vt:lpstr>
      <vt:lpstr>THE DATA WE DEAL WITH…</vt:lpstr>
      <vt:lpstr>PowerPoint Presentation</vt:lpstr>
      <vt:lpstr>RESOURCES FOR DYNAMIC MODELING RESEARCH</vt:lpstr>
      <vt:lpstr>METHODOLOGY</vt:lpstr>
      <vt:lpstr>TYPES OF MODELS</vt:lpstr>
      <vt:lpstr>PowerPoint Presentation</vt:lpstr>
      <vt:lpstr>TYPES OF MODELS</vt:lpstr>
      <vt:lpstr>TYPES OF MODELS</vt:lpstr>
      <vt:lpstr>TYPES OF MODELS</vt:lpstr>
      <vt:lpstr>TYPES OF MODELS</vt:lpstr>
      <vt:lpstr>TYPES OF MODELS</vt:lpstr>
      <vt:lpstr>EXAMPLE 1: CENTRAL DOGMA ODE MODEL</vt:lpstr>
      <vt:lpstr>PowerPoint Presentation</vt:lpstr>
      <vt:lpstr>PowerPoint Presentation</vt:lpstr>
      <vt:lpstr>EXAMPLE 2: Modeling the CD200–CD200R Signaling Pathway: Implications for Cancer Therapy </vt:lpstr>
      <vt:lpstr>PowerPoint Presentation</vt:lpstr>
      <vt:lpstr>PowerPoint Presentation</vt:lpstr>
      <vt:lpstr>PowerPoint Presentation</vt:lpstr>
      <vt:lpstr> APPLICATION OF DYNAMIC MODELLING</vt:lpstr>
      <vt:lpstr>CHALLENGES IN MODELING CELLULAR PROCESSES</vt:lpstr>
      <vt:lpstr>CHALLENGES IN MODELING CELLULAR PROCESSES</vt:lpstr>
      <vt:lpstr>FUTURE PERSPECTIVES OF DYNAMIC MODELING</vt:lpstr>
      <vt:lpstr>SUMMARY</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MODELING OF CELLULAR PROCESSES</dc:title>
  <dc:creator>SAKSHI   SHARMA</dc:creator>
  <cp:lastModifiedBy>SAKSHI PERSONAL</cp:lastModifiedBy>
  <cp:revision>5</cp:revision>
  <dcterms:created xsi:type="dcterms:W3CDTF">2024-04-18T23:47:09Z</dcterms:created>
  <dcterms:modified xsi:type="dcterms:W3CDTF">2026-03-27T14:50:48Z</dcterms:modified>
</cp:coreProperties>
</file>