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258" r:id="rId4"/>
    <p:sldId id="286" r:id="rId5"/>
    <p:sldId id="287" r:id="rId6"/>
    <p:sldId id="261" r:id="rId7"/>
    <p:sldId id="263" r:id="rId8"/>
    <p:sldId id="264" r:id="rId9"/>
    <p:sldId id="265" r:id="rId10"/>
    <p:sldId id="266" r:id="rId11"/>
    <p:sldId id="259" r:id="rId12"/>
    <p:sldId id="293" r:id="rId13"/>
    <p:sldId id="301" r:id="rId14"/>
    <p:sldId id="294" r:id="rId15"/>
    <p:sldId id="302" r:id="rId16"/>
    <p:sldId id="303" r:id="rId17"/>
    <p:sldId id="304" r:id="rId18"/>
    <p:sldId id="267" r:id="rId19"/>
    <p:sldId id="268" r:id="rId20"/>
    <p:sldId id="280" r:id="rId21"/>
    <p:sldId id="281" r:id="rId22"/>
    <p:sldId id="282" r:id="rId23"/>
    <p:sldId id="283" r:id="rId24"/>
    <p:sldId id="270" r:id="rId25"/>
    <p:sldId id="305" r:id="rId26"/>
    <p:sldId id="306" r:id="rId27"/>
    <p:sldId id="269" r:id="rId28"/>
    <p:sldId id="284" r:id="rId29"/>
    <p:sldId id="285" r:id="rId30"/>
    <p:sldId id="307" r:id="rId31"/>
    <p:sldId id="308" r:id="rId32"/>
    <p:sldId id="288" r:id="rId33"/>
    <p:sldId id="311" r:id="rId34"/>
    <p:sldId id="309" r:id="rId35"/>
    <p:sldId id="291" r:id="rId36"/>
    <p:sldId id="290" r:id="rId37"/>
    <p:sldId id="310" r:id="rId38"/>
    <p:sldId id="271" r:id="rId39"/>
    <p:sldId id="274" r:id="rId40"/>
    <p:sldId id="273" r:id="rId41"/>
    <p:sldId id="275" r:id="rId42"/>
    <p:sldId id="276" r:id="rId43"/>
    <p:sldId id="31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74E8E8-AE06-4C6B-942A-35F8FC39C821}" v="3" dt="2026-04-09T12:20:37.9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SHI   SHARMA" userId="116af088-08cd-4f4e-83ab-e1594b1e2c5b" providerId="ADAL" clId="{0C99533C-4778-45BA-8161-D67122AC0533}"/>
    <pc:docChg chg="addSld delSld modSld">
      <pc:chgData name="SAKSHI   SHARMA" userId="116af088-08cd-4f4e-83ab-e1594b1e2c5b" providerId="ADAL" clId="{0C99533C-4778-45BA-8161-D67122AC0533}" dt="2026-04-09T12:37:56.530" v="41" actId="2696"/>
      <pc:docMkLst>
        <pc:docMk/>
      </pc:docMkLst>
      <pc:sldChg chg="addSp modSp new del mod">
        <pc:chgData name="SAKSHI   SHARMA" userId="116af088-08cd-4f4e-83ab-e1594b1e2c5b" providerId="ADAL" clId="{0C99533C-4778-45BA-8161-D67122AC0533}" dt="2026-04-09T12:37:56.530" v="41" actId="2696"/>
        <pc:sldMkLst>
          <pc:docMk/>
          <pc:sldMk cId="2847629224" sldId="313"/>
        </pc:sldMkLst>
        <pc:picChg chg="add mod modCrop">
          <ac:chgData name="SAKSHI   SHARMA" userId="116af088-08cd-4f4e-83ab-e1594b1e2c5b" providerId="ADAL" clId="{0C99533C-4778-45BA-8161-D67122AC0533}" dt="2026-04-09T12:18:12.875" v="9" actId="14100"/>
          <ac:picMkLst>
            <pc:docMk/>
            <pc:sldMk cId="2847629224" sldId="313"/>
            <ac:picMk id="3" creationId="{77FC9583-A02A-D4FD-B14F-97F6237D5058}"/>
          </ac:picMkLst>
        </pc:picChg>
        <pc:picChg chg="add mod">
          <ac:chgData name="SAKSHI   SHARMA" userId="116af088-08cd-4f4e-83ab-e1594b1e2c5b" providerId="ADAL" clId="{0C99533C-4778-45BA-8161-D67122AC0533}" dt="2026-04-09T12:18:35.120" v="12" actId="1076"/>
          <ac:picMkLst>
            <pc:docMk/>
            <pc:sldMk cId="2847629224" sldId="313"/>
            <ac:picMk id="5" creationId="{BA56EC1E-3068-F157-E918-A3DCF046CBB9}"/>
          </ac:picMkLst>
        </pc:picChg>
        <pc:picChg chg="add mod">
          <ac:chgData name="SAKSHI   SHARMA" userId="116af088-08cd-4f4e-83ab-e1594b1e2c5b" providerId="ADAL" clId="{0C99533C-4778-45BA-8161-D67122AC0533}" dt="2026-04-09T12:18:46.512" v="15" actId="1076"/>
          <ac:picMkLst>
            <pc:docMk/>
            <pc:sldMk cId="2847629224" sldId="313"/>
            <ac:picMk id="6" creationId="{58D969C9-F7EA-BBEA-31C3-0CFDEA8E4624}"/>
          </ac:picMkLst>
        </pc:picChg>
        <pc:picChg chg="add mod">
          <ac:chgData name="SAKSHI   SHARMA" userId="116af088-08cd-4f4e-83ab-e1594b1e2c5b" providerId="ADAL" clId="{0C99533C-4778-45BA-8161-D67122AC0533}" dt="2026-04-09T12:20:00.258" v="34" actId="1036"/>
          <ac:picMkLst>
            <pc:docMk/>
            <pc:sldMk cId="2847629224" sldId="313"/>
            <ac:picMk id="8" creationId="{36B43AF2-3DA0-D7BC-3FEA-CF0ACFC79703}"/>
          </ac:picMkLst>
        </pc:picChg>
        <pc:picChg chg="add mod">
          <ac:chgData name="SAKSHI   SHARMA" userId="116af088-08cd-4f4e-83ab-e1594b1e2c5b" providerId="ADAL" clId="{0C99533C-4778-45BA-8161-D67122AC0533}" dt="2026-04-09T12:19:56.532" v="32" actId="1076"/>
          <ac:picMkLst>
            <pc:docMk/>
            <pc:sldMk cId="2847629224" sldId="313"/>
            <ac:picMk id="9" creationId="{16EF3592-F2A0-286A-1D75-C89D9BDC7745}"/>
          </ac:picMkLst>
        </pc:picChg>
        <pc:picChg chg="add mod">
          <ac:chgData name="SAKSHI   SHARMA" userId="116af088-08cd-4f4e-83ab-e1594b1e2c5b" providerId="ADAL" clId="{0C99533C-4778-45BA-8161-D67122AC0533}" dt="2026-04-09T12:20:31.182" v="38" actId="14100"/>
          <ac:picMkLst>
            <pc:docMk/>
            <pc:sldMk cId="2847629224" sldId="313"/>
            <ac:picMk id="11" creationId="{21AEAEF1-620A-4D07-E871-F0BAD52A588C}"/>
          </ac:picMkLst>
        </pc:picChg>
        <pc:picChg chg="add mod">
          <ac:chgData name="SAKSHI   SHARMA" userId="116af088-08cd-4f4e-83ab-e1594b1e2c5b" providerId="ADAL" clId="{0C99533C-4778-45BA-8161-D67122AC0533}" dt="2026-04-09T12:20:45.762" v="40" actId="1076"/>
          <ac:picMkLst>
            <pc:docMk/>
            <pc:sldMk cId="2847629224" sldId="313"/>
            <ac:picMk id="12" creationId="{6D5239BE-16B3-BFB4-3C4E-6E788CF25712}"/>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948560-76E6-4175-914E-0067E6AC4F41}" type="doc">
      <dgm:prSet loTypeId="urn:microsoft.com/office/officeart/2005/8/layout/hList3" loCatId="list" qsTypeId="urn:microsoft.com/office/officeart/2005/8/quickstyle/simple3" qsCatId="simple" csTypeId="urn:microsoft.com/office/officeart/2005/8/colors/accent1_2" csCatId="accent1" phldr="1"/>
      <dgm:spPr/>
      <dgm:t>
        <a:bodyPr/>
        <a:lstStyle/>
        <a:p>
          <a:endParaRPr lang="en-IN"/>
        </a:p>
      </dgm:t>
    </dgm:pt>
    <dgm:pt modelId="{CB7B28B8-A109-4951-BB04-24975650B99B}">
      <dgm:prSet phldrT="[Text]" custT="1"/>
      <dgm:spPr/>
      <dgm:t>
        <a:bodyPr/>
        <a:lstStyle/>
        <a:p>
          <a:r>
            <a:rPr lang="en-US" sz="3200" dirty="0">
              <a:latin typeface="Algerian" panose="04020705040A02060702" pitchFamily="82" charset="0"/>
            </a:rPr>
            <a:t>Pre-Processing       Quality Control        Normalization</a:t>
          </a:r>
          <a:endParaRPr lang="en-IN" sz="3200" dirty="0">
            <a:latin typeface="Algerian" panose="04020705040A02060702" pitchFamily="82" charset="0"/>
          </a:endParaRPr>
        </a:p>
      </dgm:t>
    </dgm:pt>
    <dgm:pt modelId="{B371FF80-75A9-499D-9D0F-4F6A39BB022E}" type="parTrans" cxnId="{F93010F3-EE7E-4EB7-98A1-700192015423}">
      <dgm:prSet/>
      <dgm:spPr/>
      <dgm:t>
        <a:bodyPr/>
        <a:lstStyle/>
        <a:p>
          <a:endParaRPr lang="en-IN"/>
        </a:p>
      </dgm:t>
    </dgm:pt>
    <dgm:pt modelId="{5A147078-DF66-45E3-A135-DE740833F9E1}" type="sibTrans" cxnId="{F93010F3-EE7E-4EB7-98A1-700192015423}">
      <dgm:prSet/>
      <dgm:spPr/>
      <dgm:t>
        <a:bodyPr/>
        <a:lstStyle/>
        <a:p>
          <a:endParaRPr lang="en-IN"/>
        </a:p>
      </dgm:t>
    </dgm:pt>
    <dgm:pt modelId="{1A795698-26CB-41B1-BF41-2B5FD1E7A59E}">
      <dgm:prSet phldrT="[Text]" custT="1"/>
      <dgm:spPr>
        <a:solidFill>
          <a:srgbClr val="FFCCCC"/>
        </a:solidFill>
      </dgm:spPr>
      <dgm:t>
        <a:bodyPr/>
        <a:lstStyle/>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Read alignment &amp;  Barcode filtering,  UMI quantification</a:t>
          </a: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Handles sparsely expressed genes (also known as Dropouts) </a:t>
          </a: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Symbol" panose="05050102010706020507" pitchFamily="18" charset="2"/>
            <a:buChar char=""/>
          </a:pPr>
          <a:r>
            <a:rPr lang="en-IN" sz="2000" dirty="0">
              <a:latin typeface="Times New Roman" panose="02020603050405020304" pitchFamily="18" charset="0"/>
              <a:cs typeface="Times New Roman" panose="02020603050405020304" pitchFamily="18" charset="0"/>
            </a:rPr>
            <a:t>Noise from technical variations (e.g., amplification, sequencing depth).</a:t>
          </a:r>
        </a:p>
        <a:p>
          <a:pPr>
            <a:buFont typeface="Symbol" panose="05050102010706020507" pitchFamily="18" charset="2"/>
            <a:buChar char=""/>
          </a:pPr>
          <a:r>
            <a:rPr lang="en-IN" sz="2000" dirty="0">
              <a:latin typeface="Times New Roman" panose="02020603050405020304" pitchFamily="18" charset="0"/>
              <a:cs typeface="Times New Roman" panose="02020603050405020304" pitchFamily="18" charset="0"/>
            </a:rPr>
            <a:t> </a:t>
          </a:r>
        </a:p>
        <a:p>
          <a:pPr>
            <a:buFont typeface="Symbol" panose="05050102010706020507" pitchFamily="18" charset="2"/>
            <a:buChar char=""/>
          </a:pPr>
          <a:r>
            <a:rPr lang="en-IN" sz="2000" dirty="0">
              <a:latin typeface="Times New Roman" panose="02020603050405020304" pitchFamily="18" charset="0"/>
              <a:cs typeface="Times New Roman" panose="02020603050405020304" pitchFamily="18" charset="0"/>
            </a:rPr>
            <a:t>Variability in RNA, difficult to differ from technical noise (Heterogeneity)</a:t>
          </a:r>
        </a:p>
      </dgm:t>
    </dgm:pt>
    <dgm:pt modelId="{15B083B3-099A-4E76-857C-C9F6AF60FD59}" type="parTrans" cxnId="{81829C79-45BC-483A-AC54-D449758E7D1C}">
      <dgm:prSet/>
      <dgm:spPr/>
      <dgm:t>
        <a:bodyPr/>
        <a:lstStyle/>
        <a:p>
          <a:endParaRPr lang="en-IN"/>
        </a:p>
      </dgm:t>
    </dgm:pt>
    <dgm:pt modelId="{73209EC8-CA94-499C-9584-1B37775343EA}" type="sibTrans" cxnId="{81829C79-45BC-483A-AC54-D449758E7D1C}">
      <dgm:prSet/>
      <dgm:spPr/>
      <dgm:t>
        <a:bodyPr/>
        <a:lstStyle/>
        <a:p>
          <a:endParaRPr lang="en-IN"/>
        </a:p>
      </dgm:t>
    </dgm:pt>
    <dgm:pt modelId="{E3C381C7-E8D2-47DF-9431-DA03DE5FBDB3}">
      <dgm:prSet phldrT="[Text]" custT="1"/>
      <dgm:spPr>
        <a:solidFill>
          <a:srgbClr val="FFFF66"/>
        </a:solidFill>
      </dgm:spPr>
      <dgm:t>
        <a:bodyPr/>
        <a:lstStyle/>
        <a:p>
          <a:r>
            <a:rPr lang="en-IN" sz="2000" dirty="0">
              <a:latin typeface="Times New Roman" panose="02020603050405020304" pitchFamily="18" charset="0"/>
              <a:cs typeface="Times New Roman" panose="02020603050405020304" pitchFamily="18" charset="0"/>
            </a:rPr>
            <a:t>Filter cells, Filter genes.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Distinguish high-quality cells and low-quality cells (e.g., doublets, empty droplets, damaged cells).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High dropout rates also obscure the true expression of low-abundance genes.</a:t>
          </a:r>
        </a:p>
      </dgm:t>
    </dgm:pt>
    <dgm:pt modelId="{6E7B7644-0B38-438A-86A8-7A1C4AC361A1}" type="parTrans" cxnId="{072868A0-0DF2-46D8-B263-A5A163C23CCC}">
      <dgm:prSet/>
      <dgm:spPr/>
      <dgm:t>
        <a:bodyPr/>
        <a:lstStyle/>
        <a:p>
          <a:endParaRPr lang="en-IN"/>
        </a:p>
      </dgm:t>
    </dgm:pt>
    <dgm:pt modelId="{E8DB332C-DFF1-4F03-BE66-A78B8FAA24E7}" type="sibTrans" cxnId="{072868A0-0DF2-46D8-B263-A5A163C23CCC}">
      <dgm:prSet/>
      <dgm:spPr/>
      <dgm:t>
        <a:bodyPr/>
        <a:lstStyle/>
        <a:p>
          <a:endParaRPr lang="en-IN"/>
        </a:p>
      </dgm:t>
    </dgm:pt>
    <dgm:pt modelId="{52BA76F0-D8DA-40A8-B12D-E725D827C8BA}">
      <dgm:prSet phldrT="[Text]" custT="1"/>
      <dgm:spPr>
        <a:solidFill>
          <a:srgbClr val="FFFFFF"/>
        </a:solidFill>
      </dgm:spPr>
      <dgm:t>
        <a:bodyPr/>
        <a:lstStyle/>
        <a:p>
          <a:r>
            <a:rPr lang="en-IN" sz="2000" dirty="0">
              <a:latin typeface="Times New Roman" panose="02020603050405020304" pitchFamily="18" charset="0"/>
              <a:cs typeface="Times New Roman" panose="02020603050405020304" pitchFamily="18" charset="0"/>
            </a:rPr>
            <a:t>Handles technical variations and biases</a:t>
          </a:r>
        </a:p>
        <a:p>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adjusting for differences in sequencing depth, </a:t>
          </a:r>
          <a:r>
            <a:rPr lang="en-IN" sz="2000" dirty="0">
              <a:latin typeface="Times New Roman" panose="02020603050405020304" pitchFamily="18" charset="0"/>
              <a:cs typeface="Times New Roman" panose="02020603050405020304" pitchFamily="18" charset="0"/>
            </a:rPr>
            <a:t>dropout events </a:t>
          </a:r>
          <a:r>
            <a:rPr lang="en-US" sz="2000" dirty="0">
              <a:latin typeface="Times New Roman" panose="02020603050405020304" pitchFamily="18" charset="0"/>
              <a:cs typeface="Times New Roman" panose="02020603050405020304" pitchFamily="18" charset="0"/>
            </a:rPr>
            <a:t>or technical variation</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Allows Meaningful comparison between cells, allows accurate identification of differentially expressed genes and cell types.</a:t>
          </a:r>
        </a:p>
      </dgm:t>
    </dgm:pt>
    <dgm:pt modelId="{84A5FB7C-75F1-498C-A56B-4F788D6B32C5}" type="parTrans" cxnId="{2ACDC928-A7EE-4654-9D48-11A13CC14BB7}">
      <dgm:prSet/>
      <dgm:spPr/>
      <dgm:t>
        <a:bodyPr/>
        <a:lstStyle/>
        <a:p>
          <a:endParaRPr lang="en-IN"/>
        </a:p>
      </dgm:t>
    </dgm:pt>
    <dgm:pt modelId="{885189A0-0883-4D7E-BBD4-A652A7D7B9C8}" type="sibTrans" cxnId="{2ACDC928-A7EE-4654-9D48-11A13CC14BB7}">
      <dgm:prSet/>
      <dgm:spPr/>
      <dgm:t>
        <a:bodyPr/>
        <a:lstStyle/>
        <a:p>
          <a:endParaRPr lang="en-IN"/>
        </a:p>
      </dgm:t>
    </dgm:pt>
    <dgm:pt modelId="{AD609559-8231-42D5-A571-57EC07852349}">
      <dgm:prSet/>
      <dgm:spPr/>
      <dgm:t>
        <a:bodyPr/>
        <a:lstStyle/>
        <a:p>
          <a:endParaRPr lang="en-IN"/>
        </a:p>
      </dgm:t>
    </dgm:pt>
    <dgm:pt modelId="{F40227A4-97E2-48CF-AAB5-8A983DC100E0}" type="parTrans" cxnId="{1273260A-8609-4EA4-AC62-0DB16F186365}">
      <dgm:prSet/>
      <dgm:spPr/>
      <dgm:t>
        <a:bodyPr/>
        <a:lstStyle/>
        <a:p>
          <a:endParaRPr lang="en-IN"/>
        </a:p>
      </dgm:t>
    </dgm:pt>
    <dgm:pt modelId="{5B27314F-9BA3-46B4-B5EB-86CD7DE1B892}" type="sibTrans" cxnId="{1273260A-8609-4EA4-AC62-0DB16F186365}">
      <dgm:prSet/>
      <dgm:spPr/>
      <dgm:t>
        <a:bodyPr/>
        <a:lstStyle/>
        <a:p>
          <a:endParaRPr lang="en-IN"/>
        </a:p>
      </dgm:t>
    </dgm:pt>
    <dgm:pt modelId="{A90C69EB-4850-4FBB-9986-DC480A9E6878}">
      <dgm:prSet/>
      <dgm:spPr/>
      <dgm:t>
        <a:bodyPr/>
        <a:lstStyle/>
        <a:p>
          <a:endParaRPr lang="en-IN"/>
        </a:p>
      </dgm:t>
    </dgm:pt>
    <dgm:pt modelId="{D1E1E699-16AF-4317-B93B-E151EFE1F6F1}" type="parTrans" cxnId="{D25BC761-F0D8-4FCB-A188-C6344A63F2DE}">
      <dgm:prSet/>
      <dgm:spPr/>
      <dgm:t>
        <a:bodyPr/>
        <a:lstStyle/>
        <a:p>
          <a:endParaRPr lang="en-IN"/>
        </a:p>
      </dgm:t>
    </dgm:pt>
    <dgm:pt modelId="{EC925075-89A5-4FF1-9FD4-04737D44743F}" type="sibTrans" cxnId="{D25BC761-F0D8-4FCB-A188-C6344A63F2DE}">
      <dgm:prSet/>
      <dgm:spPr/>
      <dgm:t>
        <a:bodyPr/>
        <a:lstStyle/>
        <a:p>
          <a:endParaRPr lang="en-IN"/>
        </a:p>
      </dgm:t>
    </dgm:pt>
    <dgm:pt modelId="{5DADBF02-0FBA-4017-BA9D-15C547725DFD}" type="pres">
      <dgm:prSet presAssocID="{0E948560-76E6-4175-914E-0067E6AC4F41}" presName="composite" presStyleCnt="0">
        <dgm:presLayoutVars>
          <dgm:chMax val="1"/>
          <dgm:dir/>
          <dgm:resizeHandles val="exact"/>
        </dgm:presLayoutVars>
      </dgm:prSet>
      <dgm:spPr/>
    </dgm:pt>
    <dgm:pt modelId="{73D48221-B147-4F38-A84D-C8321610F5AA}" type="pres">
      <dgm:prSet presAssocID="{CB7B28B8-A109-4951-BB04-24975650B99B}" presName="roof" presStyleLbl="dkBgShp" presStyleIdx="0" presStyleCnt="2" custScaleY="59649" custLinFactNeighborY="-73620"/>
      <dgm:spPr/>
    </dgm:pt>
    <dgm:pt modelId="{CBEBE116-8F2C-40CA-99D6-2C102C3976C7}" type="pres">
      <dgm:prSet presAssocID="{CB7B28B8-A109-4951-BB04-24975650B99B}" presName="pillars" presStyleCnt="0"/>
      <dgm:spPr/>
    </dgm:pt>
    <dgm:pt modelId="{EBBC783A-A9EB-4F18-BB21-CD53D94AC319}" type="pres">
      <dgm:prSet presAssocID="{CB7B28B8-A109-4951-BB04-24975650B99B}" presName="pillar1" presStyleLbl="node1" presStyleIdx="0" presStyleCnt="3" custScaleY="104483" custLinFactNeighborX="-147" custLinFactNeighborY="-13248">
        <dgm:presLayoutVars>
          <dgm:bulletEnabled val="1"/>
        </dgm:presLayoutVars>
      </dgm:prSet>
      <dgm:spPr/>
    </dgm:pt>
    <dgm:pt modelId="{11257174-C71A-4E65-9A24-80D91BE0CE57}" type="pres">
      <dgm:prSet presAssocID="{E3C381C7-E8D2-47DF-9431-DA03DE5FBDB3}" presName="pillarX" presStyleLbl="node1" presStyleIdx="1" presStyleCnt="3" custScaleY="102483" custLinFactNeighborX="-924" custLinFactNeighborY="-13450">
        <dgm:presLayoutVars>
          <dgm:bulletEnabled val="1"/>
        </dgm:presLayoutVars>
      </dgm:prSet>
      <dgm:spPr/>
    </dgm:pt>
    <dgm:pt modelId="{344B59F9-D4A3-49FD-8CEE-012EC147981B}" type="pres">
      <dgm:prSet presAssocID="{52BA76F0-D8DA-40A8-B12D-E725D827C8BA}" presName="pillarX" presStyleLbl="node1" presStyleIdx="2" presStyleCnt="3" custScaleY="104605" custLinFactNeighborX="-777" custLinFactNeighborY="-13450">
        <dgm:presLayoutVars>
          <dgm:bulletEnabled val="1"/>
        </dgm:presLayoutVars>
      </dgm:prSet>
      <dgm:spPr/>
    </dgm:pt>
    <dgm:pt modelId="{9C4FEA57-3F6F-4B07-8670-6A2171D9A624}" type="pres">
      <dgm:prSet presAssocID="{CB7B28B8-A109-4951-BB04-24975650B99B}" presName="base" presStyleLbl="dkBgShp" presStyleIdx="1" presStyleCnt="2" custLinFactY="-12383" custLinFactNeighborX="-13038" custLinFactNeighborY="-100000"/>
      <dgm:spPr/>
    </dgm:pt>
  </dgm:ptLst>
  <dgm:cxnLst>
    <dgm:cxn modelId="{2C590802-F686-45F2-A1D6-D887C2BBE58C}" type="presOf" srcId="{1A795698-26CB-41B1-BF41-2B5FD1E7A59E}" destId="{EBBC783A-A9EB-4F18-BB21-CD53D94AC319}" srcOrd="0" destOrd="0" presId="urn:microsoft.com/office/officeart/2005/8/layout/hList3"/>
    <dgm:cxn modelId="{1273260A-8609-4EA4-AC62-0DB16F186365}" srcId="{0E948560-76E6-4175-914E-0067E6AC4F41}" destId="{AD609559-8231-42D5-A571-57EC07852349}" srcOrd="1" destOrd="0" parTransId="{F40227A4-97E2-48CF-AAB5-8A983DC100E0}" sibTransId="{5B27314F-9BA3-46B4-B5EB-86CD7DE1B892}"/>
    <dgm:cxn modelId="{2ACDC928-A7EE-4654-9D48-11A13CC14BB7}" srcId="{CB7B28B8-A109-4951-BB04-24975650B99B}" destId="{52BA76F0-D8DA-40A8-B12D-E725D827C8BA}" srcOrd="2" destOrd="0" parTransId="{84A5FB7C-75F1-498C-A56B-4F788D6B32C5}" sibTransId="{885189A0-0883-4D7E-BBD4-A652A7D7B9C8}"/>
    <dgm:cxn modelId="{6F121941-3B2D-4265-9803-082539300FA4}" type="presOf" srcId="{E3C381C7-E8D2-47DF-9431-DA03DE5FBDB3}" destId="{11257174-C71A-4E65-9A24-80D91BE0CE57}" srcOrd="0" destOrd="0" presId="urn:microsoft.com/office/officeart/2005/8/layout/hList3"/>
    <dgm:cxn modelId="{D25BC761-F0D8-4FCB-A188-C6344A63F2DE}" srcId="{0E948560-76E6-4175-914E-0067E6AC4F41}" destId="{A90C69EB-4850-4FBB-9986-DC480A9E6878}" srcOrd="2" destOrd="0" parTransId="{D1E1E699-16AF-4317-B93B-E151EFE1F6F1}" sibTransId="{EC925075-89A5-4FF1-9FD4-04737D44743F}"/>
    <dgm:cxn modelId="{2DAB4065-120E-4D26-9127-6C319E069A3B}" type="presOf" srcId="{52BA76F0-D8DA-40A8-B12D-E725D827C8BA}" destId="{344B59F9-D4A3-49FD-8CEE-012EC147981B}" srcOrd="0" destOrd="0" presId="urn:microsoft.com/office/officeart/2005/8/layout/hList3"/>
    <dgm:cxn modelId="{81829C79-45BC-483A-AC54-D449758E7D1C}" srcId="{CB7B28B8-A109-4951-BB04-24975650B99B}" destId="{1A795698-26CB-41B1-BF41-2B5FD1E7A59E}" srcOrd="0" destOrd="0" parTransId="{15B083B3-099A-4E76-857C-C9F6AF60FD59}" sibTransId="{73209EC8-CA94-499C-9584-1B37775343EA}"/>
    <dgm:cxn modelId="{072868A0-0DF2-46D8-B263-A5A163C23CCC}" srcId="{CB7B28B8-A109-4951-BB04-24975650B99B}" destId="{E3C381C7-E8D2-47DF-9431-DA03DE5FBDB3}" srcOrd="1" destOrd="0" parTransId="{6E7B7644-0B38-438A-86A8-7A1C4AC361A1}" sibTransId="{E8DB332C-DFF1-4F03-BE66-A78B8FAA24E7}"/>
    <dgm:cxn modelId="{A8F06EA6-5ADB-4C96-8724-EC7634CE81EC}" type="presOf" srcId="{0E948560-76E6-4175-914E-0067E6AC4F41}" destId="{5DADBF02-0FBA-4017-BA9D-15C547725DFD}" srcOrd="0" destOrd="0" presId="urn:microsoft.com/office/officeart/2005/8/layout/hList3"/>
    <dgm:cxn modelId="{E8A625DF-A3A2-47C4-8FE5-E65B6178FE61}" type="presOf" srcId="{CB7B28B8-A109-4951-BB04-24975650B99B}" destId="{73D48221-B147-4F38-A84D-C8321610F5AA}" srcOrd="0" destOrd="0" presId="urn:microsoft.com/office/officeart/2005/8/layout/hList3"/>
    <dgm:cxn modelId="{F93010F3-EE7E-4EB7-98A1-700192015423}" srcId="{0E948560-76E6-4175-914E-0067E6AC4F41}" destId="{CB7B28B8-A109-4951-BB04-24975650B99B}" srcOrd="0" destOrd="0" parTransId="{B371FF80-75A9-499D-9D0F-4F6A39BB022E}" sibTransId="{5A147078-DF66-45E3-A135-DE740833F9E1}"/>
    <dgm:cxn modelId="{042A9833-3257-43A5-B5AE-EF6EE72FC01D}" type="presParOf" srcId="{5DADBF02-0FBA-4017-BA9D-15C547725DFD}" destId="{73D48221-B147-4F38-A84D-C8321610F5AA}" srcOrd="0" destOrd="0" presId="urn:microsoft.com/office/officeart/2005/8/layout/hList3"/>
    <dgm:cxn modelId="{5B613D96-B389-4852-B481-5ADEA46CD746}" type="presParOf" srcId="{5DADBF02-0FBA-4017-BA9D-15C547725DFD}" destId="{CBEBE116-8F2C-40CA-99D6-2C102C3976C7}" srcOrd="1" destOrd="0" presId="urn:microsoft.com/office/officeart/2005/8/layout/hList3"/>
    <dgm:cxn modelId="{2423BF0C-A06B-41EE-824C-B77B3E033A83}" type="presParOf" srcId="{CBEBE116-8F2C-40CA-99D6-2C102C3976C7}" destId="{EBBC783A-A9EB-4F18-BB21-CD53D94AC319}" srcOrd="0" destOrd="0" presId="urn:microsoft.com/office/officeart/2005/8/layout/hList3"/>
    <dgm:cxn modelId="{9C738E2B-DE92-4D88-8967-35A2C6A589EF}" type="presParOf" srcId="{CBEBE116-8F2C-40CA-99D6-2C102C3976C7}" destId="{11257174-C71A-4E65-9A24-80D91BE0CE57}" srcOrd="1" destOrd="0" presId="urn:microsoft.com/office/officeart/2005/8/layout/hList3"/>
    <dgm:cxn modelId="{87CA3A7E-4E17-4FC3-B364-E46C362DC6EE}" type="presParOf" srcId="{CBEBE116-8F2C-40CA-99D6-2C102C3976C7}" destId="{344B59F9-D4A3-49FD-8CEE-012EC147981B}" srcOrd="2" destOrd="0" presId="urn:microsoft.com/office/officeart/2005/8/layout/hList3"/>
    <dgm:cxn modelId="{771A485F-7F2F-45D8-B5A3-46BCB4615C2E}" type="presParOf" srcId="{5DADBF02-0FBA-4017-BA9D-15C547725DFD}" destId="{9C4FEA57-3F6F-4B07-8670-6A2171D9A624}"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2C5A6B-DED9-4D09-8326-0163D5CC0BB4}" type="doc">
      <dgm:prSet loTypeId="urn:microsoft.com/office/officeart/2009/layout/CircleArrowProcess" loCatId="process" qsTypeId="urn:microsoft.com/office/officeart/2005/8/quickstyle/simple1" qsCatId="simple" csTypeId="urn:microsoft.com/office/officeart/2005/8/colors/accent1_2" csCatId="accent1" phldr="1"/>
      <dgm:spPr/>
      <dgm:t>
        <a:bodyPr/>
        <a:lstStyle/>
        <a:p>
          <a:endParaRPr lang="en-IN"/>
        </a:p>
      </dgm:t>
    </dgm:pt>
    <dgm:pt modelId="{9ACE00ED-06E3-413F-B1DF-9B98B9822E1B}">
      <dgm:prSet phldrT="[Text]" custT="1"/>
      <dgm:spPr/>
      <dgm:t>
        <a:bodyPr/>
        <a:lstStyle/>
        <a:p>
          <a:r>
            <a:rPr lang="en-US" sz="1600" dirty="0"/>
            <a:t>Highly</a:t>
          </a:r>
          <a:r>
            <a:rPr lang="en-US" sz="1600" baseline="0" dirty="0"/>
            <a:t> Variable Genes</a:t>
          </a:r>
          <a:endParaRPr lang="en-IN" sz="1600" dirty="0"/>
        </a:p>
      </dgm:t>
    </dgm:pt>
    <dgm:pt modelId="{558B35B3-8C54-4031-897D-01CE9DB7B468}" type="parTrans" cxnId="{7FB1610E-8332-4B2D-9F8D-D5DF643D1BD4}">
      <dgm:prSet/>
      <dgm:spPr/>
      <dgm:t>
        <a:bodyPr/>
        <a:lstStyle/>
        <a:p>
          <a:endParaRPr lang="en-IN"/>
        </a:p>
      </dgm:t>
    </dgm:pt>
    <dgm:pt modelId="{87C35797-937E-41FF-9F28-D9A5D6B7E1A1}" type="sibTrans" cxnId="{7FB1610E-8332-4B2D-9F8D-D5DF643D1BD4}">
      <dgm:prSet/>
      <dgm:spPr/>
      <dgm:t>
        <a:bodyPr/>
        <a:lstStyle/>
        <a:p>
          <a:endParaRPr lang="en-IN"/>
        </a:p>
      </dgm:t>
    </dgm:pt>
    <dgm:pt modelId="{F127191B-96CF-4E67-87F9-24BEAB4E1D34}">
      <dgm:prSet phldrT="[Text]" custT="1"/>
      <dgm:spPr/>
      <dgm:t>
        <a:bodyPr/>
        <a:lstStyle/>
        <a:p>
          <a:r>
            <a:rPr lang="en-US" sz="1600" b="0" i="0" dirty="0">
              <a:solidFill>
                <a:srgbClr val="1F2937"/>
              </a:solidFill>
              <a:effectLst/>
              <a:latin typeface="+mn-lt"/>
            </a:rPr>
            <a:t>Methods for Feature Selection</a:t>
          </a:r>
          <a:endParaRPr lang="en-IN" sz="1600" b="0" dirty="0">
            <a:latin typeface="+mn-lt"/>
          </a:endParaRPr>
        </a:p>
      </dgm:t>
    </dgm:pt>
    <dgm:pt modelId="{91DDB6FF-E990-47F7-BF55-2B4DFE5C4B5D}" type="parTrans" cxnId="{84846889-3E81-4623-9FD2-20B38E210B0E}">
      <dgm:prSet/>
      <dgm:spPr/>
      <dgm:t>
        <a:bodyPr/>
        <a:lstStyle/>
        <a:p>
          <a:endParaRPr lang="en-IN"/>
        </a:p>
      </dgm:t>
    </dgm:pt>
    <dgm:pt modelId="{62B15C39-0FAB-4B86-AE91-B66F15317CF5}" type="sibTrans" cxnId="{84846889-3E81-4623-9FD2-20B38E210B0E}">
      <dgm:prSet/>
      <dgm:spPr/>
      <dgm:t>
        <a:bodyPr/>
        <a:lstStyle/>
        <a:p>
          <a:endParaRPr lang="en-IN"/>
        </a:p>
      </dgm:t>
    </dgm:pt>
    <dgm:pt modelId="{6EE30A1A-0543-43A1-86AD-547F397E7249}">
      <dgm:prSet phldrT="[Text]" custT="1"/>
      <dgm:spPr/>
      <dgm:t>
        <a:bodyPr/>
        <a:lstStyle/>
        <a:p>
          <a:r>
            <a:rPr lang="en-IN" sz="1600" b="0" i="0" dirty="0">
              <a:solidFill>
                <a:srgbClr val="1F2937"/>
              </a:solidFill>
              <a:effectLst/>
              <a:latin typeface="+mn-lt"/>
            </a:rPr>
            <a:t>Tools and Techniques</a:t>
          </a:r>
          <a:endParaRPr lang="en-IN" sz="1600" b="0" dirty="0">
            <a:latin typeface="+mn-lt"/>
          </a:endParaRPr>
        </a:p>
      </dgm:t>
    </dgm:pt>
    <dgm:pt modelId="{1B23E1D6-5B68-444B-B708-1DD97DA37DBD}" type="parTrans" cxnId="{BEE11BF3-FE09-44DE-8180-DF32FD0EF5BA}">
      <dgm:prSet/>
      <dgm:spPr/>
      <dgm:t>
        <a:bodyPr/>
        <a:lstStyle/>
        <a:p>
          <a:endParaRPr lang="en-IN"/>
        </a:p>
      </dgm:t>
    </dgm:pt>
    <dgm:pt modelId="{0BAE2BD4-60B0-42FC-8E2B-D9C353C2F253}" type="sibTrans" cxnId="{BEE11BF3-FE09-44DE-8180-DF32FD0EF5BA}">
      <dgm:prSet/>
      <dgm:spPr/>
      <dgm:t>
        <a:bodyPr/>
        <a:lstStyle/>
        <a:p>
          <a:endParaRPr lang="en-IN"/>
        </a:p>
      </dgm:t>
    </dgm:pt>
    <dgm:pt modelId="{2AB6459B-04B3-4975-8FFE-28B41C856606}" type="pres">
      <dgm:prSet presAssocID="{342C5A6B-DED9-4D09-8326-0163D5CC0BB4}" presName="Name0" presStyleCnt="0">
        <dgm:presLayoutVars>
          <dgm:chMax val="7"/>
          <dgm:chPref val="7"/>
          <dgm:dir/>
          <dgm:animLvl val="lvl"/>
        </dgm:presLayoutVars>
      </dgm:prSet>
      <dgm:spPr/>
    </dgm:pt>
    <dgm:pt modelId="{E1114C74-3A6E-4659-83A5-4DF83313ACB8}" type="pres">
      <dgm:prSet presAssocID="{9ACE00ED-06E3-413F-B1DF-9B98B9822E1B}" presName="Accent1" presStyleCnt="0"/>
      <dgm:spPr/>
    </dgm:pt>
    <dgm:pt modelId="{30088BE5-77D2-4398-A508-FEDE118824DA}" type="pres">
      <dgm:prSet presAssocID="{9ACE00ED-06E3-413F-B1DF-9B98B9822E1B}" presName="Accent" presStyleLbl="node1" presStyleIdx="0" presStyleCnt="3"/>
      <dgm:spPr/>
    </dgm:pt>
    <dgm:pt modelId="{0D70098A-E97F-4316-86B3-C2CAA868944C}" type="pres">
      <dgm:prSet presAssocID="{9ACE00ED-06E3-413F-B1DF-9B98B9822E1B}" presName="Parent1" presStyleLbl="revTx" presStyleIdx="0" presStyleCnt="3">
        <dgm:presLayoutVars>
          <dgm:chMax val="1"/>
          <dgm:chPref val="1"/>
          <dgm:bulletEnabled val="1"/>
        </dgm:presLayoutVars>
      </dgm:prSet>
      <dgm:spPr/>
    </dgm:pt>
    <dgm:pt modelId="{A653DD82-BE87-48C3-8070-6CA195711534}" type="pres">
      <dgm:prSet presAssocID="{F127191B-96CF-4E67-87F9-24BEAB4E1D34}" presName="Accent2" presStyleCnt="0"/>
      <dgm:spPr/>
    </dgm:pt>
    <dgm:pt modelId="{EA1D5FAD-FF5D-4247-BE26-4E41D8BDCB7E}" type="pres">
      <dgm:prSet presAssocID="{F127191B-96CF-4E67-87F9-24BEAB4E1D34}" presName="Accent" presStyleLbl="node1" presStyleIdx="1" presStyleCnt="3"/>
      <dgm:spPr/>
    </dgm:pt>
    <dgm:pt modelId="{54D95FD7-D7F9-4210-BA5E-2E4AC3F485EF}" type="pres">
      <dgm:prSet presAssocID="{F127191B-96CF-4E67-87F9-24BEAB4E1D34}" presName="Parent2" presStyleLbl="revTx" presStyleIdx="1" presStyleCnt="3">
        <dgm:presLayoutVars>
          <dgm:chMax val="1"/>
          <dgm:chPref val="1"/>
          <dgm:bulletEnabled val="1"/>
        </dgm:presLayoutVars>
      </dgm:prSet>
      <dgm:spPr/>
    </dgm:pt>
    <dgm:pt modelId="{CFDEB9D2-0525-4450-92F8-FCC1C878B444}" type="pres">
      <dgm:prSet presAssocID="{6EE30A1A-0543-43A1-86AD-547F397E7249}" presName="Accent3" presStyleCnt="0"/>
      <dgm:spPr/>
    </dgm:pt>
    <dgm:pt modelId="{82189A4D-8705-4711-BE3E-FF5C322AED54}" type="pres">
      <dgm:prSet presAssocID="{6EE30A1A-0543-43A1-86AD-547F397E7249}" presName="Accent" presStyleLbl="node1" presStyleIdx="2" presStyleCnt="3"/>
      <dgm:spPr/>
    </dgm:pt>
    <dgm:pt modelId="{FD5B0F98-A3F8-4431-BF5C-6E80C1072A59}" type="pres">
      <dgm:prSet presAssocID="{6EE30A1A-0543-43A1-86AD-547F397E7249}" presName="Parent3" presStyleLbl="revTx" presStyleIdx="2" presStyleCnt="3">
        <dgm:presLayoutVars>
          <dgm:chMax val="1"/>
          <dgm:chPref val="1"/>
          <dgm:bulletEnabled val="1"/>
        </dgm:presLayoutVars>
      </dgm:prSet>
      <dgm:spPr/>
    </dgm:pt>
  </dgm:ptLst>
  <dgm:cxnLst>
    <dgm:cxn modelId="{7FB1610E-8332-4B2D-9F8D-D5DF643D1BD4}" srcId="{342C5A6B-DED9-4D09-8326-0163D5CC0BB4}" destId="{9ACE00ED-06E3-413F-B1DF-9B98B9822E1B}" srcOrd="0" destOrd="0" parTransId="{558B35B3-8C54-4031-897D-01CE9DB7B468}" sibTransId="{87C35797-937E-41FF-9F28-D9A5D6B7E1A1}"/>
    <dgm:cxn modelId="{7F9E2E21-C5F8-4F87-BB1D-6334BDD2C117}" type="presOf" srcId="{342C5A6B-DED9-4D09-8326-0163D5CC0BB4}" destId="{2AB6459B-04B3-4975-8FFE-28B41C856606}" srcOrd="0" destOrd="0" presId="urn:microsoft.com/office/officeart/2009/layout/CircleArrowProcess"/>
    <dgm:cxn modelId="{AD114C55-698F-4556-989D-15A21F877ED7}" type="presOf" srcId="{9ACE00ED-06E3-413F-B1DF-9B98B9822E1B}" destId="{0D70098A-E97F-4316-86B3-C2CAA868944C}" srcOrd="0" destOrd="0" presId="urn:microsoft.com/office/officeart/2009/layout/CircleArrowProcess"/>
    <dgm:cxn modelId="{8A18DA80-C249-4EA5-92F0-DE12D2285C7A}" type="presOf" srcId="{6EE30A1A-0543-43A1-86AD-547F397E7249}" destId="{FD5B0F98-A3F8-4431-BF5C-6E80C1072A59}" srcOrd="0" destOrd="0" presId="urn:microsoft.com/office/officeart/2009/layout/CircleArrowProcess"/>
    <dgm:cxn modelId="{84846889-3E81-4623-9FD2-20B38E210B0E}" srcId="{342C5A6B-DED9-4D09-8326-0163D5CC0BB4}" destId="{F127191B-96CF-4E67-87F9-24BEAB4E1D34}" srcOrd="1" destOrd="0" parTransId="{91DDB6FF-E990-47F7-BF55-2B4DFE5C4B5D}" sibTransId="{62B15C39-0FAB-4B86-AE91-B66F15317CF5}"/>
    <dgm:cxn modelId="{5FA87BAB-9DA3-4EBD-B3D4-E4A740439D35}" type="presOf" srcId="{F127191B-96CF-4E67-87F9-24BEAB4E1D34}" destId="{54D95FD7-D7F9-4210-BA5E-2E4AC3F485EF}" srcOrd="0" destOrd="0" presId="urn:microsoft.com/office/officeart/2009/layout/CircleArrowProcess"/>
    <dgm:cxn modelId="{BEE11BF3-FE09-44DE-8180-DF32FD0EF5BA}" srcId="{342C5A6B-DED9-4D09-8326-0163D5CC0BB4}" destId="{6EE30A1A-0543-43A1-86AD-547F397E7249}" srcOrd="2" destOrd="0" parTransId="{1B23E1D6-5B68-444B-B708-1DD97DA37DBD}" sibTransId="{0BAE2BD4-60B0-42FC-8E2B-D9C353C2F253}"/>
    <dgm:cxn modelId="{A7E88C40-21E0-4E03-B5AC-1899D020A0A9}" type="presParOf" srcId="{2AB6459B-04B3-4975-8FFE-28B41C856606}" destId="{E1114C74-3A6E-4659-83A5-4DF83313ACB8}" srcOrd="0" destOrd="0" presId="urn:microsoft.com/office/officeart/2009/layout/CircleArrowProcess"/>
    <dgm:cxn modelId="{D8177059-FCC5-405A-9624-36E0DF1C9F3B}" type="presParOf" srcId="{E1114C74-3A6E-4659-83A5-4DF83313ACB8}" destId="{30088BE5-77D2-4398-A508-FEDE118824DA}" srcOrd="0" destOrd="0" presId="urn:microsoft.com/office/officeart/2009/layout/CircleArrowProcess"/>
    <dgm:cxn modelId="{779A646B-63EF-475E-B008-42CFCA815DE4}" type="presParOf" srcId="{2AB6459B-04B3-4975-8FFE-28B41C856606}" destId="{0D70098A-E97F-4316-86B3-C2CAA868944C}" srcOrd="1" destOrd="0" presId="urn:microsoft.com/office/officeart/2009/layout/CircleArrowProcess"/>
    <dgm:cxn modelId="{4A3F3708-D37B-4477-9B1C-7CCABC4796C4}" type="presParOf" srcId="{2AB6459B-04B3-4975-8FFE-28B41C856606}" destId="{A653DD82-BE87-48C3-8070-6CA195711534}" srcOrd="2" destOrd="0" presId="urn:microsoft.com/office/officeart/2009/layout/CircleArrowProcess"/>
    <dgm:cxn modelId="{DAF77B58-F815-4BE7-B272-548377D2A981}" type="presParOf" srcId="{A653DD82-BE87-48C3-8070-6CA195711534}" destId="{EA1D5FAD-FF5D-4247-BE26-4E41D8BDCB7E}" srcOrd="0" destOrd="0" presId="urn:microsoft.com/office/officeart/2009/layout/CircleArrowProcess"/>
    <dgm:cxn modelId="{E3946F24-FC7F-4171-9C71-E88149ABE1AF}" type="presParOf" srcId="{2AB6459B-04B3-4975-8FFE-28B41C856606}" destId="{54D95FD7-D7F9-4210-BA5E-2E4AC3F485EF}" srcOrd="3" destOrd="0" presId="urn:microsoft.com/office/officeart/2009/layout/CircleArrowProcess"/>
    <dgm:cxn modelId="{92871CD7-2CCD-48C8-B041-8C3B6F1524C7}" type="presParOf" srcId="{2AB6459B-04B3-4975-8FFE-28B41C856606}" destId="{CFDEB9D2-0525-4450-92F8-FCC1C878B444}" srcOrd="4" destOrd="0" presId="urn:microsoft.com/office/officeart/2009/layout/CircleArrowProcess"/>
    <dgm:cxn modelId="{68DF48FB-74E3-4403-999E-2F53E94C0CBF}" type="presParOf" srcId="{CFDEB9D2-0525-4450-92F8-FCC1C878B444}" destId="{82189A4D-8705-4711-BE3E-FF5C322AED54}" srcOrd="0" destOrd="0" presId="urn:microsoft.com/office/officeart/2009/layout/CircleArrowProcess"/>
    <dgm:cxn modelId="{BD97829E-DE85-404B-A2D8-AF4C32183FAA}" type="presParOf" srcId="{2AB6459B-04B3-4975-8FFE-28B41C856606}" destId="{FD5B0F98-A3F8-4431-BF5C-6E80C1072A59}" srcOrd="5"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D48221-B147-4F38-A84D-C8321610F5AA}">
      <dsp:nvSpPr>
        <dsp:cNvPr id="0" name=""/>
        <dsp:cNvSpPr/>
      </dsp:nvSpPr>
      <dsp:spPr>
        <a:xfrm>
          <a:off x="0" y="0"/>
          <a:ext cx="12229514" cy="1363156"/>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latin typeface="Algerian" panose="04020705040A02060702" pitchFamily="82" charset="0"/>
            </a:rPr>
            <a:t>Pre-Processing       Quality Control        Normalization</a:t>
          </a:r>
          <a:endParaRPr lang="en-IN" sz="3200" kern="1200" dirty="0">
            <a:latin typeface="Algerian" panose="04020705040A02060702" pitchFamily="82" charset="0"/>
          </a:endParaRPr>
        </a:p>
      </dsp:txBody>
      <dsp:txXfrm>
        <a:off x="0" y="0"/>
        <a:ext cx="12229514" cy="1363156"/>
      </dsp:txXfrm>
    </dsp:sp>
    <dsp:sp modelId="{EBBC783A-A9EB-4F18-BB21-CD53D94AC319}">
      <dsp:nvSpPr>
        <dsp:cNvPr id="0" name=""/>
        <dsp:cNvSpPr/>
      </dsp:nvSpPr>
      <dsp:spPr>
        <a:xfrm>
          <a:off x="0" y="1311401"/>
          <a:ext cx="4072523" cy="5014266"/>
        </a:xfrm>
        <a:prstGeom prst="rect">
          <a:avLst/>
        </a:prstGeom>
        <a:solidFill>
          <a:srgbClr val="FFCCCC"/>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endParaRPr lang="en-IN" sz="2000" kern="1200" dirty="0">
            <a:latin typeface="Times New Roman" panose="02020603050405020304" pitchFamily="18" charset="0"/>
            <a:cs typeface="Times New Roman" panose="02020603050405020304" pitchFamily="18" charset="0"/>
          </a:endParaRPr>
        </a:p>
        <a:p>
          <a:pPr marL="0" lvl="0" indent="0" algn="ctr" defTabSz="889000">
            <a:lnSpc>
              <a:spcPct val="90000"/>
            </a:lnSpc>
            <a:spcBef>
              <a:spcPct val="0"/>
            </a:spcBef>
            <a:spcAft>
              <a:spcPct val="35000"/>
            </a:spcAft>
            <a:buFont typeface="Arial" panose="020B0604020202020204" pitchFamily="34" charset="0"/>
            <a:buNone/>
          </a:pPr>
          <a:r>
            <a:rPr lang="en-IN" sz="2000" kern="1200" dirty="0">
              <a:latin typeface="Times New Roman" panose="02020603050405020304" pitchFamily="18" charset="0"/>
              <a:cs typeface="Times New Roman" panose="02020603050405020304" pitchFamily="18" charset="0"/>
            </a:rPr>
            <a:t>Read alignment &amp;  Barcode filtering,  UMI quantification</a:t>
          </a:r>
        </a:p>
        <a:p>
          <a:pPr marL="0" lvl="0" indent="0" algn="ctr" defTabSz="889000">
            <a:lnSpc>
              <a:spcPct val="90000"/>
            </a:lnSpc>
            <a:spcBef>
              <a:spcPct val="0"/>
            </a:spcBef>
            <a:spcAft>
              <a:spcPct val="35000"/>
            </a:spcAft>
            <a:buFont typeface="Arial" panose="020B0604020202020204" pitchFamily="34" charset="0"/>
            <a:buNone/>
          </a:pPr>
          <a:endParaRPr lang="en-IN" sz="2000" kern="1200" dirty="0">
            <a:latin typeface="Times New Roman" panose="02020603050405020304" pitchFamily="18" charset="0"/>
            <a:cs typeface="Times New Roman" panose="02020603050405020304" pitchFamily="18" charset="0"/>
          </a:endParaRPr>
        </a:p>
        <a:p>
          <a:pPr marL="0" lvl="0" indent="0" algn="ctr" defTabSz="889000">
            <a:lnSpc>
              <a:spcPct val="90000"/>
            </a:lnSpc>
            <a:spcBef>
              <a:spcPct val="0"/>
            </a:spcBef>
            <a:spcAft>
              <a:spcPct val="35000"/>
            </a:spcAft>
            <a:buFont typeface="Arial" panose="020B0604020202020204" pitchFamily="34" charset="0"/>
            <a:buNone/>
          </a:pPr>
          <a:r>
            <a:rPr lang="en-IN" sz="2000" kern="1200" dirty="0">
              <a:latin typeface="Times New Roman" panose="02020603050405020304" pitchFamily="18" charset="0"/>
              <a:cs typeface="Times New Roman" panose="02020603050405020304" pitchFamily="18" charset="0"/>
            </a:rPr>
            <a:t>Handles sparsely expressed genes (also known as Dropouts) </a:t>
          </a:r>
        </a:p>
        <a:p>
          <a:pPr marL="0" lvl="0" indent="0" algn="ctr" defTabSz="889000">
            <a:lnSpc>
              <a:spcPct val="90000"/>
            </a:lnSpc>
            <a:spcBef>
              <a:spcPct val="0"/>
            </a:spcBef>
            <a:spcAft>
              <a:spcPct val="35000"/>
            </a:spcAft>
            <a:buFont typeface="Arial" panose="020B0604020202020204" pitchFamily="34" charset="0"/>
            <a:buNone/>
          </a:pPr>
          <a:endParaRPr lang="en-IN" sz="2000" kern="1200" dirty="0">
            <a:latin typeface="Times New Roman" panose="02020603050405020304" pitchFamily="18" charset="0"/>
            <a:cs typeface="Times New Roman" panose="02020603050405020304" pitchFamily="18" charset="0"/>
          </a:endParaRPr>
        </a:p>
        <a:p>
          <a:pPr marL="0" lvl="0" indent="0" algn="ctr" defTabSz="889000">
            <a:lnSpc>
              <a:spcPct val="90000"/>
            </a:lnSpc>
            <a:spcBef>
              <a:spcPct val="0"/>
            </a:spcBef>
            <a:spcAft>
              <a:spcPct val="35000"/>
            </a:spcAft>
            <a:buFont typeface="Symbol" panose="05050102010706020507" pitchFamily="18" charset="2"/>
            <a:buNone/>
          </a:pPr>
          <a:r>
            <a:rPr lang="en-IN" sz="2000" kern="1200" dirty="0">
              <a:latin typeface="Times New Roman" panose="02020603050405020304" pitchFamily="18" charset="0"/>
              <a:cs typeface="Times New Roman" panose="02020603050405020304" pitchFamily="18" charset="0"/>
            </a:rPr>
            <a:t>Noise from technical variations (e.g., amplification, sequencing depth).</a:t>
          </a:r>
        </a:p>
        <a:p>
          <a:pPr marL="0" lvl="0" indent="0" algn="ctr" defTabSz="889000">
            <a:lnSpc>
              <a:spcPct val="90000"/>
            </a:lnSpc>
            <a:spcBef>
              <a:spcPct val="0"/>
            </a:spcBef>
            <a:spcAft>
              <a:spcPct val="35000"/>
            </a:spcAft>
            <a:buFont typeface="Symbol" panose="05050102010706020507" pitchFamily="18" charset="2"/>
            <a:buNone/>
          </a:pPr>
          <a:r>
            <a:rPr lang="en-IN" sz="2000" kern="1200" dirty="0">
              <a:latin typeface="Times New Roman" panose="02020603050405020304" pitchFamily="18" charset="0"/>
              <a:cs typeface="Times New Roman" panose="02020603050405020304" pitchFamily="18" charset="0"/>
            </a:rPr>
            <a:t> </a:t>
          </a:r>
        </a:p>
        <a:p>
          <a:pPr marL="0" lvl="0" indent="0" algn="ctr" defTabSz="889000">
            <a:lnSpc>
              <a:spcPct val="90000"/>
            </a:lnSpc>
            <a:spcBef>
              <a:spcPct val="0"/>
            </a:spcBef>
            <a:spcAft>
              <a:spcPct val="35000"/>
            </a:spcAft>
            <a:buFont typeface="Symbol" panose="05050102010706020507" pitchFamily="18" charset="2"/>
            <a:buNone/>
          </a:pPr>
          <a:r>
            <a:rPr lang="en-IN" sz="2000" kern="1200" dirty="0">
              <a:latin typeface="Times New Roman" panose="02020603050405020304" pitchFamily="18" charset="0"/>
              <a:cs typeface="Times New Roman" panose="02020603050405020304" pitchFamily="18" charset="0"/>
            </a:rPr>
            <a:t>Variability in RNA, difficult to differ from technical noise (Heterogeneity)</a:t>
          </a:r>
        </a:p>
      </dsp:txBody>
      <dsp:txXfrm>
        <a:off x="0" y="1311401"/>
        <a:ext cx="4072523" cy="5014266"/>
      </dsp:txXfrm>
    </dsp:sp>
    <dsp:sp modelId="{11257174-C71A-4E65-9A24-80D91BE0CE57}">
      <dsp:nvSpPr>
        <dsp:cNvPr id="0" name=""/>
        <dsp:cNvSpPr/>
      </dsp:nvSpPr>
      <dsp:spPr>
        <a:xfrm>
          <a:off x="4040865" y="1349698"/>
          <a:ext cx="4072523" cy="4918284"/>
        </a:xfrm>
        <a:prstGeom prst="rect">
          <a:avLst/>
        </a:prstGeom>
        <a:solidFill>
          <a:srgbClr val="FFFF66"/>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Filter cells, Filter genes.</a:t>
          </a:r>
        </a:p>
        <a:p>
          <a:pPr marL="0" lvl="0" indent="0" algn="ctr" defTabSz="889000">
            <a:lnSpc>
              <a:spcPct val="90000"/>
            </a:lnSpc>
            <a:spcBef>
              <a:spcPct val="0"/>
            </a:spcBef>
            <a:spcAft>
              <a:spcPct val="35000"/>
            </a:spcAft>
            <a:buNone/>
          </a:pPr>
          <a:endParaRPr lang="en-IN" sz="2000" kern="1200" dirty="0">
            <a:latin typeface="Times New Roman" panose="02020603050405020304" pitchFamily="18" charset="0"/>
            <a:cs typeface="Times New Roman" panose="02020603050405020304" pitchFamily="18" charset="0"/>
          </a:endParaRPr>
        </a:p>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Distinguish high-quality cells and low-quality cells (e.g., doublets, empty droplets, damaged cells).</a:t>
          </a:r>
        </a:p>
        <a:p>
          <a:pPr marL="0" lvl="0" indent="0" algn="ctr" defTabSz="889000">
            <a:lnSpc>
              <a:spcPct val="90000"/>
            </a:lnSpc>
            <a:spcBef>
              <a:spcPct val="0"/>
            </a:spcBef>
            <a:spcAft>
              <a:spcPct val="35000"/>
            </a:spcAft>
            <a:buNone/>
          </a:pPr>
          <a:endParaRPr lang="en-IN" sz="2000" kern="1200" dirty="0">
            <a:latin typeface="Times New Roman" panose="02020603050405020304" pitchFamily="18" charset="0"/>
            <a:cs typeface="Times New Roman" panose="02020603050405020304" pitchFamily="18" charset="0"/>
          </a:endParaRPr>
        </a:p>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 High dropout rates also obscure the true expression of low-abundance genes.</a:t>
          </a:r>
        </a:p>
      </dsp:txBody>
      <dsp:txXfrm>
        <a:off x="4040865" y="1349698"/>
        <a:ext cx="4072523" cy="4918284"/>
      </dsp:txXfrm>
    </dsp:sp>
    <dsp:sp modelId="{344B59F9-D4A3-49FD-8CEE-012EC147981B}">
      <dsp:nvSpPr>
        <dsp:cNvPr id="0" name=""/>
        <dsp:cNvSpPr/>
      </dsp:nvSpPr>
      <dsp:spPr>
        <a:xfrm>
          <a:off x="8119375" y="1298779"/>
          <a:ext cx="4072523" cy="5020121"/>
        </a:xfrm>
        <a:prstGeom prst="rect">
          <a:avLst/>
        </a:prstGeom>
        <a:solidFill>
          <a:srgbClr val="FFFFFF"/>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Handles technical variations and biases</a:t>
          </a:r>
        </a:p>
        <a:p>
          <a:pPr marL="0" lvl="0" indent="0" algn="ctr" defTabSz="889000">
            <a:lnSpc>
              <a:spcPct val="90000"/>
            </a:lnSpc>
            <a:spcBef>
              <a:spcPct val="0"/>
            </a:spcBef>
            <a:spcAft>
              <a:spcPct val="35000"/>
            </a:spcAft>
            <a:buNone/>
          </a:pPr>
          <a:endParaRPr lang="en-IN" sz="2000" kern="1200" dirty="0">
            <a:latin typeface="Times New Roman" panose="02020603050405020304" pitchFamily="18" charset="0"/>
            <a:cs typeface="Times New Roman" panose="02020603050405020304" pitchFamily="18" charset="0"/>
          </a:endParaRPr>
        </a:p>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adjusting for differences in sequencing depth, </a:t>
          </a:r>
          <a:r>
            <a:rPr lang="en-IN" sz="2000" kern="1200" dirty="0">
              <a:latin typeface="Times New Roman" panose="02020603050405020304" pitchFamily="18" charset="0"/>
              <a:cs typeface="Times New Roman" panose="02020603050405020304" pitchFamily="18" charset="0"/>
            </a:rPr>
            <a:t>dropout events </a:t>
          </a:r>
          <a:r>
            <a:rPr lang="en-US" sz="2000" kern="1200" dirty="0">
              <a:latin typeface="Times New Roman" panose="02020603050405020304" pitchFamily="18" charset="0"/>
              <a:cs typeface="Times New Roman" panose="02020603050405020304" pitchFamily="18" charset="0"/>
            </a:rPr>
            <a:t>or technical variation</a:t>
          </a:r>
        </a:p>
        <a:p>
          <a:pPr marL="0" lvl="0" indent="0" algn="ctr" defTabSz="889000">
            <a:lnSpc>
              <a:spcPct val="90000"/>
            </a:lnSpc>
            <a:spcBef>
              <a:spcPct val="0"/>
            </a:spcBef>
            <a:spcAft>
              <a:spcPct val="35000"/>
            </a:spcAft>
            <a:buNone/>
          </a:pPr>
          <a:endParaRPr lang="en-IN" sz="2000" kern="1200" dirty="0">
            <a:latin typeface="Times New Roman" panose="02020603050405020304" pitchFamily="18" charset="0"/>
            <a:cs typeface="Times New Roman" panose="02020603050405020304" pitchFamily="18" charset="0"/>
          </a:endParaRPr>
        </a:p>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Allows Meaningful comparison between cells, allows accurate identification of differentially expressed genes and cell types.</a:t>
          </a:r>
        </a:p>
      </dsp:txBody>
      <dsp:txXfrm>
        <a:off x="8119375" y="1298779"/>
        <a:ext cx="4072523" cy="5020121"/>
      </dsp:txXfrm>
    </dsp:sp>
    <dsp:sp modelId="{9C4FEA57-3F6F-4B07-8670-6A2171D9A624}">
      <dsp:nvSpPr>
        <dsp:cNvPr id="0" name=""/>
        <dsp:cNvSpPr/>
      </dsp:nvSpPr>
      <dsp:spPr>
        <a:xfrm>
          <a:off x="0" y="6254616"/>
          <a:ext cx="12229514" cy="533235"/>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088BE5-77D2-4398-A508-FEDE118824DA}">
      <dsp:nvSpPr>
        <dsp:cNvPr id="0" name=""/>
        <dsp:cNvSpPr/>
      </dsp:nvSpPr>
      <dsp:spPr>
        <a:xfrm>
          <a:off x="4501450" y="0"/>
          <a:ext cx="2094415" cy="2094734"/>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70098A-E97F-4316-86B3-C2CAA868944C}">
      <dsp:nvSpPr>
        <dsp:cNvPr id="0" name=""/>
        <dsp:cNvSpPr/>
      </dsp:nvSpPr>
      <dsp:spPr>
        <a:xfrm>
          <a:off x="4964385" y="756262"/>
          <a:ext cx="1163826" cy="581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Highly</a:t>
          </a:r>
          <a:r>
            <a:rPr lang="en-US" sz="1600" kern="1200" baseline="0" dirty="0"/>
            <a:t> Variable Genes</a:t>
          </a:r>
          <a:endParaRPr lang="en-IN" sz="1600" kern="1200" dirty="0"/>
        </a:p>
      </dsp:txBody>
      <dsp:txXfrm>
        <a:off x="4964385" y="756262"/>
        <a:ext cx="1163826" cy="581773"/>
      </dsp:txXfrm>
    </dsp:sp>
    <dsp:sp modelId="{EA1D5FAD-FF5D-4247-BE26-4E41D8BDCB7E}">
      <dsp:nvSpPr>
        <dsp:cNvPr id="0" name=""/>
        <dsp:cNvSpPr/>
      </dsp:nvSpPr>
      <dsp:spPr>
        <a:xfrm>
          <a:off x="3919734" y="1203580"/>
          <a:ext cx="2094415" cy="2094734"/>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D95FD7-D7F9-4210-BA5E-2E4AC3F485EF}">
      <dsp:nvSpPr>
        <dsp:cNvPr id="0" name=""/>
        <dsp:cNvSpPr/>
      </dsp:nvSpPr>
      <dsp:spPr>
        <a:xfrm>
          <a:off x="4385028" y="1966804"/>
          <a:ext cx="1163826" cy="581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i="0" kern="1200" dirty="0">
              <a:solidFill>
                <a:srgbClr val="1F2937"/>
              </a:solidFill>
              <a:effectLst/>
              <a:latin typeface="+mn-lt"/>
            </a:rPr>
            <a:t>Methods for Feature Selection</a:t>
          </a:r>
          <a:endParaRPr lang="en-IN" sz="1600" b="0" kern="1200" dirty="0">
            <a:latin typeface="+mn-lt"/>
          </a:endParaRPr>
        </a:p>
      </dsp:txBody>
      <dsp:txXfrm>
        <a:off x="4385028" y="1966804"/>
        <a:ext cx="1163826" cy="581773"/>
      </dsp:txXfrm>
    </dsp:sp>
    <dsp:sp modelId="{82189A4D-8705-4711-BE3E-FF5C322AED54}">
      <dsp:nvSpPr>
        <dsp:cNvPr id="0" name=""/>
        <dsp:cNvSpPr/>
      </dsp:nvSpPr>
      <dsp:spPr>
        <a:xfrm>
          <a:off x="4650517" y="2551189"/>
          <a:ext cx="1799427" cy="1800148"/>
        </a:xfrm>
        <a:prstGeom prst="blockArc">
          <a:avLst>
            <a:gd name="adj1" fmla="val 13500000"/>
            <a:gd name="adj2" fmla="val 10800000"/>
            <a:gd name="adj3" fmla="val 1274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5B0F98-A3F8-4431-BF5C-6E80C1072A59}">
      <dsp:nvSpPr>
        <dsp:cNvPr id="0" name=""/>
        <dsp:cNvSpPr/>
      </dsp:nvSpPr>
      <dsp:spPr>
        <a:xfrm>
          <a:off x="4967138" y="3179087"/>
          <a:ext cx="1163826" cy="581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0" i="0" kern="1200" dirty="0">
              <a:solidFill>
                <a:srgbClr val="1F2937"/>
              </a:solidFill>
              <a:effectLst/>
              <a:latin typeface="+mn-lt"/>
            </a:rPr>
            <a:t>Tools and Techniques</a:t>
          </a:r>
          <a:endParaRPr lang="en-IN" sz="1600" b="0" kern="1200" dirty="0">
            <a:latin typeface="+mn-lt"/>
          </a:endParaRPr>
        </a:p>
      </dsp:txBody>
      <dsp:txXfrm>
        <a:off x="4967138" y="3179087"/>
        <a:ext cx="1163826" cy="581773"/>
      </dsp:txXfrm>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86E5A9-7981-4895-B7DD-E8A729475D7D}" type="datetimeFigureOut">
              <a:rPr lang="en-IN" smtClean="0"/>
              <a:t>09-04-2026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F884E6-0AA4-4916-8B7C-33D90DABBEEE}" type="slidenum">
              <a:rPr lang="en-IN" smtClean="0"/>
              <a:t>‹#›</a:t>
            </a:fld>
            <a:endParaRPr lang="en-IN"/>
          </a:p>
        </p:txBody>
      </p:sp>
    </p:spTree>
    <p:extLst>
      <p:ext uri="{BB962C8B-B14F-4D97-AF65-F5344CB8AC3E}">
        <p14:creationId xmlns:p14="http://schemas.microsoft.com/office/powerpoint/2010/main" val="560536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6CEDC68-3102-4AD2-B75A-DD74AA897AFE}" type="slidenum">
              <a:rPr lang="en-IN" smtClean="0"/>
              <a:t>13</a:t>
            </a:fld>
            <a:endParaRPr lang="en-IN"/>
          </a:p>
        </p:txBody>
      </p:sp>
    </p:spTree>
    <p:extLst>
      <p:ext uri="{BB962C8B-B14F-4D97-AF65-F5344CB8AC3E}">
        <p14:creationId xmlns:p14="http://schemas.microsoft.com/office/powerpoint/2010/main" val="2675203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6CEDC68-3102-4AD2-B75A-DD74AA897AFE}" type="slidenum">
              <a:rPr lang="en-IN" smtClean="0"/>
              <a:t>17</a:t>
            </a:fld>
            <a:endParaRPr lang="en-IN"/>
          </a:p>
        </p:txBody>
      </p:sp>
    </p:spTree>
    <p:extLst>
      <p:ext uri="{BB962C8B-B14F-4D97-AF65-F5344CB8AC3E}">
        <p14:creationId xmlns:p14="http://schemas.microsoft.com/office/powerpoint/2010/main" val="1734869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B38CE-452B-7F89-1C80-63A8E06A6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B4CFB7F-CF16-8997-0A4A-F8F5E52673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5EEFC33-0466-CDC6-F6DF-F5A4BF8BF187}"/>
              </a:ext>
            </a:extLst>
          </p:cNvPr>
          <p:cNvSpPr>
            <a:spLocks noGrp="1"/>
          </p:cNvSpPr>
          <p:nvPr>
            <p:ph type="dt" sz="half" idx="10"/>
          </p:nvPr>
        </p:nvSpPr>
        <p:spPr/>
        <p:txBody>
          <a:bodyPr/>
          <a:lstStyle/>
          <a:p>
            <a:fld id="{FF6AAD47-55B4-40AB-9B4C-A09E5B641474}" type="datetimeFigureOut">
              <a:rPr lang="en-IN" smtClean="0"/>
              <a:t>09-04-2026</a:t>
            </a:fld>
            <a:endParaRPr lang="en-IN"/>
          </a:p>
        </p:txBody>
      </p:sp>
      <p:sp>
        <p:nvSpPr>
          <p:cNvPr id="5" name="Footer Placeholder 4">
            <a:extLst>
              <a:ext uri="{FF2B5EF4-FFF2-40B4-BE49-F238E27FC236}">
                <a16:creationId xmlns:a16="http://schemas.microsoft.com/office/drawing/2014/main" id="{239BC9AC-E7A8-D46A-AC9C-82462E2BCE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8818C4-747E-1012-AFE4-36036A81FD4F}"/>
              </a:ext>
            </a:extLst>
          </p:cNvPr>
          <p:cNvSpPr>
            <a:spLocks noGrp="1"/>
          </p:cNvSpPr>
          <p:nvPr>
            <p:ph type="sldNum" sz="quarter" idx="12"/>
          </p:nvPr>
        </p:nvSpPr>
        <p:spPr/>
        <p:txBody>
          <a:bodyPr/>
          <a:lstStyle/>
          <a:p>
            <a:fld id="{A9FE0009-21FB-4345-8311-9FA4311C6A53}" type="slidenum">
              <a:rPr lang="en-IN" smtClean="0"/>
              <a:t>‹#›</a:t>
            </a:fld>
            <a:endParaRPr lang="en-IN"/>
          </a:p>
        </p:txBody>
      </p:sp>
    </p:spTree>
    <p:extLst>
      <p:ext uri="{BB962C8B-B14F-4D97-AF65-F5344CB8AC3E}">
        <p14:creationId xmlns:p14="http://schemas.microsoft.com/office/powerpoint/2010/main" val="1261736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28FC6-B224-6CE2-BD07-343950AE33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C903DD-881E-5B03-4F37-DF941BE889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21C894-691F-03FA-9AC3-84304C8A53A7}"/>
              </a:ext>
            </a:extLst>
          </p:cNvPr>
          <p:cNvSpPr>
            <a:spLocks noGrp="1"/>
          </p:cNvSpPr>
          <p:nvPr>
            <p:ph type="dt" sz="half" idx="10"/>
          </p:nvPr>
        </p:nvSpPr>
        <p:spPr/>
        <p:txBody>
          <a:bodyPr/>
          <a:lstStyle/>
          <a:p>
            <a:fld id="{FF6AAD47-55B4-40AB-9B4C-A09E5B641474}" type="datetimeFigureOut">
              <a:rPr lang="en-IN" smtClean="0"/>
              <a:t>09-04-2026</a:t>
            </a:fld>
            <a:endParaRPr lang="en-IN"/>
          </a:p>
        </p:txBody>
      </p:sp>
      <p:sp>
        <p:nvSpPr>
          <p:cNvPr id="5" name="Footer Placeholder 4">
            <a:extLst>
              <a:ext uri="{FF2B5EF4-FFF2-40B4-BE49-F238E27FC236}">
                <a16:creationId xmlns:a16="http://schemas.microsoft.com/office/drawing/2014/main" id="{8E6D36BE-CFEF-48AB-4250-A9836E8526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F72B42-4C92-C593-C703-FA34E8B4B228}"/>
              </a:ext>
            </a:extLst>
          </p:cNvPr>
          <p:cNvSpPr>
            <a:spLocks noGrp="1"/>
          </p:cNvSpPr>
          <p:nvPr>
            <p:ph type="sldNum" sz="quarter" idx="12"/>
          </p:nvPr>
        </p:nvSpPr>
        <p:spPr/>
        <p:txBody>
          <a:bodyPr/>
          <a:lstStyle/>
          <a:p>
            <a:fld id="{A9FE0009-21FB-4345-8311-9FA4311C6A53}" type="slidenum">
              <a:rPr lang="en-IN" smtClean="0"/>
              <a:t>‹#›</a:t>
            </a:fld>
            <a:endParaRPr lang="en-IN"/>
          </a:p>
        </p:txBody>
      </p:sp>
    </p:spTree>
    <p:extLst>
      <p:ext uri="{BB962C8B-B14F-4D97-AF65-F5344CB8AC3E}">
        <p14:creationId xmlns:p14="http://schemas.microsoft.com/office/powerpoint/2010/main" val="1666626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EF3DE-608A-BD1D-D615-FF82E48133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9710FC1-DDA8-0DFE-3FD0-81190547CB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955465-67FE-59EE-5419-A060CBF7D386}"/>
              </a:ext>
            </a:extLst>
          </p:cNvPr>
          <p:cNvSpPr>
            <a:spLocks noGrp="1"/>
          </p:cNvSpPr>
          <p:nvPr>
            <p:ph type="dt" sz="half" idx="10"/>
          </p:nvPr>
        </p:nvSpPr>
        <p:spPr/>
        <p:txBody>
          <a:bodyPr/>
          <a:lstStyle/>
          <a:p>
            <a:fld id="{FF6AAD47-55B4-40AB-9B4C-A09E5B641474}" type="datetimeFigureOut">
              <a:rPr lang="en-IN" smtClean="0"/>
              <a:t>09-04-2026</a:t>
            </a:fld>
            <a:endParaRPr lang="en-IN"/>
          </a:p>
        </p:txBody>
      </p:sp>
      <p:sp>
        <p:nvSpPr>
          <p:cNvPr id="5" name="Footer Placeholder 4">
            <a:extLst>
              <a:ext uri="{FF2B5EF4-FFF2-40B4-BE49-F238E27FC236}">
                <a16:creationId xmlns:a16="http://schemas.microsoft.com/office/drawing/2014/main" id="{A23FBC97-55A6-9146-FB20-40AF58447F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22294D-BD90-6DD7-F82F-257F36F60B1F}"/>
              </a:ext>
            </a:extLst>
          </p:cNvPr>
          <p:cNvSpPr>
            <a:spLocks noGrp="1"/>
          </p:cNvSpPr>
          <p:nvPr>
            <p:ph type="sldNum" sz="quarter" idx="12"/>
          </p:nvPr>
        </p:nvSpPr>
        <p:spPr/>
        <p:txBody>
          <a:bodyPr/>
          <a:lstStyle/>
          <a:p>
            <a:fld id="{A9FE0009-21FB-4345-8311-9FA4311C6A53}" type="slidenum">
              <a:rPr lang="en-IN" smtClean="0"/>
              <a:t>‹#›</a:t>
            </a:fld>
            <a:endParaRPr lang="en-IN"/>
          </a:p>
        </p:txBody>
      </p:sp>
    </p:spTree>
    <p:extLst>
      <p:ext uri="{BB962C8B-B14F-4D97-AF65-F5344CB8AC3E}">
        <p14:creationId xmlns:p14="http://schemas.microsoft.com/office/powerpoint/2010/main" val="2773138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2E99D-91B9-B402-DFFB-26EAC19349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429FFA-E4C4-F2BA-433D-3F1F58399D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829F239-621D-14BB-C69D-C2C2BAD128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4F03BF8-F6A1-A380-AAA1-43222811255F}"/>
              </a:ext>
            </a:extLst>
          </p:cNvPr>
          <p:cNvSpPr>
            <a:spLocks noGrp="1"/>
          </p:cNvSpPr>
          <p:nvPr>
            <p:ph type="dt" sz="half" idx="10"/>
          </p:nvPr>
        </p:nvSpPr>
        <p:spPr/>
        <p:txBody>
          <a:bodyPr/>
          <a:lstStyle/>
          <a:p>
            <a:fld id="{FF6AAD47-55B4-40AB-9B4C-A09E5B641474}" type="datetimeFigureOut">
              <a:rPr lang="en-IN" smtClean="0"/>
              <a:t>09-04-2026</a:t>
            </a:fld>
            <a:endParaRPr lang="en-IN"/>
          </a:p>
        </p:txBody>
      </p:sp>
      <p:sp>
        <p:nvSpPr>
          <p:cNvPr id="6" name="Footer Placeholder 5">
            <a:extLst>
              <a:ext uri="{FF2B5EF4-FFF2-40B4-BE49-F238E27FC236}">
                <a16:creationId xmlns:a16="http://schemas.microsoft.com/office/drawing/2014/main" id="{C006A9DA-2742-F199-95F0-E63A96548F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9270C0-6364-2FE5-61C8-43A5DDD799B2}"/>
              </a:ext>
            </a:extLst>
          </p:cNvPr>
          <p:cNvSpPr>
            <a:spLocks noGrp="1"/>
          </p:cNvSpPr>
          <p:nvPr>
            <p:ph type="sldNum" sz="quarter" idx="12"/>
          </p:nvPr>
        </p:nvSpPr>
        <p:spPr/>
        <p:txBody>
          <a:bodyPr/>
          <a:lstStyle/>
          <a:p>
            <a:fld id="{A9FE0009-21FB-4345-8311-9FA4311C6A53}" type="slidenum">
              <a:rPr lang="en-IN" smtClean="0"/>
              <a:t>‹#›</a:t>
            </a:fld>
            <a:endParaRPr lang="en-IN"/>
          </a:p>
        </p:txBody>
      </p:sp>
    </p:spTree>
    <p:extLst>
      <p:ext uri="{BB962C8B-B14F-4D97-AF65-F5344CB8AC3E}">
        <p14:creationId xmlns:p14="http://schemas.microsoft.com/office/powerpoint/2010/main" val="1029396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BDC0C-1330-1ADE-D129-B08F67ED2BB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F1794B-9202-CB3C-50C7-0866668E15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7287D9-4858-BB2E-71B9-718F45CD3A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B28C668-BD11-97E1-42DE-60384331A5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35DED7-C4C4-68F1-B279-05A26BB21D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F91FB36-2087-1314-5FDE-84BAE08C0260}"/>
              </a:ext>
            </a:extLst>
          </p:cNvPr>
          <p:cNvSpPr>
            <a:spLocks noGrp="1"/>
          </p:cNvSpPr>
          <p:nvPr>
            <p:ph type="dt" sz="half" idx="10"/>
          </p:nvPr>
        </p:nvSpPr>
        <p:spPr/>
        <p:txBody>
          <a:bodyPr/>
          <a:lstStyle/>
          <a:p>
            <a:fld id="{FF6AAD47-55B4-40AB-9B4C-A09E5B641474}" type="datetimeFigureOut">
              <a:rPr lang="en-IN" smtClean="0"/>
              <a:t>09-04-2026</a:t>
            </a:fld>
            <a:endParaRPr lang="en-IN"/>
          </a:p>
        </p:txBody>
      </p:sp>
      <p:sp>
        <p:nvSpPr>
          <p:cNvPr id="8" name="Footer Placeholder 7">
            <a:extLst>
              <a:ext uri="{FF2B5EF4-FFF2-40B4-BE49-F238E27FC236}">
                <a16:creationId xmlns:a16="http://schemas.microsoft.com/office/drawing/2014/main" id="{BFD08A35-C953-8A5A-201B-9B352311E7C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F296DDE-CE4B-C33B-A269-02301391F0F2}"/>
              </a:ext>
            </a:extLst>
          </p:cNvPr>
          <p:cNvSpPr>
            <a:spLocks noGrp="1"/>
          </p:cNvSpPr>
          <p:nvPr>
            <p:ph type="sldNum" sz="quarter" idx="12"/>
          </p:nvPr>
        </p:nvSpPr>
        <p:spPr/>
        <p:txBody>
          <a:bodyPr/>
          <a:lstStyle/>
          <a:p>
            <a:fld id="{A9FE0009-21FB-4345-8311-9FA4311C6A53}" type="slidenum">
              <a:rPr lang="en-IN" smtClean="0"/>
              <a:t>‹#›</a:t>
            </a:fld>
            <a:endParaRPr lang="en-IN"/>
          </a:p>
        </p:txBody>
      </p:sp>
    </p:spTree>
    <p:extLst>
      <p:ext uri="{BB962C8B-B14F-4D97-AF65-F5344CB8AC3E}">
        <p14:creationId xmlns:p14="http://schemas.microsoft.com/office/powerpoint/2010/main" val="21851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5332-A124-760C-2A29-1DBD830B75F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0BABDA2-0E82-B01F-B91E-18E30CAA8EA0}"/>
              </a:ext>
            </a:extLst>
          </p:cNvPr>
          <p:cNvSpPr>
            <a:spLocks noGrp="1"/>
          </p:cNvSpPr>
          <p:nvPr>
            <p:ph type="dt" sz="half" idx="10"/>
          </p:nvPr>
        </p:nvSpPr>
        <p:spPr/>
        <p:txBody>
          <a:bodyPr/>
          <a:lstStyle/>
          <a:p>
            <a:fld id="{FF6AAD47-55B4-40AB-9B4C-A09E5B641474}" type="datetimeFigureOut">
              <a:rPr lang="en-IN" smtClean="0"/>
              <a:t>09-04-2026</a:t>
            </a:fld>
            <a:endParaRPr lang="en-IN"/>
          </a:p>
        </p:txBody>
      </p:sp>
      <p:sp>
        <p:nvSpPr>
          <p:cNvPr id="4" name="Footer Placeholder 3">
            <a:extLst>
              <a:ext uri="{FF2B5EF4-FFF2-40B4-BE49-F238E27FC236}">
                <a16:creationId xmlns:a16="http://schemas.microsoft.com/office/drawing/2014/main" id="{3C6F1A46-388F-645C-74A3-8D7CC8AC606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0243387-19DB-E99A-879A-C26D6C0ED300}"/>
              </a:ext>
            </a:extLst>
          </p:cNvPr>
          <p:cNvSpPr>
            <a:spLocks noGrp="1"/>
          </p:cNvSpPr>
          <p:nvPr>
            <p:ph type="sldNum" sz="quarter" idx="12"/>
          </p:nvPr>
        </p:nvSpPr>
        <p:spPr/>
        <p:txBody>
          <a:bodyPr/>
          <a:lstStyle/>
          <a:p>
            <a:fld id="{A9FE0009-21FB-4345-8311-9FA4311C6A53}" type="slidenum">
              <a:rPr lang="en-IN" smtClean="0"/>
              <a:t>‹#›</a:t>
            </a:fld>
            <a:endParaRPr lang="en-IN"/>
          </a:p>
        </p:txBody>
      </p:sp>
    </p:spTree>
    <p:extLst>
      <p:ext uri="{BB962C8B-B14F-4D97-AF65-F5344CB8AC3E}">
        <p14:creationId xmlns:p14="http://schemas.microsoft.com/office/powerpoint/2010/main" val="1341579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A75C19-E481-E435-5E34-700DBEDCF7D9}"/>
              </a:ext>
            </a:extLst>
          </p:cNvPr>
          <p:cNvSpPr>
            <a:spLocks noGrp="1"/>
          </p:cNvSpPr>
          <p:nvPr>
            <p:ph type="dt" sz="half" idx="10"/>
          </p:nvPr>
        </p:nvSpPr>
        <p:spPr/>
        <p:txBody>
          <a:bodyPr/>
          <a:lstStyle/>
          <a:p>
            <a:fld id="{FF6AAD47-55B4-40AB-9B4C-A09E5B641474}" type="datetimeFigureOut">
              <a:rPr lang="en-IN" smtClean="0"/>
              <a:t>09-04-2026</a:t>
            </a:fld>
            <a:endParaRPr lang="en-IN"/>
          </a:p>
        </p:txBody>
      </p:sp>
      <p:sp>
        <p:nvSpPr>
          <p:cNvPr id="3" name="Footer Placeholder 2">
            <a:extLst>
              <a:ext uri="{FF2B5EF4-FFF2-40B4-BE49-F238E27FC236}">
                <a16:creationId xmlns:a16="http://schemas.microsoft.com/office/drawing/2014/main" id="{A147EF8F-6AA0-86AB-C4B5-99728DEC004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1743D27-23D0-7B26-6203-47E296E28134}"/>
              </a:ext>
            </a:extLst>
          </p:cNvPr>
          <p:cNvSpPr>
            <a:spLocks noGrp="1"/>
          </p:cNvSpPr>
          <p:nvPr>
            <p:ph type="sldNum" sz="quarter" idx="12"/>
          </p:nvPr>
        </p:nvSpPr>
        <p:spPr/>
        <p:txBody>
          <a:bodyPr/>
          <a:lstStyle/>
          <a:p>
            <a:fld id="{A9FE0009-21FB-4345-8311-9FA4311C6A53}" type="slidenum">
              <a:rPr lang="en-IN" smtClean="0"/>
              <a:t>‹#›</a:t>
            </a:fld>
            <a:endParaRPr lang="en-IN"/>
          </a:p>
        </p:txBody>
      </p:sp>
    </p:spTree>
    <p:extLst>
      <p:ext uri="{BB962C8B-B14F-4D97-AF65-F5344CB8AC3E}">
        <p14:creationId xmlns:p14="http://schemas.microsoft.com/office/powerpoint/2010/main" val="2532176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5F344-A5F6-66CF-1C33-78F95DBD70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E345AA2-D7A3-5C99-7931-6C23A611F8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C05615-369D-0330-8E69-C61958AE11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6B9AC8-3F19-B499-5ABB-D558ECBA78F6}"/>
              </a:ext>
            </a:extLst>
          </p:cNvPr>
          <p:cNvSpPr>
            <a:spLocks noGrp="1"/>
          </p:cNvSpPr>
          <p:nvPr>
            <p:ph type="dt" sz="half" idx="10"/>
          </p:nvPr>
        </p:nvSpPr>
        <p:spPr/>
        <p:txBody>
          <a:bodyPr/>
          <a:lstStyle/>
          <a:p>
            <a:fld id="{FF6AAD47-55B4-40AB-9B4C-A09E5B641474}" type="datetimeFigureOut">
              <a:rPr lang="en-IN" smtClean="0"/>
              <a:t>09-04-2026</a:t>
            </a:fld>
            <a:endParaRPr lang="en-IN"/>
          </a:p>
        </p:txBody>
      </p:sp>
      <p:sp>
        <p:nvSpPr>
          <p:cNvPr id="6" name="Footer Placeholder 5">
            <a:extLst>
              <a:ext uri="{FF2B5EF4-FFF2-40B4-BE49-F238E27FC236}">
                <a16:creationId xmlns:a16="http://schemas.microsoft.com/office/drawing/2014/main" id="{B124353F-629F-A881-262A-DA589FF69A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1C6E12-DF02-6833-FA30-16C0994658BB}"/>
              </a:ext>
            </a:extLst>
          </p:cNvPr>
          <p:cNvSpPr>
            <a:spLocks noGrp="1"/>
          </p:cNvSpPr>
          <p:nvPr>
            <p:ph type="sldNum" sz="quarter" idx="12"/>
          </p:nvPr>
        </p:nvSpPr>
        <p:spPr/>
        <p:txBody>
          <a:bodyPr/>
          <a:lstStyle/>
          <a:p>
            <a:fld id="{A9FE0009-21FB-4345-8311-9FA4311C6A53}" type="slidenum">
              <a:rPr lang="en-IN" smtClean="0"/>
              <a:t>‹#›</a:t>
            </a:fld>
            <a:endParaRPr lang="en-IN"/>
          </a:p>
        </p:txBody>
      </p:sp>
    </p:spTree>
    <p:extLst>
      <p:ext uri="{BB962C8B-B14F-4D97-AF65-F5344CB8AC3E}">
        <p14:creationId xmlns:p14="http://schemas.microsoft.com/office/powerpoint/2010/main" val="3373047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F1F66-EB43-BA28-DA7F-6B07599A4E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24D5ECC-28A2-B86A-21E4-65806A7C39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1F99364-8312-85F8-4706-B000FB7F13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5A8DFE-C065-446A-B0FD-E5BB3A729B43}"/>
              </a:ext>
            </a:extLst>
          </p:cNvPr>
          <p:cNvSpPr>
            <a:spLocks noGrp="1"/>
          </p:cNvSpPr>
          <p:nvPr>
            <p:ph type="dt" sz="half" idx="10"/>
          </p:nvPr>
        </p:nvSpPr>
        <p:spPr/>
        <p:txBody>
          <a:bodyPr/>
          <a:lstStyle/>
          <a:p>
            <a:fld id="{FF6AAD47-55B4-40AB-9B4C-A09E5B641474}" type="datetimeFigureOut">
              <a:rPr lang="en-IN" smtClean="0"/>
              <a:t>09-04-2026</a:t>
            </a:fld>
            <a:endParaRPr lang="en-IN"/>
          </a:p>
        </p:txBody>
      </p:sp>
      <p:sp>
        <p:nvSpPr>
          <p:cNvPr id="6" name="Footer Placeholder 5">
            <a:extLst>
              <a:ext uri="{FF2B5EF4-FFF2-40B4-BE49-F238E27FC236}">
                <a16:creationId xmlns:a16="http://schemas.microsoft.com/office/drawing/2014/main" id="{82076804-869C-43D5-72A5-98908EEF72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D25369-E6C6-DA5F-A994-AFC26377201C}"/>
              </a:ext>
            </a:extLst>
          </p:cNvPr>
          <p:cNvSpPr>
            <a:spLocks noGrp="1"/>
          </p:cNvSpPr>
          <p:nvPr>
            <p:ph type="sldNum" sz="quarter" idx="12"/>
          </p:nvPr>
        </p:nvSpPr>
        <p:spPr/>
        <p:txBody>
          <a:bodyPr/>
          <a:lstStyle/>
          <a:p>
            <a:fld id="{A9FE0009-21FB-4345-8311-9FA4311C6A53}" type="slidenum">
              <a:rPr lang="en-IN" smtClean="0"/>
              <a:t>‹#›</a:t>
            </a:fld>
            <a:endParaRPr lang="en-IN"/>
          </a:p>
        </p:txBody>
      </p:sp>
    </p:spTree>
    <p:extLst>
      <p:ext uri="{BB962C8B-B14F-4D97-AF65-F5344CB8AC3E}">
        <p14:creationId xmlns:p14="http://schemas.microsoft.com/office/powerpoint/2010/main" val="3936782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F2BE5-5093-0CA7-36FD-960097CD36B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2FC2E1-7BB8-5DB5-3C01-285E567B4F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2036DA-23F2-2F44-AE57-65D6946824FC}"/>
              </a:ext>
            </a:extLst>
          </p:cNvPr>
          <p:cNvSpPr>
            <a:spLocks noGrp="1"/>
          </p:cNvSpPr>
          <p:nvPr>
            <p:ph type="dt" sz="half" idx="10"/>
          </p:nvPr>
        </p:nvSpPr>
        <p:spPr/>
        <p:txBody>
          <a:bodyPr/>
          <a:lstStyle/>
          <a:p>
            <a:fld id="{FF6AAD47-55B4-40AB-9B4C-A09E5B641474}" type="datetimeFigureOut">
              <a:rPr lang="en-IN" smtClean="0"/>
              <a:t>09-04-2026</a:t>
            </a:fld>
            <a:endParaRPr lang="en-IN"/>
          </a:p>
        </p:txBody>
      </p:sp>
      <p:sp>
        <p:nvSpPr>
          <p:cNvPr id="5" name="Footer Placeholder 4">
            <a:extLst>
              <a:ext uri="{FF2B5EF4-FFF2-40B4-BE49-F238E27FC236}">
                <a16:creationId xmlns:a16="http://schemas.microsoft.com/office/drawing/2014/main" id="{13E42809-4CFB-3374-9D2F-FC24ADDD18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CCA034-9886-169A-B85B-4A53494AC748}"/>
              </a:ext>
            </a:extLst>
          </p:cNvPr>
          <p:cNvSpPr>
            <a:spLocks noGrp="1"/>
          </p:cNvSpPr>
          <p:nvPr>
            <p:ph type="sldNum" sz="quarter" idx="12"/>
          </p:nvPr>
        </p:nvSpPr>
        <p:spPr/>
        <p:txBody>
          <a:bodyPr/>
          <a:lstStyle/>
          <a:p>
            <a:fld id="{A9FE0009-21FB-4345-8311-9FA4311C6A53}" type="slidenum">
              <a:rPr lang="en-IN" smtClean="0"/>
              <a:t>‹#›</a:t>
            </a:fld>
            <a:endParaRPr lang="en-IN"/>
          </a:p>
        </p:txBody>
      </p:sp>
    </p:spTree>
    <p:extLst>
      <p:ext uri="{BB962C8B-B14F-4D97-AF65-F5344CB8AC3E}">
        <p14:creationId xmlns:p14="http://schemas.microsoft.com/office/powerpoint/2010/main" val="3052379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4D18BA-649F-DEA8-0A41-EF45B54BF01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9DD9E0-998E-774E-4AD1-451CE42421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E10ED6-0CC9-A88C-D963-1CAEF558FDCF}"/>
              </a:ext>
            </a:extLst>
          </p:cNvPr>
          <p:cNvSpPr>
            <a:spLocks noGrp="1"/>
          </p:cNvSpPr>
          <p:nvPr>
            <p:ph type="dt" sz="half" idx="10"/>
          </p:nvPr>
        </p:nvSpPr>
        <p:spPr/>
        <p:txBody>
          <a:bodyPr/>
          <a:lstStyle/>
          <a:p>
            <a:fld id="{FF6AAD47-55B4-40AB-9B4C-A09E5B641474}" type="datetimeFigureOut">
              <a:rPr lang="en-IN" smtClean="0"/>
              <a:t>09-04-2026</a:t>
            </a:fld>
            <a:endParaRPr lang="en-IN"/>
          </a:p>
        </p:txBody>
      </p:sp>
      <p:sp>
        <p:nvSpPr>
          <p:cNvPr id="5" name="Footer Placeholder 4">
            <a:extLst>
              <a:ext uri="{FF2B5EF4-FFF2-40B4-BE49-F238E27FC236}">
                <a16:creationId xmlns:a16="http://schemas.microsoft.com/office/drawing/2014/main" id="{490F03C3-9096-7D4B-4472-5146D3CF52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BC8C8D-AA60-A9C4-ED2D-B59AEF179B5B}"/>
              </a:ext>
            </a:extLst>
          </p:cNvPr>
          <p:cNvSpPr>
            <a:spLocks noGrp="1"/>
          </p:cNvSpPr>
          <p:nvPr>
            <p:ph type="sldNum" sz="quarter" idx="12"/>
          </p:nvPr>
        </p:nvSpPr>
        <p:spPr/>
        <p:txBody>
          <a:bodyPr/>
          <a:lstStyle/>
          <a:p>
            <a:fld id="{A9FE0009-21FB-4345-8311-9FA4311C6A53}" type="slidenum">
              <a:rPr lang="en-IN" smtClean="0"/>
              <a:t>‹#›</a:t>
            </a:fld>
            <a:endParaRPr lang="en-IN"/>
          </a:p>
        </p:txBody>
      </p:sp>
    </p:spTree>
    <p:extLst>
      <p:ext uri="{BB962C8B-B14F-4D97-AF65-F5344CB8AC3E}">
        <p14:creationId xmlns:p14="http://schemas.microsoft.com/office/powerpoint/2010/main" val="3747469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6AA4D7-8C53-AD45-9504-C0C529AD9E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FA4C0B-E6E7-28A3-62DB-51394849FC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6E17CC-5F4A-439D-CD02-DC122EE007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6AAD47-55B4-40AB-9B4C-A09E5B641474}" type="datetimeFigureOut">
              <a:rPr lang="en-IN" smtClean="0"/>
              <a:t>09-04-2026</a:t>
            </a:fld>
            <a:endParaRPr lang="en-IN"/>
          </a:p>
        </p:txBody>
      </p:sp>
      <p:sp>
        <p:nvSpPr>
          <p:cNvPr id="5" name="Footer Placeholder 4">
            <a:extLst>
              <a:ext uri="{FF2B5EF4-FFF2-40B4-BE49-F238E27FC236}">
                <a16:creationId xmlns:a16="http://schemas.microsoft.com/office/drawing/2014/main" id="{043269C3-0C5A-C86B-9814-EA9FEBE473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B4EDF6E-B55F-941F-1CCA-070AD00B05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FE0009-21FB-4345-8311-9FA4311C6A53}" type="slidenum">
              <a:rPr lang="en-IN" smtClean="0"/>
              <a:t>‹#›</a:t>
            </a:fld>
            <a:endParaRPr lang="en-IN"/>
          </a:p>
        </p:txBody>
      </p:sp>
    </p:spTree>
    <p:extLst>
      <p:ext uri="{BB962C8B-B14F-4D97-AF65-F5344CB8AC3E}">
        <p14:creationId xmlns:p14="http://schemas.microsoft.com/office/powerpoint/2010/main" val="2065235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frontiersin.org/journals/genetics/articles/10.3389/fgene.2019.00317/full"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jpe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15.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hyperlink" Target="https://doi.org/10.1038/s41576-020-00300-0" TargetMode="External"/><Relationship Id="rId3" Type="http://schemas.openxmlformats.org/officeDocument/2006/relationships/hyperlink" Target="https://doi.org/10.1186/s13059-021-02552-3" TargetMode="External"/><Relationship Id="rId7" Type="http://schemas.openxmlformats.org/officeDocument/2006/relationships/hyperlink" Target="https://doi.org/10.1016/b978-0-12-407722-5.00026-8" TargetMode="External"/><Relationship Id="rId12" Type="http://schemas.openxmlformats.org/officeDocument/2006/relationships/hyperlink" Target="https://doi.org/10.1038/s12276-018-0071-8" TargetMode="External"/><Relationship Id="rId2" Type="http://schemas.openxmlformats.org/officeDocument/2006/relationships/hyperlink" Target="https://doi.org/10.3390/cells9081751" TargetMode="External"/><Relationship Id="rId1" Type="http://schemas.openxmlformats.org/officeDocument/2006/relationships/slideLayout" Target="../slideLayouts/slideLayout2.xml"/><Relationship Id="rId6" Type="http://schemas.openxmlformats.org/officeDocument/2006/relationships/hyperlink" Target="https://doi.org/10.1186/s13073-017-0467-4" TargetMode="External"/><Relationship Id="rId11" Type="http://schemas.openxmlformats.org/officeDocument/2006/relationships/hyperlink" Target="https://clarivate.com/blog/the-future-of-scrna-seq-applicability/" TargetMode="External"/><Relationship Id="rId5" Type="http://schemas.openxmlformats.org/officeDocument/2006/relationships/hyperlink" Target="https://doi.org/10.3389/fgene.2019.00317" TargetMode="External"/><Relationship Id="rId10" Type="http://schemas.openxmlformats.org/officeDocument/2006/relationships/hyperlink" Target="https://www.elucidata.io/blog/challenges-and-solutions-in-single-cell-rna-seq-data-analysis" TargetMode="External"/><Relationship Id="rId4" Type="http://schemas.openxmlformats.org/officeDocument/2006/relationships/hyperlink" Target="https://doi.org/10.1002/ctm2.694" TargetMode="External"/><Relationship Id="rId9" Type="http://schemas.openxmlformats.org/officeDocument/2006/relationships/hyperlink" Target="https://doi.org/10.3389/fgene.2017.00062"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Arc 15">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6B8729C-86A9-82A1-7ED5-71A0B32747FE}"/>
              </a:ext>
            </a:extLst>
          </p:cNvPr>
          <p:cNvSpPr>
            <a:spLocks noGrp="1"/>
          </p:cNvSpPr>
          <p:nvPr>
            <p:ph type="ctrTitle"/>
          </p:nvPr>
        </p:nvSpPr>
        <p:spPr>
          <a:xfrm>
            <a:off x="4152041" y="1168400"/>
            <a:ext cx="7531186" cy="2140085"/>
          </a:xfrm>
        </p:spPr>
        <p:txBody>
          <a:bodyPr>
            <a:noAutofit/>
          </a:bodyPr>
          <a:lstStyle/>
          <a:p>
            <a:pPr algn="r"/>
            <a:r>
              <a:rPr lang="en-IN" sz="4400" b="1" i="0" u="none" strike="noStrike" dirty="0">
                <a:solidFill>
                  <a:srgbClr val="000000"/>
                </a:solidFill>
                <a:effectLst/>
                <a:latin typeface="Calibri" panose="020F0502020204030204" pitchFamily="34" charset="0"/>
              </a:rPr>
              <a:t>Single-Cell RNA-</a:t>
            </a:r>
            <a:r>
              <a:rPr lang="en-IN" sz="4400" b="1" i="0" u="none" strike="noStrike" dirty="0" err="1">
                <a:solidFill>
                  <a:srgbClr val="000000"/>
                </a:solidFill>
                <a:effectLst/>
                <a:latin typeface="Calibri" panose="020F0502020204030204" pitchFamily="34" charset="0"/>
              </a:rPr>
              <a:t>seq</a:t>
            </a:r>
            <a:r>
              <a:rPr lang="en-IN" sz="4400" b="1" i="0" u="none" strike="noStrike" dirty="0">
                <a:solidFill>
                  <a:srgbClr val="000000"/>
                </a:solidFill>
                <a:effectLst/>
                <a:latin typeface="Calibri" panose="020F0502020204030204" pitchFamily="34" charset="0"/>
              </a:rPr>
              <a:t> Data Analysis: Understanding Cellular Heterogeneity</a:t>
            </a:r>
            <a:endParaRPr lang="en-IN" sz="4400" b="1" dirty="0"/>
          </a:p>
        </p:txBody>
      </p:sp>
      <p:sp>
        <p:nvSpPr>
          <p:cNvPr id="3" name="Subtitle 2">
            <a:extLst>
              <a:ext uri="{FF2B5EF4-FFF2-40B4-BE49-F238E27FC236}">
                <a16:creationId xmlns:a16="http://schemas.microsoft.com/office/drawing/2014/main" id="{B6FB57F4-11D9-92FD-FAAF-187D86C31A31}"/>
              </a:ext>
            </a:extLst>
          </p:cNvPr>
          <p:cNvSpPr>
            <a:spLocks noGrp="1"/>
          </p:cNvSpPr>
          <p:nvPr>
            <p:ph type="subTitle" idx="1"/>
          </p:nvPr>
        </p:nvSpPr>
        <p:spPr>
          <a:xfrm>
            <a:off x="4038600" y="3756160"/>
            <a:ext cx="7644627" cy="1329443"/>
          </a:xfrm>
        </p:spPr>
        <p:txBody>
          <a:bodyPr>
            <a:noAutofit/>
          </a:bodyPr>
          <a:lstStyle/>
          <a:p>
            <a:pPr algn="r"/>
            <a:r>
              <a:rPr lang="en-US" sz="2000" dirty="0"/>
              <a:t>By – Sakshi Sharma &amp; </a:t>
            </a:r>
            <a:r>
              <a:rPr lang="en-US" sz="2000" dirty="0" err="1"/>
              <a:t>Pakhi</a:t>
            </a:r>
            <a:endParaRPr lang="en-US" sz="2000" dirty="0"/>
          </a:p>
          <a:p>
            <a:pPr algn="r"/>
            <a:r>
              <a:rPr lang="en-US" sz="2000" dirty="0"/>
              <a:t>MSc. Bioinformatics (Sem III)</a:t>
            </a:r>
          </a:p>
          <a:p>
            <a:pPr algn="r"/>
            <a:r>
              <a:rPr lang="en-US" sz="2000" dirty="0"/>
              <a:t>Department of Computer Science</a:t>
            </a:r>
          </a:p>
          <a:p>
            <a:pPr algn="r"/>
            <a:r>
              <a:rPr lang="en-US" sz="2000" dirty="0"/>
              <a:t>Jamia </a:t>
            </a:r>
            <a:r>
              <a:rPr lang="en-US" sz="2000" dirty="0" err="1"/>
              <a:t>Millia</a:t>
            </a:r>
            <a:r>
              <a:rPr lang="en-US" sz="2000" dirty="0"/>
              <a:t> Islamia (Central University), New Delhi - 110025 </a:t>
            </a:r>
          </a:p>
          <a:p>
            <a:pPr algn="r"/>
            <a:r>
              <a:rPr lang="en-IN" sz="2000" dirty="0"/>
              <a:t>Year 2034-2025</a:t>
            </a:r>
          </a:p>
        </p:txBody>
      </p:sp>
    </p:spTree>
    <p:extLst>
      <p:ext uri="{BB962C8B-B14F-4D97-AF65-F5344CB8AC3E}">
        <p14:creationId xmlns:p14="http://schemas.microsoft.com/office/powerpoint/2010/main" val="2336202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8E46E6-22CE-63A5-C637-82ECF7D37E6D}"/>
              </a:ext>
            </a:extLst>
          </p:cNvPr>
          <p:cNvSpPr>
            <a:spLocks noGrp="1"/>
          </p:cNvSpPr>
          <p:nvPr>
            <p:ph type="title"/>
          </p:nvPr>
        </p:nvSpPr>
        <p:spPr>
          <a:xfrm>
            <a:off x="686834" y="1153572"/>
            <a:ext cx="3200400" cy="4461163"/>
          </a:xfrm>
        </p:spPr>
        <p:txBody>
          <a:bodyPr>
            <a:normAutofit/>
          </a:bodyPr>
          <a:lstStyle/>
          <a:p>
            <a:r>
              <a:rPr lang="en-US">
                <a:solidFill>
                  <a:srgbClr val="FFFFFF"/>
                </a:solidFill>
              </a:rPr>
              <a:t>Table of Contents</a:t>
            </a:r>
            <a:endParaRPr lang="en-IN">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91371C3-16F9-6248-56EF-9B4E1B34B010}"/>
              </a:ext>
            </a:extLst>
          </p:cNvPr>
          <p:cNvSpPr>
            <a:spLocks noGrp="1"/>
          </p:cNvSpPr>
          <p:nvPr>
            <p:ph idx="1"/>
          </p:nvPr>
        </p:nvSpPr>
        <p:spPr>
          <a:xfrm>
            <a:off x="4447308" y="591344"/>
            <a:ext cx="6906491" cy="5585619"/>
          </a:xfrm>
        </p:spPr>
        <p:txBody>
          <a:bodyPr anchor="ctr">
            <a:normAutofit/>
          </a:bodyPr>
          <a:lstStyle/>
          <a:p>
            <a:r>
              <a:rPr lang="en-US" dirty="0"/>
              <a:t>Introduction</a:t>
            </a:r>
          </a:p>
          <a:p>
            <a:r>
              <a:rPr lang="en-US" dirty="0"/>
              <a:t>Overview of Single-Cell RNA Sequencing</a:t>
            </a:r>
          </a:p>
          <a:p>
            <a:r>
              <a:rPr lang="en-US" dirty="0"/>
              <a:t>Workflow of RNA sequencing</a:t>
            </a:r>
          </a:p>
          <a:p>
            <a:r>
              <a:rPr lang="en-US" dirty="0"/>
              <a:t>Technologies in RNA sequencing</a:t>
            </a:r>
          </a:p>
          <a:p>
            <a:r>
              <a:rPr lang="en-US" dirty="0"/>
              <a:t>Identifying Cell Types</a:t>
            </a:r>
          </a:p>
          <a:p>
            <a:r>
              <a:rPr lang="en-US" dirty="0"/>
              <a:t>Differential Expression Analysis</a:t>
            </a:r>
          </a:p>
          <a:p>
            <a:r>
              <a:rPr lang="en-US" dirty="0"/>
              <a:t>Case study</a:t>
            </a:r>
          </a:p>
          <a:p>
            <a:r>
              <a:rPr lang="en-US" dirty="0"/>
              <a:t>Challenges in RNA seq</a:t>
            </a:r>
          </a:p>
          <a:p>
            <a:r>
              <a:rPr lang="en-US" dirty="0"/>
              <a:t>Future Directions</a:t>
            </a:r>
          </a:p>
          <a:p>
            <a:endParaRPr lang="en-US" dirty="0"/>
          </a:p>
          <a:p>
            <a:endParaRPr lang="en-IN" dirty="0"/>
          </a:p>
        </p:txBody>
      </p:sp>
    </p:spTree>
    <p:extLst>
      <p:ext uri="{BB962C8B-B14F-4D97-AF65-F5344CB8AC3E}">
        <p14:creationId xmlns:p14="http://schemas.microsoft.com/office/powerpoint/2010/main" val="1947001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B3F177C-518E-2BFF-2548-F009C34221AA}"/>
              </a:ext>
            </a:extLst>
          </p:cNvPr>
          <p:cNvSpPr txBox="1"/>
          <p:nvPr/>
        </p:nvSpPr>
        <p:spPr>
          <a:xfrm>
            <a:off x="3161396" y="232791"/>
            <a:ext cx="5869209" cy="923330"/>
          </a:xfrm>
          <a:prstGeom prst="rect">
            <a:avLst/>
          </a:prstGeom>
          <a:noFill/>
        </p:spPr>
        <p:txBody>
          <a:bodyPr wrap="square" rtlCol="0">
            <a:spAutoFit/>
          </a:bodyPr>
          <a:lstStyle/>
          <a:p>
            <a:pPr algn="ctr"/>
            <a:r>
              <a:rPr lang="en-IN" sz="5400" b="1" u="sng" kern="100" dirty="0">
                <a:ln>
                  <a:solidFill>
                    <a:schemeClr val="tx2">
                      <a:lumMod val="75000"/>
                      <a:lumOff val="25000"/>
                    </a:schemeClr>
                  </a:solidFill>
                </a:ln>
                <a:solidFill>
                  <a:schemeClr val="bg2">
                    <a:lumMod val="10000"/>
                  </a:schemeClr>
                </a:solidFill>
                <a:effectLst>
                  <a:glow rad="228600">
                    <a:schemeClr val="accent1">
                      <a:satMod val="175000"/>
                      <a:alpha val="22000"/>
                    </a:schemeClr>
                  </a:glow>
                </a:effectLst>
                <a:latin typeface="Algerian" panose="04020705040A02060702" pitchFamily="82" charset="0"/>
                <a:ea typeface="Aptos" panose="020B0004020202020204" pitchFamily="34" charset="0"/>
                <a:cs typeface="Times New Roman" panose="02020603050405020304" pitchFamily="18" charset="0"/>
              </a:rPr>
              <a:t>Introduction</a:t>
            </a:r>
            <a:endParaRPr lang="en-IN" sz="5400" kern="100" dirty="0">
              <a:ln>
                <a:solidFill>
                  <a:schemeClr val="tx2">
                    <a:lumMod val="75000"/>
                    <a:lumOff val="25000"/>
                  </a:schemeClr>
                </a:solidFill>
              </a:ln>
              <a:solidFill>
                <a:schemeClr val="bg2">
                  <a:lumMod val="10000"/>
                </a:schemeClr>
              </a:solidFill>
              <a:effectLst>
                <a:glow rad="228600">
                  <a:schemeClr val="accent1">
                    <a:satMod val="175000"/>
                    <a:alpha val="22000"/>
                  </a:schemeClr>
                </a:glow>
              </a:effectLst>
              <a:latin typeface="Algerian" panose="04020705040A02060702" pitchFamily="82"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C05D315-B427-167F-55AC-A46F7C93B056}"/>
              </a:ext>
            </a:extLst>
          </p:cNvPr>
          <p:cNvSpPr txBox="1"/>
          <p:nvPr/>
        </p:nvSpPr>
        <p:spPr>
          <a:xfrm>
            <a:off x="248412" y="1192826"/>
            <a:ext cx="11695176" cy="12754261"/>
          </a:xfrm>
          <a:prstGeom prst="rect">
            <a:avLst/>
          </a:prstGeom>
          <a:noFill/>
        </p:spPr>
        <p:txBody>
          <a:bodyPr wrap="square" rtlCol="0">
            <a:spAutoFit/>
          </a:bodyPr>
          <a:lstStyle/>
          <a:p>
            <a:pPr>
              <a:lnSpc>
                <a:spcPct val="107000"/>
              </a:lnSpc>
              <a:spcAft>
                <a:spcPts val="800"/>
              </a:spcAft>
            </a:pPr>
            <a:r>
              <a:rPr lang="en-IN" sz="2000" b="1" kern="100" dirty="0">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What is single-cell RNA sequencing?</a:t>
            </a:r>
          </a:p>
          <a:p>
            <a:pPr marL="285750" indent="-285750">
              <a:lnSpc>
                <a:spcPct val="107000"/>
              </a:lnSpc>
              <a:spcAft>
                <a:spcPts val="800"/>
              </a:spcAft>
              <a:buFont typeface="Arial" panose="020B0604020202020204" pitchFamily="34" charset="0"/>
              <a:buChar char="•"/>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RNA sequencing (RNA-</a:t>
            </a:r>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seq</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is a genomic approach for the detection and quantitative analysis of messenger RNA molecules, useful for studying cellular responses.</a:t>
            </a:r>
          </a:p>
          <a:p>
            <a:pPr marL="285750" indent="-285750">
              <a:lnSpc>
                <a:spcPct val="107000"/>
              </a:lnSpc>
              <a:spcAft>
                <a:spcPts val="800"/>
              </a:spcAft>
              <a:buFont typeface="Arial" panose="020B0604020202020204" pitchFamily="34" charset="0"/>
              <a:buChar char="•"/>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Single-cell RNA sequencing (</a:t>
            </a:r>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is a powerful technique used to describe RNA molecules and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gene expression of individual cells with high resolution.</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It allows researchers to examine the complete set of RNA transcripts within a single cell, providing insights into the cell's functional state, identity, and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behavior</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First single-cell RNA-sequencing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study was published in 2009</a:t>
            </a:r>
          </a:p>
          <a:p>
            <a:pPr>
              <a:lnSpc>
                <a:spcPct val="107000"/>
              </a:lnSpc>
              <a:spcAft>
                <a:spcPts val="800"/>
              </a:spcAft>
            </a:pPr>
            <a:r>
              <a:rPr lang="en-IN" sz="2000" b="1" kern="100" dirty="0">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What is Cellular Heterogeneity?</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Cellular heterogeneity is the diversity in characteristics among individual cells within a population, tissue, or organism.</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This variation can occur in terms of cellular morphology, gene expression, protein levels, metabolic activity, or responses to environmental stimuli.</a:t>
            </a:r>
          </a:p>
          <a:p>
            <a:pPr marL="285750" indent="-285750">
              <a:lnSpc>
                <a:spcPct val="107000"/>
              </a:lnSpc>
              <a:spcAft>
                <a:spcPts val="800"/>
              </a:spcAft>
              <a:buFont typeface="Arial" panose="020B0604020202020204" pitchFamily="34" charset="0"/>
              <a:buChar char="•"/>
            </a:pPr>
            <a:r>
              <a:rPr lang="en-IN" sz="1600" kern="100" dirty="0">
                <a:latin typeface="Aptos" panose="020B0004020202020204" pitchFamily="34" charset="0"/>
                <a:ea typeface="Aptos" panose="020B0004020202020204" pitchFamily="34" charset="0"/>
                <a:cs typeface="Times New Roman" panose="02020603050405020304" pitchFamily="18" charset="0"/>
              </a:rPr>
              <a:t>C</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ell heterogeneity has been appreciated in many studies of diseases, such as cancers, infectious diseases, and brain disorders. </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Research on cellular heterogeneity has been performed in different areas, including genomics, transcriptomics, proteomics, and metabolomics.</a:t>
            </a:r>
          </a:p>
          <a:p>
            <a:pPr marL="285750" indent="-285750">
              <a:lnSpc>
                <a:spcPct val="107000"/>
              </a:lnSpc>
              <a:spcAft>
                <a:spcPts val="800"/>
              </a:spcAft>
              <a:buFont typeface="Arial" panose="020B0604020202020204" pitchFamily="34" charset="0"/>
              <a:buChar char="•"/>
            </a:pPr>
            <a:endParaRPr lang="en-IN" sz="16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endParaRPr lang="en-IN" sz="16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endParaRPr lang="en-IN" sz="16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IN" sz="2000" b="1" kern="100" dirty="0">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Importance of </a:t>
            </a:r>
            <a:r>
              <a:rPr lang="en-IN" sz="2000" b="1" kern="100" dirty="0" err="1">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scRNA-seq</a:t>
            </a:r>
            <a:r>
              <a:rPr lang="en-IN" sz="2000" b="1" kern="100" dirty="0">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 to capture cellular diversity</a:t>
            </a:r>
          </a:p>
          <a:p>
            <a:pPr marL="285750" indent="-285750">
              <a:lnSpc>
                <a:spcPct val="107000"/>
              </a:lnSpc>
              <a:spcAft>
                <a:spcPts val="800"/>
              </a:spcAft>
              <a:buFont typeface="Arial" panose="020B0604020202020204" pitchFamily="34" charset="0"/>
              <a:buChar char="•"/>
            </a:pPr>
            <a:r>
              <a:rPr lang="en-IN" sz="1600" kern="100" dirty="0" err="1">
                <a:latin typeface="Aptos" panose="020B0004020202020204" pitchFamily="34" charset="0"/>
                <a:ea typeface="Aptos" panose="020B0004020202020204" pitchFamily="34" charset="0"/>
                <a:cs typeface="Times New Roman" panose="02020603050405020304" pitchFamily="18" charset="0"/>
              </a:rPr>
              <a:t>S</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permits comparison of the transcriptomes of individual cells. </a:t>
            </a:r>
          </a:p>
          <a:p>
            <a:pPr marL="285750" indent="-285750">
              <a:lnSpc>
                <a:spcPct val="107000"/>
              </a:lnSpc>
              <a:spcAft>
                <a:spcPts val="800"/>
              </a:spcAft>
              <a:buFont typeface="Arial" panose="020B0604020202020204" pitchFamily="34" charset="0"/>
              <a:buChar char="•"/>
            </a:pPr>
            <a:r>
              <a:rPr lang="en-IN" sz="1600" kern="100" dirty="0">
                <a:latin typeface="Aptos" panose="020B0004020202020204" pitchFamily="34" charset="0"/>
                <a:ea typeface="Aptos" panose="020B0004020202020204" pitchFamily="34" charset="0"/>
                <a:cs typeface="Times New Roman" panose="02020603050405020304" pitchFamily="18" charset="0"/>
              </a:rPr>
              <a:t>A</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major use of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has been to assess transcriptional similarities and differences within a population of cells.</a:t>
            </a:r>
          </a:p>
          <a:p>
            <a:pPr marL="285750" indent="-285750">
              <a:lnSpc>
                <a:spcPct val="107000"/>
              </a:lnSpc>
              <a:spcAft>
                <a:spcPts val="800"/>
              </a:spcAft>
              <a:buFont typeface="Arial" panose="020B0604020202020204" pitchFamily="34" charset="0"/>
              <a:buChar char="•"/>
            </a:pPr>
            <a:r>
              <a:rPr lang="en-IN" sz="1600" kern="100" dirty="0">
                <a:latin typeface="Aptos" panose="020B0004020202020204" pitchFamily="34" charset="0"/>
                <a:ea typeface="Aptos" panose="020B0004020202020204" pitchFamily="34" charset="0"/>
                <a:cs typeface="Times New Roman" panose="02020603050405020304" pitchFamily="18" charset="0"/>
              </a:rPr>
              <a:t>R</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evealing previously unappreciated levels of heterogeneity, for example in embryonic and immune cells. </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Thus, heterogeneity analysis remains a core reason for embarking on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studies.</a:t>
            </a:r>
          </a:p>
          <a:p>
            <a:pPr>
              <a:lnSpc>
                <a:spcPct val="107000"/>
              </a:lnSpc>
              <a:spcAft>
                <a:spcPts val="800"/>
              </a:spcAft>
            </a:pPr>
            <a:r>
              <a:rPr lang="en-IN" sz="2000" b="1" kern="100" dirty="0">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Benefits of </a:t>
            </a:r>
            <a:r>
              <a:rPr lang="en-IN" sz="2000" b="1" kern="100" dirty="0" err="1">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scRNA-seq</a:t>
            </a:r>
            <a:r>
              <a:rPr lang="en-IN" sz="2000" b="1" kern="100" dirty="0">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 for studying tissue-specific expression, rare cell populations and other studies</a:t>
            </a:r>
          </a:p>
          <a:p>
            <a:pPr marL="285750" indent="-285750">
              <a:lnSpc>
                <a:spcPct val="107000"/>
              </a:lnSpc>
              <a:spcAft>
                <a:spcPts val="800"/>
              </a:spcAft>
              <a:buFont typeface="Arial" panose="020B0604020202020204" pitchFamily="34" charset="0"/>
              <a:buChar char="•"/>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Identifying Rare Cell Populations: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can detect rare cell types, like malignant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tumor</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cells or highly responsive immune cells, which are often missed in bulk cell analyses.</a:t>
            </a:r>
          </a:p>
          <a:p>
            <a:pPr marL="285750" indent="-285750">
              <a:lnSpc>
                <a:spcPct val="107000"/>
              </a:lnSpc>
              <a:spcAft>
                <a:spcPts val="800"/>
              </a:spcAft>
              <a:buFont typeface="Arial" panose="020B0604020202020204" pitchFamily="34" charset="0"/>
              <a:buChar char="•"/>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Tracking Unique Cells: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It is particularly useful for studying naturally diverse cells, such as T lymphocytes with different T-cell receptors, neurons in the brain, or early-stage embryo cells.</a:t>
            </a:r>
          </a:p>
          <a:p>
            <a:pPr marL="285750" indent="-285750">
              <a:lnSpc>
                <a:spcPct val="107000"/>
              </a:lnSpc>
              <a:spcAft>
                <a:spcPts val="800"/>
              </a:spcAft>
              <a:buFont typeface="Arial" panose="020B0604020202020204" pitchFamily="34" charset="0"/>
              <a:buChar char="•"/>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Tracing Lineage and Development: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helps track how cells evolve over time, such as during embryo development, cancer progression, and immune cell differentiation.</a:t>
            </a:r>
          </a:p>
          <a:p>
            <a:pPr marL="285750" indent="-285750">
              <a:lnSpc>
                <a:spcPct val="107000"/>
              </a:lnSpc>
              <a:spcAft>
                <a:spcPts val="800"/>
              </a:spcAft>
              <a:buFont typeface="Arial" panose="020B0604020202020204" pitchFamily="34" charset="0"/>
              <a:buChar char="•"/>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Gene Expression Insights: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It uncovers details of gene expression at the single-cell level, revealing patterns like monoallelic gene expression, splicing variations, and transcriptional noise.</a:t>
            </a:r>
          </a:p>
          <a:p>
            <a:pPr marL="285750" indent="-285750">
              <a:lnSpc>
                <a:spcPct val="107000"/>
              </a:lnSpc>
              <a:spcAft>
                <a:spcPts val="800"/>
              </a:spcAft>
              <a:buFont typeface="Arial" panose="020B0604020202020204" pitchFamily="34" charset="0"/>
              <a:buChar char="•"/>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Understanding Gene Regulation: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By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single-cell co-expression,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can identify groups of co-regulated genes and infer gene networks that drive cell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behavior</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and specialization.</a:t>
            </a:r>
          </a:p>
          <a:p>
            <a:pPr marL="285750" indent="-285750">
              <a:lnSpc>
                <a:spcPct val="107000"/>
              </a:lnSpc>
              <a:spcAft>
                <a:spcPts val="800"/>
              </a:spcAft>
              <a:buFont typeface="Arial" panose="020B0604020202020204" pitchFamily="34" charset="0"/>
              <a:buChar char="•"/>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sz="1600" dirty="0"/>
          </a:p>
        </p:txBody>
      </p:sp>
    </p:spTree>
    <p:extLst>
      <p:ext uri="{BB962C8B-B14F-4D97-AF65-F5344CB8AC3E}">
        <p14:creationId xmlns:p14="http://schemas.microsoft.com/office/powerpoint/2010/main" val="34021551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B3F177C-518E-2BFF-2548-F009C34221AA}"/>
              </a:ext>
            </a:extLst>
          </p:cNvPr>
          <p:cNvSpPr txBox="1"/>
          <p:nvPr/>
        </p:nvSpPr>
        <p:spPr>
          <a:xfrm>
            <a:off x="3161396" y="232791"/>
            <a:ext cx="5869209" cy="923330"/>
          </a:xfrm>
          <a:prstGeom prst="rect">
            <a:avLst/>
          </a:prstGeom>
          <a:noFill/>
        </p:spPr>
        <p:txBody>
          <a:bodyPr wrap="square" rtlCol="0">
            <a:spAutoFit/>
          </a:bodyPr>
          <a:lstStyle/>
          <a:p>
            <a:pPr algn="ctr"/>
            <a:r>
              <a:rPr lang="en-IN" sz="5400" b="1" u="sng" kern="100" dirty="0">
                <a:ln>
                  <a:solidFill>
                    <a:schemeClr val="tx2">
                      <a:lumMod val="75000"/>
                      <a:lumOff val="25000"/>
                    </a:schemeClr>
                  </a:solidFill>
                </a:ln>
                <a:solidFill>
                  <a:schemeClr val="bg2">
                    <a:lumMod val="10000"/>
                  </a:schemeClr>
                </a:solidFill>
                <a:effectLst>
                  <a:glow rad="228600">
                    <a:schemeClr val="accent1">
                      <a:satMod val="175000"/>
                      <a:alpha val="22000"/>
                    </a:schemeClr>
                  </a:glow>
                </a:effectLst>
                <a:latin typeface="Algerian" panose="04020705040A02060702" pitchFamily="82" charset="0"/>
                <a:ea typeface="Aptos" panose="020B0004020202020204" pitchFamily="34" charset="0"/>
                <a:cs typeface="Times New Roman" panose="02020603050405020304" pitchFamily="18" charset="0"/>
              </a:rPr>
              <a:t>Introduction</a:t>
            </a:r>
            <a:endParaRPr lang="en-IN" sz="5400" kern="100" dirty="0">
              <a:ln>
                <a:solidFill>
                  <a:schemeClr val="tx2">
                    <a:lumMod val="75000"/>
                    <a:lumOff val="25000"/>
                  </a:schemeClr>
                </a:solidFill>
              </a:ln>
              <a:solidFill>
                <a:schemeClr val="bg2">
                  <a:lumMod val="10000"/>
                </a:schemeClr>
              </a:solidFill>
              <a:effectLst>
                <a:glow rad="228600">
                  <a:schemeClr val="accent1">
                    <a:satMod val="175000"/>
                    <a:alpha val="22000"/>
                  </a:schemeClr>
                </a:glow>
              </a:effectLst>
              <a:latin typeface="Algerian" panose="04020705040A02060702" pitchFamily="82"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C05D315-B427-167F-55AC-A46F7C93B056}"/>
              </a:ext>
            </a:extLst>
          </p:cNvPr>
          <p:cNvSpPr txBox="1"/>
          <p:nvPr/>
        </p:nvSpPr>
        <p:spPr>
          <a:xfrm>
            <a:off x="248412" y="-5244550"/>
            <a:ext cx="11695176" cy="12754261"/>
          </a:xfrm>
          <a:prstGeom prst="rect">
            <a:avLst/>
          </a:prstGeom>
          <a:noFill/>
        </p:spPr>
        <p:txBody>
          <a:bodyPr wrap="square" rtlCol="0">
            <a:spAutoFit/>
          </a:bodyPr>
          <a:lstStyle/>
          <a:p>
            <a:pPr>
              <a:lnSpc>
                <a:spcPct val="107000"/>
              </a:lnSpc>
              <a:spcAft>
                <a:spcPts val="800"/>
              </a:spcAft>
            </a:pPr>
            <a:r>
              <a:rPr lang="en-IN" sz="2000" b="1" kern="100" dirty="0">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What is single-cell RNA sequencing?</a:t>
            </a:r>
          </a:p>
          <a:p>
            <a:pPr marL="285750" indent="-285750">
              <a:lnSpc>
                <a:spcPct val="107000"/>
              </a:lnSpc>
              <a:spcAft>
                <a:spcPts val="800"/>
              </a:spcAft>
              <a:buFont typeface="Arial" panose="020B0604020202020204" pitchFamily="34" charset="0"/>
              <a:buChar char="•"/>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RNA sequencing (RNA-</a:t>
            </a:r>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seq</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is a genomic approach for the detection and quantitative analysis of messenger RNA molecules, useful for studying cellular responses.</a:t>
            </a:r>
          </a:p>
          <a:p>
            <a:pPr marL="285750" indent="-285750">
              <a:lnSpc>
                <a:spcPct val="107000"/>
              </a:lnSpc>
              <a:spcAft>
                <a:spcPts val="800"/>
              </a:spcAft>
              <a:buFont typeface="Arial" panose="020B0604020202020204" pitchFamily="34" charset="0"/>
              <a:buChar char="•"/>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Single-cell RNA sequencing (</a:t>
            </a:r>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is a powerful technique used to describe RNA molecules and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gene expression of individual cells with high resolution.</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It allows researchers to examine the complete set of RNA transcripts within a single cell, providing insights into the cell's functional state, identity, and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behavior</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First single-cell RNA-sequencing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study was published in 2009</a:t>
            </a:r>
          </a:p>
          <a:p>
            <a:pPr>
              <a:lnSpc>
                <a:spcPct val="107000"/>
              </a:lnSpc>
              <a:spcAft>
                <a:spcPts val="800"/>
              </a:spcAft>
            </a:pPr>
            <a:r>
              <a:rPr lang="en-IN" sz="2000" b="1" kern="100" dirty="0">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What is Cellular Heterogeneity?</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Cellular heterogeneity is the diversity in characteristics among individual cells within a population, tissue, or organism.</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This variation can occur in terms of cellular morphology, gene expression, protein levels, metabolic activity, or responses to environmental stimuli.</a:t>
            </a:r>
          </a:p>
          <a:p>
            <a:pPr marL="285750" indent="-285750">
              <a:lnSpc>
                <a:spcPct val="107000"/>
              </a:lnSpc>
              <a:spcAft>
                <a:spcPts val="800"/>
              </a:spcAft>
              <a:buFont typeface="Arial" panose="020B0604020202020204" pitchFamily="34" charset="0"/>
              <a:buChar char="•"/>
            </a:pPr>
            <a:r>
              <a:rPr lang="en-IN" sz="1600" kern="100" dirty="0">
                <a:latin typeface="Aptos" panose="020B0004020202020204" pitchFamily="34" charset="0"/>
                <a:ea typeface="Aptos" panose="020B0004020202020204" pitchFamily="34" charset="0"/>
                <a:cs typeface="Times New Roman" panose="02020603050405020304" pitchFamily="18" charset="0"/>
              </a:rPr>
              <a:t>C</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ell heterogeneity has been appreciated in many studies of diseases, such as cancers, infectious diseases, and brain disorders. </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Research on cellular heterogeneity has been performed in different areas, including genomics, transcriptomics, proteomics, and metabolomics.</a:t>
            </a:r>
          </a:p>
          <a:p>
            <a:pPr marL="285750" indent="-285750">
              <a:lnSpc>
                <a:spcPct val="107000"/>
              </a:lnSpc>
              <a:spcAft>
                <a:spcPts val="800"/>
              </a:spcAft>
              <a:buFont typeface="Arial" panose="020B0604020202020204" pitchFamily="34" charset="0"/>
              <a:buChar char="•"/>
            </a:pPr>
            <a:endParaRPr lang="en-IN" sz="16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endParaRPr lang="en-IN" sz="16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endParaRPr lang="en-IN" sz="16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IN" sz="2000" b="1" kern="100" dirty="0">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Importance of </a:t>
            </a:r>
            <a:r>
              <a:rPr lang="en-IN" sz="2000" b="1" kern="100" dirty="0" err="1">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scRNA-seq</a:t>
            </a:r>
            <a:r>
              <a:rPr lang="en-IN" sz="2000" b="1" kern="100" dirty="0">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 to capture cellular diversity</a:t>
            </a:r>
          </a:p>
          <a:p>
            <a:pPr marL="285750" indent="-285750">
              <a:lnSpc>
                <a:spcPct val="107000"/>
              </a:lnSpc>
              <a:spcAft>
                <a:spcPts val="800"/>
              </a:spcAft>
              <a:buFont typeface="Arial" panose="020B0604020202020204" pitchFamily="34" charset="0"/>
              <a:buChar char="•"/>
            </a:pPr>
            <a:r>
              <a:rPr lang="en-IN" sz="1600" kern="100" dirty="0" err="1">
                <a:latin typeface="Aptos" panose="020B0004020202020204" pitchFamily="34" charset="0"/>
                <a:ea typeface="Aptos" panose="020B0004020202020204" pitchFamily="34" charset="0"/>
                <a:cs typeface="Times New Roman" panose="02020603050405020304" pitchFamily="18" charset="0"/>
              </a:rPr>
              <a:t>S</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permits comparison of the transcriptomes of individual cells. </a:t>
            </a:r>
          </a:p>
          <a:p>
            <a:pPr marL="285750" indent="-285750">
              <a:lnSpc>
                <a:spcPct val="107000"/>
              </a:lnSpc>
              <a:spcAft>
                <a:spcPts val="800"/>
              </a:spcAft>
              <a:buFont typeface="Arial" panose="020B0604020202020204" pitchFamily="34" charset="0"/>
              <a:buChar char="•"/>
            </a:pPr>
            <a:r>
              <a:rPr lang="en-IN" sz="1600" kern="100" dirty="0">
                <a:latin typeface="Aptos" panose="020B0004020202020204" pitchFamily="34" charset="0"/>
                <a:ea typeface="Aptos" panose="020B0004020202020204" pitchFamily="34" charset="0"/>
                <a:cs typeface="Times New Roman" panose="02020603050405020304" pitchFamily="18" charset="0"/>
              </a:rPr>
              <a:t>A</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major use of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has been to assess transcriptional similarities and differences within a population of cells.</a:t>
            </a:r>
          </a:p>
          <a:p>
            <a:pPr marL="285750" indent="-285750">
              <a:lnSpc>
                <a:spcPct val="107000"/>
              </a:lnSpc>
              <a:spcAft>
                <a:spcPts val="800"/>
              </a:spcAft>
              <a:buFont typeface="Arial" panose="020B0604020202020204" pitchFamily="34" charset="0"/>
              <a:buChar char="•"/>
            </a:pPr>
            <a:r>
              <a:rPr lang="en-IN" sz="1600" kern="100" dirty="0">
                <a:latin typeface="Aptos" panose="020B0004020202020204" pitchFamily="34" charset="0"/>
                <a:ea typeface="Aptos" panose="020B0004020202020204" pitchFamily="34" charset="0"/>
                <a:cs typeface="Times New Roman" panose="02020603050405020304" pitchFamily="18" charset="0"/>
              </a:rPr>
              <a:t>R</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evealing previously unappreciated levels of heterogeneity, for example in embryonic and immune cells. </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Thus, heterogeneity analysis remains a core reason for embarking on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studies.</a:t>
            </a:r>
          </a:p>
          <a:p>
            <a:pPr>
              <a:lnSpc>
                <a:spcPct val="107000"/>
              </a:lnSpc>
              <a:spcAft>
                <a:spcPts val="800"/>
              </a:spcAft>
            </a:pPr>
            <a:r>
              <a:rPr lang="en-IN" sz="2000" b="1" kern="100" dirty="0">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Benefits of </a:t>
            </a:r>
            <a:r>
              <a:rPr lang="en-IN" sz="2000" b="1" kern="100" dirty="0" err="1">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scRNA-seq</a:t>
            </a:r>
            <a:r>
              <a:rPr lang="en-IN" sz="2000" b="1" kern="100" dirty="0">
                <a:effectLst>
                  <a:outerShdw blurRad="50800" dist="38100" algn="l" rotWithShape="0">
                    <a:prstClr val="black">
                      <a:alpha val="40000"/>
                    </a:prstClr>
                  </a:outerShdw>
                </a:effectLst>
                <a:latin typeface="Goudy Old Style" panose="02020502050305020303" pitchFamily="18" charset="0"/>
                <a:cs typeface="Times New Roman" panose="02020603050405020304" pitchFamily="18" charset="0"/>
              </a:rPr>
              <a:t> for studying tissue-specific expression, rare cell populations and other studies</a:t>
            </a:r>
          </a:p>
          <a:p>
            <a:pPr marL="285750" indent="-285750">
              <a:lnSpc>
                <a:spcPct val="107000"/>
              </a:lnSpc>
              <a:spcAft>
                <a:spcPts val="800"/>
              </a:spcAft>
              <a:buFont typeface="Arial" panose="020B0604020202020204" pitchFamily="34" charset="0"/>
              <a:buChar char="•"/>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Identifying Rare Cell Populations: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can detect rare cell types, like malignant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tumor</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cells or highly responsive immune cells, which are often missed in bulk cell analyses.</a:t>
            </a:r>
          </a:p>
          <a:p>
            <a:pPr marL="285750" indent="-285750">
              <a:lnSpc>
                <a:spcPct val="107000"/>
              </a:lnSpc>
              <a:spcAft>
                <a:spcPts val="800"/>
              </a:spcAft>
              <a:buFont typeface="Arial" panose="020B0604020202020204" pitchFamily="34" charset="0"/>
              <a:buChar char="•"/>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Tracking Unique Cells: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It is particularly useful for studying naturally diverse cells, such as T lymphocytes with different T-cell receptors, neurons in the brain, or early-stage embryo cells.</a:t>
            </a:r>
          </a:p>
          <a:p>
            <a:pPr marL="285750" indent="-285750">
              <a:lnSpc>
                <a:spcPct val="107000"/>
              </a:lnSpc>
              <a:spcAft>
                <a:spcPts val="800"/>
              </a:spcAft>
              <a:buFont typeface="Arial" panose="020B0604020202020204" pitchFamily="34" charset="0"/>
              <a:buChar char="•"/>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Tracing Lineage and Development: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helps track how cells evolve over time, such as during embryo development, cancer progression, and immune cell differentiation.</a:t>
            </a:r>
          </a:p>
          <a:p>
            <a:pPr marL="285750" indent="-285750">
              <a:lnSpc>
                <a:spcPct val="107000"/>
              </a:lnSpc>
              <a:spcAft>
                <a:spcPts val="800"/>
              </a:spcAft>
              <a:buFont typeface="Arial" panose="020B0604020202020204" pitchFamily="34" charset="0"/>
              <a:buChar char="•"/>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Gene Expression Insights: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It uncovers details of gene expression at the single-cell level, revealing patterns like monoallelic gene expression, splicing variations, and transcriptional noise.</a:t>
            </a:r>
          </a:p>
          <a:p>
            <a:pPr marL="285750" indent="-285750">
              <a:lnSpc>
                <a:spcPct val="107000"/>
              </a:lnSpc>
              <a:spcAft>
                <a:spcPts val="800"/>
              </a:spcAft>
              <a:buFont typeface="Arial" panose="020B0604020202020204" pitchFamily="34" charset="0"/>
              <a:buChar char="•"/>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Understanding Gene Regulation: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By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single-cell co-expression,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can identify groups of co-regulated genes and infer gene networks that drive cell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behavior</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and specialization.</a:t>
            </a:r>
          </a:p>
          <a:p>
            <a:pPr marL="285750" indent="-285750">
              <a:lnSpc>
                <a:spcPct val="107000"/>
              </a:lnSpc>
              <a:spcAft>
                <a:spcPts val="800"/>
              </a:spcAft>
              <a:buFont typeface="Arial" panose="020B0604020202020204" pitchFamily="34" charset="0"/>
              <a:buChar char="•"/>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sz="1600" dirty="0"/>
          </a:p>
        </p:txBody>
      </p:sp>
      <p:grpSp>
        <p:nvGrpSpPr>
          <p:cNvPr id="2" name="Group 1">
            <a:extLst>
              <a:ext uri="{FF2B5EF4-FFF2-40B4-BE49-F238E27FC236}">
                <a16:creationId xmlns:a16="http://schemas.microsoft.com/office/drawing/2014/main" id="{18244AF8-BB28-7F31-9EFF-756BD606089D}"/>
              </a:ext>
            </a:extLst>
          </p:cNvPr>
          <p:cNvGrpSpPr/>
          <p:nvPr/>
        </p:nvGrpSpPr>
        <p:grpSpPr>
          <a:xfrm>
            <a:off x="2570956" y="6971705"/>
            <a:ext cx="7050088" cy="5591484"/>
            <a:chOff x="2570956" y="1220129"/>
            <a:chExt cx="7050088" cy="5591484"/>
          </a:xfrm>
        </p:grpSpPr>
        <p:pic>
          <p:nvPicPr>
            <p:cNvPr id="3" name="Picture 2" descr="Frontiers | Single-Cell RNA-Seq Technologies and Related Computational Data  Analysis">
              <a:extLst>
                <a:ext uri="{FF2B5EF4-FFF2-40B4-BE49-F238E27FC236}">
                  <a16:creationId xmlns:a16="http://schemas.microsoft.com/office/drawing/2014/main" id="{4ED5A505-50A2-C99F-E8B8-860211B38B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0956" y="1220129"/>
              <a:ext cx="7050088" cy="542121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CA80E82-BBCA-F167-2EC2-0F69F932DCE6}"/>
                </a:ext>
              </a:extLst>
            </p:cNvPr>
            <p:cNvSpPr txBox="1"/>
            <p:nvPr/>
          </p:nvSpPr>
          <p:spPr>
            <a:xfrm>
              <a:off x="3227832" y="6565392"/>
              <a:ext cx="5375189" cy="246221"/>
            </a:xfrm>
            <a:prstGeom prst="rect">
              <a:avLst/>
            </a:prstGeom>
            <a:noFill/>
          </p:spPr>
          <p:txBody>
            <a:bodyPr wrap="none" rtlCol="0">
              <a:spAutoFit/>
            </a:bodyPr>
            <a:lstStyle/>
            <a:p>
              <a:r>
                <a:rPr lang="en-US" sz="1000" dirty="0"/>
                <a:t>Source: https://www.frontiersin.org/journals/genetics/articles/10.3389/fgene.2019.00317/full</a:t>
              </a:r>
              <a:endParaRPr lang="en-IN" sz="1000" dirty="0"/>
            </a:p>
          </p:txBody>
        </p:sp>
      </p:grpSp>
    </p:spTree>
    <p:extLst>
      <p:ext uri="{BB962C8B-B14F-4D97-AF65-F5344CB8AC3E}">
        <p14:creationId xmlns:p14="http://schemas.microsoft.com/office/powerpoint/2010/main" val="3349177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B3F177C-518E-2BFF-2548-F009C34221AA}"/>
              </a:ext>
            </a:extLst>
          </p:cNvPr>
          <p:cNvSpPr txBox="1"/>
          <p:nvPr/>
        </p:nvSpPr>
        <p:spPr>
          <a:xfrm>
            <a:off x="3161396" y="232791"/>
            <a:ext cx="5869209" cy="923330"/>
          </a:xfrm>
          <a:prstGeom prst="rect">
            <a:avLst/>
          </a:prstGeom>
          <a:noFill/>
        </p:spPr>
        <p:txBody>
          <a:bodyPr wrap="square" rtlCol="0">
            <a:spAutoFit/>
          </a:bodyPr>
          <a:lstStyle/>
          <a:p>
            <a:pPr algn="ctr"/>
            <a:r>
              <a:rPr lang="en-IN" sz="5400" b="1" u="sng" kern="100" dirty="0">
                <a:ln>
                  <a:solidFill>
                    <a:schemeClr val="tx2">
                      <a:lumMod val="75000"/>
                      <a:lumOff val="25000"/>
                    </a:schemeClr>
                  </a:solidFill>
                </a:ln>
                <a:solidFill>
                  <a:schemeClr val="bg2">
                    <a:lumMod val="10000"/>
                  </a:schemeClr>
                </a:solidFill>
                <a:effectLst>
                  <a:glow rad="228600">
                    <a:schemeClr val="accent1">
                      <a:satMod val="175000"/>
                      <a:alpha val="22000"/>
                    </a:schemeClr>
                  </a:glow>
                </a:effectLst>
                <a:latin typeface="Algerian" panose="04020705040A02060702" pitchFamily="82" charset="0"/>
                <a:ea typeface="Aptos" panose="020B0004020202020204" pitchFamily="34" charset="0"/>
                <a:cs typeface="Times New Roman" panose="02020603050405020304" pitchFamily="18" charset="0"/>
              </a:rPr>
              <a:t>Introduction</a:t>
            </a:r>
            <a:endParaRPr lang="en-IN" sz="5400" kern="100" dirty="0">
              <a:ln>
                <a:solidFill>
                  <a:schemeClr val="tx2">
                    <a:lumMod val="75000"/>
                    <a:lumOff val="25000"/>
                  </a:schemeClr>
                </a:solidFill>
              </a:ln>
              <a:solidFill>
                <a:schemeClr val="bg2">
                  <a:lumMod val="10000"/>
                </a:schemeClr>
              </a:solidFill>
              <a:effectLst>
                <a:glow rad="228600">
                  <a:schemeClr val="accent1">
                    <a:satMod val="175000"/>
                    <a:alpha val="22000"/>
                  </a:schemeClr>
                </a:glow>
              </a:effectLst>
              <a:latin typeface="Algerian" panose="04020705040A02060702" pitchFamily="82" charset="0"/>
              <a:ea typeface="Aptos" panose="020B0004020202020204" pitchFamily="34" charset="0"/>
              <a:cs typeface="Times New Roman" panose="02020603050405020304" pitchFamily="18" charset="0"/>
            </a:endParaRPr>
          </a:p>
        </p:txBody>
      </p:sp>
      <p:grpSp>
        <p:nvGrpSpPr>
          <p:cNvPr id="3" name="Group 2">
            <a:extLst>
              <a:ext uri="{FF2B5EF4-FFF2-40B4-BE49-F238E27FC236}">
                <a16:creationId xmlns:a16="http://schemas.microsoft.com/office/drawing/2014/main" id="{49FD8D94-5C39-2027-1355-7D2664157892}"/>
              </a:ext>
            </a:extLst>
          </p:cNvPr>
          <p:cNvGrpSpPr/>
          <p:nvPr/>
        </p:nvGrpSpPr>
        <p:grpSpPr>
          <a:xfrm>
            <a:off x="2570956" y="1220129"/>
            <a:ext cx="7050088" cy="5591484"/>
            <a:chOff x="2570956" y="1220129"/>
            <a:chExt cx="7050088" cy="5591484"/>
          </a:xfrm>
        </p:grpSpPr>
        <p:pic>
          <p:nvPicPr>
            <p:cNvPr id="14338" name="Picture 2" descr="Frontiers | Single-Cell RNA-Seq Technologies and Related Computational Data  Analysis">
              <a:extLst>
                <a:ext uri="{FF2B5EF4-FFF2-40B4-BE49-F238E27FC236}">
                  <a16:creationId xmlns:a16="http://schemas.microsoft.com/office/drawing/2014/main" id="{C8FBCE3F-42DF-E9A7-0EE7-23BCB6CFCE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0956" y="1220129"/>
              <a:ext cx="7050088" cy="542121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C22EBEF-85DF-5F39-8A01-2086D74A0211}"/>
                </a:ext>
              </a:extLst>
            </p:cNvPr>
            <p:cNvSpPr txBox="1"/>
            <p:nvPr/>
          </p:nvSpPr>
          <p:spPr>
            <a:xfrm>
              <a:off x="3227832" y="6565392"/>
              <a:ext cx="5375189" cy="246221"/>
            </a:xfrm>
            <a:prstGeom prst="rect">
              <a:avLst/>
            </a:prstGeom>
            <a:noFill/>
          </p:spPr>
          <p:txBody>
            <a:bodyPr wrap="none" rtlCol="0">
              <a:spAutoFit/>
            </a:bodyPr>
            <a:lstStyle/>
            <a:p>
              <a:r>
                <a:rPr lang="en-US" sz="1000" dirty="0"/>
                <a:t>Source: https://www.frontiersin.org/journals/genetics/articles/10.3389/fgene.2019.00317/full</a:t>
              </a:r>
              <a:endParaRPr lang="en-IN" sz="1000" dirty="0"/>
            </a:p>
          </p:txBody>
        </p:sp>
      </p:grpSp>
    </p:spTree>
    <p:extLst>
      <p:ext uri="{BB962C8B-B14F-4D97-AF65-F5344CB8AC3E}">
        <p14:creationId xmlns:p14="http://schemas.microsoft.com/office/powerpoint/2010/main" val="4123606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6580216-5C5D-144A-4068-A7C12DAA60E7}"/>
              </a:ext>
            </a:extLst>
          </p:cNvPr>
          <p:cNvSpPr txBox="1"/>
          <p:nvPr/>
        </p:nvSpPr>
        <p:spPr>
          <a:xfrm>
            <a:off x="699713" y="248038"/>
            <a:ext cx="7063721" cy="11592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b="1" u="sng" kern="1200">
                <a:solidFill>
                  <a:srgbClr val="FFFFFF"/>
                </a:solidFill>
                <a:latin typeface="+mj-lt"/>
                <a:ea typeface="+mj-ea"/>
                <a:cs typeface="+mj-cs"/>
              </a:rPr>
              <a:t>Overview of Single-Cell RNA-seq</a:t>
            </a:r>
            <a:endParaRPr lang="en-US" sz="3700" kern="1200">
              <a:solidFill>
                <a:srgbClr val="FFFFFF"/>
              </a:solidFill>
              <a:effectLst/>
              <a:latin typeface="+mj-lt"/>
              <a:ea typeface="+mj-ea"/>
              <a:cs typeface="+mj-cs"/>
            </a:endParaRPr>
          </a:p>
        </p:txBody>
      </p:sp>
      <p:graphicFrame>
        <p:nvGraphicFramePr>
          <p:cNvPr id="3" name="Table 2">
            <a:extLst>
              <a:ext uri="{FF2B5EF4-FFF2-40B4-BE49-F238E27FC236}">
                <a16:creationId xmlns:a16="http://schemas.microsoft.com/office/drawing/2014/main" id="{2AF791D8-F01B-C1E8-704D-A70CD32AE24B}"/>
              </a:ext>
            </a:extLst>
          </p:cNvPr>
          <p:cNvGraphicFramePr>
            <a:graphicFrameLocks noGrp="1"/>
          </p:cNvGraphicFramePr>
          <p:nvPr>
            <p:extLst>
              <p:ext uri="{D42A27DB-BD31-4B8C-83A1-F6EECF244321}">
                <p14:modId xmlns:p14="http://schemas.microsoft.com/office/powerpoint/2010/main" val="2298576791"/>
              </p:ext>
            </p:extLst>
          </p:nvPr>
        </p:nvGraphicFramePr>
        <p:xfrm>
          <a:off x="432225" y="2435882"/>
          <a:ext cx="11327550" cy="3512985"/>
        </p:xfrm>
        <a:graphic>
          <a:graphicData uri="http://schemas.openxmlformats.org/drawingml/2006/table">
            <a:tbl>
              <a:tblPr firstRow="1" firstCol="1" bandRow="1">
                <a:tableStyleId>{69012ECD-51FC-41F1-AA8D-1B2483CD663E}</a:tableStyleId>
              </a:tblPr>
              <a:tblGrid>
                <a:gridCol w="2391022">
                  <a:extLst>
                    <a:ext uri="{9D8B030D-6E8A-4147-A177-3AD203B41FA5}">
                      <a16:colId xmlns:a16="http://schemas.microsoft.com/office/drawing/2014/main" val="740405089"/>
                    </a:ext>
                  </a:extLst>
                </a:gridCol>
                <a:gridCol w="4379468">
                  <a:extLst>
                    <a:ext uri="{9D8B030D-6E8A-4147-A177-3AD203B41FA5}">
                      <a16:colId xmlns:a16="http://schemas.microsoft.com/office/drawing/2014/main" val="755064232"/>
                    </a:ext>
                  </a:extLst>
                </a:gridCol>
                <a:gridCol w="4557060">
                  <a:extLst>
                    <a:ext uri="{9D8B030D-6E8A-4147-A177-3AD203B41FA5}">
                      <a16:colId xmlns:a16="http://schemas.microsoft.com/office/drawing/2014/main" val="4093097681"/>
                    </a:ext>
                  </a:extLst>
                </a:gridCol>
              </a:tblGrid>
              <a:tr h="285460">
                <a:tc>
                  <a:txBody>
                    <a:bodyPr/>
                    <a:lstStyle/>
                    <a:p>
                      <a:pPr>
                        <a:lnSpc>
                          <a:spcPct val="107000"/>
                        </a:lnSpc>
                        <a:spcAft>
                          <a:spcPts val="800"/>
                        </a:spcAft>
                      </a:pPr>
                      <a:r>
                        <a:rPr lang="en-IN" sz="1500" kern="100">
                          <a:effectLst/>
                        </a:rPr>
                        <a:t>Feature</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a:effectLst/>
                        </a:rPr>
                        <a:t>Bulk RNA-seq</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a:effectLst/>
                        </a:rPr>
                        <a:t>Single-Cell RNA-seq</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extLst>
                  <a:ext uri="{0D108BD9-81ED-4DB2-BD59-A6C34878D82A}">
                    <a16:rowId xmlns:a16="http://schemas.microsoft.com/office/drawing/2014/main" val="2637719826"/>
                  </a:ext>
                </a:extLst>
              </a:tr>
              <a:tr h="285460">
                <a:tc>
                  <a:txBody>
                    <a:bodyPr/>
                    <a:lstStyle/>
                    <a:p>
                      <a:pPr>
                        <a:lnSpc>
                          <a:spcPct val="107000"/>
                        </a:lnSpc>
                        <a:spcAft>
                          <a:spcPts val="800"/>
                        </a:spcAft>
                      </a:pPr>
                      <a:r>
                        <a:rPr lang="en-IN" sz="1500" kern="100">
                          <a:effectLst/>
                        </a:rPr>
                        <a:t>Cellular Resolution</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a:effectLst/>
                        </a:rPr>
                        <a:t>Averages gene expression across many cells</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a:effectLst/>
                        </a:rPr>
                        <a:t>Captures gene expression for individual cells</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extLst>
                  <a:ext uri="{0D108BD9-81ED-4DB2-BD59-A6C34878D82A}">
                    <a16:rowId xmlns:a16="http://schemas.microsoft.com/office/drawing/2014/main" val="2147123004"/>
                  </a:ext>
                </a:extLst>
              </a:tr>
              <a:tr h="531321">
                <a:tc>
                  <a:txBody>
                    <a:bodyPr/>
                    <a:lstStyle/>
                    <a:p>
                      <a:pPr>
                        <a:lnSpc>
                          <a:spcPct val="107000"/>
                        </a:lnSpc>
                        <a:spcAft>
                          <a:spcPts val="800"/>
                        </a:spcAft>
                      </a:pPr>
                      <a:r>
                        <a:rPr lang="en-IN" sz="1500" kern="100">
                          <a:effectLst/>
                        </a:rPr>
                        <a:t>Heterogeneity Detection</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a:effectLst/>
                        </a:rPr>
                        <a:t>Unable to detect cellular heterogeneity within a sample</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a:effectLst/>
                        </a:rPr>
                        <a:t>Detects heterogeneity and identifies distinct cell types, states, or rare cell populations</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extLst>
                  <a:ext uri="{0D108BD9-81ED-4DB2-BD59-A6C34878D82A}">
                    <a16:rowId xmlns:a16="http://schemas.microsoft.com/office/drawing/2014/main" val="354228276"/>
                  </a:ext>
                </a:extLst>
              </a:tr>
              <a:tr h="531321">
                <a:tc>
                  <a:txBody>
                    <a:bodyPr/>
                    <a:lstStyle/>
                    <a:p>
                      <a:pPr>
                        <a:lnSpc>
                          <a:spcPct val="107000"/>
                        </a:lnSpc>
                        <a:spcAft>
                          <a:spcPts val="800"/>
                        </a:spcAft>
                      </a:pPr>
                      <a:r>
                        <a:rPr lang="en-IN" sz="1500" kern="100">
                          <a:effectLst/>
                        </a:rPr>
                        <a:t>Sensitivity</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a:effectLst/>
                        </a:rPr>
                        <a:t>Lower sensitivity to rare cell types and subtle differences</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a:effectLst/>
                        </a:rPr>
                        <a:t>Higher sensitivity; can detect rare cell populations and distinct cellular states</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extLst>
                  <a:ext uri="{0D108BD9-81ED-4DB2-BD59-A6C34878D82A}">
                    <a16:rowId xmlns:a16="http://schemas.microsoft.com/office/drawing/2014/main" val="3002555530"/>
                  </a:ext>
                </a:extLst>
              </a:tr>
              <a:tr h="285460">
                <a:tc>
                  <a:txBody>
                    <a:bodyPr/>
                    <a:lstStyle/>
                    <a:p>
                      <a:pPr>
                        <a:lnSpc>
                          <a:spcPct val="107000"/>
                        </a:lnSpc>
                        <a:spcAft>
                          <a:spcPts val="800"/>
                        </a:spcAft>
                      </a:pPr>
                      <a:r>
                        <a:rPr lang="en-IN" sz="1500" kern="100">
                          <a:effectLst/>
                        </a:rPr>
                        <a:t>Data Complexity</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a:effectLst/>
                        </a:rPr>
                        <a:t>Simpler, but averages out differences</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a:effectLst/>
                        </a:rPr>
                        <a:t>More complex due to many individual profiles</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extLst>
                  <a:ext uri="{0D108BD9-81ED-4DB2-BD59-A6C34878D82A}">
                    <a16:rowId xmlns:a16="http://schemas.microsoft.com/office/drawing/2014/main" val="3213589666"/>
                  </a:ext>
                </a:extLst>
              </a:tr>
              <a:tr h="531321">
                <a:tc>
                  <a:txBody>
                    <a:bodyPr/>
                    <a:lstStyle/>
                    <a:p>
                      <a:pPr>
                        <a:lnSpc>
                          <a:spcPct val="107000"/>
                        </a:lnSpc>
                        <a:spcAft>
                          <a:spcPts val="800"/>
                        </a:spcAft>
                      </a:pPr>
                      <a:r>
                        <a:rPr lang="en-IN" sz="1500" kern="100">
                          <a:effectLst/>
                        </a:rPr>
                        <a:t>Cell State Information</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a:effectLst/>
                        </a:rPr>
                        <a:t>Cannot reveal information on individual cell states or cell-to-cell variability</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a:effectLst/>
                        </a:rPr>
                        <a:t>Reveals detailed information about cell states, trajectories, and functions</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extLst>
                  <a:ext uri="{0D108BD9-81ED-4DB2-BD59-A6C34878D82A}">
                    <a16:rowId xmlns:a16="http://schemas.microsoft.com/office/drawing/2014/main" val="2213237338"/>
                  </a:ext>
                </a:extLst>
              </a:tr>
              <a:tr h="531321">
                <a:tc>
                  <a:txBody>
                    <a:bodyPr/>
                    <a:lstStyle/>
                    <a:p>
                      <a:pPr>
                        <a:lnSpc>
                          <a:spcPct val="107000"/>
                        </a:lnSpc>
                        <a:spcAft>
                          <a:spcPts val="800"/>
                        </a:spcAft>
                      </a:pPr>
                      <a:r>
                        <a:rPr lang="en-IN" sz="1500" kern="100">
                          <a:effectLst/>
                        </a:rPr>
                        <a:t>Cell Population Analysis</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a:effectLst/>
                        </a:rPr>
                        <a:t>Cannot distinguish between different cell types or states</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a:effectLst/>
                        </a:rPr>
                        <a:t>Identifies different cell types and subtypes in complex tissues</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extLst>
                  <a:ext uri="{0D108BD9-81ED-4DB2-BD59-A6C34878D82A}">
                    <a16:rowId xmlns:a16="http://schemas.microsoft.com/office/drawing/2014/main" val="2071706463"/>
                  </a:ext>
                </a:extLst>
              </a:tr>
              <a:tr h="531321">
                <a:tc>
                  <a:txBody>
                    <a:bodyPr/>
                    <a:lstStyle/>
                    <a:p>
                      <a:pPr>
                        <a:lnSpc>
                          <a:spcPct val="107000"/>
                        </a:lnSpc>
                        <a:spcAft>
                          <a:spcPts val="800"/>
                        </a:spcAft>
                      </a:pPr>
                      <a:r>
                        <a:rPr lang="en-IN" sz="1500" kern="100">
                          <a:effectLst/>
                        </a:rPr>
                        <a:t>Cost &amp; Data Size</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a:effectLst/>
                        </a:rPr>
                        <a:t>Cheaper and produces smaller data sets</a:t>
                      </a:r>
                      <a:endParaRPr lang="en-IN" sz="1500" kern="10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tc>
                  <a:txBody>
                    <a:bodyPr/>
                    <a:lstStyle/>
                    <a:p>
                      <a:pPr>
                        <a:lnSpc>
                          <a:spcPct val="107000"/>
                        </a:lnSpc>
                        <a:spcAft>
                          <a:spcPts val="800"/>
                        </a:spcAft>
                      </a:pPr>
                      <a:r>
                        <a:rPr lang="en-IN" sz="1500" kern="100" dirty="0">
                          <a:effectLst/>
                        </a:rPr>
                        <a:t>More expensive with larger, more complex data sets</a:t>
                      </a:r>
                      <a:endParaRPr lang="en-IN"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3993" marR="93993" marT="0" marB="0"/>
                </a:tc>
                <a:extLst>
                  <a:ext uri="{0D108BD9-81ED-4DB2-BD59-A6C34878D82A}">
                    <a16:rowId xmlns:a16="http://schemas.microsoft.com/office/drawing/2014/main" val="1219985546"/>
                  </a:ext>
                </a:extLst>
              </a:tr>
            </a:tbl>
          </a:graphicData>
        </a:graphic>
      </p:graphicFrame>
      <p:sp>
        <p:nvSpPr>
          <p:cNvPr id="4" name="TextBox 3">
            <a:extLst>
              <a:ext uri="{FF2B5EF4-FFF2-40B4-BE49-F238E27FC236}">
                <a16:creationId xmlns:a16="http://schemas.microsoft.com/office/drawing/2014/main" id="{4C28B52B-58CE-DE0F-AC2E-29D179491CCC}"/>
              </a:ext>
            </a:extLst>
          </p:cNvPr>
          <p:cNvSpPr txBox="1"/>
          <p:nvPr/>
        </p:nvSpPr>
        <p:spPr>
          <a:xfrm>
            <a:off x="320040" y="1881884"/>
            <a:ext cx="5352556" cy="369332"/>
          </a:xfrm>
          <a:prstGeom prst="rect">
            <a:avLst/>
          </a:prstGeom>
          <a:noFill/>
        </p:spPr>
        <p:txBody>
          <a:bodyPr wrap="none" rtlCol="0">
            <a:spAutoFit/>
          </a:bodyPr>
          <a:lstStyle/>
          <a:p>
            <a:r>
              <a:rPr lang="en-US" b="1" dirty="0"/>
              <a:t>Difference between Bulk RNA-seq and </a:t>
            </a:r>
            <a:r>
              <a:rPr lang="en-US" b="1" dirty="0" err="1"/>
              <a:t>scRNA</a:t>
            </a:r>
            <a:r>
              <a:rPr lang="en-US" b="1" dirty="0"/>
              <a:t>-seq</a:t>
            </a:r>
            <a:endParaRPr lang="en-IN" b="1" dirty="0"/>
          </a:p>
        </p:txBody>
      </p:sp>
    </p:spTree>
    <p:extLst>
      <p:ext uri="{BB962C8B-B14F-4D97-AF65-F5344CB8AC3E}">
        <p14:creationId xmlns:p14="http://schemas.microsoft.com/office/powerpoint/2010/main" val="4173195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10;&#10;Description automatically generated">
            <a:extLst>
              <a:ext uri="{FF2B5EF4-FFF2-40B4-BE49-F238E27FC236}">
                <a16:creationId xmlns:a16="http://schemas.microsoft.com/office/drawing/2014/main" id="{3E524A3E-82E8-7E42-B211-D2C92BA943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646" y="734886"/>
            <a:ext cx="11244708" cy="15845495"/>
          </a:xfrm>
          <a:prstGeom prst="rect">
            <a:avLst/>
          </a:prstGeom>
        </p:spPr>
      </p:pic>
      <p:sp>
        <p:nvSpPr>
          <p:cNvPr id="2" name="TextBox 1">
            <a:extLst>
              <a:ext uri="{FF2B5EF4-FFF2-40B4-BE49-F238E27FC236}">
                <a16:creationId xmlns:a16="http://schemas.microsoft.com/office/drawing/2014/main" id="{FA774D61-515B-1D3D-C527-A2FF9763A9F9}"/>
              </a:ext>
            </a:extLst>
          </p:cNvPr>
          <p:cNvSpPr txBox="1"/>
          <p:nvPr/>
        </p:nvSpPr>
        <p:spPr>
          <a:xfrm>
            <a:off x="0" y="4191"/>
            <a:ext cx="12115800" cy="646331"/>
          </a:xfrm>
          <a:prstGeom prst="rect">
            <a:avLst/>
          </a:prstGeom>
          <a:solidFill>
            <a:schemeClr val="bg1"/>
          </a:solidFill>
        </p:spPr>
        <p:txBody>
          <a:bodyPr wrap="square" rtlCol="0">
            <a:spAutoFit/>
          </a:bodyPr>
          <a:lstStyle/>
          <a:p>
            <a:pPr algn="ctr"/>
            <a:r>
              <a:rPr lang="en-IN" sz="3600" b="1" u="sng" kern="100" dirty="0">
                <a:latin typeface="Aptos" panose="020B0004020202020204" pitchFamily="34" charset="0"/>
                <a:cs typeface="Times New Roman" panose="02020603050405020304" pitchFamily="18" charset="0"/>
              </a:rPr>
              <a:t>Workflow of Single-Cell RNA-</a:t>
            </a:r>
            <a:r>
              <a:rPr lang="en-IN" sz="3600" b="1" u="sng" kern="100" dirty="0" err="1">
                <a:latin typeface="Aptos" panose="020B0004020202020204" pitchFamily="34" charset="0"/>
                <a:cs typeface="Times New Roman" panose="02020603050405020304" pitchFamily="18" charset="0"/>
              </a:rPr>
              <a:t>seq</a:t>
            </a:r>
            <a:endParaRPr lang="en-IN" sz="3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42343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10;&#10;Description automatically generated">
            <a:extLst>
              <a:ext uri="{FF2B5EF4-FFF2-40B4-BE49-F238E27FC236}">
                <a16:creationId xmlns:a16="http://schemas.microsoft.com/office/drawing/2014/main" id="{3E524A3E-82E8-7E42-B211-D2C92BA943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646" y="-5464746"/>
            <a:ext cx="11244708" cy="15845495"/>
          </a:xfrm>
          <a:prstGeom prst="rect">
            <a:avLst/>
          </a:prstGeom>
        </p:spPr>
      </p:pic>
      <p:sp>
        <p:nvSpPr>
          <p:cNvPr id="2" name="TextBox 1">
            <a:extLst>
              <a:ext uri="{FF2B5EF4-FFF2-40B4-BE49-F238E27FC236}">
                <a16:creationId xmlns:a16="http://schemas.microsoft.com/office/drawing/2014/main" id="{FA774D61-515B-1D3D-C527-A2FF9763A9F9}"/>
              </a:ext>
            </a:extLst>
          </p:cNvPr>
          <p:cNvSpPr txBox="1"/>
          <p:nvPr/>
        </p:nvSpPr>
        <p:spPr>
          <a:xfrm>
            <a:off x="0" y="4191"/>
            <a:ext cx="12115800" cy="646331"/>
          </a:xfrm>
          <a:prstGeom prst="rect">
            <a:avLst/>
          </a:prstGeom>
          <a:solidFill>
            <a:schemeClr val="bg1"/>
          </a:solidFill>
        </p:spPr>
        <p:txBody>
          <a:bodyPr wrap="square" rtlCol="0">
            <a:spAutoFit/>
          </a:bodyPr>
          <a:lstStyle/>
          <a:p>
            <a:pPr algn="ctr"/>
            <a:r>
              <a:rPr lang="en-IN" sz="3600" b="1" u="sng" kern="100" dirty="0">
                <a:latin typeface="Aptos" panose="020B0004020202020204" pitchFamily="34" charset="0"/>
                <a:cs typeface="Times New Roman" panose="02020603050405020304" pitchFamily="18" charset="0"/>
              </a:rPr>
              <a:t>Workflow of Single-Cell RNA-</a:t>
            </a:r>
            <a:r>
              <a:rPr lang="en-IN" sz="3600" b="1" u="sng" kern="100" dirty="0" err="1">
                <a:latin typeface="Aptos" panose="020B0004020202020204" pitchFamily="34" charset="0"/>
                <a:cs typeface="Times New Roman" panose="02020603050405020304" pitchFamily="18" charset="0"/>
              </a:rPr>
              <a:t>seq</a:t>
            </a:r>
            <a:endParaRPr lang="en-IN" sz="3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8695187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10;&#10;Description automatically generated">
            <a:extLst>
              <a:ext uri="{FF2B5EF4-FFF2-40B4-BE49-F238E27FC236}">
                <a16:creationId xmlns:a16="http://schemas.microsoft.com/office/drawing/2014/main" id="{3E524A3E-82E8-7E42-B211-D2C92BA943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646" y="-9570402"/>
            <a:ext cx="11244708" cy="15845495"/>
          </a:xfrm>
          <a:prstGeom prst="rect">
            <a:avLst/>
          </a:prstGeom>
        </p:spPr>
      </p:pic>
      <p:sp>
        <p:nvSpPr>
          <p:cNvPr id="2" name="TextBox 1">
            <a:extLst>
              <a:ext uri="{FF2B5EF4-FFF2-40B4-BE49-F238E27FC236}">
                <a16:creationId xmlns:a16="http://schemas.microsoft.com/office/drawing/2014/main" id="{FA774D61-515B-1D3D-C527-A2FF9763A9F9}"/>
              </a:ext>
            </a:extLst>
          </p:cNvPr>
          <p:cNvSpPr txBox="1"/>
          <p:nvPr/>
        </p:nvSpPr>
        <p:spPr>
          <a:xfrm>
            <a:off x="0" y="4191"/>
            <a:ext cx="12115800" cy="646331"/>
          </a:xfrm>
          <a:prstGeom prst="rect">
            <a:avLst/>
          </a:prstGeom>
          <a:solidFill>
            <a:schemeClr val="bg1"/>
          </a:solidFill>
        </p:spPr>
        <p:txBody>
          <a:bodyPr wrap="square" rtlCol="0">
            <a:spAutoFit/>
          </a:bodyPr>
          <a:lstStyle/>
          <a:p>
            <a:pPr algn="ctr"/>
            <a:r>
              <a:rPr lang="en-IN" sz="3600" b="1" u="sng" kern="100" dirty="0">
                <a:latin typeface="Aptos" panose="020B0004020202020204" pitchFamily="34" charset="0"/>
                <a:cs typeface="Times New Roman" panose="02020603050405020304" pitchFamily="18" charset="0"/>
              </a:rPr>
              <a:t>Workflow of Single-Cell RNA-</a:t>
            </a:r>
            <a:r>
              <a:rPr lang="en-IN" sz="3600" b="1" u="sng" kern="100" dirty="0" err="1">
                <a:latin typeface="Aptos" panose="020B0004020202020204" pitchFamily="34" charset="0"/>
                <a:cs typeface="Times New Roman" panose="02020603050405020304" pitchFamily="18" charset="0"/>
              </a:rPr>
              <a:t>seq</a:t>
            </a:r>
            <a:endParaRPr lang="en-IN" sz="3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89A6B4A2-1F75-26DF-2171-0D49B7E72FDB}"/>
              </a:ext>
            </a:extLst>
          </p:cNvPr>
          <p:cNvSpPr txBox="1"/>
          <p:nvPr/>
        </p:nvSpPr>
        <p:spPr>
          <a:xfrm>
            <a:off x="4800600" y="6522720"/>
            <a:ext cx="5160387" cy="246221"/>
          </a:xfrm>
          <a:prstGeom prst="rect">
            <a:avLst/>
          </a:prstGeom>
          <a:noFill/>
        </p:spPr>
        <p:txBody>
          <a:bodyPr wrap="none" rtlCol="0">
            <a:spAutoFit/>
          </a:bodyPr>
          <a:lstStyle/>
          <a:p>
            <a:r>
              <a:rPr lang="en-IN" sz="1000" dirty="0" err="1"/>
              <a:t>Source:https</a:t>
            </a:r>
            <a:r>
              <a:rPr lang="en-IN" sz="1000" dirty="0"/>
              <a:t>://genomemedicine.biomedcentral.com/articles/10.1186/s13073-017-0467-4</a:t>
            </a:r>
          </a:p>
        </p:txBody>
      </p:sp>
    </p:spTree>
    <p:extLst>
      <p:ext uri="{BB962C8B-B14F-4D97-AF65-F5344CB8AC3E}">
        <p14:creationId xmlns:p14="http://schemas.microsoft.com/office/powerpoint/2010/main" val="1816858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30B186-5740-63A1-026E-ACE6B6A32CEF}"/>
              </a:ext>
            </a:extLst>
          </p:cNvPr>
          <p:cNvSpPr txBox="1"/>
          <p:nvPr/>
        </p:nvSpPr>
        <p:spPr>
          <a:xfrm>
            <a:off x="0" y="177927"/>
            <a:ext cx="12115800" cy="646331"/>
          </a:xfrm>
          <a:prstGeom prst="rect">
            <a:avLst/>
          </a:prstGeom>
          <a:solidFill>
            <a:schemeClr val="bg1"/>
          </a:solidFill>
        </p:spPr>
        <p:txBody>
          <a:bodyPr wrap="square" rtlCol="0">
            <a:spAutoFit/>
          </a:bodyPr>
          <a:lstStyle/>
          <a:p>
            <a:pPr algn="ctr"/>
            <a:r>
              <a:rPr lang="en-IN" sz="3600" b="1" u="sng" kern="100" dirty="0">
                <a:latin typeface="Aptos" panose="020B0004020202020204" pitchFamily="34" charset="0"/>
                <a:cs typeface="Times New Roman" panose="02020603050405020304" pitchFamily="18" charset="0"/>
              </a:rPr>
              <a:t>Technologies in </a:t>
            </a:r>
            <a:r>
              <a:rPr lang="en-IN" sz="3600" b="1" u="sng" kern="100" dirty="0" err="1">
                <a:latin typeface="Aptos" panose="020B0004020202020204" pitchFamily="34" charset="0"/>
                <a:cs typeface="Times New Roman" panose="02020603050405020304" pitchFamily="18" charset="0"/>
              </a:rPr>
              <a:t>scRNA-seq</a:t>
            </a:r>
            <a:endParaRPr lang="en-IN" sz="3600" b="1" u="sng" kern="100" dirty="0">
              <a:latin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A668036A-50F0-A5B6-E84F-89FBDD3F9FF7}"/>
              </a:ext>
            </a:extLst>
          </p:cNvPr>
          <p:cNvPicPr>
            <a:picLocks noChangeAspect="1"/>
          </p:cNvPicPr>
          <p:nvPr/>
        </p:nvPicPr>
        <p:blipFill>
          <a:blip r:embed="rId2"/>
          <a:stretch>
            <a:fillRect/>
          </a:stretch>
        </p:blipFill>
        <p:spPr>
          <a:xfrm>
            <a:off x="203580" y="730952"/>
            <a:ext cx="11807445" cy="5902974"/>
          </a:xfrm>
          <a:prstGeom prst="rect">
            <a:avLst/>
          </a:prstGeom>
        </p:spPr>
      </p:pic>
      <p:sp>
        <p:nvSpPr>
          <p:cNvPr id="5" name="TextBox 4">
            <a:extLst>
              <a:ext uri="{FF2B5EF4-FFF2-40B4-BE49-F238E27FC236}">
                <a16:creationId xmlns:a16="http://schemas.microsoft.com/office/drawing/2014/main" id="{79C583AD-F7E1-7B24-AB0C-60B21EE055A2}"/>
              </a:ext>
            </a:extLst>
          </p:cNvPr>
          <p:cNvSpPr txBox="1"/>
          <p:nvPr/>
        </p:nvSpPr>
        <p:spPr>
          <a:xfrm>
            <a:off x="777240" y="6528816"/>
            <a:ext cx="5585440" cy="246221"/>
          </a:xfrm>
          <a:prstGeom prst="rect">
            <a:avLst/>
          </a:prstGeom>
          <a:noFill/>
        </p:spPr>
        <p:txBody>
          <a:bodyPr wrap="none" rtlCol="0">
            <a:spAutoFit/>
          </a:bodyPr>
          <a:lstStyle/>
          <a:p>
            <a:r>
              <a:rPr lang="en-US" sz="1000" dirty="0"/>
              <a:t>Source: </a:t>
            </a:r>
            <a:r>
              <a:rPr lang="en-IN" sz="1000" b="1"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https://www.frontiersin.org/journals/genetics/articles/10.3389/fgene.2019.00317/full</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9182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7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2E343-D683-2DE0-846B-55E89B1E6E20}"/>
              </a:ext>
            </a:extLst>
          </p:cNvPr>
          <p:cNvSpPr>
            <a:spLocks noGrp="1"/>
          </p:cNvSpPr>
          <p:nvPr>
            <p:ph type="title"/>
          </p:nvPr>
        </p:nvSpPr>
        <p:spPr>
          <a:xfrm>
            <a:off x="838199" y="365125"/>
            <a:ext cx="9825111" cy="855193"/>
          </a:xfrm>
        </p:spPr>
        <p:txBody>
          <a:bodyPr>
            <a:noAutofit/>
          </a:bodyPr>
          <a:lstStyle/>
          <a:p>
            <a:r>
              <a:rPr lang="en-US" sz="3600" u="sng" dirty="0">
                <a:latin typeface="Algerian" panose="04020705040A02060702" pitchFamily="82" charset="0"/>
                <a:cs typeface="Times New Roman" panose="02020603050405020304" pitchFamily="18" charset="0"/>
              </a:rPr>
              <a:t>Disciplines contributing </a:t>
            </a:r>
            <a:r>
              <a:rPr lang="en-US" sz="3600" u="sng" dirty="0" err="1">
                <a:latin typeface="Times New Roman" panose="02020603050405020304" pitchFamily="18" charset="0"/>
                <a:cs typeface="Times New Roman" panose="02020603050405020304" pitchFamily="18" charset="0"/>
              </a:rPr>
              <a:t>scRNA</a:t>
            </a:r>
            <a:r>
              <a:rPr lang="en-US" sz="3600" u="sng" dirty="0">
                <a:latin typeface="Algerian" panose="04020705040A02060702" pitchFamily="82" charset="0"/>
                <a:cs typeface="Times New Roman" panose="02020603050405020304" pitchFamily="18" charset="0"/>
              </a:rPr>
              <a:t> studies</a:t>
            </a:r>
            <a:endParaRPr lang="en-IN" sz="3600" u="sng" dirty="0">
              <a:latin typeface="Algerian" panose="04020705040A02060702" pitchFamily="82" charset="0"/>
              <a:cs typeface="Times New Roman" panose="02020603050405020304" pitchFamily="18" charset="0"/>
            </a:endParaRPr>
          </a:p>
        </p:txBody>
      </p:sp>
      <p:grpSp>
        <p:nvGrpSpPr>
          <p:cNvPr id="10" name="Group 9">
            <a:extLst>
              <a:ext uri="{FF2B5EF4-FFF2-40B4-BE49-F238E27FC236}">
                <a16:creationId xmlns:a16="http://schemas.microsoft.com/office/drawing/2014/main" id="{93370CBC-B2B9-AE29-C97F-53067C60211B}"/>
              </a:ext>
            </a:extLst>
          </p:cNvPr>
          <p:cNvGrpSpPr/>
          <p:nvPr/>
        </p:nvGrpSpPr>
        <p:grpSpPr>
          <a:xfrm>
            <a:off x="31572" y="1643438"/>
            <a:ext cx="4909070" cy="4849437"/>
            <a:chOff x="609051" y="1894202"/>
            <a:chExt cx="4091225" cy="4071798"/>
          </a:xfrm>
        </p:grpSpPr>
        <p:sp>
          <p:nvSpPr>
            <p:cNvPr id="11" name="Freeform: Shape 10">
              <a:extLst>
                <a:ext uri="{FF2B5EF4-FFF2-40B4-BE49-F238E27FC236}">
                  <a16:creationId xmlns:a16="http://schemas.microsoft.com/office/drawing/2014/main" id="{7CFED3F9-2B05-BE90-5DAA-DB61018DC42B}"/>
                </a:ext>
              </a:extLst>
            </p:cNvPr>
            <p:cNvSpPr/>
            <p:nvPr/>
          </p:nvSpPr>
          <p:spPr>
            <a:xfrm>
              <a:off x="1787453" y="3183400"/>
              <a:ext cx="1684342" cy="1457024"/>
            </a:xfrm>
            <a:custGeom>
              <a:avLst/>
              <a:gdLst>
                <a:gd name="connsiteX0" fmla="*/ 0 w 1684342"/>
                <a:gd name="connsiteY0" fmla="*/ 728512 h 1457024"/>
                <a:gd name="connsiteX1" fmla="*/ 416272 w 1684342"/>
                <a:gd name="connsiteY1" fmla="*/ 0 h 1457024"/>
                <a:gd name="connsiteX2" fmla="*/ 1268070 w 1684342"/>
                <a:gd name="connsiteY2" fmla="*/ 0 h 1457024"/>
                <a:gd name="connsiteX3" fmla="*/ 1684342 w 1684342"/>
                <a:gd name="connsiteY3" fmla="*/ 728512 h 1457024"/>
                <a:gd name="connsiteX4" fmla="*/ 1268070 w 1684342"/>
                <a:gd name="connsiteY4" fmla="*/ 1457024 h 1457024"/>
                <a:gd name="connsiteX5" fmla="*/ 416272 w 1684342"/>
                <a:gd name="connsiteY5" fmla="*/ 1457024 h 1457024"/>
                <a:gd name="connsiteX6" fmla="*/ 0 w 1684342"/>
                <a:gd name="connsiteY6" fmla="*/ 728512 h 1457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4342" h="1457024">
                  <a:moveTo>
                    <a:pt x="0" y="728512"/>
                  </a:moveTo>
                  <a:lnTo>
                    <a:pt x="416272" y="0"/>
                  </a:lnTo>
                  <a:lnTo>
                    <a:pt x="1268070" y="0"/>
                  </a:lnTo>
                  <a:lnTo>
                    <a:pt x="1684342" y="728512"/>
                  </a:lnTo>
                  <a:lnTo>
                    <a:pt x="1268070" y="1457024"/>
                  </a:lnTo>
                  <a:lnTo>
                    <a:pt x="416272" y="1457024"/>
                  </a:lnTo>
                  <a:lnTo>
                    <a:pt x="0" y="72851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1979" tIns="264309" rIns="301979" bIns="264309" numCol="1" spcCol="1270" anchor="ctr" anchorCtr="0">
              <a:noAutofit/>
            </a:bodyPr>
            <a:lstStyle/>
            <a:p>
              <a:pPr marL="0" lvl="0" indent="0" algn="ctr" defTabSz="800100">
                <a:lnSpc>
                  <a:spcPct val="90000"/>
                </a:lnSpc>
                <a:spcBef>
                  <a:spcPct val="0"/>
                </a:spcBef>
                <a:spcAft>
                  <a:spcPct val="35000"/>
                </a:spcAft>
                <a:buNone/>
              </a:pPr>
              <a:r>
                <a:rPr lang="en-US" sz="1800" kern="1200" dirty="0" err="1">
                  <a:latin typeface="Times New Roman" panose="02020603050405020304" pitchFamily="18" charset="0"/>
                  <a:cs typeface="Times New Roman" panose="02020603050405020304" pitchFamily="18" charset="0"/>
                </a:rPr>
                <a:t>ScRNA</a:t>
              </a:r>
              <a:r>
                <a:rPr lang="en-US" sz="1800" kern="1200" dirty="0">
                  <a:latin typeface="Times New Roman" panose="02020603050405020304" pitchFamily="18" charset="0"/>
                  <a:cs typeface="Times New Roman" panose="02020603050405020304" pitchFamily="18" charset="0"/>
                </a:rPr>
                <a:t> Seq Studies</a:t>
              </a:r>
              <a:endParaRPr lang="en-IN" sz="1800" kern="1200" dirty="0">
                <a:latin typeface="Times New Roman" panose="02020603050405020304" pitchFamily="18" charset="0"/>
                <a:cs typeface="Times New Roman" panose="02020603050405020304" pitchFamily="18" charset="0"/>
              </a:endParaRPr>
            </a:p>
          </p:txBody>
        </p:sp>
        <p:sp>
          <p:nvSpPr>
            <p:cNvPr id="13" name="Freeform: Shape 12">
              <a:extLst>
                <a:ext uri="{FF2B5EF4-FFF2-40B4-BE49-F238E27FC236}">
                  <a16:creationId xmlns:a16="http://schemas.microsoft.com/office/drawing/2014/main" id="{F4A0E91A-965C-F15C-C6EE-3868F8C782DC}"/>
                </a:ext>
              </a:extLst>
            </p:cNvPr>
            <p:cNvSpPr/>
            <p:nvPr/>
          </p:nvSpPr>
          <p:spPr>
            <a:xfrm>
              <a:off x="1939665" y="1894202"/>
              <a:ext cx="1380306" cy="1194127"/>
            </a:xfrm>
            <a:custGeom>
              <a:avLst/>
              <a:gdLst>
                <a:gd name="connsiteX0" fmla="*/ 0 w 1380306"/>
                <a:gd name="connsiteY0" fmla="*/ 597064 h 1194127"/>
                <a:gd name="connsiteX1" fmla="*/ 341162 w 1380306"/>
                <a:gd name="connsiteY1" fmla="*/ 0 h 1194127"/>
                <a:gd name="connsiteX2" fmla="*/ 1039144 w 1380306"/>
                <a:gd name="connsiteY2" fmla="*/ 0 h 1194127"/>
                <a:gd name="connsiteX3" fmla="*/ 1380306 w 1380306"/>
                <a:gd name="connsiteY3" fmla="*/ 597064 h 1194127"/>
                <a:gd name="connsiteX4" fmla="*/ 1039144 w 1380306"/>
                <a:gd name="connsiteY4" fmla="*/ 1194127 h 1194127"/>
                <a:gd name="connsiteX5" fmla="*/ 341162 w 1380306"/>
                <a:gd name="connsiteY5" fmla="*/ 1194127 h 1194127"/>
                <a:gd name="connsiteX6" fmla="*/ 0 w 1380306"/>
                <a:gd name="connsiteY6" fmla="*/ 597064 h 1194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0306" h="1194127">
                  <a:moveTo>
                    <a:pt x="0" y="597064"/>
                  </a:moveTo>
                  <a:lnTo>
                    <a:pt x="341162" y="0"/>
                  </a:lnTo>
                  <a:lnTo>
                    <a:pt x="1039144" y="0"/>
                  </a:lnTo>
                  <a:lnTo>
                    <a:pt x="1380306" y="597064"/>
                  </a:lnTo>
                  <a:lnTo>
                    <a:pt x="1039144" y="1194127"/>
                  </a:lnTo>
                  <a:lnTo>
                    <a:pt x="341162" y="1194127"/>
                  </a:lnTo>
                  <a:lnTo>
                    <a:pt x="0" y="597064"/>
                  </a:lnTo>
                  <a:close/>
                </a:path>
              </a:pathLst>
            </a:custGeom>
            <a:solidFill>
              <a:srgbClr val="F781EF"/>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51606" tIns="220752" rIns="251606" bIns="220752"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Systems</a:t>
              </a:r>
              <a:r>
                <a:rPr lang="en-US" sz="1800" kern="1200" baseline="0" dirty="0">
                  <a:latin typeface="Times New Roman" panose="02020603050405020304" pitchFamily="18" charset="0"/>
                  <a:cs typeface="Times New Roman" panose="02020603050405020304" pitchFamily="18" charset="0"/>
                </a:rPr>
                <a:t> Biology</a:t>
              </a:r>
              <a:endParaRPr lang="en-IN" sz="1800" kern="1200" dirty="0">
                <a:latin typeface="Times New Roman" panose="02020603050405020304" pitchFamily="18" charset="0"/>
                <a:cs typeface="Times New Roman" panose="02020603050405020304" pitchFamily="18" charset="0"/>
              </a:endParaRPr>
            </a:p>
          </p:txBody>
        </p:sp>
        <p:sp>
          <p:nvSpPr>
            <p:cNvPr id="15" name="Freeform: Shape 14">
              <a:extLst>
                <a:ext uri="{FF2B5EF4-FFF2-40B4-BE49-F238E27FC236}">
                  <a16:creationId xmlns:a16="http://schemas.microsoft.com/office/drawing/2014/main" id="{223F48D7-7F71-A16F-43DC-0C8D4B11EAA5}"/>
                </a:ext>
              </a:extLst>
            </p:cNvPr>
            <p:cNvSpPr/>
            <p:nvPr/>
          </p:nvSpPr>
          <p:spPr>
            <a:xfrm>
              <a:off x="3278839" y="2635930"/>
              <a:ext cx="1421437" cy="1149257"/>
            </a:xfrm>
            <a:custGeom>
              <a:avLst/>
              <a:gdLst>
                <a:gd name="connsiteX0" fmla="*/ 0 w 1239639"/>
                <a:gd name="connsiteY0" fmla="*/ 517869 h 1035738"/>
                <a:gd name="connsiteX1" fmla="*/ 295910 w 1239639"/>
                <a:gd name="connsiteY1" fmla="*/ 0 h 1035738"/>
                <a:gd name="connsiteX2" fmla="*/ 943729 w 1239639"/>
                <a:gd name="connsiteY2" fmla="*/ 0 h 1035738"/>
                <a:gd name="connsiteX3" fmla="*/ 1239639 w 1239639"/>
                <a:gd name="connsiteY3" fmla="*/ 517869 h 1035738"/>
                <a:gd name="connsiteX4" fmla="*/ 943729 w 1239639"/>
                <a:gd name="connsiteY4" fmla="*/ 1035738 h 1035738"/>
                <a:gd name="connsiteX5" fmla="*/ 295910 w 1239639"/>
                <a:gd name="connsiteY5" fmla="*/ 1035738 h 1035738"/>
                <a:gd name="connsiteX6" fmla="*/ 0 w 1239639"/>
                <a:gd name="connsiteY6" fmla="*/ 517869 h 1035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9639" h="1035738">
                  <a:moveTo>
                    <a:pt x="0" y="517869"/>
                  </a:moveTo>
                  <a:lnTo>
                    <a:pt x="295910" y="0"/>
                  </a:lnTo>
                  <a:lnTo>
                    <a:pt x="943729" y="0"/>
                  </a:lnTo>
                  <a:lnTo>
                    <a:pt x="1239639" y="517869"/>
                  </a:lnTo>
                  <a:lnTo>
                    <a:pt x="943729" y="1035738"/>
                  </a:lnTo>
                  <a:lnTo>
                    <a:pt x="295910" y="1035738"/>
                  </a:lnTo>
                  <a:lnTo>
                    <a:pt x="0" y="517869"/>
                  </a:lnTo>
                  <a:close/>
                </a:path>
              </a:pathLst>
            </a:custGeom>
            <a:solidFill>
              <a:srgbClr val="FFFF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26070" tIns="192854" rIns="226070" bIns="192854" numCol="1" spcCol="1270" anchor="ctr" anchorCtr="0">
              <a:noAutofit/>
            </a:bodyPr>
            <a:lstStyle/>
            <a:p>
              <a:pPr marL="0" lvl="0" indent="0" algn="ctr" defTabSz="844550">
                <a:lnSpc>
                  <a:spcPct val="90000"/>
                </a:lnSpc>
                <a:spcBef>
                  <a:spcPct val="0"/>
                </a:spcBef>
                <a:spcAft>
                  <a:spcPct val="35000"/>
                </a:spcAft>
                <a:buNone/>
              </a:pPr>
              <a:endParaRPr lang="en-IN" sz="1900" kern="1200" dirty="0"/>
            </a:p>
          </p:txBody>
        </p:sp>
        <p:sp>
          <p:nvSpPr>
            <p:cNvPr id="17" name="Freeform: Shape 16">
              <a:extLst>
                <a:ext uri="{FF2B5EF4-FFF2-40B4-BE49-F238E27FC236}">
                  <a16:creationId xmlns:a16="http://schemas.microsoft.com/office/drawing/2014/main" id="{5A7F328D-0F52-0E01-6BE7-FBF332429A1F}"/>
                </a:ext>
              </a:extLst>
            </p:cNvPr>
            <p:cNvSpPr/>
            <p:nvPr/>
          </p:nvSpPr>
          <p:spPr>
            <a:xfrm>
              <a:off x="3208507" y="4036583"/>
              <a:ext cx="1380306" cy="1194127"/>
            </a:xfrm>
            <a:custGeom>
              <a:avLst/>
              <a:gdLst>
                <a:gd name="connsiteX0" fmla="*/ 0 w 1380306"/>
                <a:gd name="connsiteY0" fmla="*/ 597064 h 1194127"/>
                <a:gd name="connsiteX1" fmla="*/ 341162 w 1380306"/>
                <a:gd name="connsiteY1" fmla="*/ 0 h 1194127"/>
                <a:gd name="connsiteX2" fmla="*/ 1039144 w 1380306"/>
                <a:gd name="connsiteY2" fmla="*/ 0 h 1194127"/>
                <a:gd name="connsiteX3" fmla="*/ 1380306 w 1380306"/>
                <a:gd name="connsiteY3" fmla="*/ 597064 h 1194127"/>
                <a:gd name="connsiteX4" fmla="*/ 1039144 w 1380306"/>
                <a:gd name="connsiteY4" fmla="*/ 1194127 h 1194127"/>
                <a:gd name="connsiteX5" fmla="*/ 341162 w 1380306"/>
                <a:gd name="connsiteY5" fmla="*/ 1194127 h 1194127"/>
                <a:gd name="connsiteX6" fmla="*/ 0 w 1380306"/>
                <a:gd name="connsiteY6" fmla="*/ 597064 h 1194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0306" h="1194127">
                  <a:moveTo>
                    <a:pt x="0" y="597064"/>
                  </a:moveTo>
                  <a:lnTo>
                    <a:pt x="341162" y="0"/>
                  </a:lnTo>
                  <a:lnTo>
                    <a:pt x="1039144" y="0"/>
                  </a:lnTo>
                  <a:lnTo>
                    <a:pt x="1380306" y="597064"/>
                  </a:lnTo>
                  <a:lnTo>
                    <a:pt x="1039144" y="1194127"/>
                  </a:lnTo>
                  <a:lnTo>
                    <a:pt x="341162" y="1194127"/>
                  </a:lnTo>
                  <a:lnTo>
                    <a:pt x="0" y="597064"/>
                  </a:lnTo>
                  <a:close/>
                </a:path>
              </a:pathLst>
            </a:custGeom>
            <a:solidFill>
              <a:srgbClr val="4DB6BB"/>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51606" tIns="220752" rIns="251606" bIns="220752" numCol="1" spcCol="1270" anchor="ctr" anchorCtr="0">
              <a:noAutofit/>
            </a:bodyPr>
            <a:lstStyle/>
            <a:p>
              <a:pPr marL="0" lvl="0" indent="0" algn="ctr" defTabSz="800100">
                <a:lnSpc>
                  <a:spcPct val="90000"/>
                </a:lnSpc>
                <a:spcBef>
                  <a:spcPct val="0"/>
                </a:spcBef>
                <a:spcAft>
                  <a:spcPct val="35000"/>
                </a:spcAft>
                <a:buNone/>
              </a:pPr>
              <a:r>
                <a:rPr lang="en-IN" sz="1800" kern="1200" dirty="0">
                  <a:effectLst/>
                  <a:latin typeface="Times New Roman" panose="02020603050405020304" pitchFamily="18" charset="0"/>
                  <a:ea typeface="Noto Serif CJK SC"/>
                  <a:cs typeface="Times New Roman" panose="02020603050405020304" pitchFamily="18" charset="0"/>
                </a:rPr>
                <a:t>Clinical Research</a:t>
              </a:r>
            </a:p>
          </p:txBody>
        </p:sp>
        <p:sp>
          <p:nvSpPr>
            <p:cNvPr id="19" name="Freeform: Shape 18">
              <a:extLst>
                <a:ext uri="{FF2B5EF4-FFF2-40B4-BE49-F238E27FC236}">
                  <a16:creationId xmlns:a16="http://schemas.microsoft.com/office/drawing/2014/main" id="{03236930-20B4-DBE7-5DA7-FF9332FED635}"/>
                </a:ext>
              </a:extLst>
            </p:cNvPr>
            <p:cNvSpPr/>
            <p:nvPr/>
          </p:nvSpPr>
          <p:spPr>
            <a:xfrm>
              <a:off x="1942605" y="4771873"/>
              <a:ext cx="1380306" cy="1194127"/>
            </a:xfrm>
            <a:custGeom>
              <a:avLst/>
              <a:gdLst>
                <a:gd name="connsiteX0" fmla="*/ 0 w 1380306"/>
                <a:gd name="connsiteY0" fmla="*/ 597064 h 1194127"/>
                <a:gd name="connsiteX1" fmla="*/ 341162 w 1380306"/>
                <a:gd name="connsiteY1" fmla="*/ 0 h 1194127"/>
                <a:gd name="connsiteX2" fmla="*/ 1039144 w 1380306"/>
                <a:gd name="connsiteY2" fmla="*/ 0 h 1194127"/>
                <a:gd name="connsiteX3" fmla="*/ 1380306 w 1380306"/>
                <a:gd name="connsiteY3" fmla="*/ 597064 h 1194127"/>
                <a:gd name="connsiteX4" fmla="*/ 1039144 w 1380306"/>
                <a:gd name="connsiteY4" fmla="*/ 1194127 h 1194127"/>
                <a:gd name="connsiteX5" fmla="*/ 341162 w 1380306"/>
                <a:gd name="connsiteY5" fmla="*/ 1194127 h 1194127"/>
                <a:gd name="connsiteX6" fmla="*/ 0 w 1380306"/>
                <a:gd name="connsiteY6" fmla="*/ 597064 h 1194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0306" h="1194127">
                  <a:moveTo>
                    <a:pt x="0" y="597064"/>
                  </a:moveTo>
                  <a:lnTo>
                    <a:pt x="341162" y="0"/>
                  </a:lnTo>
                  <a:lnTo>
                    <a:pt x="1039144" y="0"/>
                  </a:lnTo>
                  <a:lnTo>
                    <a:pt x="1380306" y="597064"/>
                  </a:lnTo>
                  <a:lnTo>
                    <a:pt x="1039144" y="1194127"/>
                  </a:lnTo>
                  <a:lnTo>
                    <a:pt x="341162" y="1194127"/>
                  </a:lnTo>
                  <a:lnTo>
                    <a:pt x="0" y="597064"/>
                  </a:lnTo>
                  <a:close/>
                </a:path>
              </a:pathLst>
            </a:custGeom>
            <a:solidFill>
              <a:srgbClr val="92D05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52876" tIns="222022" rIns="252876" bIns="222022" numCol="1" spcCol="1270" anchor="ctr" anchorCtr="0">
              <a:noAutofit/>
            </a:bodyPr>
            <a:lstStyle/>
            <a:p>
              <a:pPr marL="0" lvl="0" indent="0" algn="ctr" defTabSz="844550">
                <a:lnSpc>
                  <a:spcPct val="90000"/>
                </a:lnSpc>
                <a:spcBef>
                  <a:spcPct val="0"/>
                </a:spcBef>
                <a:spcAft>
                  <a:spcPct val="35000"/>
                </a:spcAft>
                <a:buNone/>
              </a:pPr>
              <a:r>
                <a:rPr lang="en-IN" sz="1900" kern="1200" dirty="0">
                  <a:effectLst/>
                  <a:latin typeface="Times New Roman" panose="02020603050405020304" pitchFamily="18" charset="0"/>
                  <a:ea typeface="Noto Serif CJK SC"/>
                  <a:cs typeface="Times New Roman" panose="02020603050405020304" pitchFamily="18" charset="0"/>
                </a:rPr>
                <a:t>Statistics</a:t>
              </a:r>
              <a:endParaRPr lang="en-IN" sz="1900" kern="1200" dirty="0">
                <a:latin typeface="Times New Roman" panose="02020603050405020304" pitchFamily="18" charset="0"/>
                <a:cs typeface="Times New Roman" panose="02020603050405020304" pitchFamily="18" charset="0"/>
              </a:endParaRPr>
            </a:p>
          </p:txBody>
        </p:sp>
        <p:sp>
          <p:nvSpPr>
            <p:cNvPr id="21" name="Freeform: Shape 20">
              <a:extLst>
                <a:ext uri="{FF2B5EF4-FFF2-40B4-BE49-F238E27FC236}">
                  <a16:creationId xmlns:a16="http://schemas.microsoft.com/office/drawing/2014/main" id="{CFD4EE9A-82E7-FBE5-C1BB-43F93F756BED}"/>
                </a:ext>
              </a:extLst>
            </p:cNvPr>
            <p:cNvSpPr/>
            <p:nvPr/>
          </p:nvSpPr>
          <p:spPr>
            <a:xfrm>
              <a:off x="609051" y="4037404"/>
              <a:ext cx="1503858" cy="1194127"/>
            </a:xfrm>
            <a:custGeom>
              <a:avLst/>
              <a:gdLst>
                <a:gd name="connsiteX0" fmla="*/ 0 w 1503858"/>
                <a:gd name="connsiteY0" fmla="*/ 597064 h 1194127"/>
                <a:gd name="connsiteX1" fmla="*/ 341162 w 1503858"/>
                <a:gd name="connsiteY1" fmla="*/ 0 h 1194127"/>
                <a:gd name="connsiteX2" fmla="*/ 1162696 w 1503858"/>
                <a:gd name="connsiteY2" fmla="*/ 0 h 1194127"/>
                <a:gd name="connsiteX3" fmla="*/ 1503858 w 1503858"/>
                <a:gd name="connsiteY3" fmla="*/ 597064 h 1194127"/>
                <a:gd name="connsiteX4" fmla="*/ 1162696 w 1503858"/>
                <a:gd name="connsiteY4" fmla="*/ 1194127 h 1194127"/>
                <a:gd name="connsiteX5" fmla="*/ 341162 w 1503858"/>
                <a:gd name="connsiteY5" fmla="*/ 1194127 h 1194127"/>
                <a:gd name="connsiteX6" fmla="*/ 0 w 1503858"/>
                <a:gd name="connsiteY6" fmla="*/ 597064 h 1194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3858" h="1194127">
                  <a:moveTo>
                    <a:pt x="0" y="597064"/>
                  </a:moveTo>
                  <a:lnTo>
                    <a:pt x="341162" y="0"/>
                  </a:lnTo>
                  <a:lnTo>
                    <a:pt x="1162696" y="0"/>
                  </a:lnTo>
                  <a:lnTo>
                    <a:pt x="1503858" y="597064"/>
                  </a:lnTo>
                  <a:lnTo>
                    <a:pt x="1162696" y="1194127"/>
                  </a:lnTo>
                  <a:lnTo>
                    <a:pt x="341162" y="1194127"/>
                  </a:lnTo>
                  <a:lnTo>
                    <a:pt x="0" y="597064"/>
                  </a:lnTo>
                  <a:close/>
                </a:path>
              </a:pathLst>
            </a:cu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61902" tIns="212670" rIns="261902" bIns="212670" numCol="1" spcCol="1270" anchor="ctr" anchorCtr="0">
              <a:noAutofit/>
            </a:bodyPr>
            <a:lstStyle/>
            <a:p>
              <a:pPr marL="0" lvl="0" indent="0" algn="ctr" defTabSz="800100">
                <a:lnSpc>
                  <a:spcPct val="90000"/>
                </a:lnSpc>
                <a:spcBef>
                  <a:spcPct val="0"/>
                </a:spcBef>
                <a:spcAft>
                  <a:spcPct val="35000"/>
                </a:spcAft>
                <a:buNone/>
              </a:pPr>
              <a:r>
                <a:rPr lang="en-IN" sz="1800" kern="1200" dirty="0">
                  <a:effectLst/>
                  <a:latin typeface="Times New Roman" panose="02020603050405020304" pitchFamily="18" charset="0"/>
                  <a:ea typeface="Noto Serif CJK SC"/>
                  <a:cs typeface="Times New Roman" panose="02020603050405020304" pitchFamily="18" charset="0"/>
                </a:rPr>
                <a:t>Immunology</a:t>
              </a:r>
              <a:endParaRPr lang="en-IN" sz="1800" kern="1200" dirty="0">
                <a:latin typeface="Times New Roman" panose="02020603050405020304" pitchFamily="18" charset="0"/>
                <a:cs typeface="Times New Roman" panose="02020603050405020304" pitchFamily="18" charset="0"/>
              </a:endParaRPr>
            </a:p>
          </p:txBody>
        </p:sp>
        <p:sp>
          <p:nvSpPr>
            <p:cNvPr id="22" name="Freeform: Shape 21">
              <a:extLst>
                <a:ext uri="{FF2B5EF4-FFF2-40B4-BE49-F238E27FC236}">
                  <a16:creationId xmlns:a16="http://schemas.microsoft.com/office/drawing/2014/main" id="{8512A63E-CE81-CC8E-A6D3-A831C924FD25}"/>
                </a:ext>
              </a:extLst>
            </p:cNvPr>
            <p:cNvSpPr/>
            <p:nvPr/>
          </p:nvSpPr>
          <p:spPr>
            <a:xfrm>
              <a:off x="670827" y="2591060"/>
              <a:ext cx="1380306" cy="1194127"/>
            </a:xfrm>
            <a:custGeom>
              <a:avLst/>
              <a:gdLst>
                <a:gd name="connsiteX0" fmla="*/ 0 w 1380306"/>
                <a:gd name="connsiteY0" fmla="*/ 597064 h 1194127"/>
                <a:gd name="connsiteX1" fmla="*/ 341162 w 1380306"/>
                <a:gd name="connsiteY1" fmla="*/ 0 h 1194127"/>
                <a:gd name="connsiteX2" fmla="*/ 1039144 w 1380306"/>
                <a:gd name="connsiteY2" fmla="*/ 0 h 1194127"/>
                <a:gd name="connsiteX3" fmla="*/ 1380306 w 1380306"/>
                <a:gd name="connsiteY3" fmla="*/ 597064 h 1194127"/>
                <a:gd name="connsiteX4" fmla="*/ 1039144 w 1380306"/>
                <a:gd name="connsiteY4" fmla="*/ 1194127 h 1194127"/>
                <a:gd name="connsiteX5" fmla="*/ 341162 w 1380306"/>
                <a:gd name="connsiteY5" fmla="*/ 1194127 h 1194127"/>
                <a:gd name="connsiteX6" fmla="*/ 0 w 1380306"/>
                <a:gd name="connsiteY6" fmla="*/ 597064 h 1194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0306" h="1194127">
                  <a:moveTo>
                    <a:pt x="0" y="597064"/>
                  </a:moveTo>
                  <a:lnTo>
                    <a:pt x="341162" y="0"/>
                  </a:lnTo>
                  <a:lnTo>
                    <a:pt x="1039144" y="0"/>
                  </a:lnTo>
                  <a:lnTo>
                    <a:pt x="1380306" y="597064"/>
                  </a:lnTo>
                  <a:lnTo>
                    <a:pt x="1039144" y="1194127"/>
                  </a:lnTo>
                  <a:lnTo>
                    <a:pt x="341162" y="1194127"/>
                  </a:lnTo>
                  <a:lnTo>
                    <a:pt x="0" y="597064"/>
                  </a:lnTo>
                  <a:close/>
                </a:path>
              </a:pathLst>
            </a:custGeom>
            <a:solidFill>
              <a:schemeClr val="tx2">
                <a:lumMod val="60000"/>
                <a:lumOff val="4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51606" tIns="220752" rIns="251606" bIns="220752" numCol="1" spcCol="1270" anchor="ctr" anchorCtr="0">
              <a:noAutofit/>
            </a:bodyPr>
            <a:lstStyle/>
            <a:p>
              <a:pPr marL="0" lvl="0" indent="0" algn="ctr" defTabSz="800100">
                <a:lnSpc>
                  <a:spcPct val="90000"/>
                </a:lnSpc>
                <a:spcBef>
                  <a:spcPct val="0"/>
                </a:spcBef>
                <a:spcAft>
                  <a:spcPct val="35000"/>
                </a:spcAft>
                <a:buNone/>
              </a:pPr>
              <a:r>
                <a:rPr lang="en-IN" sz="1800" kern="1200" dirty="0">
                  <a:effectLst/>
                  <a:latin typeface="Times New Roman" panose="02020603050405020304" pitchFamily="18" charset="0"/>
                  <a:ea typeface="Noto Serif CJK SC"/>
                  <a:cs typeface="Times New Roman" panose="02020603050405020304" pitchFamily="18" charset="0"/>
                </a:rPr>
                <a:t>Cell Biology</a:t>
              </a:r>
              <a:endParaRPr lang="en-IN" sz="1800" kern="1200" dirty="0">
                <a:latin typeface="Times New Roman" panose="02020603050405020304" pitchFamily="18" charset="0"/>
                <a:cs typeface="Times New Roman" panose="02020603050405020304" pitchFamily="18" charset="0"/>
              </a:endParaRPr>
            </a:p>
          </p:txBody>
        </p:sp>
      </p:grpSp>
      <p:sp>
        <p:nvSpPr>
          <p:cNvPr id="8" name="TextBox 7">
            <a:extLst>
              <a:ext uri="{FF2B5EF4-FFF2-40B4-BE49-F238E27FC236}">
                <a16:creationId xmlns:a16="http://schemas.microsoft.com/office/drawing/2014/main" id="{10D4A10A-1FF2-B5D8-ADE6-BEA19B755748}"/>
              </a:ext>
            </a:extLst>
          </p:cNvPr>
          <p:cNvSpPr txBox="1"/>
          <p:nvPr/>
        </p:nvSpPr>
        <p:spPr>
          <a:xfrm>
            <a:off x="3354309" y="2937568"/>
            <a:ext cx="1629715" cy="369332"/>
          </a:xfrm>
          <a:prstGeom prst="rect">
            <a:avLst/>
          </a:prstGeom>
          <a:noFill/>
        </p:spPr>
        <p:txBody>
          <a:bodyPr wrap="square" rtlCol="0">
            <a:spAutoFit/>
          </a:bodyPr>
          <a:lstStyle/>
          <a:p>
            <a:r>
              <a:rPr lang="en-US" dirty="0"/>
              <a:t>Pharmacology</a:t>
            </a:r>
            <a:endParaRPr lang="en-IN" dirty="0"/>
          </a:p>
        </p:txBody>
      </p:sp>
      <p:pic>
        <p:nvPicPr>
          <p:cNvPr id="9" name="Picture 8">
            <a:extLst>
              <a:ext uri="{FF2B5EF4-FFF2-40B4-BE49-F238E27FC236}">
                <a16:creationId xmlns:a16="http://schemas.microsoft.com/office/drawing/2014/main" id="{174DA1E6-BB90-65C7-CC96-5B9B1C64E9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0369" y="1483792"/>
            <a:ext cx="7250059" cy="5294455"/>
          </a:xfrm>
          <a:prstGeom prst="rect">
            <a:avLst/>
          </a:prstGeom>
        </p:spPr>
      </p:pic>
    </p:spTree>
    <p:extLst>
      <p:ext uri="{BB962C8B-B14F-4D97-AF65-F5344CB8AC3E}">
        <p14:creationId xmlns:p14="http://schemas.microsoft.com/office/powerpoint/2010/main" val="2562562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D37A821-839F-7177-D2DD-EA0450C951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54" y="1401332"/>
            <a:ext cx="11364506" cy="4943197"/>
          </a:xfrm>
          <a:prstGeom prst="rect">
            <a:avLst/>
          </a:prstGeom>
        </p:spPr>
      </p:pic>
      <p:sp>
        <p:nvSpPr>
          <p:cNvPr id="6" name="TextBox 5">
            <a:extLst>
              <a:ext uri="{FF2B5EF4-FFF2-40B4-BE49-F238E27FC236}">
                <a16:creationId xmlns:a16="http://schemas.microsoft.com/office/drawing/2014/main" id="{08255F52-72AF-E7C9-B13A-18D501D2CE02}"/>
              </a:ext>
            </a:extLst>
          </p:cNvPr>
          <p:cNvSpPr txBox="1"/>
          <p:nvPr/>
        </p:nvSpPr>
        <p:spPr>
          <a:xfrm>
            <a:off x="546139" y="513471"/>
            <a:ext cx="11200383" cy="584775"/>
          </a:xfrm>
          <a:prstGeom prst="rect">
            <a:avLst/>
          </a:prstGeom>
          <a:noFill/>
        </p:spPr>
        <p:txBody>
          <a:bodyPr wrap="square" rtlCol="0">
            <a:spAutoFit/>
          </a:bodyPr>
          <a:lstStyle/>
          <a:p>
            <a:r>
              <a:rPr lang="en-US" sz="3200" u="sng" dirty="0">
                <a:latin typeface="Algerian" panose="04020705040A02060702" pitchFamily="82" charset="0"/>
                <a:cs typeface="Times New Roman" panose="02020603050405020304" pitchFamily="18" charset="0"/>
              </a:rPr>
              <a:t>Steps In Single-cell RNA sequencing Data Analysis</a:t>
            </a:r>
            <a:endParaRPr lang="en-IN" sz="3200" u="sng" dirty="0">
              <a:latin typeface="Algerian" panose="04020705040A02060702" pitchFamily="82"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A60467FB-BB7F-0C1C-3945-4F5D704CA612}"/>
              </a:ext>
            </a:extLst>
          </p:cNvPr>
          <p:cNvGraphicFramePr>
            <a:graphicFrameLocks noGrp="1"/>
          </p:cNvGraphicFramePr>
          <p:nvPr/>
        </p:nvGraphicFramePr>
        <p:xfrm>
          <a:off x="2088271" y="1591863"/>
          <a:ext cx="1091028" cy="1463040"/>
        </p:xfrm>
        <a:graphic>
          <a:graphicData uri="http://schemas.openxmlformats.org/drawingml/2006/table">
            <a:tbl>
              <a:tblPr firstRow="1" bandRow="1">
                <a:tableStyleId>{9D7B26C5-4107-4FEC-AEDC-1716B250A1EF}</a:tableStyleId>
              </a:tblPr>
              <a:tblGrid>
                <a:gridCol w="272757">
                  <a:extLst>
                    <a:ext uri="{9D8B030D-6E8A-4147-A177-3AD203B41FA5}">
                      <a16:colId xmlns:a16="http://schemas.microsoft.com/office/drawing/2014/main" val="145404129"/>
                    </a:ext>
                  </a:extLst>
                </a:gridCol>
                <a:gridCol w="272757">
                  <a:extLst>
                    <a:ext uri="{9D8B030D-6E8A-4147-A177-3AD203B41FA5}">
                      <a16:colId xmlns:a16="http://schemas.microsoft.com/office/drawing/2014/main" val="1342207384"/>
                    </a:ext>
                  </a:extLst>
                </a:gridCol>
                <a:gridCol w="272757">
                  <a:extLst>
                    <a:ext uri="{9D8B030D-6E8A-4147-A177-3AD203B41FA5}">
                      <a16:colId xmlns:a16="http://schemas.microsoft.com/office/drawing/2014/main" val="551103832"/>
                    </a:ext>
                  </a:extLst>
                </a:gridCol>
                <a:gridCol w="272757">
                  <a:extLst>
                    <a:ext uri="{9D8B030D-6E8A-4147-A177-3AD203B41FA5}">
                      <a16:colId xmlns:a16="http://schemas.microsoft.com/office/drawing/2014/main" val="1423449102"/>
                    </a:ext>
                  </a:extLst>
                </a:gridCol>
              </a:tblGrid>
              <a:tr h="358173">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521892"/>
                  </a:ext>
                </a:extLst>
              </a:tr>
              <a:tr h="358173">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3766910"/>
                  </a:ext>
                </a:extLst>
              </a:tr>
              <a:tr h="358173">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729721"/>
                  </a:ext>
                </a:extLst>
              </a:tr>
              <a:tr h="358173">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0756946"/>
                  </a:ext>
                </a:extLst>
              </a:tr>
            </a:tbl>
          </a:graphicData>
        </a:graphic>
      </p:graphicFrame>
      <p:sp>
        <p:nvSpPr>
          <p:cNvPr id="10" name="TextBox 9">
            <a:extLst>
              <a:ext uri="{FF2B5EF4-FFF2-40B4-BE49-F238E27FC236}">
                <a16:creationId xmlns:a16="http://schemas.microsoft.com/office/drawing/2014/main" id="{E9FE06EC-7745-3164-B8F2-2E3417E92F7B}"/>
              </a:ext>
            </a:extLst>
          </p:cNvPr>
          <p:cNvSpPr txBox="1"/>
          <p:nvPr/>
        </p:nvSpPr>
        <p:spPr>
          <a:xfrm>
            <a:off x="3179299" y="2096727"/>
            <a:ext cx="1406770"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Count Matrix</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657715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2A6F9-BF19-0FD2-E0D4-2395622C8354}"/>
              </a:ext>
            </a:extLst>
          </p:cNvPr>
          <p:cNvSpPr>
            <a:spLocks noGrp="1"/>
          </p:cNvSpPr>
          <p:nvPr>
            <p:ph type="title"/>
          </p:nvPr>
        </p:nvSpPr>
        <p:spPr/>
        <p:txBody>
          <a:bodyPr>
            <a:normAutofit/>
          </a:bodyPr>
          <a:lstStyle/>
          <a:p>
            <a:br>
              <a:rPr lang="en-US" b="1" dirty="0"/>
            </a:br>
            <a:endParaRPr lang="en-IN" dirty="0"/>
          </a:p>
        </p:txBody>
      </p:sp>
      <p:sp>
        <p:nvSpPr>
          <p:cNvPr id="5" name="Content Placeholder 4">
            <a:extLst>
              <a:ext uri="{FF2B5EF4-FFF2-40B4-BE49-F238E27FC236}">
                <a16:creationId xmlns:a16="http://schemas.microsoft.com/office/drawing/2014/main" id="{DE7E1A5C-7687-2E68-0961-0A4FEF6C1510}"/>
              </a:ext>
            </a:extLst>
          </p:cNvPr>
          <p:cNvSpPr>
            <a:spLocks noGrp="1"/>
          </p:cNvSpPr>
          <p:nvPr>
            <p:ph idx="1"/>
          </p:nvPr>
        </p:nvSpPr>
        <p:spPr/>
        <p:txBody>
          <a:bodyPr/>
          <a:lstStyle/>
          <a:p>
            <a:pPr lvl="0"/>
            <a:endParaRPr lang="en-IN"/>
          </a:p>
          <a:p>
            <a:pPr lvl="0"/>
            <a:endParaRPr lang="en-IN"/>
          </a:p>
          <a:p>
            <a:pPr lvl="0"/>
            <a:endParaRPr lang="en-IN"/>
          </a:p>
        </p:txBody>
      </p:sp>
      <p:graphicFrame>
        <p:nvGraphicFramePr>
          <p:cNvPr id="6" name="Diagram 5">
            <a:extLst>
              <a:ext uri="{FF2B5EF4-FFF2-40B4-BE49-F238E27FC236}">
                <a16:creationId xmlns:a16="http://schemas.microsoft.com/office/drawing/2014/main" id="{A63CFBE7-D262-2B80-B834-0FFFE1323EC5}"/>
              </a:ext>
            </a:extLst>
          </p:cNvPr>
          <p:cNvGraphicFramePr/>
          <p:nvPr/>
        </p:nvGraphicFramePr>
        <p:xfrm>
          <a:off x="0" y="0"/>
          <a:ext cx="12229514" cy="76176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61833616"/>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B4B885F-AB03-5D5C-3666-3E3C4DBA148A}"/>
              </a:ext>
            </a:extLst>
          </p:cNvPr>
          <p:cNvGrpSpPr/>
          <p:nvPr/>
        </p:nvGrpSpPr>
        <p:grpSpPr>
          <a:xfrm>
            <a:off x="0" y="38408"/>
            <a:ext cx="12192000" cy="6819593"/>
            <a:chOff x="-20971" y="882471"/>
            <a:chExt cx="12135921" cy="6819591"/>
          </a:xfrm>
        </p:grpSpPr>
        <p:sp>
          <p:nvSpPr>
            <p:cNvPr id="7" name="Freeform: Shape 6">
              <a:extLst>
                <a:ext uri="{FF2B5EF4-FFF2-40B4-BE49-F238E27FC236}">
                  <a16:creationId xmlns:a16="http://schemas.microsoft.com/office/drawing/2014/main" id="{3F51508F-A886-FB24-AF27-A4BBB472041E}"/>
                </a:ext>
              </a:extLst>
            </p:cNvPr>
            <p:cNvSpPr/>
            <p:nvPr/>
          </p:nvSpPr>
          <p:spPr>
            <a:xfrm rot="16200000">
              <a:off x="-2403872" y="4501097"/>
              <a:ext cx="5349240" cy="583438"/>
            </a:xfrm>
            <a:custGeom>
              <a:avLst/>
              <a:gdLst>
                <a:gd name="connsiteX0" fmla="*/ 0 w 5349240"/>
                <a:gd name="connsiteY0" fmla="*/ 0 h 583438"/>
                <a:gd name="connsiteX1" fmla="*/ 5349240 w 5349240"/>
                <a:gd name="connsiteY1" fmla="*/ 0 h 583438"/>
                <a:gd name="connsiteX2" fmla="*/ 5349240 w 5349240"/>
                <a:gd name="connsiteY2" fmla="*/ 583438 h 583438"/>
                <a:gd name="connsiteX3" fmla="*/ 0 w 5349240"/>
                <a:gd name="connsiteY3" fmla="*/ 583438 h 583438"/>
                <a:gd name="connsiteX4" fmla="*/ 0 w 5349240"/>
                <a:gd name="connsiteY4" fmla="*/ 0 h 58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9240" h="583438">
                  <a:moveTo>
                    <a:pt x="0" y="0"/>
                  </a:moveTo>
                  <a:lnTo>
                    <a:pt x="5349240" y="0"/>
                  </a:lnTo>
                  <a:lnTo>
                    <a:pt x="5349240" y="583438"/>
                  </a:lnTo>
                  <a:lnTo>
                    <a:pt x="0" y="5834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514560" bIns="0" numCol="1" spcCol="1270" anchor="t" anchorCtr="0">
              <a:noAutofit/>
            </a:bodyPr>
            <a:lstStyle/>
            <a:p>
              <a:pPr marL="0" lvl="0" indent="0" algn="r" defTabSz="1822450">
                <a:lnSpc>
                  <a:spcPct val="90000"/>
                </a:lnSpc>
                <a:spcBef>
                  <a:spcPct val="0"/>
                </a:spcBef>
                <a:spcAft>
                  <a:spcPct val="35000"/>
                </a:spcAft>
                <a:buNone/>
              </a:pPr>
              <a:r>
                <a:rPr lang="en-US" sz="4100" kern="1200" dirty="0"/>
                <a:t>Pre-processing</a:t>
              </a:r>
              <a:endParaRPr lang="en-IN" sz="4100" kern="1200" dirty="0"/>
            </a:p>
          </p:txBody>
        </p:sp>
        <p:sp>
          <p:nvSpPr>
            <p:cNvPr id="8" name="Freeform: Shape 7">
              <a:extLst>
                <a:ext uri="{FF2B5EF4-FFF2-40B4-BE49-F238E27FC236}">
                  <a16:creationId xmlns:a16="http://schemas.microsoft.com/office/drawing/2014/main" id="{DFC7D25D-FBF9-D57B-0B87-A15775DDA227}"/>
                </a:ext>
              </a:extLst>
            </p:cNvPr>
            <p:cNvSpPr/>
            <p:nvPr/>
          </p:nvSpPr>
          <p:spPr>
            <a:xfrm>
              <a:off x="591510" y="882472"/>
              <a:ext cx="3210751" cy="6819590"/>
            </a:xfrm>
            <a:custGeom>
              <a:avLst/>
              <a:gdLst>
                <a:gd name="connsiteX0" fmla="*/ 0 w 3044095"/>
                <a:gd name="connsiteY0" fmla="*/ 0 h 5373204"/>
                <a:gd name="connsiteX1" fmla="*/ 3044095 w 3044095"/>
                <a:gd name="connsiteY1" fmla="*/ 0 h 5373204"/>
                <a:gd name="connsiteX2" fmla="*/ 3044095 w 3044095"/>
                <a:gd name="connsiteY2" fmla="*/ 5373204 h 5373204"/>
                <a:gd name="connsiteX3" fmla="*/ 0 w 3044095"/>
                <a:gd name="connsiteY3" fmla="*/ 5373204 h 5373204"/>
                <a:gd name="connsiteX4" fmla="*/ 0 w 3044095"/>
                <a:gd name="connsiteY4" fmla="*/ 0 h 537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095" h="5373204">
                  <a:moveTo>
                    <a:pt x="0" y="0"/>
                  </a:moveTo>
                  <a:lnTo>
                    <a:pt x="3044095" y="0"/>
                  </a:lnTo>
                  <a:lnTo>
                    <a:pt x="3044095" y="5373204"/>
                  </a:lnTo>
                  <a:lnTo>
                    <a:pt x="0" y="5373204"/>
                  </a:lnTo>
                  <a:lnTo>
                    <a:pt x="0" y="0"/>
                  </a:lnTo>
                  <a:close/>
                </a:path>
              </a:pathLst>
            </a:custGeom>
            <a:solidFill>
              <a:srgbClr val="00B05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3792" tIns="514560" rIns="113792" bIns="113792" numCol="1" spcCol="1270" anchor="t" anchorCtr="0">
              <a:noAutofit/>
            </a:bodyPr>
            <a:lstStyle/>
            <a:p>
              <a:pPr marL="171450" lvl="1" indent="-171450" algn="l" defTabSz="711200">
                <a:lnSpc>
                  <a:spcPct val="90000"/>
                </a:lnSpc>
                <a:spcBef>
                  <a:spcPct val="0"/>
                </a:spcBef>
                <a:spcAft>
                  <a:spcPct val="15000"/>
                </a:spcAft>
                <a:buFont typeface="Wingdings" panose="05000000000000000000" pitchFamily="2" charset="2"/>
                <a:buChar char=""/>
              </a:pPr>
              <a:r>
                <a:rPr lang="en-IN" kern="1200" dirty="0">
                  <a:latin typeface="Times New Roman" panose="02020603050405020304" pitchFamily="18" charset="0"/>
                  <a:cs typeface="Times New Roman" panose="02020603050405020304" pitchFamily="18" charset="0"/>
                </a:rPr>
                <a:t>Alignment:</a:t>
              </a:r>
            </a:p>
            <a:p>
              <a:pPr marL="171450" lvl="1" indent="-171450" algn="l" defTabSz="711200">
                <a:lnSpc>
                  <a:spcPct val="90000"/>
                </a:lnSpc>
                <a:spcBef>
                  <a:spcPct val="0"/>
                </a:spcBef>
                <a:spcAft>
                  <a:spcPct val="15000"/>
                </a:spcAft>
                <a:buFont typeface="Symbol" panose="05050102010706020507" pitchFamily="18" charset="2"/>
                <a:buChar char=""/>
              </a:pPr>
              <a:r>
                <a:rPr lang="en-IN" sz="1600" kern="1200" dirty="0" err="1">
                  <a:latin typeface="Times New Roman" panose="02020603050405020304" pitchFamily="18" charset="0"/>
                  <a:cs typeface="Times New Roman" panose="02020603050405020304" pitchFamily="18" charset="0"/>
                </a:rPr>
                <a:t>STARsolo</a:t>
              </a:r>
              <a:r>
                <a:rPr lang="en-IN" sz="1600" kern="1200" dirty="0">
                  <a:latin typeface="Times New Roman" panose="02020603050405020304" pitchFamily="18" charset="0"/>
                  <a:cs typeface="Times New Roman" panose="02020603050405020304" pitchFamily="18" charset="0"/>
                </a:rPr>
                <a:t> (STAR-based, UMI quantification, &amp; assigns barcode)</a:t>
              </a:r>
            </a:p>
            <a:p>
              <a:pPr marL="171450" lvl="1" indent="-171450" algn="l" defTabSz="711200">
                <a:lnSpc>
                  <a:spcPct val="90000"/>
                </a:lnSpc>
                <a:spcBef>
                  <a:spcPct val="0"/>
                </a:spcBef>
                <a:spcAft>
                  <a:spcPct val="15000"/>
                </a:spcAft>
                <a:buFont typeface="Symbol" panose="05050102010706020507" pitchFamily="18" charset="2"/>
                <a:buChar char=""/>
              </a:pPr>
              <a:r>
                <a:rPr lang="en-US" sz="1600" kern="1200" dirty="0">
                  <a:latin typeface="Times New Roman" panose="02020603050405020304" pitchFamily="18" charset="0"/>
                  <a:cs typeface="Times New Roman" panose="02020603050405020304" pitchFamily="18" charset="0"/>
                </a:rPr>
                <a:t>celSeq2</a:t>
              </a:r>
              <a:endParaRPr lang="en-IN" sz="1600" kern="1200" dirty="0">
                <a:latin typeface="Times New Roman" panose="02020603050405020304" pitchFamily="18" charset="0"/>
                <a:cs typeface="Times New Roman" panose="02020603050405020304" pitchFamily="18" charset="0"/>
              </a:endParaRPr>
            </a:p>
            <a:p>
              <a:pPr marL="171450" lvl="1" indent="-171450" algn="l" defTabSz="711200">
                <a:lnSpc>
                  <a:spcPct val="90000"/>
                </a:lnSpc>
                <a:spcBef>
                  <a:spcPct val="0"/>
                </a:spcBef>
                <a:spcAft>
                  <a:spcPct val="15000"/>
                </a:spcAft>
                <a:buFont typeface="Symbol" panose="05050102010706020507" pitchFamily="18" charset="2"/>
                <a:buChar char=""/>
              </a:pPr>
              <a:r>
                <a:rPr lang="en-US" sz="1600" kern="1200" dirty="0" err="1">
                  <a:latin typeface="Times New Roman" panose="02020603050405020304" pitchFamily="18" charset="0"/>
                  <a:cs typeface="Times New Roman" panose="02020603050405020304" pitchFamily="18" charset="0"/>
                </a:rPr>
                <a:t>scPipe</a:t>
              </a:r>
              <a:endParaRPr lang="en-IN" sz="1600" kern="1200" dirty="0">
                <a:latin typeface="Times New Roman" panose="02020603050405020304" pitchFamily="18" charset="0"/>
                <a:cs typeface="Times New Roman" panose="02020603050405020304" pitchFamily="18" charset="0"/>
              </a:endParaRPr>
            </a:p>
            <a:p>
              <a:pPr marL="171450" lvl="1" indent="-171450" algn="l" defTabSz="711200">
                <a:lnSpc>
                  <a:spcPct val="90000"/>
                </a:lnSpc>
                <a:spcBef>
                  <a:spcPct val="0"/>
                </a:spcBef>
                <a:spcAft>
                  <a:spcPct val="15000"/>
                </a:spcAft>
                <a:buFont typeface="Symbol" panose="05050102010706020507" pitchFamily="18" charset="2"/>
                <a:buChar char=""/>
              </a:pPr>
              <a:r>
                <a:rPr lang="en-US" sz="1600" kern="1200" dirty="0">
                  <a:latin typeface="Times New Roman" panose="02020603050405020304" pitchFamily="18" charset="0"/>
                  <a:cs typeface="Times New Roman" panose="02020603050405020304" pitchFamily="18" charset="0"/>
                </a:rPr>
                <a:t>Scruff</a:t>
              </a:r>
              <a:endParaRPr lang="en-IN" sz="1600" kern="1200" dirty="0">
                <a:latin typeface="Times New Roman" panose="02020603050405020304" pitchFamily="18" charset="0"/>
                <a:cs typeface="Times New Roman" panose="02020603050405020304" pitchFamily="18" charset="0"/>
              </a:endParaRPr>
            </a:p>
            <a:p>
              <a:pPr marL="171450" lvl="1" indent="-171450" algn="l" defTabSz="711200">
                <a:lnSpc>
                  <a:spcPct val="90000"/>
                </a:lnSpc>
                <a:spcBef>
                  <a:spcPct val="0"/>
                </a:spcBef>
                <a:spcAft>
                  <a:spcPct val="15000"/>
                </a:spcAft>
                <a:buFont typeface="Symbol" panose="05050102010706020507" pitchFamily="18" charset="2"/>
                <a:buChar char=""/>
              </a:pPr>
              <a:r>
                <a:rPr lang="en-US" sz="1600" kern="1200" dirty="0" err="1">
                  <a:latin typeface="Times New Roman" panose="02020603050405020304" pitchFamily="18" charset="0"/>
                  <a:cs typeface="Times New Roman" panose="02020603050405020304" pitchFamily="18" charset="0"/>
                </a:rPr>
                <a:t>zuMIs</a:t>
              </a:r>
              <a:endParaRPr lang="en-US" sz="1600" kern="1200" dirty="0">
                <a:latin typeface="Times New Roman" panose="02020603050405020304" pitchFamily="18" charset="0"/>
                <a:cs typeface="Times New Roman" panose="02020603050405020304" pitchFamily="18" charset="0"/>
              </a:endParaRPr>
            </a:p>
            <a:p>
              <a:pPr marL="0" lvl="1" algn="l" defTabSz="711200">
                <a:lnSpc>
                  <a:spcPct val="90000"/>
                </a:lnSpc>
                <a:spcBef>
                  <a:spcPct val="0"/>
                </a:spcBef>
                <a:spcAft>
                  <a:spcPct val="15000"/>
                </a:spcAft>
              </a:pPr>
              <a:endParaRPr lang="en-IN" sz="1600" kern="1200" dirty="0">
                <a:latin typeface="Times New Roman" panose="02020603050405020304" pitchFamily="18" charset="0"/>
                <a:cs typeface="Times New Roman" panose="02020603050405020304" pitchFamily="18" charset="0"/>
              </a:endParaRPr>
            </a:p>
            <a:p>
              <a:pPr marL="285750" lvl="1" indent="-285750" algn="l" defTabSz="711200">
                <a:lnSpc>
                  <a:spcPct val="90000"/>
                </a:lnSpc>
                <a:spcBef>
                  <a:spcPct val="0"/>
                </a:spcBef>
                <a:spcAft>
                  <a:spcPct val="15000"/>
                </a:spcAft>
                <a:buFont typeface="Wingdings" panose="05000000000000000000" pitchFamily="2" charset="2"/>
                <a:buChar char="Ø"/>
              </a:pPr>
              <a:r>
                <a:rPr lang="en-US" sz="1600" kern="1200" dirty="0">
                  <a:latin typeface="Times New Roman" panose="02020603050405020304" pitchFamily="18" charset="0"/>
                  <a:cs typeface="Times New Roman" panose="02020603050405020304" pitchFamily="18" charset="0"/>
                </a:rPr>
                <a:t>Alignment Free tools</a:t>
              </a:r>
              <a:endParaRPr lang="en-IN" sz="1600" kern="1200" dirty="0">
                <a:latin typeface="Times New Roman" panose="02020603050405020304" pitchFamily="18" charset="0"/>
                <a:cs typeface="Times New Roman" panose="02020603050405020304" pitchFamily="18" charset="0"/>
              </a:endParaRPr>
            </a:p>
            <a:p>
              <a:pPr marL="171450" lvl="1" indent="-171450" algn="l" defTabSz="711200">
                <a:lnSpc>
                  <a:spcPct val="90000"/>
                </a:lnSpc>
                <a:spcBef>
                  <a:spcPct val="0"/>
                </a:spcBef>
                <a:spcAft>
                  <a:spcPct val="15000"/>
                </a:spcAft>
                <a:buFont typeface="Symbol" panose="05050102010706020507" pitchFamily="18" charset="2"/>
                <a:buChar char=""/>
              </a:pPr>
              <a:r>
                <a:rPr lang="en-IN" sz="1600" kern="1200" dirty="0" err="1">
                  <a:latin typeface="Times New Roman" panose="02020603050405020304" pitchFamily="18" charset="0"/>
                  <a:cs typeface="Times New Roman" panose="02020603050405020304" pitchFamily="18" charset="0"/>
                </a:rPr>
                <a:t>Kallisto</a:t>
              </a:r>
              <a:r>
                <a:rPr lang="en-IN" sz="1600" kern="1200" dirty="0">
                  <a:latin typeface="Times New Roman" panose="02020603050405020304" pitchFamily="18" charset="0"/>
                  <a:cs typeface="Times New Roman" panose="02020603050405020304" pitchFamily="18" charset="0"/>
                </a:rPr>
                <a:t> </a:t>
              </a:r>
              <a:r>
                <a:rPr lang="en-IN" sz="1600" kern="1200" dirty="0" err="1">
                  <a:latin typeface="Times New Roman" panose="02020603050405020304" pitchFamily="18" charset="0"/>
                  <a:cs typeface="Times New Roman" panose="02020603050405020304" pitchFamily="18" charset="0"/>
                </a:rPr>
                <a:t>Bustools</a:t>
              </a:r>
              <a:r>
                <a:rPr lang="en-IN" sz="1600" kern="1200" dirty="0">
                  <a:latin typeface="Times New Roman" panose="02020603050405020304" pitchFamily="18" charset="0"/>
                  <a:cs typeface="Times New Roman" panose="02020603050405020304" pitchFamily="18" charset="0"/>
                </a:rPr>
                <a:t>:  A fast, pseudoalignment-based method for read quantification</a:t>
              </a:r>
            </a:p>
            <a:p>
              <a:pPr marL="285750" lvl="1" indent="-285750" algn="l" defTabSz="1600200">
                <a:lnSpc>
                  <a:spcPct val="90000"/>
                </a:lnSpc>
                <a:spcBef>
                  <a:spcPct val="0"/>
                </a:spcBef>
                <a:spcAft>
                  <a:spcPct val="15000"/>
                </a:spcAft>
                <a:buFont typeface="Symbol" panose="05050102010706020507" pitchFamily="18" charset="2"/>
                <a:buChar char=""/>
              </a:pPr>
              <a:r>
                <a:rPr lang="en-US" sz="1600" kern="1200" dirty="0">
                  <a:latin typeface="Times New Roman" panose="02020603050405020304" pitchFamily="18" charset="0"/>
                  <a:cs typeface="Times New Roman" panose="02020603050405020304" pitchFamily="18" charset="0"/>
                </a:rPr>
                <a:t>Salmon</a:t>
              </a:r>
            </a:p>
            <a:p>
              <a:pPr marL="0" lvl="1" algn="l" defTabSz="1600200">
                <a:lnSpc>
                  <a:spcPct val="90000"/>
                </a:lnSpc>
                <a:spcBef>
                  <a:spcPct val="0"/>
                </a:spcBef>
                <a:spcAft>
                  <a:spcPct val="15000"/>
                </a:spcAft>
              </a:pPr>
              <a:endParaRPr lang="en-IN" sz="1600" kern="1200" dirty="0">
                <a:latin typeface="Times New Roman" panose="02020603050405020304" pitchFamily="18" charset="0"/>
                <a:cs typeface="Times New Roman" panose="02020603050405020304" pitchFamily="18" charset="0"/>
              </a:endParaRPr>
            </a:p>
            <a:p>
              <a:pPr marL="285750" lvl="1" indent="-285750" algn="l" defTabSz="711200">
                <a:lnSpc>
                  <a:spcPct val="90000"/>
                </a:lnSpc>
                <a:spcBef>
                  <a:spcPct val="0"/>
                </a:spcBef>
                <a:spcAft>
                  <a:spcPct val="15000"/>
                </a:spcAft>
                <a:buFont typeface="Wingdings" panose="05000000000000000000" pitchFamily="2" charset="2"/>
                <a:buChar char="Ø"/>
              </a:pPr>
              <a:r>
                <a:rPr lang="en-IN" sz="1600" kern="1200" dirty="0">
                  <a:latin typeface="Times New Roman" panose="02020603050405020304" pitchFamily="18" charset="0"/>
                  <a:cs typeface="Times New Roman" panose="02020603050405020304" pitchFamily="18" charset="0"/>
                </a:rPr>
                <a:t>Barcode Filtering</a:t>
              </a:r>
            </a:p>
            <a:p>
              <a:pPr marL="342900" lvl="2" indent="-171450" algn="l" defTabSz="711200">
                <a:lnSpc>
                  <a:spcPct val="90000"/>
                </a:lnSpc>
                <a:spcBef>
                  <a:spcPct val="0"/>
                </a:spcBef>
                <a:spcAft>
                  <a:spcPct val="15000"/>
                </a:spcAft>
                <a:buChar char="•"/>
              </a:pPr>
              <a:r>
                <a:rPr lang="en-IN" sz="1600" kern="1200" dirty="0" err="1">
                  <a:latin typeface="Times New Roman" panose="02020603050405020304" pitchFamily="18" charset="0"/>
                  <a:cs typeface="Times New Roman" panose="02020603050405020304" pitchFamily="18" charset="0"/>
                </a:rPr>
                <a:t>CellRanger</a:t>
              </a:r>
              <a:r>
                <a:rPr lang="en-IN" sz="1600" kern="1200" dirty="0">
                  <a:latin typeface="Times New Roman" panose="02020603050405020304" pitchFamily="18" charset="0"/>
                  <a:cs typeface="Times New Roman" panose="02020603050405020304" pitchFamily="18" charset="0"/>
                </a:rPr>
                <a:t>(10x Genomics): UMI counting, barcode identification, &amp; gene quantification.</a:t>
              </a:r>
            </a:p>
            <a:p>
              <a:pPr marL="342900" lvl="2" indent="-171450" algn="l" defTabSz="711200">
                <a:lnSpc>
                  <a:spcPct val="90000"/>
                </a:lnSpc>
                <a:spcBef>
                  <a:spcPct val="0"/>
                </a:spcBef>
                <a:spcAft>
                  <a:spcPct val="15000"/>
                </a:spcAft>
                <a:buChar char="•"/>
              </a:pPr>
              <a:endParaRPr lang="en-IN" sz="1600" kern="1200" dirty="0">
                <a:latin typeface="Times New Roman" panose="02020603050405020304" pitchFamily="18" charset="0"/>
                <a:cs typeface="Times New Roman" panose="02020603050405020304" pitchFamily="18" charset="0"/>
              </a:endParaRPr>
            </a:p>
            <a:p>
              <a:pPr marL="285750" lvl="1" indent="-285750" algn="l" defTabSz="711200">
                <a:lnSpc>
                  <a:spcPct val="90000"/>
                </a:lnSpc>
                <a:spcBef>
                  <a:spcPct val="0"/>
                </a:spcBef>
                <a:spcAft>
                  <a:spcPct val="15000"/>
                </a:spcAft>
                <a:buFont typeface="Wingdings" panose="05000000000000000000" pitchFamily="2" charset="2"/>
                <a:buChar char="Ø"/>
              </a:pPr>
              <a:r>
                <a:rPr lang="en-IN" sz="1600" kern="1200" dirty="0">
                  <a:latin typeface="Times New Roman" panose="02020603050405020304" pitchFamily="18" charset="0"/>
                  <a:cs typeface="Times New Roman" panose="02020603050405020304" pitchFamily="18" charset="0"/>
                </a:rPr>
                <a:t>UMI Quantification:</a:t>
              </a:r>
            </a:p>
            <a:p>
              <a:pPr marL="171450" lvl="1" indent="-171450" algn="l" defTabSz="711200">
                <a:lnSpc>
                  <a:spcPct val="90000"/>
                </a:lnSpc>
                <a:spcBef>
                  <a:spcPct val="0"/>
                </a:spcBef>
                <a:spcAft>
                  <a:spcPct val="15000"/>
                </a:spcAft>
                <a:buChar char="•"/>
              </a:pPr>
              <a:r>
                <a:rPr lang="en-IN" sz="1600" kern="1200" dirty="0">
                  <a:latin typeface="Times New Roman" panose="02020603050405020304" pitchFamily="18" charset="0"/>
                  <a:cs typeface="Times New Roman" panose="02020603050405020304" pitchFamily="18" charset="0"/>
                </a:rPr>
                <a:t>UMI-tools:  Corrects for UMI errors and reduces PCR amplification bias.</a:t>
              </a:r>
            </a:p>
          </p:txBody>
        </p:sp>
        <p:sp>
          <p:nvSpPr>
            <p:cNvPr id="10" name="Freeform: Shape 9">
              <a:extLst>
                <a:ext uri="{FF2B5EF4-FFF2-40B4-BE49-F238E27FC236}">
                  <a16:creationId xmlns:a16="http://schemas.microsoft.com/office/drawing/2014/main" id="{904D79F4-0D34-F99C-DEB2-E36CF59B09EE}"/>
                </a:ext>
              </a:extLst>
            </p:cNvPr>
            <p:cNvSpPr/>
            <p:nvPr/>
          </p:nvSpPr>
          <p:spPr>
            <a:xfrm rot="16200000">
              <a:off x="1511227" y="4396596"/>
              <a:ext cx="5349240" cy="583438"/>
            </a:xfrm>
            <a:custGeom>
              <a:avLst/>
              <a:gdLst>
                <a:gd name="connsiteX0" fmla="*/ 0 w 5349240"/>
                <a:gd name="connsiteY0" fmla="*/ 0 h 583438"/>
                <a:gd name="connsiteX1" fmla="*/ 5349240 w 5349240"/>
                <a:gd name="connsiteY1" fmla="*/ 0 h 583438"/>
                <a:gd name="connsiteX2" fmla="*/ 5349240 w 5349240"/>
                <a:gd name="connsiteY2" fmla="*/ 583438 h 583438"/>
                <a:gd name="connsiteX3" fmla="*/ 0 w 5349240"/>
                <a:gd name="connsiteY3" fmla="*/ 583438 h 583438"/>
                <a:gd name="connsiteX4" fmla="*/ 0 w 5349240"/>
                <a:gd name="connsiteY4" fmla="*/ 0 h 58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9240" h="583438">
                  <a:moveTo>
                    <a:pt x="0" y="0"/>
                  </a:moveTo>
                  <a:lnTo>
                    <a:pt x="5349240" y="0"/>
                  </a:lnTo>
                  <a:lnTo>
                    <a:pt x="5349240" y="583438"/>
                  </a:lnTo>
                  <a:lnTo>
                    <a:pt x="0" y="5834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514560" bIns="-1" numCol="1" spcCol="1270" anchor="t" anchorCtr="0">
              <a:noAutofit/>
            </a:bodyPr>
            <a:lstStyle/>
            <a:p>
              <a:pPr marL="0" lvl="0" indent="0" algn="r" defTabSz="1822450">
                <a:lnSpc>
                  <a:spcPct val="90000"/>
                </a:lnSpc>
                <a:spcBef>
                  <a:spcPct val="0"/>
                </a:spcBef>
                <a:spcAft>
                  <a:spcPct val="35000"/>
                </a:spcAft>
                <a:buNone/>
              </a:pPr>
              <a:r>
                <a:rPr lang="en-US" sz="4100" kern="1200" dirty="0"/>
                <a:t>Quality Control</a:t>
              </a:r>
              <a:endParaRPr lang="en-IN" sz="4100" kern="1200" dirty="0"/>
            </a:p>
          </p:txBody>
        </p:sp>
        <p:sp>
          <p:nvSpPr>
            <p:cNvPr id="11" name="Freeform: Shape 10">
              <a:extLst>
                <a:ext uri="{FF2B5EF4-FFF2-40B4-BE49-F238E27FC236}">
                  <a16:creationId xmlns:a16="http://schemas.microsoft.com/office/drawing/2014/main" id="{FDAA9E06-FBA1-83AE-B005-5207403DF8B2}"/>
                </a:ext>
              </a:extLst>
            </p:cNvPr>
            <p:cNvSpPr/>
            <p:nvPr/>
          </p:nvSpPr>
          <p:spPr>
            <a:xfrm>
              <a:off x="4510240" y="882471"/>
              <a:ext cx="3611909" cy="6819590"/>
            </a:xfrm>
            <a:custGeom>
              <a:avLst/>
              <a:gdLst>
                <a:gd name="connsiteX0" fmla="*/ 0 w 2906140"/>
                <a:gd name="connsiteY0" fmla="*/ 0 h 5349240"/>
                <a:gd name="connsiteX1" fmla="*/ 2906140 w 2906140"/>
                <a:gd name="connsiteY1" fmla="*/ 0 h 5349240"/>
                <a:gd name="connsiteX2" fmla="*/ 2906140 w 2906140"/>
                <a:gd name="connsiteY2" fmla="*/ 5349240 h 5349240"/>
                <a:gd name="connsiteX3" fmla="*/ 0 w 2906140"/>
                <a:gd name="connsiteY3" fmla="*/ 5349240 h 5349240"/>
                <a:gd name="connsiteX4" fmla="*/ 0 w 2906140"/>
                <a:gd name="connsiteY4" fmla="*/ 0 h 5349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140" h="5349240">
                  <a:moveTo>
                    <a:pt x="0" y="0"/>
                  </a:moveTo>
                  <a:lnTo>
                    <a:pt x="2906140" y="0"/>
                  </a:lnTo>
                  <a:lnTo>
                    <a:pt x="2906140" y="5349240"/>
                  </a:lnTo>
                  <a:lnTo>
                    <a:pt x="0" y="534924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514560" rIns="99568" bIns="99568" numCol="1" spcCol="1270" anchor="t" anchorCtr="0">
              <a:noAutofit/>
            </a:bodyPr>
            <a:lstStyle/>
            <a:p>
              <a:pPr marL="285750" lvl="1" indent="-285750" algn="l" defTabSz="488950">
                <a:lnSpc>
                  <a:spcPct val="90000"/>
                </a:lnSpc>
                <a:spcBef>
                  <a:spcPct val="0"/>
                </a:spcBef>
                <a:spcAft>
                  <a:spcPct val="15000"/>
                </a:spcAft>
                <a:buFont typeface="Wingdings" panose="05000000000000000000" pitchFamily="2" charset="2"/>
                <a:buChar char="Ø"/>
              </a:pPr>
              <a:r>
                <a:rPr lang="en-IN" sz="1600" kern="1200" dirty="0">
                  <a:latin typeface="Times New Roman" panose="02020603050405020304" pitchFamily="18" charset="0"/>
                  <a:cs typeface="Times New Roman" panose="02020603050405020304" pitchFamily="18" charset="0"/>
                </a:rPr>
                <a:t>Gene Expression Filtering</a:t>
              </a:r>
            </a:p>
            <a:p>
              <a:pPr marL="0" lvl="1" algn="l" defTabSz="488950">
                <a:lnSpc>
                  <a:spcPct val="90000"/>
                </a:lnSpc>
                <a:spcBef>
                  <a:spcPct val="0"/>
                </a:spcBef>
                <a:spcAft>
                  <a:spcPct val="15000"/>
                </a:spcAft>
              </a:pPr>
              <a:endParaRPr lang="en-IN" sz="1600" kern="1200" dirty="0">
                <a:latin typeface="Times New Roman" panose="02020603050405020304" pitchFamily="18" charset="0"/>
                <a:cs typeface="Times New Roman" panose="02020603050405020304" pitchFamily="18" charset="0"/>
              </a:endParaRPr>
            </a:p>
            <a:p>
              <a:pPr marL="285750" lvl="1" indent="-285750" algn="l" defTabSz="488950">
                <a:lnSpc>
                  <a:spcPct val="90000"/>
                </a:lnSpc>
                <a:spcBef>
                  <a:spcPct val="0"/>
                </a:spcBef>
                <a:spcAft>
                  <a:spcPct val="15000"/>
                </a:spcAft>
                <a:buFont typeface="Wingdings" panose="05000000000000000000" pitchFamily="2" charset="2"/>
                <a:buChar char="§"/>
              </a:pPr>
              <a:r>
                <a:rPr lang="en-IN" kern="1200" dirty="0">
                  <a:latin typeface="Times New Roman" panose="02020603050405020304" pitchFamily="18" charset="0"/>
                  <a:cs typeface="Times New Roman" panose="02020603050405020304" pitchFamily="18" charset="0"/>
                </a:rPr>
                <a:t>Seurat</a:t>
              </a:r>
              <a:r>
                <a:rPr lang="en-IN" sz="1600" kern="1200" dirty="0">
                  <a:latin typeface="Times New Roman" panose="02020603050405020304" pitchFamily="18" charset="0"/>
                  <a:cs typeface="Times New Roman" panose="02020603050405020304" pitchFamily="18" charset="0"/>
                </a:rPr>
                <a:t>: Filters cells based on total gene counts, removes low-quality cells with high mitochondrial gene expression, and discards cells with too few or too many features (genes).</a:t>
              </a:r>
            </a:p>
            <a:p>
              <a:pPr marL="285750" lvl="1" indent="-285750" algn="l" defTabSz="488950">
                <a:lnSpc>
                  <a:spcPct val="90000"/>
                </a:lnSpc>
                <a:spcBef>
                  <a:spcPct val="0"/>
                </a:spcBef>
                <a:spcAft>
                  <a:spcPct val="15000"/>
                </a:spcAft>
                <a:buFont typeface="Wingdings" panose="05000000000000000000" pitchFamily="2" charset="2"/>
                <a:buChar char="§"/>
              </a:pPr>
              <a:r>
                <a:rPr lang="en-IN" sz="1600" kern="1200" dirty="0" err="1">
                  <a:latin typeface="Times New Roman" panose="02020603050405020304" pitchFamily="18" charset="0"/>
                  <a:cs typeface="Times New Roman" panose="02020603050405020304" pitchFamily="18" charset="0"/>
                </a:rPr>
                <a:t>Scanpy</a:t>
              </a:r>
              <a:r>
                <a:rPr lang="en-IN" sz="1600" kern="1200" dirty="0">
                  <a:latin typeface="Times New Roman" panose="02020603050405020304" pitchFamily="18" charset="0"/>
                  <a:cs typeface="Times New Roman" panose="02020603050405020304" pitchFamily="18" charset="0"/>
                </a:rPr>
                <a:t>: total counts per cell, gene count per cell, and mitochondrial gene content to filter out poor-quality cells.</a:t>
              </a:r>
            </a:p>
            <a:p>
              <a:pPr marL="57150" lvl="1" indent="-57150" algn="l" defTabSz="488950">
                <a:lnSpc>
                  <a:spcPct val="90000"/>
                </a:lnSpc>
                <a:spcBef>
                  <a:spcPct val="0"/>
                </a:spcBef>
                <a:spcAft>
                  <a:spcPct val="15000"/>
                </a:spcAft>
                <a:buChar char="•"/>
              </a:pPr>
              <a:endParaRPr lang="en-IN" sz="1600" kern="1200" dirty="0">
                <a:latin typeface="Times New Roman" panose="02020603050405020304" pitchFamily="18" charset="0"/>
                <a:cs typeface="Times New Roman" panose="02020603050405020304" pitchFamily="18" charset="0"/>
              </a:endParaRPr>
            </a:p>
            <a:p>
              <a:pPr marL="285750" lvl="1" indent="-285750" algn="l" defTabSz="488950">
                <a:lnSpc>
                  <a:spcPct val="90000"/>
                </a:lnSpc>
                <a:spcBef>
                  <a:spcPct val="0"/>
                </a:spcBef>
                <a:spcAft>
                  <a:spcPct val="15000"/>
                </a:spcAft>
                <a:buFont typeface="Wingdings" panose="05000000000000000000" pitchFamily="2" charset="2"/>
                <a:buChar char="Ø"/>
              </a:pPr>
              <a:r>
                <a:rPr lang="en-IN" sz="1600" kern="1200" dirty="0">
                  <a:latin typeface="Times New Roman" panose="02020603050405020304" pitchFamily="18" charset="0"/>
                  <a:cs typeface="Times New Roman" panose="02020603050405020304" pitchFamily="18" charset="0"/>
                </a:rPr>
                <a:t>Doublet Detection:</a:t>
              </a:r>
            </a:p>
            <a:p>
              <a:pPr marL="285750" lvl="1" indent="-285750" algn="l" defTabSz="488950">
                <a:lnSpc>
                  <a:spcPct val="90000"/>
                </a:lnSpc>
                <a:spcBef>
                  <a:spcPct val="0"/>
                </a:spcBef>
                <a:spcAft>
                  <a:spcPct val="15000"/>
                </a:spcAft>
                <a:buFont typeface="Wingdings" panose="05000000000000000000" pitchFamily="2" charset="2"/>
                <a:buChar char="§"/>
              </a:pPr>
              <a:r>
                <a:rPr lang="en-IN" sz="1600" kern="1200" dirty="0" err="1">
                  <a:latin typeface="Times New Roman" panose="02020603050405020304" pitchFamily="18" charset="0"/>
                  <a:cs typeface="Times New Roman" panose="02020603050405020304" pitchFamily="18" charset="0"/>
                </a:rPr>
                <a:t>Scrublet</a:t>
              </a:r>
              <a:r>
                <a:rPr lang="en-IN" sz="1600" kern="1200" dirty="0">
                  <a:latin typeface="Times New Roman" panose="02020603050405020304" pitchFamily="18" charset="0"/>
                  <a:cs typeface="Times New Roman" panose="02020603050405020304" pitchFamily="18" charset="0"/>
                </a:rPr>
                <a:t>: Identifies and removes doublets (false cell </a:t>
              </a:r>
              <a:r>
                <a:rPr lang="en-IN" sz="1600" kern="1200" dirty="0" err="1">
                  <a:latin typeface="Times New Roman" panose="02020603050405020304" pitchFamily="18" charset="0"/>
                  <a:cs typeface="Times New Roman" panose="02020603050405020304" pitchFamily="18" charset="0"/>
                </a:rPr>
                <a:t>multiplets</a:t>
              </a:r>
              <a:r>
                <a:rPr lang="en-IN" sz="1600" kern="1200" dirty="0">
                  <a:latin typeface="Times New Roman" panose="02020603050405020304" pitchFamily="18" charset="0"/>
                  <a:cs typeface="Times New Roman" panose="02020603050405020304" pitchFamily="18" charset="0"/>
                </a:rPr>
                <a:t>).</a:t>
              </a:r>
            </a:p>
            <a:p>
              <a:pPr marL="57150" lvl="1" indent="-57150" algn="l" defTabSz="488950">
                <a:lnSpc>
                  <a:spcPct val="90000"/>
                </a:lnSpc>
                <a:spcBef>
                  <a:spcPct val="0"/>
                </a:spcBef>
                <a:spcAft>
                  <a:spcPct val="15000"/>
                </a:spcAft>
                <a:buChar char="•"/>
              </a:pPr>
              <a:endParaRPr lang="en-IN" sz="1600" kern="1200" dirty="0">
                <a:latin typeface="Times New Roman" panose="02020603050405020304" pitchFamily="18" charset="0"/>
                <a:cs typeface="Times New Roman" panose="02020603050405020304" pitchFamily="18" charset="0"/>
              </a:endParaRPr>
            </a:p>
            <a:p>
              <a:pPr marL="285750" lvl="1" indent="-285750" algn="l" defTabSz="488950">
                <a:lnSpc>
                  <a:spcPct val="90000"/>
                </a:lnSpc>
                <a:spcBef>
                  <a:spcPct val="0"/>
                </a:spcBef>
                <a:spcAft>
                  <a:spcPct val="15000"/>
                </a:spcAft>
                <a:buFont typeface="Wingdings" panose="05000000000000000000" pitchFamily="2" charset="2"/>
                <a:buChar char="Ø"/>
              </a:pPr>
              <a:r>
                <a:rPr lang="en-IN" sz="1600" kern="1200" dirty="0">
                  <a:latin typeface="Times New Roman" panose="02020603050405020304" pitchFamily="18" charset="0"/>
                  <a:cs typeface="Times New Roman" panose="02020603050405020304" pitchFamily="18" charset="0"/>
                </a:rPr>
                <a:t>Empty Droplet Removal:</a:t>
              </a:r>
            </a:p>
            <a:p>
              <a:pPr marL="285750" lvl="1" indent="-285750" algn="l" defTabSz="488950">
                <a:lnSpc>
                  <a:spcPct val="90000"/>
                </a:lnSpc>
                <a:spcBef>
                  <a:spcPct val="0"/>
                </a:spcBef>
                <a:spcAft>
                  <a:spcPct val="15000"/>
                </a:spcAft>
                <a:buFont typeface="Wingdings" panose="05000000000000000000" pitchFamily="2" charset="2"/>
                <a:buChar char="§"/>
              </a:pPr>
              <a:r>
                <a:rPr lang="en-IN" sz="1600" kern="1200" dirty="0" err="1">
                  <a:latin typeface="Times New Roman" panose="02020603050405020304" pitchFamily="18" charset="0"/>
                  <a:cs typeface="Times New Roman" panose="02020603050405020304" pitchFamily="18" charset="0"/>
                </a:rPr>
                <a:t>DropletUtils</a:t>
              </a:r>
              <a:r>
                <a:rPr lang="en-IN" sz="1600" kern="1200" dirty="0">
                  <a:latin typeface="Times New Roman" panose="02020603050405020304" pitchFamily="18" charset="0"/>
                  <a:cs typeface="Times New Roman" panose="02020603050405020304" pitchFamily="18" charset="0"/>
                </a:rPr>
                <a:t>: Removes empty droplets from droplet-based </a:t>
              </a:r>
              <a:r>
                <a:rPr lang="en-IN" sz="1600" kern="1200" dirty="0" err="1">
                  <a:latin typeface="Times New Roman" panose="02020603050405020304" pitchFamily="18" charset="0"/>
                  <a:cs typeface="Times New Roman" panose="02020603050405020304" pitchFamily="18" charset="0"/>
                </a:rPr>
                <a:t>scRNA-seq</a:t>
              </a:r>
              <a:r>
                <a:rPr lang="en-IN" sz="1600" kern="1200" dirty="0">
                  <a:latin typeface="Times New Roman" panose="02020603050405020304" pitchFamily="18" charset="0"/>
                  <a:cs typeface="Times New Roman" panose="02020603050405020304" pitchFamily="18" charset="0"/>
                </a:rPr>
                <a:t> data, </a:t>
              </a:r>
              <a:r>
                <a:rPr lang="en-IN" sz="1600" dirty="0">
                  <a:latin typeface="Times New Roman" panose="02020603050405020304" pitchFamily="18" charset="0"/>
                  <a:cs typeface="Times New Roman" panose="02020603050405020304" pitchFamily="18" charset="0"/>
                </a:rPr>
                <a:t>distinguish </a:t>
              </a:r>
              <a:r>
                <a:rPr lang="en-IN" sz="1600" kern="1200" dirty="0">
                  <a:latin typeface="Times New Roman" panose="02020603050405020304" pitchFamily="18" charset="0"/>
                  <a:cs typeface="Times New Roman" panose="02020603050405020304" pitchFamily="18" charset="0"/>
                </a:rPr>
                <a:t>real cells from background noise.</a:t>
              </a:r>
            </a:p>
            <a:p>
              <a:pPr marL="57150" lvl="1" indent="-57150" algn="l" defTabSz="488950">
                <a:lnSpc>
                  <a:spcPct val="90000"/>
                </a:lnSpc>
                <a:spcBef>
                  <a:spcPct val="0"/>
                </a:spcBef>
                <a:spcAft>
                  <a:spcPct val="15000"/>
                </a:spcAft>
                <a:buChar char="•"/>
              </a:pPr>
              <a:endParaRPr lang="en-IN" sz="1600" kern="1200" dirty="0">
                <a:latin typeface="Times New Roman" panose="02020603050405020304" pitchFamily="18" charset="0"/>
                <a:cs typeface="Times New Roman" panose="02020603050405020304" pitchFamily="18" charset="0"/>
              </a:endParaRPr>
            </a:p>
            <a:p>
              <a:pPr marL="285750" lvl="1" indent="-285750" algn="l" defTabSz="488950">
                <a:lnSpc>
                  <a:spcPct val="90000"/>
                </a:lnSpc>
                <a:spcBef>
                  <a:spcPct val="0"/>
                </a:spcBef>
                <a:spcAft>
                  <a:spcPct val="15000"/>
                </a:spcAft>
                <a:buFont typeface="Wingdings" panose="05000000000000000000" pitchFamily="2" charset="2"/>
                <a:buChar char="Ø"/>
              </a:pPr>
              <a:r>
                <a:rPr lang="en-IN" sz="1600" kern="1200" dirty="0">
                  <a:latin typeface="Times New Roman" panose="02020603050405020304" pitchFamily="18" charset="0"/>
                  <a:cs typeface="Times New Roman" panose="02020603050405020304" pitchFamily="18" charset="0"/>
                </a:rPr>
                <a:t>Cell Cycle Scoring:</a:t>
              </a:r>
            </a:p>
            <a:p>
              <a:pPr marL="285750" lvl="1" indent="-285750" algn="l" defTabSz="488950">
                <a:lnSpc>
                  <a:spcPct val="90000"/>
                </a:lnSpc>
                <a:spcBef>
                  <a:spcPct val="0"/>
                </a:spcBef>
                <a:spcAft>
                  <a:spcPct val="15000"/>
                </a:spcAft>
                <a:buFont typeface="Wingdings" panose="05000000000000000000" pitchFamily="2" charset="2"/>
                <a:buChar char="§"/>
              </a:pPr>
              <a:r>
                <a:rPr lang="en-IN" sz="1600" kern="1200" dirty="0">
                  <a:latin typeface="Times New Roman" panose="02020603050405020304" pitchFamily="18" charset="0"/>
                  <a:cs typeface="Times New Roman" panose="02020603050405020304" pitchFamily="18" charset="0"/>
                </a:rPr>
                <a:t>Cyclone (in </a:t>
              </a:r>
              <a:r>
                <a:rPr lang="en-IN" sz="1600" kern="1200" dirty="0" err="1">
                  <a:latin typeface="Times New Roman" panose="02020603050405020304" pitchFamily="18" charset="0"/>
                  <a:cs typeface="Times New Roman" panose="02020603050405020304" pitchFamily="18" charset="0"/>
                </a:rPr>
                <a:t>Scater</a:t>
              </a:r>
              <a:r>
                <a:rPr lang="en-IN" sz="1600" kern="1200" dirty="0">
                  <a:latin typeface="Times New Roman" panose="02020603050405020304" pitchFamily="18" charset="0"/>
                  <a:cs typeface="Times New Roman" panose="02020603050405020304" pitchFamily="18" charset="0"/>
                </a:rPr>
                <a:t>): Scores cells based on their cell cycle phase to control for cell cycle effects on gene expression.</a:t>
              </a:r>
            </a:p>
          </p:txBody>
        </p:sp>
        <p:sp>
          <p:nvSpPr>
            <p:cNvPr id="13" name="Freeform: Shape 12">
              <a:extLst>
                <a:ext uri="{FF2B5EF4-FFF2-40B4-BE49-F238E27FC236}">
                  <a16:creationId xmlns:a16="http://schemas.microsoft.com/office/drawing/2014/main" id="{B7D2C83D-4968-3C61-0447-8F1F172E388D}"/>
                </a:ext>
              </a:extLst>
            </p:cNvPr>
            <p:cNvSpPr/>
            <p:nvPr/>
          </p:nvSpPr>
          <p:spPr>
            <a:xfrm rot="16200000">
              <a:off x="5771921" y="4396596"/>
              <a:ext cx="5349240" cy="583438"/>
            </a:xfrm>
            <a:custGeom>
              <a:avLst/>
              <a:gdLst>
                <a:gd name="connsiteX0" fmla="*/ 0 w 5349240"/>
                <a:gd name="connsiteY0" fmla="*/ 0 h 583438"/>
                <a:gd name="connsiteX1" fmla="*/ 5349240 w 5349240"/>
                <a:gd name="connsiteY1" fmla="*/ 0 h 583438"/>
                <a:gd name="connsiteX2" fmla="*/ 5349240 w 5349240"/>
                <a:gd name="connsiteY2" fmla="*/ 583438 h 583438"/>
                <a:gd name="connsiteX3" fmla="*/ 0 w 5349240"/>
                <a:gd name="connsiteY3" fmla="*/ 583438 h 583438"/>
                <a:gd name="connsiteX4" fmla="*/ 0 w 5349240"/>
                <a:gd name="connsiteY4" fmla="*/ 0 h 58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9240" h="583438">
                  <a:moveTo>
                    <a:pt x="0" y="0"/>
                  </a:moveTo>
                  <a:lnTo>
                    <a:pt x="5349240" y="0"/>
                  </a:lnTo>
                  <a:lnTo>
                    <a:pt x="5349240" y="583438"/>
                  </a:lnTo>
                  <a:lnTo>
                    <a:pt x="0" y="5834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1" rIns="514560" bIns="0" numCol="1" spcCol="1270" anchor="t" anchorCtr="0">
              <a:noAutofit/>
            </a:bodyPr>
            <a:lstStyle/>
            <a:p>
              <a:pPr marL="0" lvl="0" indent="0" algn="r" defTabSz="1822450">
                <a:lnSpc>
                  <a:spcPct val="90000"/>
                </a:lnSpc>
                <a:spcBef>
                  <a:spcPct val="0"/>
                </a:spcBef>
                <a:spcAft>
                  <a:spcPct val="35000"/>
                </a:spcAft>
                <a:buNone/>
              </a:pPr>
              <a:r>
                <a:rPr lang="en-US" sz="4100" kern="1200" dirty="0"/>
                <a:t>Normalization</a:t>
              </a:r>
              <a:endParaRPr lang="en-IN" sz="4100" kern="1200" dirty="0"/>
            </a:p>
          </p:txBody>
        </p:sp>
        <p:sp>
          <p:nvSpPr>
            <p:cNvPr id="14" name="Freeform: Shape 13">
              <a:extLst>
                <a:ext uri="{FF2B5EF4-FFF2-40B4-BE49-F238E27FC236}">
                  <a16:creationId xmlns:a16="http://schemas.microsoft.com/office/drawing/2014/main" id="{45375357-9CB5-316C-2B05-9CC0B165FDBA}"/>
                </a:ext>
              </a:extLst>
            </p:cNvPr>
            <p:cNvSpPr/>
            <p:nvPr/>
          </p:nvSpPr>
          <p:spPr>
            <a:xfrm>
              <a:off x="8702889" y="882471"/>
              <a:ext cx="3412061" cy="6819590"/>
            </a:xfrm>
            <a:custGeom>
              <a:avLst/>
              <a:gdLst>
                <a:gd name="connsiteX0" fmla="*/ 0 w 2906140"/>
                <a:gd name="connsiteY0" fmla="*/ 0 h 5349240"/>
                <a:gd name="connsiteX1" fmla="*/ 2906140 w 2906140"/>
                <a:gd name="connsiteY1" fmla="*/ 0 h 5349240"/>
                <a:gd name="connsiteX2" fmla="*/ 2906140 w 2906140"/>
                <a:gd name="connsiteY2" fmla="*/ 5349240 h 5349240"/>
                <a:gd name="connsiteX3" fmla="*/ 0 w 2906140"/>
                <a:gd name="connsiteY3" fmla="*/ 5349240 h 5349240"/>
                <a:gd name="connsiteX4" fmla="*/ 0 w 2906140"/>
                <a:gd name="connsiteY4" fmla="*/ 0 h 5349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140" h="5349240">
                  <a:moveTo>
                    <a:pt x="0" y="0"/>
                  </a:moveTo>
                  <a:lnTo>
                    <a:pt x="2906140" y="0"/>
                  </a:lnTo>
                  <a:lnTo>
                    <a:pt x="2906140" y="5349240"/>
                  </a:lnTo>
                  <a:lnTo>
                    <a:pt x="0" y="5349240"/>
                  </a:lnTo>
                  <a:lnTo>
                    <a:pt x="0" y="0"/>
                  </a:lnTo>
                  <a:close/>
                </a:path>
              </a:pathLst>
            </a:custGeom>
            <a:solidFill>
              <a:schemeClr val="accent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514560" rIns="99568" bIns="99568" numCol="1" spcCol="1270" anchor="t" anchorCtr="0">
              <a:noAutofit/>
            </a:bodyPr>
            <a:lstStyle/>
            <a:p>
              <a:pPr marL="285750" lvl="1" indent="-285750" algn="l" defTabSz="488950">
                <a:lnSpc>
                  <a:spcPct val="90000"/>
                </a:lnSpc>
                <a:spcBef>
                  <a:spcPct val="0"/>
                </a:spcBef>
                <a:spcAft>
                  <a:spcPct val="15000"/>
                </a:spcAft>
                <a:buFont typeface="Wingdings" panose="05000000000000000000" pitchFamily="2" charset="2"/>
                <a:buChar char="Ø"/>
              </a:pPr>
              <a:r>
                <a:rPr lang="en-IN" b="1" kern="1200" dirty="0">
                  <a:solidFill>
                    <a:schemeClr val="bg1"/>
                  </a:solidFill>
                  <a:latin typeface="Times New Roman" panose="02020603050405020304" pitchFamily="18" charset="0"/>
                  <a:cs typeface="Times New Roman" panose="02020603050405020304" pitchFamily="18" charset="0"/>
                </a:rPr>
                <a:t>Log-Normalization:</a:t>
              </a:r>
            </a:p>
            <a:p>
              <a:pPr marL="285750" lvl="1" indent="-285750" algn="l" defTabSz="488950">
                <a:lnSpc>
                  <a:spcPct val="90000"/>
                </a:lnSpc>
                <a:spcBef>
                  <a:spcPct val="0"/>
                </a:spcBef>
                <a:spcAft>
                  <a:spcPct val="15000"/>
                </a:spcAft>
                <a:buFont typeface="Wingdings" panose="05000000000000000000" pitchFamily="2" charset="2"/>
                <a:buChar char="§"/>
              </a:pPr>
              <a:r>
                <a:rPr lang="en-IN" sz="1600" b="1" kern="1200" dirty="0">
                  <a:solidFill>
                    <a:schemeClr val="bg1"/>
                  </a:solidFill>
                  <a:latin typeface="Times New Roman" panose="02020603050405020304" pitchFamily="18" charset="0"/>
                  <a:cs typeface="Times New Roman" panose="02020603050405020304" pitchFamily="18" charset="0"/>
                </a:rPr>
                <a:t>Seurat</a:t>
              </a:r>
              <a:r>
                <a:rPr lang="en-IN" sz="1600" kern="1200" dirty="0">
                  <a:solidFill>
                    <a:schemeClr val="bg1"/>
                  </a:solidFill>
                  <a:latin typeface="Times New Roman" panose="02020603050405020304" pitchFamily="18" charset="0"/>
                  <a:cs typeface="Times New Roman" panose="02020603050405020304" pitchFamily="18" charset="0"/>
                </a:rPr>
                <a:t>: Log-normalizes the data.</a:t>
              </a:r>
            </a:p>
            <a:p>
              <a:pPr marL="285750" lvl="1" indent="-285750" algn="l" defTabSz="488950">
                <a:lnSpc>
                  <a:spcPct val="90000"/>
                </a:lnSpc>
                <a:spcBef>
                  <a:spcPct val="0"/>
                </a:spcBef>
                <a:spcAft>
                  <a:spcPct val="15000"/>
                </a:spcAft>
                <a:buFont typeface="Wingdings" panose="05000000000000000000" pitchFamily="2" charset="2"/>
                <a:buChar char="§"/>
              </a:pPr>
              <a:r>
                <a:rPr lang="en-IN" sz="1600" b="1" dirty="0">
                  <a:solidFill>
                    <a:schemeClr val="bg1"/>
                  </a:solidFill>
                  <a:latin typeface="Times New Roman" panose="02020603050405020304" pitchFamily="18" charset="0"/>
                  <a:cs typeface="Times New Roman" panose="02020603050405020304" pitchFamily="18" charset="0"/>
                </a:rPr>
                <a:t>DESeq2</a:t>
              </a:r>
              <a:endParaRPr lang="en-IN" sz="1600" b="1" kern="1200" dirty="0">
                <a:solidFill>
                  <a:schemeClr val="bg1"/>
                </a:solidFill>
                <a:latin typeface="Times New Roman" panose="02020603050405020304" pitchFamily="18" charset="0"/>
                <a:cs typeface="Times New Roman" panose="02020603050405020304" pitchFamily="18" charset="0"/>
              </a:endParaRPr>
            </a:p>
            <a:p>
              <a:pPr marL="57150" lvl="1" indent="-57150" algn="l" defTabSz="488950">
                <a:lnSpc>
                  <a:spcPct val="90000"/>
                </a:lnSpc>
                <a:spcBef>
                  <a:spcPct val="0"/>
                </a:spcBef>
                <a:spcAft>
                  <a:spcPct val="15000"/>
                </a:spcAft>
                <a:buChar char="•"/>
              </a:pPr>
              <a:endParaRPr lang="en-IN" sz="1600" kern="1200" dirty="0">
                <a:solidFill>
                  <a:schemeClr val="bg1"/>
                </a:solidFill>
                <a:latin typeface="Times New Roman" panose="02020603050405020304" pitchFamily="18" charset="0"/>
                <a:cs typeface="Times New Roman" panose="02020603050405020304" pitchFamily="18" charset="0"/>
              </a:endParaRPr>
            </a:p>
            <a:p>
              <a:pPr marL="285750" lvl="1" indent="-285750" algn="l" defTabSz="488950">
                <a:lnSpc>
                  <a:spcPct val="90000"/>
                </a:lnSpc>
                <a:spcBef>
                  <a:spcPct val="0"/>
                </a:spcBef>
                <a:spcAft>
                  <a:spcPct val="15000"/>
                </a:spcAft>
                <a:buFont typeface="Wingdings" panose="05000000000000000000" pitchFamily="2" charset="2"/>
                <a:buChar char="Ø"/>
              </a:pPr>
              <a:r>
                <a:rPr lang="en-IN" b="1" kern="1200" dirty="0">
                  <a:solidFill>
                    <a:schemeClr val="bg1"/>
                  </a:solidFill>
                  <a:latin typeface="Times New Roman" panose="02020603050405020304" pitchFamily="18" charset="0"/>
                  <a:cs typeface="Times New Roman" panose="02020603050405020304" pitchFamily="18" charset="0"/>
                </a:rPr>
                <a:t>Scaling Factors</a:t>
              </a:r>
              <a:r>
                <a:rPr lang="en-IN" sz="1600" b="1" kern="1200" dirty="0">
                  <a:solidFill>
                    <a:schemeClr val="bg1"/>
                  </a:solidFill>
                  <a:latin typeface="Times New Roman" panose="02020603050405020304" pitchFamily="18" charset="0"/>
                  <a:cs typeface="Times New Roman" panose="02020603050405020304" pitchFamily="18" charset="0"/>
                </a:rPr>
                <a:t>:</a:t>
              </a:r>
            </a:p>
            <a:p>
              <a:pPr marL="285750" lvl="1" indent="-285750" algn="l" defTabSz="488950">
                <a:lnSpc>
                  <a:spcPct val="90000"/>
                </a:lnSpc>
                <a:spcBef>
                  <a:spcPct val="0"/>
                </a:spcBef>
                <a:spcAft>
                  <a:spcPct val="15000"/>
                </a:spcAft>
                <a:buFont typeface="Wingdings" panose="05000000000000000000" pitchFamily="2" charset="2"/>
                <a:buChar char="§"/>
              </a:pPr>
              <a:r>
                <a:rPr lang="en-IN" sz="1600" b="1" kern="1200" dirty="0" err="1">
                  <a:solidFill>
                    <a:schemeClr val="bg1"/>
                  </a:solidFill>
                  <a:latin typeface="Times New Roman" panose="02020603050405020304" pitchFamily="18" charset="0"/>
                  <a:cs typeface="Times New Roman" panose="02020603050405020304" pitchFamily="18" charset="0"/>
                </a:rPr>
                <a:t>Scater</a:t>
              </a:r>
              <a:r>
                <a:rPr lang="en-IN" sz="1600" kern="1200" dirty="0">
                  <a:solidFill>
                    <a:schemeClr val="bg1"/>
                  </a:solidFill>
                  <a:latin typeface="Times New Roman" panose="02020603050405020304" pitchFamily="18" charset="0"/>
                  <a:cs typeface="Times New Roman" panose="02020603050405020304" pitchFamily="18" charset="0"/>
                </a:rPr>
                <a:t>: Adjust counts for different sequencing depths while retaining biological variability.</a:t>
              </a:r>
            </a:p>
            <a:p>
              <a:pPr marL="285750" lvl="1" indent="-285750" algn="l" defTabSz="488950">
                <a:lnSpc>
                  <a:spcPct val="90000"/>
                </a:lnSpc>
                <a:spcBef>
                  <a:spcPct val="0"/>
                </a:spcBef>
                <a:spcAft>
                  <a:spcPct val="15000"/>
                </a:spcAft>
                <a:buFont typeface="Wingdings" panose="05000000000000000000" pitchFamily="2" charset="2"/>
                <a:buChar char="§"/>
              </a:pPr>
              <a:endParaRPr lang="en-IN" sz="1600" kern="1200" dirty="0">
                <a:solidFill>
                  <a:schemeClr val="bg1"/>
                </a:solidFill>
                <a:latin typeface="Times New Roman" panose="02020603050405020304" pitchFamily="18" charset="0"/>
                <a:cs typeface="Times New Roman" panose="02020603050405020304" pitchFamily="18" charset="0"/>
              </a:endParaRPr>
            </a:p>
            <a:p>
              <a:pPr marL="285750" lvl="1" indent="-285750" algn="l" defTabSz="488950">
                <a:lnSpc>
                  <a:spcPct val="90000"/>
                </a:lnSpc>
                <a:spcBef>
                  <a:spcPct val="0"/>
                </a:spcBef>
                <a:spcAft>
                  <a:spcPct val="15000"/>
                </a:spcAft>
                <a:buFont typeface="Wingdings" panose="05000000000000000000" pitchFamily="2" charset="2"/>
                <a:buChar char="§"/>
              </a:pPr>
              <a:r>
                <a:rPr lang="en-IN" sz="1600" b="1" kern="1200" dirty="0" err="1">
                  <a:solidFill>
                    <a:schemeClr val="bg1"/>
                  </a:solidFill>
                  <a:latin typeface="Times New Roman" panose="02020603050405020304" pitchFamily="18" charset="0"/>
                  <a:cs typeface="Times New Roman" panose="02020603050405020304" pitchFamily="18" charset="0"/>
                </a:rPr>
                <a:t>SCTransform</a:t>
              </a:r>
              <a:r>
                <a:rPr lang="en-IN" sz="1600" b="1" kern="1200" dirty="0">
                  <a:solidFill>
                    <a:schemeClr val="bg1"/>
                  </a:solidFill>
                  <a:latin typeface="Times New Roman" panose="02020603050405020304" pitchFamily="18" charset="0"/>
                  <a:cs typeface="Times New Roman" panose="02020603050405020304" pitchFamily="18" charset="0"/>
                </a:rPr>
                <a:t>:</a:t>
              </a:r>
              <a:r>
                <a:rPr lang="en-IN" sz="1600" dirty="0">
                  <a:solidFill>
                    <a:schemeClr val="bg1"/>
                  </a:solidFill>
                  <a:latin typeface="Times New Roman" panose="02020603050405020304" pitchFamily="18" charset="0"/>
                  <a:cs typeface="Times New Roman" panose="02020603050405020304" pitchFamily="18" charset="0"/>
                </a:rPr>
                <a:t> </a:t>
              </a:r>
              <a:r>
                <a:rPr lang="en-IN" sz="1600" kern="1200" dirty="0">
                  <a:solidFill>
                    <a:schemeClr val="bg1"/>
                  </a:solidFill>
                  <a:latin typeface="Times New Roman" panose="02020603050405020304" pitchFamily="18" charset="0"/>
                  <a:cs typeface="Times New Roman" panose="02020603050405020304" pitchFamily="18" charset="0"/>
                </a:rPr>
                <a:t>variance-stabilizing transformation</a:t>
              </a:r>
            </a:p>
            <a:p>
              <a:pPr marL="0" lvl="1" algn="l" defTabSz="488950">
                <a:lnSpc>
                  <a:spcPct val="90000"/>
                </a:lnSpc>
                <a:spcBef>
                  <a:spcPct val="0"/>
                </a:spcBef>
                <a:spcAft>
                  <a:spcPct val="15000"/>
                </a:spcAft>
              </a:pPr>
              <a:endParaRPr lang="en-IN" sz="1600" kern="1200" dirty="0">
                <a:solidFill>
                  <a:schemeClr val="bg1"/>
                </a:solidFill>
                <a:latin typeface="Times New Roman" panose="02020603050405020304" pitchFamily="18" charset="0"/>
                <a:cs typeface="Times New Roman" panose="02020603050405020304" pitchFamily="18" charset="0"/>
              </a:endParaRPr>
            </a:p>
            <a:p>
              <a:pPr marL="285750" lvl="1" indent="-285750" algn="l" defTabSz="488950">
                <a:lnSpc>
                  <a:spcPct val="90000"/>
                </a:lnSpc>
                <a:spcBef>
                  <a:spcPct val="0"/>
                </a:spcBef>
                <a:spcAft>
                  <a:spcPct val="15000"/>
                </a:spcAft>
                <a:buFont typeface="Wingdings" panose="05000000000000000000" pitchFamily="2" charset="2"/>
                <a:buChar char="§"/>
              </a:pPr>
              <a:r>
                <a:rPr lang="en-IN" sz="1600" b="1" kern="1200" dirty="0">
                  <a:solidFill>
                    <a:schemeClr val="bg1"/>
                  </a:solidFill>
                  <a:latin typeface="Times New Roman" panose="02020603050405020304" pitchFamily="18" charset="0"/>
                  <a:cs typeface="Times New Roman" panose="02020603050405020304" pitchFamily="18" charset="0"/>
                </a:rPr>
                <a:t> Scran</a:t>
              </a:r>
              <a:r>
                <a:rPr lang="en-IN" sz="1600" kern="1200" dirty="0">
                  <a:solidFill>
                    <a:schemeClr val="bg1"/>
                  </a:solidFill>
                  <a:latin typeface="Times New Roman" panose="02020603050405020304" pitchFamily="18" charset="0"/>
                  <a:cs typeface="Times New Roman" panose="02020603050405020304" pitchFamily="18" charset="0"/>
                </a:rPr>
                <a:t>: Bioconductor tool that pools similar cells to estimate size factors and normalizes by controlling for technical variation </a:t>
              </a:r>
            </a:p>
            <a:p>
              <a:pPr marL="57150" lvl="1" indent="-57150" algn="l" defTabSz="488950">
                <a:lnSpc>
                  <a:spcPct val="90000"/>
                </a:lnSpc>
                <a:spcBef>
                  <a:spcPct val="0"/>
                </a:spcBef>
                <a:spcAft>
                  <a:spcPct val="15000"/>
                </a:spcAft>
                <a:buChar char="•"/>
              </a:pPr>
              <a:endParaRPr lang="en-IN" sz="1600" kern="1200" dirty="0">
                <a:solidFill>
                  <a:schemeClr val="bg1"/>
                </a:solidFill>
                <a:latin typeface="Times New Roman" panose="02020603050405020304" pitchFamily="18" charset="0"/>
                <a:cs typeface="Times New Roman" panose="02020603050405020304" pitchFamily="18" charset="0"/>
              </a:endParaRPr>
            </a:p>
            <a:p>
              <a:pPr marL="285750" lvl="1" indent="-285750" algn="l" defTabSz="488950">
                <a:lnSpc>
                  <a:spcPct val="90000"/>
                </a:lnSpc>
                <a:spcBef>
                  <a:spcPct val="0"/>
                </a:spcBef>
                <a:spcAft>
                  <a:spcPct val="15000"/>
                </a:spcAft>
                <a:buFont typeface="Wingdings" panose="05000000000000000000" pitchFamily="2" charset="2"/>
                <a:buChar char="Ø"/>
              </a:pPr>
              <a:r>
                <a:rPr lang="en-IN" b="1" kern="1200" dirty="0">
                  <a:solidFill>
                    <a:schemeClr val="bg1"/>
                  </a:solidFill>
                  <a:latin typeface="Times New Roman" panose="02020603050405020304" pitchFamily="18" charset="0"/>
                  <a:cs typeface="Times New Roman" panose="02020603050405020304" pitchFamily="18" charset="0"/>
                </a:rPr>
                <a:t>Batch Correction</a:t>
              </a:r>
              <a:r>
                <a:rPr lang="en-IN" sz="1600" kern="1200" dirty="0">
                  <a:solidFill>
                    <a:schemeClr val="bg1"/>
                  </a:solidFill>
                  <a:latin typeface="Times New Roman" panose="02020603050405020304" pitchFamily="18" charset="0"/>
                  <a:cs typeface="Times New Roman" panose="02020603050405020304" pitchFamily="18" charset="0"/>
                </a:rPr>
                <a:t>:</a:t>
              </a:r>
            </a:p>
            <a:p>
              <a:pPr marL="285750" lvl="1" indent="-285750" algn="l" defTabSz="488950">
                <a:lnSpc>
                  <a:spcPct val="90000"/>
                </a:lnSpc>
                <a:spcBef>
                  <a:spcPct val="0"/>
                </a:spcBef>
                <a:spcAft>
                  <a:spcPct val="15000"/>
                </a:spcAft>
                <a:buFont typeface="Wingdings" panose="05000000000000000000" pitchFamily="2" charset="2"/>
                <a:buChar char="§"/>
              </a:pPr>
              <a:r>
                <a:rPr lang="en-IN" sz="1600" b="1" kern="1200" dirty="0">
                  <a:solidFill>
                    <a:schemeClr val="bg1"/>
                  </a:solidFill>
                  <a:latin typeface="Times New Roman" panose="02020603050405020304" pitchFamily="18" charset="0"/>
                  <a:cs typeface="Times New Roman" panose="02020603050405020304" pitchFamily="18" charset="0"/>
                </a:rPr>
                <a:t>Harmony or </a:t>
              </a:r>
              <a:r>
                <a:rPr lang="en-IN" sz="1600" b="1" kern="1200" dirty="0" err="1">
                  <a:solidFill>
                    <a:schemeClr val="bg1"/>
                  </a:solidFill>
                  <a:latin typeface="Times New Roman" panose="02020603050405020304" pitchFamily="18" charset="0"/>
                  <a:cs typeface="Times New Roman" panose="02020603050405020304" pitchFamily="18" charset="0"/>
                </a:rPr>
                <a:t>MNNCorrect</a:t>
              </a:r>
              <a:r>
                <a:rPr lang="en-IN" sz="1600" b="1" kern="1200" dirty="0">
                  <a:solidFill>
                    <a:schemeClr val="bg1"/>
                  </a:solidFill>
                  <a:latin typeface="Times New Roman" panose="02020603050405020304" pitchFamily="18" charset="0"/>
                  <a:cs typeface="Times New Roman" panose="02020603050405020304" pitchFamily="18" charset="0"/>
                </a:rPr>
                <a:t> </a:t>
              </a:r>
              <a:r>
                <a:rPr lang="en-IN" sz="1600" kern="1200" dirty="0">
                  <a:solidFill>
                    <a:schemeClr val="bg1"/>
                  </a:solidFill>
                  <a:latin typeface="Times New Roman" panose="02020603050405020304" pitchFamily="18" charset="0"/>
                  <a:cs typeface="Times New Roman" panose="02020603050405020304" pitchFamily="18" charset="0"/>
                </a:rPr>
                <a:t>(Mutual Nearest </a:t>
              </a:r>
              <a:r>
                <a:rPr lang="en-IN" sz="1600" kern="1200" dirty="0" err="1">
                  <a:solidFill>
                    <a:schemeClr val="bg1"/>
                  </a:solidFill>
                  <a:latin typeface="Times New Roman" panose="02020603050405020304" pitchFamily="18" charset="0"/>
                  <a:cs typeface="Times New Roman" panose="02020603050405020304" pitchFamily="18" charset="0"/>
                </a:rPr>
                <a:t>Neighbors</a:t>
              </a:r>
              <a:r>
                <a:rPr lang="en-IN" sz="1600" kern="1200" dirty="0">
                  <a:solidFill>
                    <a:schemeClr val="bg1"/>
                  </a:solidFill>
                  <a:latin typeface="Times New Roman" panose="02020603050405020304" pitchFamily="18" charset="0"/>
                  <a:cs typeface="Times New Roman" panose="02020603050405020304" pitchFamily="18" charset="0"/>
                </a:rPr>
                <a:t>): Corrects for batch effects while preserving biological heterogeneity across different experimental conditions or samples.</a:t>
              </a:r>
            </a:p>
          </p:txBody>
        </p:sp>
      </p:grpSp>
    </p:spTree>
    <p:extLst>
      <p:ext uri="{BB962C8B-B14F-4D97-AF65-F5344CB8AC3E}">
        <p14:creationId xmlns:p14="http://schemas.microsoft.com/office/powerpoint/2010/main" val="1762872566"/>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7DB42-AADC-A40E-A979-6A0F85424954}"/>
              </a:ext>
            </a:extLst>
          </p:cNvPr>
          <p:cNvSpPr>
            <a:spLocks noGrp="1"/>
          </p:cNvSpPr>
          <p:nvPr>
            <p:ph type="title"/>
          </p:nvPr>
        </p:nvSpPr>
        <p:spPr>
          <a:xfrm>
            <a:off x="838200" y="365125"/>
            <a:ext cx="5717345" cy="1139255"/>
          </a:xfrm>
        </p:spPr>
        <p:txBody>
          <a:bodyPr>
            <a:normAutofit/>
          </a:bodyPr>
          <a:lstStyle/>
          <a:p>
            <a:r>
              <a:rPr lang="en-US" sz="4000" u="sng" dirty="0">
                <a:latin typeface="Algerian" panose="04020705040A02060702" pitchFamily="82" charset="0"/>
              </a:rPr>
              <a:t>Feature Selection</a:t>
            </a:r>
            <a:endParaRPr lang="en-IN" sz="4000" u="sng" dirty="0">
              <a:latin typeface="Algerian" panose="04020705040A02060702" pitchFamily="82" charset="0"/>
            </a:endParaRPr>
          </a:p>
        </p:txBody>
      </p:sp>
      <p:graphicFrame>
        <p:nvGraphicFramePr>
          <p:cNvPr id="4" name="Content Placeholder 3">
            <a:extLst>
              <a:ext uri="{FF2B5EF4-FFF2-40B4-BE49-F238E27FC236}">
                <a16:creationId xmlns:a16="http://schemas.microsoft.com/office/drawing/2014/main" id="{D9CBA82C-C4FA-0850-DEBD-B89EAF9C95FB}"/>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1D7EC85D-21E0-95BB-476D-1894F2255DF3}"/>
              </a:ext>
            </a:extLst>
          </p:cNvPr>
          <p:cNvSpPr txBox="1"/>
          <p:nvPr/>
        </p:nvSpPr>
        <p:spPr>
          <a:xfrm>
            <a:off x="239151" y="1424947"/>
            <a:ext cx="5856849" cy="2031325"/>
          </a:xfrm>
          <a:prstGeom prst="rect">
            <a:avLst/>
          </a:prstGeom>
          <a:noFill/>
        </p:spPr>
        <p:txBody>
          <a:bodyPr wrap="square" rtlCol="0">
            <a:spAutoFit/>
          </a:bodyPr>
          <a:lstStyle/>
          <a:p>
            <a:pPr algn="l">
              <a:buFont typeface="Arial" panose="020B0604020202020204" pitchFamily="34" charset="0"/>
              <a:buChar char="•"/>
            </a:pPr>
            <a:r>
              <a:rPr lang="en-US" b="0" i="0" dirty="0">
                <a:solidFill>
                  <a:srgbClr val="1F2937"/>
                </a:solidFill>
                <a:effectLst/>
                <a:latin typeface="Times New Roman" panose="02020603050405020304" pitchFamily="18" charset="0"/>
                <a:cs typeface="Times New Roman" panose="02020603050405020304" pitchFamily="18" charset="0"/>
              </a:rPr>
              <a:t>Subset of Genes with significant expression variation between cells.</a:t>
            </a:r>
          </a:p>
          <a:p>
            <a:pPr algn="l">
              <a:buFont typeface="Arial" panose="020B0604020202020204" pitchFamily="34" charset="0"/>
              <a:buChar char="•"/>
            </a:pPr>
            <a:r>
              <a:rPr lang="en-IN" sz="1800" dirty="0">
                <a:effectLst/>
                <a:latin typeface="Times New Roman" panose="02020603050405020304" pitchFamily="18" charset="0"/>
                <a:ea typeface="Noto Serif CJK SC"/>
                <a:cs typeface="Times New Roman" panose="02020603050405020304" pitchFamily="18" charset="0"/>
              </a:rPr>
              <a:t>Selecting highly informative genes from dataset.</a:t>
            </a:r>
            <a:endParaRPr lang="en-US" i="0" dirty="0">
              <a:solidFill>
                <a:srgbClr val="1F2937"/>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a:solidFill>
                  <a:srgbClr val="1F2937"/>
                </a:solidFill>
                <a:effectLst/>
                <a:latin typeface="Times New Roman" panose="02020603050405020304" pitchFamily="18" charset="0"/>
                <a:cs typeface="Times New Roman" panose="02020603050405020304" pitchFamily="18" charset="0"/>
              </a:rPr>
              <a:t>Reflect biological differences in cell types or states.</a:t>
            </a:r>
          </a:p>
          <a:p>
            <a:pPr algn="l">
              <a:buFont typeface="Arial" panose="020B0604020202020204" pitchFamily="34" charset="0"/>
              <a:buChar char="•"/>
            </a:pPr>
            <a:r>
              <a:rPr lang="en-US" b="0" i="0" dirty="0">
                <a:solidFill>
                  <a:srgbClr val="1F2937"/>
                </a:solidFill>
                <a:effectLst/>
                <a:latin typeface="Times New Roman" panose="02020603050405020304" pitchFamily="18" charset="0"/>
                <a:cs typeface="Times New Roman" panose="02020603050405020304" pitchFamily="18" charset="0"/>
              </a:rPr>
              <a:t>Help distinguish true biological signals from</a:t>
            </a:r>
          </a:p>
          <a:p>
            <a:pPr algn="l"/>
            <a:r>
              <a:rPr lang="en-US" b="0" i="0" dirty="0">
                <a:solidFill>
                  <a:srgbClr val="1F2937"/>
                </a:solidFill>
                <a:effectLst/>
                <a:latin typeface="Times New Roman" panose="02020603050405020304" pitchFamily="18" charset="0"/>
                <a:cs typeface="Times New Roman" panose="02020603050405020304" pitchFamily="18" charset="0"/>
              </a:rPr>
              <a:t> technical noise.</a:t>
            </a:r>
          </a:p>
          <a:p>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AE1F1E5-2ADC-66CF-DC46-4BCC3C99D80A}"/>
              </a:ext>
            </a:extLst>
          </p:cNvPr>
          <p:cNvSpPr txBox="1"/>
          <p:nvPr/>
        </p:nvSpPr>
        <p:spPr>
          <a:xfrm>
            <a:off x="7297028" y="878252"/>
            <a:ext cx="4496972" cy="1477328"/>
          </a:xfrm>
          <a:prstGeom prst="rect">
            <a:avLst/>
          </a:prstGeom>
          <a:noFill/>
        </p:spPr>
        <p:txBody>
          <a:bodyPr wrap="square" rtlCol="0">
            <a:spAutoFit/>
          </a:bodyPr>
          <a:lstStyle/>
          <a:p>
            <a:pPr algn="l">
              <a:buFont typeface="Arial" panose="020B0604020202020204" pitchFamily="34" charset="0"/>
              <a:buChar char="•"/>
            </a:pPr>
            <a:r>
              <a:rPr lang="en-IN" b="0" i="0" dirty="0">
                <a:solidFill>
                  <a:srgbClr val="1F2937"/>
                </a:solidFill>
                <a:effectLst/>
                <a:latin typeface="Times New Roman" panose="02020603050405020304" pitchFamily="18" charset="0"/>
                <a:cs typeface="Times New Roman" panose="02020603050405020304" pitchFamily="18" charset="0"/>
              </a:rPr>
              <a:t>Feature selection for downstream analysis.</a:t>
            </a:r>
          </a:p>
          <a:p>
            <a:pPr algn="l">
              <a:buFont typeface="Arial" panose="020B0604020202020204" pitchFamily="34" charset="0"/>
              <a:buChar char="•"/>
            </a:pPr>
            <a:r>
              <a:rPr lang="en-IN" b="0" i="0" dirty="0">
                <a:solidFill>
                  <a:srgbClr val="1F2937"/>
                </a:solidFill>
                <a:effectLst/>
                <a:latin typeface="Times New Roman" panose="02020603050405020304" pitchFamily="18" charset="0"/>
                <a:cs typeface="Times New Roman" panose="02020603050405020304" pitchFamily="18" charset="0"/>
              </a:rPr>
              <a:t>Capture biological variation.</a:t>
            </a:r>
          </a:p>
          <a:p>
            <a:pPr algn="l">
              <a:buFont typeface="Arial" panose="020B0604020202020204" pitchFamily="34" charset="0"/>
              <a:buChar char="•"/>
            </a:pPr>
            <a:r>
              <a:rPr lang="en-IN" b="0" i="0" dirty="0">
                <a:solidFill>
                  <a:srgbClr val="1F2937"/>
                </a:solidFill>
                <a:effectLst/>
                <a:latin typeface="Times New Roman" panose="02020603050405020304" pitchFamily="18" charset="0"/>
                <a:cs typeface="Times New Roman" panose="02020603050405020304" pitchFamily="18" charset="0"/>
              </a:rPr>
              <a:t>Eliminate non-informative genes (technical noise).</a:t>
            </a:r>
          </a:p>
          <a:p>
            <a:pPr algn="l">
              <a:buFont typeface="Arial" panose="020B0604020202020204" pitchFamily="34" charset="0"/>
              <a:buChar char="•"/>
            </a:pPr>
            <a:r>
              <a:rPr lang="en-IN" b="0" i="0" dirty="0">
                <a:solidFill>
                  <a:srgbClr val="1F2937"/>
                </a:solidFill>
                <a:effectLst/>
                <a:latin typeface="Times New Roman" panose="02020603050405020304" pitchFamily="18" charset="0"/>
                <a:cs typeface="Times New Roman" panose="02020603050405020304" pitchFamily="18" charset="0"/>
              </a:rPr>
              <a:t>Improve computational efficiency.</a:t>
            </a:r>
          </a:p>
        </p:txBody>
      </p:sp>
      <p:sp>
        <p:nvSpPr>
          <p:cNvPr id="7" name="TextBox 6">
            <a:extLst>
              <a:ext uri="{FF2B5EF4-FFF2-40B4-BE49-F238E27FC236}">
                <a16:creationId xmlns:a16="http://schemas.microsoft.com/office/drawing/2014/main" id="{C4D1D5B5-1235-2EF0-D8BC-A59FCBC3EF5A}"/>
              </a:ext>
            </a:extLst>
          </p:cNvPr>
          <p:cNvSpPr txBox="1"/>
          <p:nvPr/>
        </p:nvSpPr>
        <p:spPr>
          <a:xfrm>
            <a:off x="838201" y="3259435"/>
            <a:ext cx="3790070" cy="3416320"/>
          </a:xfrm>
          <a:prstGeom prst="rect">
            <a:avLst/>
          </a:prstGeom>
          <a:noFill/>
        </p:spPr>
        <p:txBody>
          <a:bodyPr wrap="square" rtlCol="0">
            <a:spAutoFit/>
          </a:bodyPr>
          <a:lstStyle/>
          <a:p>
            <a:pPr algn="l"/>
            <a:r>
              <a:rPr lang="en-US" b="1" i="0" dirty="0">
                <a:solidFill>
                  <a:srgbClr val="1F2937"/>
                </a:solidFill>
                <a:effectLst/>
                <a:latin typeface="Times New Roman" panose="02020603050405020304" pitchFamily="18" charset="0"/>
                <a:cs typeface="Times New Roman" panose="02020603050405020304" pitchFamily="18" charset="0"/>
              </a:rPr>
              <a:t>Methods for Feature Identification</a:t>
            </a:r>
          </a:p>
          <a:p>
            <a:pPr algn="l">
              <a:buFont typeface="+mj-lt"/>
              <a:buAutoNum type="arabicPeriod"/>
            </a:pPr>
            <a:r>
              <a:rPr lang="en-US" b="0" i="0" dirty="0">
                <a:solidFill>
                  <a:srgbClr val="1F2937"/>
                </a:solidFill>
                <a:effectLst/>
                <a:latin typeface="Times New Roman" panose="02020603050405020304" pitchFamily="18" charset="0"/>
                <a:cs typeface="Times New Roman" panose="02020603050405020304" pitchFamily="18" charset="0"/>
              </a:rPr>
              <a:t>Mean-Variance Relationship</a:t>
            </a:r>
          </a:p>
          <a:p>
            <a:pPr marL="742950" lvl="1" indent="-285750" algn="l">
              <a:buFont typeface="+mj-lt"/>
              <a:buAutoNum type="arabicPeriod"/>
            </a:pPr>
            <a:r>
              <a:rPr lang="en-US" b="0" i="0" dirty="0">
                <a:solidFill>
                  <a:srgbClr val="1F2937"/>
                </a:solidFill>
                <a:effectLst/>
                <a:latin typeface="Times New Roman" panose="02020603050405020304" pitchFamily="18" charset="0"/>
                <a:cs typeface="Times New Roman" panose="02020603050405020304" pitchFamily="18" charset="0"/>
              </a:rPr>
              <a:t>Mean &amp; variance relationship of gene expression</a:t>
            </a:r>
          </a:p>
          <a:p>
            <a:pPr marL="742950" lvl="1" indent="-285750" algn="l">
              <a:buFont typeface="+mj-lt"/>
              <a:buAutoNum type="arabicPeriod"/>
            </a:pPr>
            <a:r>
              <a:rPr lang="en-US" b="0" i="0" dirty="0">
                <a:solidFill>
                  <a:srgbClr val="1F2937"/>
                </a:solidFill>
                <a:effectLst/>
                <a:latin typeface="Times New Roman" panose="02020603050405020304" pitchFamily="18" charset="0"/>
                <a:cs typeface="Times New Roman" panose="02020603050405020304" pitchFamily="18" charset="0"/>
              </a:rPr>
              <a:t>Identify genes exceeding expected variance</a:t>
            </a:r>
          </a:p>
          <a:p>
            <a:pPr algn="l">
              <a:buFont typeface="+mj-lt"/>
              <a:buAutoNum type="arabicPeriod"/>
            </a:pPr>
            <a:r>
              <a:rPr lang="en-US" b="0" i="0" dirty="0">
                <a:solidFill>
                  <a:srgbClr val="1F2937"/>
                </a:solidFill>
                <a:effectLst/>
                <a:latin typeface="Times New Roman" panose="02020603050405020304" pitchFamily="18" charset="0"/>
                <a:cs typeface="Times New Roman" panose="02020603050405020304" pitchFamily="18" charset="0"/>
              </a:rPr>
              <a:t>Dispersion Estimates</a:t>
            </a:r>
          </a:p>
          <a:p>
            <a:pPr marL="742950" lvl="1" indent="-285750" algn="l">
              <a:buFont typeface="+mj-lt"/>
              <a:buAutoNum type="arabicPeriod"/>
            </a:pPr>
            <a:r>
              <a:rPr lang="en-US" b="0" i="0" dirty="0">
                <a:solidFill>
                  <a:srgbClr val="1F2937"/>
                </a:solidFill>
                <a:effectLst/>
                <a:latin typeface="Times New Roman" panose="02020603050405020304" pitchFamily="18" charset="0"/>
                <a:cs typeface="Times New Roman" panose="02020603050405020304" pitchFamily="18" charset="0"/>
              </a:rPr>
              <a:t>Normalize variance by mean expression</a:t>
            </a:r>
          </a:p>
          <a:p>
            <a:pPr marL="742950" lvl="1" indent="-285750" algn="l">
              <a:buFont typeface="+mj-lt"/>
              <a:buAutoNum type="arabicPeriod"/>
            </a:pPr>
            <a:r>
              <a:rPr lang="en-US" b="0" i="0" dirty="0">
                <a:solidFill>
                  <a:srgbClr val="1F2937"/>
                </a:solidFill>
                <a:effectLst/>
                <a:latin typeface="Times New Roman" panose="02020603050405020304" pitchFamily="18" charset="0"/>
                <a:cs typeface="Times New Roman" panose="02020603050405020304" pitchFamily="18" charset="0"/>
              </a:rPr>
              <a:t>Select genes with high normalized dispersion</a:t>
            </a:r>
          </a:p>
          <a:p>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6DBB2CF-066C-D65A-55DA-9AA88F3A55CF}"/>
              </a:ext>
            </a:extLst>
          </p:cNvPr>
          <p:cNvSpPr txBox="1"/>
          <p:nvPr/>
        </p:nvSpPr>
        <p:spPr>
          <a:xfrm>
            <a:off x="7951617" y="2885534"/>
            <a:ext cx="3842383" cy="4524315"/>
          </a:xfrm>
          <a:prstGeom prst="rect">
            <a:avLst/>
          </a:prstGeom>
          <a:noFill/>
        </p:spPr>
        <p:txBody>
          <a:bodyPr wrap="square" rtlCol="0">
            <a:spAutoFit/>
          </a:bodyPr>
          <a:lstStyle/>
          <a:p>
            <a:pPr algn="l"/>
            <a:r>
              <a:rPr lang="en-IN" b="1" i="0" dirty="0">
                <a:solidFill>
                  <a:srgbClr val="1F2937"/>
                </a:solidFill>
                <a:effectLst/>
                <a:latin typeface="Times New Roman" panose="02020603050405020304" pitchFamily="18" charset="0"/>
                <a:cs typeface="Times New Roman" panose="02020603050405020304" pitchFamily="18" charset="0"/>
              </a:rPr>
              <a:t>Tools and Techniques</a:t>
            </a:r>
          </a:p>
          <a:p>
            <a:pPr algn="l"/>
            <a:r>
              <a:rPr lang="en-IN" sz="1800" dirty="0">
                <a:effectLst/>
                <a:latin typeface="Times New Roman" panose="02020603050405020304" pitchFamily="18" charset="0"/>
                <a:ea typeface="Noto Serif CJK SC"/>
                <a:cs typeface="Times New Roman" panose="02020603050405020304" pitchFamily="18" charset="0"/>
              </a:rPr>
              <a:t>1</a:t>
            </a:r>
            <a:r>
              <a:rPr lang="en-IN" sz="1800" b="1" dirty="0">
                <a:effectLst/>
                <a:latin typeface="Times New Roman" panose="02020603050405020304" pitchFamily="18" charset="0"/>
                <a:ea typeface="Noto Serif CJK SC"/>
                <a:cs typeface="Times New Roman" panose="02020603050405020304" pitchFamily="18" charset="0"/>
              </a:rPr>
              <a:t>. </a:t>
            </a:r>
            <a:r>
              <a:rPr lang="en-IN" sz="1800" u="sng" dirty="0">
                <a:effectLst/>
                <a:latin typeface="Times New Roman" panose="02020603050405020304" pitchFamily="18" charset="0"/>
                <a:ea typeface="Noto Serif CJK SC"/>
                <a:cs typeface="Times New Roman" panose="02020603050405020304" pitchFamily="18" charset="0"/>
              </a:rPr>
              <a:t>High-Variance Gene (HVG) Selection</a:t>
            </a:r>
            <a:r>
              <a:rPr lang="en-IN" sz="1800" u="sng" dirty="0">
                <a:effectLst/>
                <a:latin typeface="Times New Roman" panose="02020603050405020304" pitchFamily="18" charset="0"/>
                <a:ea typeface="Noto Sans Mono CJK SC"/>
                <a:cs typeface="Times New Roman" panose="02020603050405020304" pitchFamily="18" charset="0"/>
              </a:rPr>
              <a:t> technique:</a:t>
            </a:r>
            <a:endParaRPr lang="en-IN" i="0" u="sng" dirty="0">
              <a:solidFill>
                <a:srgbClr val="1F2937"/>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b="0" i="0" dirty="0">
                <a:solidFill>
                  <a:srgbClr val="1F2937"/>
                </a:solidFill>
                <a:effectLst/>
                <a:latin typeface="Times New Roman" panose="02020603050405020304" pitchFamily="18" charset="0"/>
                <a:cs typeface="Times New Roman" panose="02020603050405020304" pitchFamily="18" charset="0"/>
              </a:rPr>
              <a:t>Seurat: </a:t>
            </a:r>
            <a:r>
              <a:rPr lang="en-IN" b="0" i="0" dirty="0" err="1">
                <a:solidFill>
                  <a:srgbClr val="1F2937"/>
                </a:solidFill>
                <a:effectLst/>
                <a:latin typeface="Times New Roman" panose="02020603050405020304" pitchFamily="18" charset="0"/>
                <a:cs typeface="Times New Roman" panose="02020603050405020304" pitchFamily="18" charset="0"/>
              </a:rPr>
              <a:t>FindVariableFeatures</a:t>
            </a:r>
            <a:r>
              <a:rPr lang="en-IN" b="0" i="0" dirty="0">
                <a:solidFill>
                  <a:srgbClr val="1F2937"/>
                </a:solidFill>
                <a:effectLst/>
                <a:latin typeface="Times New Roman" panose="02020603050405020304" pitchFamily="18" charset="0"/>
                <a:cs typeface="Times New Roman" panose="02020603050405020304" pitchFamily="18" charset="0"/>
              </a:rPr>
              <a:t>()</a:t>
            </a:r>
          </a:p>
          <a:p>
            <a:pPr marL="285750" indent="-285750" algn="l">
              <a:buFont typeface="Arial" panose="020B0604020202020204" pitchFamily="34" charset="0"/>
              <a:buChar char="•"/>
            </a:pPr>
            <a:r>
              <a:rPr lang="en-IN" b="0" i="0" dirty="0" err="1">
                <a:solidFill>
                  <a:srgbClr val="1F2937"/>
                </a:solidFill>
                <a:effectLst/>
                <a:latin typeface="Times New Roman" panose="02020603050405020304" pitchFamily="18" charset="0"/>
                <a:cs typeface="Times New Roman" panose="02020603050405020304" pitchFamily="18" charset="0"/>
              </a:rPr>
              <a:t>Scanpy</a:t>
            </a:r>
            <a:r>
              <a:rPr lang="en-IN" b="0" i="0" dirty="0">
                <a:solidFill>
                  <a:srgbClr val="1F2937"/>
                </a:solidFill>
                <a:effectLst/>
                <a:latin typeface="Times New Roman" panose="02020603050405020304" pitchFamily="18" charset="0"/>
                <a:cs typeface="Times New Roman" panose="02020603050405020304" pitchFamily="18" charset="0"/>
              </a:rPr>
              <a:t>: </a:t>
            </a:r>
            <a:r>
              <a:rPr lang="en-IN" b="0" i="0" dirty="0" err="1">
                <a:solidFill>
                  <a:srgbClr val="1F2937"/>
                </a:solidFill>
                <a:effectLst/>
                <a:latin typeface="Times New Roman" panose="02020603050405020304" pitchFamily="18" charset="0"/>
                <a:cs typeface="Times New Roman" panose="02020603050405020304" pitchFamily="18" charset="0"/>
              </a:rPr>
              <a:t>highly_variable_genes</a:t>
            </a:r>
            <a:r>
              <a:rPr lang="en-IN" b="0" i="0" dirty="0">
                <a:solidFill>
                  <a:srgbClr val="1F2937"/>
                </a:solidFill>
                <a:effectLst/>
                <a:latin typeface="Times New Roman" panose="02020603050405020304" pitchFamily="18" charset="0"/>
                <a:cs typeface="Times New Roman" panose="02020603050405020304" pitchFamily="18" charset="0"/>
              </a:rPr>
              <a:t>()</a:t>
            </a:r>
          </a:p>
          <a:p>
            <a:pPr algn="l"/>
            <a:r>
              <a:rPr lang="en-IN" sz="1800" dirty="0">
                <a:effectLst/>
                <a:latin typeface="Times New Roman" panose="02020603050405020304" pitchFamily="18" charset="0"/>
                <a:ea typeface="Noto Serif CJK SC"/>
                <a:cs typeface="Times New Roman" panose="02020603050405020304" pitchFamily="18" charset="0"/>
              </a:rPr>
              <a:t>2</a:t>
            </a:r>
            <a:r>
              <a:rPr lang="en-IN" sz="1800" b="1" dirty="0">
                <a:effectLst/>
                <a:latin typeface="Times New Roman" panose="02020603050405020304" pitchFamily="18" charset="0"/>
                <a:ea typeface="Noto Serif CJK SC"/>
                <a:cs typeface="Times New Roman" panose="02020603050405020304" pitchFamily="18" charset="0"/>
              </a:rPr>
              <a:t>. </a:t>
            </a:r>
            <a:r>
              <a:rPr lang="en-IN" sz="1800" u="sng" dirty="0">
                <a:effectLst/>
                <a:latin typeface="Times New Roman" panose="02020603050405020304" pitchFamily="18" charset="0"/>
                <a:ea typeface="Noto Serif CJK SC"/>
                <a:cs typeface="Times New Roman" panose="02020603050405020304" pitchFamily="18" charset="0"/>
              </a:rPr>
              <a:t>Variance-based feature selection methods:</a:t>
            </a:r>
            <a:endParaRPr lang="en-IN" i="0" u="sng" dirty="0">
              <a:solidFill>
                <a:srgbClr val="1F2937"/>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b="0" i="0" dirty="0" err="1">
                <a:solidFill>
                  <a:srgbClr val="1F2937"/>
                </a:solidFill>
                <a:effectLst/>
                <a:latin typeface="Times New Roman" panose="02020603050405020304" pitchFamily="18" charset="0"/>
                <a:cs typeface="Times New Roman" panose="02020603050405020304" pitchFamily="18" charset="0"/>
              </a:rPr>
              <a:t>Scran:R-package</a:t>
            </a:r>
            <a:r>
              <a:rPr lang="en-IN" dirty="0">
                <a:solidFill>
                  <a:srgbClr val="1F2937"/>
                </a:solidFill>
                <a:latin typeface="Times New Roman" panose="02020603050405020304" pitchFamily="18" charset="0"/>
                <a:cs typeface="Times New Roman" panose="02020603050405020304" pitchFamily="18" charset="0"/>
              </a:rPr>
              <a:t>;</a:t>
            </a:r>
            <a:r>
              <a:rPr lang="en-IN" b="0" i="0" dirty="0">
                <a:solidFill>
                  <a:srgbClr val="1F2937"/>
                </a:solidFill>
                <a:effectLst/>
                <a:latin typeface="Times New Roman" panose="02020603050405020304" pitchFamily="18" charset="0"/>
                <a:cs typeface="Times New Roman" panose="02020603050405020304" pitchFamily="18" charset="0"/>
              </a:rPr>
              <a:t> </a:t>
            </a:r>
            <a:r>
              <a:rPr lang="en-IN" b="0" i="0" dirty="0" err="1">
                <a:solidFill>
                  <a:srgbClr val="1F2937"/>
                </a:solidFill>
                <a:effectLst/>
                <a:latin typeface="Times New Roman" panose="02020603050405020304" pitchFamily="18" charset="0"/>
                <a:cs typeface="Times New Roman" panose="02020603050405020304" pitchFamily="18" charset="0"/>
              </a:rPr>
              <a:t>modelGeneVar</a:t>
            </a:r>
            <a:r>
              <a:rPr lang="en-IN" b="0" i="0" dirty="0">
                <a:solidFill>
                  <a:srgbClr val="1F2937"/>
                </a:solidFill>
                <a:effectLst/>
                <a:latin typeface="Times New Roman" panose="02020603050405020304" pitchFamily="18" charset="0"/>
                <a:cs typeface="Times New Roman" panose="02020603050405020304" pitchFamily="18" charset="0"/>
              </a:rPr>
              <a:t>()</a:t>
            </a:r>
          </a:p>
          <a:p>
            <a:pPr algn="l"/>
            <a:r>
              <a:rPr lang="en-IN" sz="1800" b="0" dirty="0">
                <a:effectLst/>
                <a:latin typeface="Times New Roman" panose="02020603050405020304" pitchFamily="18" charset="0"/>
                <a:ea typeface="Noto Serif CJK SC"/>
                <a:cs typeface="Times New Roman" panose="02020603050405020304" pitchFamily="18" charset="0"/>
              </a:rPr>
              <a:t>3. </a:t>
            </a:r>
            <a:r>
              <a:rPr lang="en-IN" sz="1800" b="0" u="sng" dirty="0">
                <a:effectLst/>
                <a:latin typeface="Times New Roman" panose="02020603050405020304" pitchFamily="18" charset="0"/>
                <a:ea typeface="Noto Serif CJK SC"/>
                <a:cs typeface="Times New Roman" panose="02020603050405020304" pitchFamily="18" charset="0"/>
              </a:rPr>
              <a:t>Dropout-Based Feature Selection:</a:t>
            </a:r>
            <a:endParaRPr lang="en-IN" b="0" i="0" u="sng" dirty="0">
              <a:solidFill>
                <a:srgbClr val="1F2937"/>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b="0" i="0" dirty="0">
                <a:solidFill>
                  <a:srgbClr val="1F2937"/>
                </a:solidFill>
                <a:effectLst/>
                <a:latin typeface="Times New Roman" panose="02020603050405020304" pitchFamily="18" charset="0"/>
                <a:cs typeface="Times New Roman" panose="02020603050405020304" pitchFamily="18" charset="0"/>
              </a:rPr>
              <a:t>M3Drop: R-package, Identify DEGs</a:t>
            </a:r>
          </a:p>
          <a:p>
            <a:pPr algn="l"/>
            <a:r>
              <a:rPr lang="en-IN" dirty="0">
                <a:solidFill>
                  <a:srgbClr val="1F2937"/>
                </a:solidFill>
                <a:latin typeface="Times New Roman" panose="02020603050405020304" pitchFamily="18" charset="0"/>
                <a:cs typeface="Times New Roman" panose="02020603050405020304" pitchFamily="18" charset="0"/>
              </a:rPr>
              <a:t>4</a:t>
            </a:r>
            <a:r>
              <a:rPr lang="en-IN" i="0" dirty="0">
                <a:solidFill>
                  <a:srgbClr val="1F2937"/>
                </a:solidFill>
                <a:effectLst/>
                <a:latin typeface="Times New Roman" panose="02020603050405020304" pitchFamily="18" charset="0"/>
                <a:cs typeface="Times New Roman" panose="02020603050405020304" pitchFamily="18" charset="0"/>
              </a:rPr>
              <a:t>. </a:t>
            </a:r>
            <a:r>
              <a:rPr lang="en-IN" i="0" u="sng" dirty="0">
                <a:solidFill>
                  <a:srgbClr val="1F2937"/>
                </a:solidFill>
                <a:effectLst/>
                <a:latin typeface="Times New Roman" panose="02020603050405020304" pitchFamily="18" charset="0"/>
                <a:cs typeface="Times New Roman" panose="02020603050405020304" pitchFamily="18" charset="0"/>
              </a:rPr>
              <a:t>Machine Learning Approaches</a:t>
            </a:r>
            <a:r>
              <a:rPr lang="en-IN" i="0" dirty="0">
                <a:solidFill>
                  <a:srgbClr val="1F2937"/>
                </a:solidFill>
                <a:effectLst/>
                <a:latin typeface="Times New Roman" panose="02020603050405020304" pitchFamily="18" charset="0"/>
                <a:cs typeface="Times New Roman" panose="02020603050405020304" pitchFamily="18" charset="0"/>
              </a:rPr>
              <a:t>:</a:t>
            </a:r>
          </a:p>
          <a:p>
            <a:pPr marL="742950" lvl="1" indent="-285750" algn="l">
              <a:buFont typeface="Arial" panose="020B0604020202020204" pitchFamily="34" charset="0"/>
              <a:buChar char="•"/>
            </a:pPr>
            <a:r>
              <a:rPr lang="en-IN" b="0" i="0" dirty="0">
                <a:solidFill>
                  <a:srgbClr val="1F2937"/>
                </a:solidFill>
                <a:effectLst/>
                <a:latin typeface="Times New Roman" panose="02020603050405020304" pitchFamily="18" charset="0"/>
                <a:cs typeface="Times New Roman" panose="02020603050405020304" pitchFamily="18" charset="0"/>
              </a:rPr>
              <a:t>Random Forest</a:t>
            </a:r>
          </a:p>
          <a:p>
            <a:pPr marL="742950" lvl="1" indent="-285750" algn="l">
              <a:buFont typeface="Arial" panose="020B0604020202020204" pitchFamily="34" charset="0"/>
              <a:buChar char="•"/>
            </a:pPr>
            <a:r>
              <a:rPr lang="en-IN" b="0" i="0" dirty="0">
                <a:solidFill>
                  <a:srgbClr val="1F2937"/>
                </a:solidFill>
                <a:effectLst/>
                <a:latin typeface="Times New Roman" panose="02020603050405020304" pitchFamily="18" charset="0"/>
                <a:cs typeface="Times New Roman" panose="02020603050405020304" pitchFamily="18" charset="0"/>
              </a:rPr>
              <a:t>Lasso Regression</a:t>
            </a:r>
          </a:p>
          <a:p>
            <a:pPr marL="742950" lvl="1" indent="-285750" algn="l">
              <a:buFont typeface="Arial" panose="020B0604020202020204" pitchFamily="34" charset="0"/>
              <a:buChar char="•"/>
            </a:pPr>
            <a:r>
              <a:rPr lang="en-IN" b="0" i="0" dirty="0">
                <a:solidFill>
                  <a:srgbClr val="1F2937"/>
                </a:solidFill>
                <a:effectLst/>
                <a:latin typeface="Times New Roman" panose="02020603050405020304" pitchFamily="18" charset="0"/>
                <a:cs typeface="Times New Roman" panose="02020603050405020304" pitchFamily="18" charset="0"/>
              </a:rPr>
              <a:t>Support Vector Machines</a:t>
            </a:r>
          </a:p>
          <a:p>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92781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09783-1629-5FAB-DB0E-507960405D06}"/>
              </a:ext>
            </a:extLst>
          </p:cNvPr>
          <p:cNvSpPr>
            <a:spLocks noGrp="1"/>
          </p:cNvSpPr>
          <p:nvPr>
            <p:ph type="title"/>
          </p:nvPr>
        </p:nvSpPr>
        <p:spPr>
          <a:xfrm>
            <a:off x="838200" y="253218"/>
            <a:ext cx="3790071" cy="1558339"/>
          </a:xfrm>
        </p:spPr>
        <p:txBody>
          <a:bodyPr>
            <a:noAutofit/>
          </a:bodyPr>
          <a:lstStyle/>
          <a:p>
            <a:br>
              <a:rPr lang="en-IN" sz="2800" i="0" u="sng" dirty="0">
                <a:solidFill>
                  <a:srgbClr val="1F2937"/>
                </a:solidFill>
                <a:effectLst/>
                <a:latin typeface="Algerian" panose="04020705040A02060702" pitchFamily="82" charset="0"/>
                <a:cs typeface="Times New Roman" panose="02020603050405020304" pitchFamily="18" charset="0"/>
              </a:rPr>
            </a:br>
            <a:r>
              <a:rPr lang="en-IN" sz="2800" i="0" u="sng" dirty="0">
                <a:solidFill>
                  <a:srgbClr val="1F2937"/>
                </a:solidFill>
                <a:effectLst/>
                <a:latin typeface="Algerian" panose="04020705040A02060702" pitchFamily="82" charset="0"/>
                <a:cs typeface="Times New Roman" panose="02020603050405020304" pitchFamily="18" charset="0"/>
              </a:rPr>
              <a:t>Dimensionality Reduction in Single-Cell RNA-</a:t>
            </a:r>
            <a:r>
              <a:rPr lang="en-IN" sz="2800" i="0" u="sng" dirty="0" err="1">
                <a:solidFill>
                  <a:srgbClr val="1F2937"/>
                </a:solidFill>
                <a:effectLst/>
                <a:latin typeface="Algerian" panose="04020705040A02060702" pitchFamily="82" charset="0"/>
                <a:cs typeface="Times New Roman" panose="02020603050405020304" pitchFamily="18" charset="0"/>
              </a:rPr>
              <a:t>Seq</a:t>
            </a:r>
            <a:br>
              <a:rPr lang="en-IN" sz="2800" i="0" u="sng" dirty="0">
                <a:solidFill>
                  <a:srgbClr val="1F2937"/>
                </a:solidFill>
                <a:effectLst/>
                <a:latin typeface="Algerian" panose="04020705040A02060702" pitchFamily="82" charset="0"/>
                <a:cs typeface="Times New Roman" panose="02020603050405020304" pitchFamily="18" charset="0"/>
              </a:rPr>
            </a:br>
            <a:endParaRPr lang="en-IN" sz="2800" u="sng" dirty="0">
              <a:latin typeface="Algerian" panose="04020705040A02060702" pitchFamily="82" charset="0"/>
              <a:cs typeface="Times New Roman" panose="02020603050405020304" pitchFamily="18" charset="0"/>
            </a:endParaRPr>
          </a:p>
        </p:txBody>
      </p:sp>
      <p:sp>
        <p:nvSpPr>
          <p:cNvPr id="50" name="Content Placeholder 49">
            <a:extLst>
              <a:ext uri="{FF2B5EF4-FFF2-40B4-BE49-F238E27FC236}">
                <a16:creationId xmlns:a16="http://schemas.microsoft.com/office/drawing/2014/main" id="{10C4D84F-F3EE-6912-4A46-4EC5BD69CE58}"/>
              </a:ext>
            </a:extLst>
          </p:cNvPr>
          <p:cNvSpPr>
            <a:spLocks noGrp="1"/>
          </p:cNvSpPr>
          <p:nvPr>
            <p:ph idx="1"/>
          </p:nvPr>
        </p:nvSpPr>
        <p:spPr>
          <a:xfrm>
            <a:off x="388034" y="2135114"/>
            <a:ext cx="4366846" cy="4223483"/>
          </a:xfrm>
        </p:spPr>
        <p:txBody>
          <a:bodyPr>
            <a:normAutofit/>
          </a:bodyPr>
          <a:lstStyle/>
          <a:p>
            <a:pPr algn="l">
              <a:buFont typeface="Arial" panose="020B0604020202020204" pitchFamily="34" charset="0"/>
              <a:buChar char="•"/>
            </a:pPr>
            <a:r>
              <a:rPr lang="en-US" sz="2000" b="0" i="0" dirty="0">
                <a:solidFill>
                  <a:srgbClr val="1F2937"/>
                </a:solidFill>
                <a:effectLst/>
                <a:latin typeface="Times New Roman" panose="02020603050405020304" pitchFamily="18" charset="0"/>
                <a:cs typeface="Times New Roman" panose="02020603050405020304" pitchFamily="18" charset="0"/>
              </a:rPr>
              <a:t>Simplifies complex, high-dimensional datasets into lower dimensions.</a:t>
            </a:r>
          </a:p>
          <a:p>
            <a:pPr marL="0" indent="0" algn="l">
              <a:buNone/>
            </a:pPr>
            <a:endParaRPr lang="en-US" sz="2000" b="0" i="0" dirty="0">
              <a:solidFill>
                <a:srgbClr val="1F2937"/>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000" b="0" i="0" dirty="0">
                <a:solidFill>
                  <a:srgbClr val="1F2937"/>
                </a:solidFill>
                <a:effectLst/>
                <a:latin typeface="Times New Roman" panose="02020603050405020304" pitchFamily="18" charset="0"/>
                <a:cs typeface="Times New Roman" panose="02020603050405020304" pitchFamily="18" charset="0"/>
              </a:rPr>
              <a:t>Preserves relevant biological variations.</a:t>
            </a:r>
          </a:p>
          <a:p>
            <a:pPr marL="0" indent="0" algn="l">
              <a:buNone/>
            </a:pPr>
            <a:endParaRPr lang="en-US" sz="2000" b="0" i="0" dirty="0">
              <a:solidFill>
                <a:srgbClr val="1F2937"/>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000" b="0" i="0" dirty="0">
                <a:solidFill>
                  <a:srgbClr val="1F2937"/>
                </a:solidFill>
                <a:effectLst/>
                <a:latin typeface="Times New Roman" panose="02020603050405020304" pitchFamily="18" charset="0"/>
                <a:cs typeface="Times New Roman" panose="02020603050405020304" pitchFamily="18" charset="0"/>
              </a:rPr>
              <a:t>Reduces noise and sparsity.</a:t>
            </a:r>
          </a:p>
          <a:p>
            <a:pPr marL="0" indent="0" algn="l">
              <a:buNone/>
            </a:pPr>
            <a:endParaRPr lang="en-US" sz="2000" b="0" i="0" dirty="0">
              <a:solidFill>
                <a:srgbClr val="1F2937"/>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000" b="0" i="0" dirty="0">
                <a:solidFill>
                  <a:srgbClr val="1F2937"/>
                </a:solidFill>
                <a:effectLst/>
                <a:latin typeface="Times New Roman" panose="02020603050405020304" pitchFamily="18" charset="0"/>
                <a:cs typeface="Times New Roman" panose="02020603050405020304" pitchFamily="18" charset="0"/>
              </a:rPr>
              <a:t>Enables visualization in 2D or 3D.</a:t>
            </a:r>
          </a:p>
          <a:p>
            <a:pPr marL="0" indent="0" algn="l">
              <a:buNone/>
            </a:pPr>
            <a:endParaRPr lang="en-US" sz="2000" b="0" i="0" dirty="0">
              <a:solidFill>
                <a:srgbClr val="1F2937"/>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000" b="0" i="0" dirty="0">
                <a:solidFill>
                  <a:srgbClr val="1F2937"/>
                </a:solidFill>
                <a:effectLst/>
                <a:latin typeface="Times New Roman" panose="02020603050405020304" pitchFamily="18" charset="0"/>
                <a:cs typeface="Times New Roman" panose="02020603050405020304" pitchFamily="18" charset="0"/>
              </a:rPr>
              <a:t>Improves computational performance.</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5DF6CB46-55F5-8649-FEF6-36AB49215209}"/>
              </a:ext>
            </a:extLst>
          </p:cNvPr>
          <p:cNvSpPr/>
          <p:nvPr/>
        </p:nvSpPr>
        <p:spPr>
          <a:xfrm>
            <a:off x="4754880" y="239150"/>
            <a:ext cx="7202658" cy="6471139"/>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IN" b="1" i="0" dirty="0">
              <a:solidFill>
                <a:srgbClr val="1F2937"/>
              </a:solidFill>
              <a:effectLst/>
              <a:latin typeface="Times New Roman" panose="02020603050405020304" pitchFamily="18" charset="0"/>
              <a:cs typeface="Times New Roman" panose="02020603050405020304" pitchFamily="18" charset="0"/>
            </a:endParaRPr>
          </a:p>
          <a:p>
            <a:pPr algn="l"/>
            <a:r>
              <a:rPr lang="en-IN" b="1" i="0" dirty="0">
                <a:solidFill>
                  <a:srgbClr val="1F2937"/>
                </a:solidFill>
                <a:effectLst/>
                <a:latin typeface="Times New Roman" panose="02020603050405020304" pitchFamily="18" charset="0"/>
                <a:cs typeface="Times New Roman" panose="02020603050405020304" pitchFamily="18" charset="0"/>
              </a:rPr>
              <a:t>Common Methods</a:t>
            </a:r>
          </a:p>
          <a:p>
            <a:pPr algn="l">
              <a:buFont typeface="+mj-lt"/>
              <a:buAutoNum type="arabicPeriod"/>
            </a:pPr>
            <a:r>
              <a:rPr lang="en-IN" b="0" i="0" u="sng" dirty="0">
                <a:solidFill>
                  <a:srgbClr val="1F2937"/>
                </a:solidFill>
                <a:effectLst/>
                <a:latin typeface="Times New Roman" panose="02020603050405020304" pitchFamily="18" charset="0"/>
                <a:cs typeface="Times New Roman" panose="02020603050405020304" pitchFamily="18" charset="0"/>
              </a:rPr>
              <a:t>Principal Component Analysis (PCA)</a:t>
            </a:r>
          </a:p>
          <a:p>
            <a:pPr marL="742950" lvl="1" indent="-285750" algn="l">
              <a:buFont typeface="+mj-lt"/>
              <a:buAutoNum type="arabicPeriod"/>
            </a:pPr>
            <a:r>
              <a:rPr lang="en-IN" b="0" i="0" dirty="0">
                <a:solidFill>
                  <a:srgbClr val="1F2937"/>
                </a:solidFill>
                <a:effectLst/>
                <a:latin typeface="Times New Roman" panose="02020603050405020304" pitchFamily="18" charset="0"/>
                <a:cs typeface="Times New Roman" panose="02020603050405020304" pitchFamily="18" charset="0"/>
              </a:rPr>
              <a:t>Linear technique for initial denoising.</a:t>
            </a:r>
          </a:p>
          <a:p>
            <a:pPr marL="742950" lvl="1" indent="-285750" algn="l">
              <a:buFont typeface="+mj-lt"/>
              <a:buAutoNum type="arabicPeriod"/>
            </a:pPr>
            <a:r>
              <a:rPr lang="en-IN" b="0" i="0" dirty="0">
                <a:solidFill>
                  <a:srgbClr val="1F2937"/>
                </a:solidFill>
                <a:effectLst/>
                <a:latin typeface="Times New Roman" panose="02020603050405020304" pitchFamily="18" charset="0"/>
                <a:cs typeface="Times New Roman" panose="02020603050405020304" pitchFamily="18" charset="0"/>
              </a:rPr>
              <a:t>Tools: Seurat (</a:t>
            </a:r>
            <a:r>
              <a:rPr lang="en-IN" b="0" i="0" dirty="0" err="1">
                <a:solidFill>
                  <a:srgbClr val="1F2937"/>
                </a:solidFill>
                <a:effectLst/>
                <a:latin typeface="Times New Roman" panose="02020603050405020304" pitchFamily="18" charset="0"/>
                <a:cs typeface="Times New Roman" panose="02020603050405020304" pitchFamily="18" charset="0"/>
              </a:rPr>
              <a:t>RunPCA</a:t>
            </a:r>
            <a:r>
              <a:rPr lang="en-IN" b="0" i="0" dirty="0">
                <a:solidFill>
                  <a:srgbClr val="1F2937"/>
                </a:solidFill>
                <a:effectLst/>
                <a:latin typeface="Times New Roman" panose="02020603050405020304" pitchFamily="18" charset="0"/>
                <a:cs typeface="Times New Roman" panose="02020603050405020304" pitchFamily="18" charset="0"/>
              </a:rPr>
              <a:t>()), </a:t>
            </a:r>
            <a:r>
              <a:rPr lang="en-IN" b="0" i="0" dirty="0" err="1">
                <a:solidFill>
                  <a:srgbClr val="1F2937"/>
                </a:solidFill>
                <a:effectLst/>
                <a:latin typeface="Times New Roman" panose="02020603050405020304" pitchFamily="18" charset="0"/>
                <a:cs typeface="Times New Roman" panose="02020603050405020304" pitchFamily="18" charset="0"/>
              </a:rPr>
              <a:t>Scanpy</a:t>
            </a:r>
            <a:r>
              <a:rPr lang="en-IN" b="0" i="0" dirty="0">
                <a:solidFill>
                  <a:srgbClr val="1F2937"/>
                </a:solidFill>
                <a:effectLst/>
                <a:latin typeface="Times New Roman" panose="02020603050405020304" pitchFamily="18" charset="0"/>
                <a:cs typeface="Times New Roman" panose="02020603050405020304" pitchFamily="18" charset="0"/>
              </a:rPr>
              <a:t> (</a:t>
            </a:r>
            <a:r>
              <a:rPr lang="en-IN" b="0" i="0" dirty="0" err="1">
                <a:solidFill>
                  <a:srgbClr val="1F2937"/>
                </a:solidFill>
                <a:effectLst/>
                <a:latin typeface="Times New Roman" panose="02020603050405020304" pitchFamily="18" charset="0"/>
                <a:cs typeface="Times New Roman" panose="02020603050405020304" pitchFamily="18" charset="0"/>
              </a:rPr>
              <a:t>sc.pp.pca</a:t>
            </a:r>
            <a:r>
              <a:rPr lang="en-IN" b="0" i="0" dirty="0">
                <a:solidFill>
                  <a:srgbClr val="1F2937"/>
                </a:solidFill>
                <a:effectLst/>
                <a:latin typeface="Times New Roman" panose="02020603050405020304" pitchFamily="18" charset="0"/>
                <a:cs typeface="Times New Roman" panose="02020603050405020304" pitchFamily="18" charset="0"/>
              </a:rPr>
              <a:t>())</a:t>
            </a:r>
          </a:p>
          <a:p>
            <a:pPr algn="l">
              <a:buFont typeface="+mj-lt"/>
              <a:buAutoNum type="arabicPeriod"/>
            </a:pPr>
            <a:r>
              <a:rPr lang="en-IN" b="0" i="0" u="sng" dirty="0">
                <a:solidFill>
                  <a:srgbClr val="1F2937"/>
                </a:solidFill>
                <a:effectLst/>
                <a:latin typeface="Times New Roman" panose="02020603050405020304" pitchFamily="18" charset="0"/>
                <a:cs typeface="Times New Roman" panose="02020603050405020304" pitchFamily="18" charset="0"/>
              </a:rPr>
              <a:t>t-SNE (</a:t>
            </a:r>
            <a:r>
              <a:rPr lang="en-IN" u="sng" dirty="0">
                <a:solidFill>
                  <a:schemeClr val="tx1"/>
                </a:solidFill>
                <a:latin typeface="Times New Roman" panose="02020603050405020304" pitchFamily="18" charset="0"/>
                <a:cs typeface="Times New Roman" panose="02020603050405020304" pitchFamily="18" charset="0"/>
              </a:rPr>
              <a:t>t-distributed Stochastic </a:t>
            </a:r>
            <a:r>
              <a:rPr lang="en-IN" u="sng" dirty="0" err="1">
                <a:solidFill>
                  <a:schemeClr val="tx1"/>
                </a:solidFill>
                <a:latin typeface="Times New Roman" panose="02020603050405020304" pitchFamily="18" charset="0"/>
                <a:cs typeface="Times New Roman" panose="02020603050405020304" pitchFamily="18" charset="0"/>
              </a:rPr>
              <a:t>Neighbor</a:t>
            </a:r>
            <a:r>
              <a:rPr lang="en-IN" u="sng" dirty="0">
                <a:solidFill>
                  <a:schemeClr val="tx1"/>
                </a:solidFill>
                <a:latin typeface="Times New Roman" panose="02020603050405020304" pitchFamily="18" charset="0"/>
                <a:cs typeface="Times New Roman" panose="02020603050405020304" pitchFamily="18" charset="0"/>
              </a:rPr>
              <a:t> Embedding</a:t>
            </a:r>
            <a:r>
              <a:rPr lang="en-IN" b="0" i="0" u="sng" dirty="0">
                <a:solidFill>
                  <a:srgbClr val="1F2937"/>
                </a:solidFill>
                <a:effectLst/>
                <a:latin typeface="Times New Roman" panose="02020603050405020304" pitchFamily="18" charset="0"/>
                <a:cs typeface="Times New Roman" panose="02020603050405020304" pitchFamily="18" charset="0"/>
              </a:rPr>
              <a:t>)</a:t>
            </a:r>
          </a:p>
          <a:p>
            <a:pPr marL="742950" lvl="1" indent="-285750" algn="l">
              <a:buFont typeface="+mj-lt"/>
              <a:buAutoNum type="arabicPeriod"/>
            </a:pPr>
            <a:r>
              <a:rPr lang="en-IN" b="0" i="0" dirty="0">
                <a:solidFill>
                  <a:srgbClr val="1F2937"/>
                </a:solidFill>
                <a:effectLst/>
                <a:latin typeface="Times New Roman" panose="02020603050405020304" pitchFamily="18" charset="0"/>
                <a:cs typeface="Times New Roman" panose="02020603050405020304" pitchFamily="18" charset="0"/>
              </a:rPr>
              <a:t>Non-linear method for visualization</a:t>
            </a:r>
          </a:p>
          <a:p>
            <a:pPr marL="742950" lvl="1" indent="-285750" algn="l">
              <a:buFont typeface="+mj-lt"/>
              <a:buAutoNum type="arabicPeriod"/>
            </a:pPr>
            <a:r>
              <a:rPr lang="en-IN" b="0" i="0" dirty="0">
                <a:solidFill>
                  <a:srgbClr val="1F2937"/>
                </a:solidFill>
                <a:effectLst/>
                <a:latin typeface="Times New Roman" panose="02020603050405020304" pitchFamily="18" charset="0"/>
                <a:cs typeface="Times New Roman" panose="02020603050405020304" pitchFamily="18" charset="0"/>
              </a:rPr>
              <a:t>Preserves local structure</a:t>
            </a:r>
          </a:p>
          <a:p>
            <a:pPr marL="742950" lvl="1" indent="-285750" algn="l">
              <a:buFont typeface="+mj-lt"/>
              <a:buAutoNum type="arabicPeriod"/>
            </a:pPr>
            <a:r>
              <a:rPr lang="en-IN" b="0" i="0" dirty="0">
                <a:solidFill>
                  <a:srgbClr val="1F2937"/>
                </a:solidFill>
                <a:effectLst/>
                <a:latin typeface="Times New Roman" panose="02020603050405020304" pitchFamily="18" charset="0"/>
                <a:cs typeface="Times New Roman" panose="02020603050405020304" pitchFamily="18" charset="0"/>
              </a:rPr>
              <a:t>Tools: Seurat (</a:t>
            </a:r>
            <a:r>
              <a:rPr lang="en-IN" b="0" i="0" dirty="0" err="1">
                <a:solidFill>
                  <a:srgbClr val="1F2937"/>
                </a:solidFill>
                <a:effectLst/>
                <a:latin typeface="Times New Roman" panose="02020603050405020304" pitchFamily="18" charset="0"/>
                <a:cs typeface="Times New Roman" panose="02020603050405020304" pitchFamily="18" charset="0"/>
              </a:rPr>
              <a:t>RunTSNE</a:t>
            </a:r>
            <a:r>
              <a:rPr lang="en-IN" b="0" i="0" dirty="0">
                <a:solidFill>
                  <a:srgbClr val="1F2937"/>
                </a:solidFill>
                <a:effectLst/>
                <a:latin typeface="Times New Roman" panose="02020603050405020304" pitchFamily="18" charset="0"/>
                <a:cs typeface="Times New Roman" panose="02020603050405020304" pitchFamily="18" charset="0"/>
              </a:rPr>
              <a:t>()), </a:t>
            </a:r>
            <a:r>
              <a:rPr lang="en-IN" b="0" i="0" dirty="0" err="1">
                <a:solidFill>
                  <a:srgbClr val="1F2937"/>
                </a:solidFill>
                <a:effectLst/>
                <a:latin typeface="Times New Roman" panose="02020603050405020304" pitchFamily="18" charset="0"/>
                <a:cs typeface="Times New Roman" panose="02020603050405020304" pitchFamily="18" charset="0"/>
              </a:rPr>
              <a:t>Scanpy</a:t>
            </a:r>
            <a:r>
              <a:rPr lang="en-IN" b="0" i="0" dirty="0">
                <a:solidFill>
                  <a:srgbClr val="1F2937"/>
                </a:solidFill>
                <a:effectLst/>
                <a:latin typeface="Times New Roman" panose="02020603050405020304" pitchFamily="18" charset="0"/>
                <a:cs typeface="Times New Roman" panose="02020603050405020304" pitchFamily="18" charset="0"/>
              </a:rPr>
              <a:t> (</a:t>
            </a:r>
            <a:r>
              <a:rPr lang="en-IN" b="0" i="0" dirty="0" err="1">
                <a:solidFill>
                  <a:srgbClr val="1F2937"/>
                </a:solidFill>
                <a:effectLst/>
                <a:latin typeface="Times New Roman" panose="02020603050405020304" pitchFamily="18" charset="0"/>
                <a:cs typeface="Times New Roman" panose="02020603050405020304" pitchFamily="18" charset="0"/>
              </a:rPr>
              <a:t>sc.tl.tsne</a:t>
            </a:r>
            <a:r>
              <a:rPr lang="en-IN" b="0" i="0" dirty="0">
                <a:solidFill>
                  <a:srgbClr val="1F2937"/>
                </a:solidFill>
                <a:effectLst/>
                <a:latin typeface="Times New Roman" panose="02020603050405020304" pitchFamily="18" charset="0"/>
                <a:cs typeface="Times New Roman" panose="02020603050405020304" pitchFamily="18" charset="0"/>
              </a:rPr>
              <a:t>())</a:t>
            </a:r>
          </a:p>
          <a:p>
            <a:pPr algn="l">
              <a:buFont typeface="+mj-lt"/>
              <a:buAutoNum type="arabicPeriod"/>
            </a:pPr>
            <a:r>
              <a:rPr lang="en-IN" b="0" i="0" u="sng" dirty="0">
                <a:solidFill>
                  <a:srgbClr val="1F2937"/>
                </a:solidFill>
                <a:effectLst/>
                <a:latin typeface="Times New Roman" panose="02020603050405020304" pitchFamily="18" charset="0"/>
                <a:cs typeface="Times New Roman" panose="02020603050405020304" pitchFamily="18" charset="0"/>
              </a:rPr>
              <a:t>UMAP (</a:t>
            </a:r>
            <a:r>
              <a:rPr lang="en-US" u="sng" dirty="0">
                <a:solidFill>
                  <a:schemeClr val="tx1"/>
                </a:solidFill>
                <a:latin typeface="Times New Roman" panose="02020603050405020304" pitchFamily="18" charset="0"/>
                <a:cs typeface="Times New Roman" panose="02020603050405020304" pitchFamily="18" charset="0"/>
              </a:rPr>
              <a:t>Uniform Manifold Approximation and Projection</a:t>
            </a:r>
            <a:r>
              <a:rPr lang="en-IN" b="0" i="0" u="sng" dirty="0">
                <a:solidFill>
                  <a:srgbClr val="1F2937"/>
                </a:solidFill>
                <a:effectLst/>
                <a:latin typeface="Times New Roman" panose="02020603050405020304" pitchFamily="18" charset="0"/>
                <a:cs typeface="Times New Roman" panose="02020603050405020304" pitchFamily="18" charset="0"/>
              </a:rPr>
              <a:t>)</a:t>
            </a:r>
          </a:p>
          <a:p>
            <a:pPr marL="742950" lvl="1" indent="-285750" algn="l">
              <a:buFont typeface="+mj-lt"/>
              <a:buAutoNum type="arabicPeriod"/>
            </a:pPr>
            <a:r>
              <a:rPr lang="en-IN" b="0" i="0" dirty="0">
                <a:solidFill>
                  <a:srgbClr val="1F2937"/>
                </a:solidFill>
                <a:effectLst/>
                <a:latin typeface="Times New Roman" panose="02020603050405020304" pitchFamily="18" charset="0"/>
                <a:cs typeface="Times New Roman" panose="02020603050405020304" pitchFamily="18" charset="0"/>
              </a:rPr>
              <a:t>Non-linear method preserving global structure</a:t>
            </a:r>
          </a:p>
          <a:p>
            <a:pPr marL="742950" lvl="1" indent="-285750" algn="l">
              <a:buFont typeface="+mj-lt"/>
              <a:buAutoNum type="arabicPeriod"/>
            </a:pPr>
            <a:r>
              <a:rPr lang="en-IN" b="0" i="0" dirty="0">
                <a:solidFill>
                  <a:srgbClr val="1F2937"/>
                </a:solidFill>
                <a:effectLst/>
                <a:latin typeface="Times New Roman" panose="02020603050405020304" pitchFamily="18" charset="0"/>
                <a:cs typeface="Times New Roman" panose="02020603050405020304" pitchFamily="18" charset="0"/>
              </a:rPr>
              <a:t>Better for continuous trajectories</a:t>
            </a:r>
          </a:p>
          <a:p>
            <a:pPr marL="742950" lvl="1" indent="-285750" algn="l">
              <a:buFont typeface="+mj-lt"/>
              <a:buAutoNum type="arabicPeriod"/>
            </a:pPr>
            <a:r>
              <a:rPr lang="en-IN" b="0" i="0" dirty="0">
                <a:solidFill>
                  <a:srgbClr val="1F2937"/>
                </a:solidFill>
                <a:effectLst/>
                <a:latin typeface="Times New Roman" panose="02020603050405020304" pitchFamily="18" charset="0"/>
                <a:cs typeface="Times New Roman" panose="02020603050405020304" pitchFamily="18" charset="0"/>
              </a:rPr>
              <a:t>Tools: Seurat (</a:t>
            </a:r>
            <a:r>
              <a:rPr lang="en-IN" b="0" i="0" dirty="0" err="1">
                <a:solidFill>
                  <a:srgbClr val="1F2937"/>
                </a:solidFill>
                <a:effectLst/>
                <a:latin typeface="Times New Roman" panose="02020603050405020304" pitchFamily="18" charset="0"/>
                <a:cs typeface="Times New Roman" panose="02020603050405020304" pitchFamily="18" charset="0"/>
              </a:rPr>
              <a:t>RunUMAP</a:t>
            </a:r>
            <a:r>
              <a:rPr lang="en-IN" b="0" i="0" dirty="0">
                <a:solidFill>
                  <a:srgbClr val="1F2937"/>
                </a:solidFill>
                <a:effectLst/>
                <a:latin typeface="Times New Roman" panose="02020603050405020304" pitchFamily="18" charset="0"/>
                <a:cs typeface="Times New Roman" panose="02020603050405020304" pitchFamily="18" charset="0"/>
              </a:rPr>
              <a:t>()), </a:t>
            </a:r>
            <a:r>
              <a:rPr lang="en-IN" b="0" i="0" dirty="0" err="1">
                <a:solidFill>
                  <a:srgbClr val="1F2937"/>
                </a:solidFill>
                <a:effectLst/>
                <a:latin typeface="Times New Roman" panose="02020603050405020304" pitchFamily="18" charset="0"/>
                <a:cs typeface="Times New Roman" panose="02020603050405020304" pitchFamily="18" charset="0"/>
              </a:rPr>
              <a:t>Scanpy</a:t>
            </a:r>
            <a:r>
              <a:rPr lang="en-IN" b="0" i="0" dirty="0">
                <a:solidFill>
                  <a:srgbClr val="1F2937"/>
                </a:solidFill>
                <a:effectLst/>
                <a:latin typeface="Times New Roman" panose="02020603050405020304" pitchFamily="18" charset="0"/>
                <a:cs typeface="Times New Roman" panose="02020603050405020304" pitchFamily="18" charset="0"/>
              </a:rPr>
              <a:t> (</a:t>
            </a:r>
            <a:r>
              <a:rPr lang="en-IN" b="0" i="0" dirty="0" err="1">
                <a:solidFill>
                  <a:srgbClr val="1F2937"/>
                </a:solidFill>
                <a:effectLst/>
                <a:latin typeface="Times New Roman" panose="02020603050405020304" pitchFamily="18" charset="0"/>
                <a:cs typeface="Times New Roman" panose="02020603050405020304" pitchFamily="18" charset="0"/>
              </a:rPr>
              <a:t>sc.tl.umap</a:t>
            </a:r>
            <a:r>
              <a:rPr lang="en-IN" b="0" i="0" dirty="0">
                <a:solidFill>
                  <a:srgbClr val="1F2937"/>
                </a:solidFill>
                <a:effectLst/>
                <a:latin typeface="Times New Roman" panose="02020603050405020304" pitchFamily="18" charset="0"/>
                <a:cs typeface="Times New Roman" panose="02020603050405020304" pitchFamily="18" charset="0"/>
              </a:rPr>
              <a:t>())</a:t>
            </a:r>
          </a:p>
          <a:p>
            <a:pPr algn="l">
              <a:buFont typeface="+mj-lt"/>
              <a:buAutoNum type="arabicPeriod"/>
            </a:pPr>
            <a:r>
              <a:rPr lang="en-IN" b="0" i="0" u="sng" dirty="0">
                <a:solidFill>
                  <a:srgbClr val="1F2937"/>
                </a:solidFill>
                <a:effectLst/>
                <a:latin typeface="Times New Roman" panose="02020603050405020304" pitchFamily="18" charset="0"/>
                <a:cs typeface="Times New Roman" panose="02020603050405020304" pitchFamily="18" charset="0"/>
              </a:rPr>
              <a:t>Diffusion Maps</a:t>
            </a:r>
          </a:p>
          <a:p>
            <a:pPr marL="742950" lvl="1" indent="-285750" algn="l">
              <a:buFont typeface="+mj-lt"/>
              <a:buAutoNum type="arabicPeriod"/>
            </a:pPr>
            <a:r>
              <a:rPr lang="en-IN" b="0" i="0" dirty="0">
                <a:solidFill>
                  <a:srgbClr val="1F2937"/>
                </a:solidFill>
                <a:effectLst/>
                <a:latin typeface="Times New Roman" panose="02020603050405020304" pitchFamily="18" charset="0"/>
                <a:cs typeface="Times New Roman" panose="02020603050405020304" pitchFamily="18" charset="0"/>
              </a:rPr>
              <a:t>Useful for trajectory inference</a:t>
            </a:r>
          </a:p>
          <a:p>
            <a:pPr marL="742950" lvl="1" indent="-285750" algn="l">
              <a:buFont typeface="+mj-lt"/>
              <a:buAutoNum type="arabicPeriod"/>
            </a:pPr>
            <a:r>
              <a:rPr lang="en-IN" b="0" i="0" dirty="0">
                <a:solidFill>
                  <a:srgbClr val="1F2937"/>
                </a:solidFill>
                <a:effectLst/>
                <a:latin typeface="Times New Roman" panose="02020603050405020304" pitchFamily="18" charset="0"/>
                <a:cs typeface="Times New Roman" panose="02020603050405020304" pitchFamily="18" charset="0"/>
              </a:rPr>
              <a:t>Tool: </a:t>
            </a:r>
            <a:r>
              <a:rPr lang="en-IN" b="0" i="0" dirty="0" err="1">
                <a:solidFill>
                  <a:srgbClr val="1F2937"/>
                </a:solidFill>
                <a:effectLst/>
                <a:latin typeface="Times New Roman" panose="02020603050405020304" pitchFamily="18" charset="0"/>
                <a:cs typeface="Times New Roman" panose="02020603050405020304" pitchFamily="18" charset="0"/>
              </a:rPr>
              <a:t>Scanpy</a:t>
            </a:r>
            <a:r>
              <a:rPr lang="en-IN" b="0" i="0" dirty="0">
                <a:solidFill>
                  <a:srgbClr val="1F2937"/>
                </a:solidFill>
                <a:effectLst/>
                <a:latin typeface="Times New Roman" panose="02020603050405020304" pitchFamily="18" charset="0"/>
                <a:cs typeface="Times New Roman" panose="02020603050405020304" pitchFamily="18" charset="0"/>
              </a:rPr>
              <a:t> (</a:t>
            </a:r>
            <a:r>
              <a:rPr lang="en-IN" b="0" i="0" dirty="0" err="1">
                <a:solidFill>
                  <a:srgbClr val="1F2937"/>
                </a:solidFill>
                <a:effectLst/>
                <a:latin typeface="Times New Roman" panose="02020603050405020304" pitchFamily="18" charset="0"/>
                <a:cs typeface="Times New Roman" panose="02020603050405020304" pitchFamily="18" charset="0"/>
              </a:rPr>
              <a:t>sc.tl.diffmap</a:t>
            </a:r>
            <a:r>
              <a:rPr lang="en-IN" b="0" i="0" dirty="0">
                <a:solidFill>
                  <a:srgbClr val="1F2937"/>
                </a:solidFill>
                <a:effectLst/>
                <a:latin typeface="Times New Roman" panose="02020603050405020304" pitchFamily="18" charset="0"/>
                <a:cs typeface="Times New Roman" panose="02020603050405020304" pitchFamily="18" charset="0"/>
              </a:rPr>
              <a:t>())</a:t>
            </a:r>
          </a:p>
          <a:p>
            <a:pPr algn="l">
              <a:buFont typeface="+mj-lt"/>
              <a:buAutoNum type="arabicPeriod"/>
            </a:pPr>
            <a:r>
              <a:rPr lang="en-IN" b="0" i="0" u="sng" dirty="0">
                <a:solidFill>
                  <a:srgbClr val="1F2937"/>
                </a:solidFill>
                <a:effectLst/>
                <a:latin typeface="Times New Roman" panose="02020603050405020304" pitchFamily="18" charset="0"/>
                <a:cs typeface="Times New Roman" panose="02020603050405020304" pitchFamily="18" charset="0"/>
              </a:rPr>
              <a:t>Independent Component Analysis (ICA)</a:t>
            </a:r>
          </a:p>
          <a:p>
            <a:pPr marL="742950" lvl="1" indent="-285750" algn="l">
              <a:buFont typeface="+mj-lt"/>
              <a:buAutoNum type="arabicPeriod"/>
            </a:pPr>
            <a:r>
              <a:rPr lang="en-IN" b="0" i="0" dirty="0">
                <a:solidFill>
                  <a:srgbClr val="1F2937"/>
                </a:solidFill>
                <a:effectLst/>
                <a:latin typeface="Times New Roman" panose="02020603050405020304" pitchFamily="18" charset="0"/>
                <a:cs typeface="Times New Roman" panose="02020603050405020304" pitchFamily="18" charset="0"/>
              </a:rPr>
              <a:t>Linear method, Separates data into independent components based on source of variation.</a:t>
            </a:r>
          </a:p>
          <a:p>
            <a:pPr marL="742950" lvl="1" indent="-285750" algn="l">
              <a:buFont typeface="+mj-lt"/>
              <a:buAutoNum type="arabicPeriod"/>
            </a:pPr>
            <a:r>
              <a:rPr lang="en-IN" b="0" i="0" dirty="0">
                <a:solidFill>
                  <a:srgbClr val="1F2937"/>
                </a:solidFill>
                <a:effectLst/>
                <a:latin typeface="Times New Roman" panose="02020603050405020304" pitchFamily="18" charset="0"/>
                <a:cs typeface="Times New Roman" panose="02020603050405020304" pitchFamily="18" charset="0"/>
              </a:rPr>
              <a:t>Tools: Seurat (</a:t>
            </a:r>
            <a:r>
              <a:rPr lang="en-IN" b="0" i="0" dirty="0" err="1">
                <a:solidFill>
                  <a:srgbClr val="1F2937"/>
                </a:solidFill>
                <a:effectLst/>
                <a:latin typeface="Times New Roman" panose="02020603050405020304" pitchFamily="18" charset="0"/>
                <a:cs typeface="Times New Roman" panose="02020603050405020304" pitchFamily="18" charset="0"/>
              </a:rPr>
              <a:t>RunICA</a:t>
            </a:r>
            <a:r>
              <a:rPr lang="en-IN" b="0" i="0" dirty="0">
                <a:solidFill>
                  <a:srgbClr val="1F2937"/>
                </a:solidFill>
                <a:effectLst/>
                <a:latin typeface="Times New Roman" panose="02020603050405020304" pitchFamily="18" charset="0"/>
                <a:cs typeface="Times New Roman" panose="02020603050405020304" pitchFamily="18" charset="0"/>
              </a:rPr>
              <a:t>()), </a:t>
            </a:r>
            <a:r>
              <a:rPr lang="en-IN" b="0" i="0" dirty="0" err="1">
                <a:solidFill>
                  <a:srgbClr val="1F2937"/>
                </a:solidFill>
                <a:effectLst/>
                <a:latin typeface="Times New Roman" panose="02020603050405020304" pitchFamily="18" charset="0"/>
                <a:cs typeface="Times New Roman" panose="02020603050405020304" pitchFamily="18" charset="0"/>
              </a:rPr>
              <a:t>Scanpy</a:t>
            </a:r>
            <a:r>
              <a:rPr lang="en-IN" b="0" i="0" dirty="0">
                <a:solidFill>
                  <a:srgbClr val="1F2937"/>
                </a:solidFill>
                <a:effectLst/>
                <a:latin typeface="Times New Roman" panose="02020603050405020304" pitchFamily="18" charset="0"/>
                <a:cs typeface="Times New Roman" panose="02020603050405020304" pitchFamily="18" charset="0"/>
              </a:rPr>
              <a:t> (custom implementations)</a:t>
            </a:r>
          </a:p>
          <a:p>
            <a:pPr algn="l">
              <a:buFont typeface="+mj-lt"/>
              <a:buAutoNum type="arabicPeriod"/>
            </a:pPr>
            <a:r>
              <a:rPr lang="en-IN" b="0" i="0" dirty="0">
                <a:solidFill>
                  <a:srgbClr val="1F2937"/>
                </a:solidFill>
                <a:effectLst/>
                <a:latin typeface="Times New Roman" panose="02020603050405020304" pitchFamily="18" charset="0"/>
                <a:cs typeface="Times New Roman" panose="02020603050405020304" pitchFamily="18" charset="0"/>
              </a:rPr>
              <a:t>Others</a:t>
            </a:r>
          </a:p>
          <a:p>
            <a:pPr marL="742950" lvl="1" indent="-285750" algn="l">
              <a:buFont typeface="+mj-lt"/>
              <a:buAutoNum type="arabicPeriod"/>
            </a:pPr>
            <a:r>
              <a:rPr lang="en-IN" b="0" i="0" u="sng" dirty="0">
                <a:solidFill>
                  <a:srgbClr val="1F2937"/>
                </a:solidFill>
                <a:effectLst/>
                <a:latin typeface="Times New Roman" panose="02020603050405020304" pitchFamily="18" charset="0"/>
                <a:cs typeface="Times New Roman" panose="02020603050405020304" pitchFamily="18" charset="0"/>
              </a:rPr>
              <a:t>Multidimensional Scaling (MDS)</a:t>
            </a:r>
          </a:p>
          <a:p>
            <a:pPr marL="742950" lvl="1" indent="-285750" algn="l">
              <a:buFont typeface="+mj-lt"/>
              <a:buAutoNum type="arabicPeriod"/>
            </a:pPr>
            <a:r>
              <a:rPr lang="en-IN" b="0" i="0" u="sng" dirty="0">
                <a:solidFill>
                  <a:srgbClr val="1F2937"/>
                </a:solidFill>
                <a:effectLst/>
                <a:latin typeface="Times New Roman" panose="02020603050405020304" pitchFamily="18" charset="0"/>
                <a:cs typeface="Times New Roman" panose="02020603050405020304" pitchFamily="18" charset="0"/>
              </a:rPr>
              <a:t>Force-Directed Layout</a:t>
            </a:r>
          </a:p>
          <a:p>
            <a:pPr marL="742950" lvl="1" indent="-285750" algn="l">
              <a:buFont typeface="+mj-lt"/>
              <a:buAutoNum type="arabicPeriod"/>
            </a:pPr>
            <a:r>
              <a:rPr lang="en-IN" b="0" i="0" u="sng" dirty="0">
                <a:solidFill>
                  <a:srgbClr val="1F2937"/>
                </a:solidFill>
                <a:effectLst/>
                <a:latin typeface="Times New Roman" panose="02020603050405020304" pitchFamily="18" charset="0"/>
                <a:cs typeface="Times New Roman" panose="02020603050405020304" pitchFamily="18" charset="0"/>
              </a:rPr>
              <a:t>Latent Semantic Indexing (LSI)</a:t>
            </a:r>
          </a:p>
          <a:p>
            <a:pPr algn="ct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56213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CDAED-F950-28AA-8AA6-382B297FCA78}"/>
              </a:ext>
            </a:extLst>
          </p:cNvPr>
          <p:cNvSpPr>
            <a:spLocks noGrp="1"/>
          </p:cNvSpPr>
          <p:nvPr>
            <p:ph type="title"/>
          </p:nvPr>
        </p:nvSpPr>
        <p:spPr>
          <a:xfrm>
            <a:off x="647115" y="182880"/>
            <a:ext cx="10706686" cy="1071147"/>
          </a:xfrm>
        </p:spPr>
        <p:txBody>
          <a:bodyPr>
            <a:noAutofit/>
          </a:bodyPr>
          <a:lstStyle/>
          <a:p>
            <a:br>
              <a:rPr lang="en-US" sz="3600" b="1" i="0" dirty="0">
                <a:solidFill>
                  <a:srgbClr val="1F2937"/>
                </a:solidFill>
                <a:effectLst/>
                <a:latin typeface="Times New Roman" panose="02020603050405020304" pitchFamily="18" charset="0"/>
                <a:cs typeface="Times New Roman" panose="02020603050405020304" pitchFamily="18" charset="0"/>
              </a:rPr>
            </a:br>
            <a:br>
              <a:rPr lang="en-US" sz="3600" b="1" i="0" dirty="0">
                <a:solidFill>
                  <a:srgbClr val="1F2937"/>
                </a:solidFill>
                <a:effectLst/>
                <a:latin typeface="Times New Roman" panose="02020603050405020304" pitchFamily="18" charset="0"/>
                <a:cs typeface="Times New Roman" panose="02020603050405020304" pitchFamily="18" charset="0"/>
              </a:rPr>
            </a:br>
            <a:r>
              <a:rPr lang="en-US" sz="3600" b="1" i="0" dirty="0">
                <a:solidFill>
                  <a:srgbClr val="1F2937"/>
                </a:solidFill>
                <a:effectLst/>
                <a:latin typeface="Times New Roman" panose="02020603050405020304" pitchFamily="18" charset="0"/>
                <a:cs typeface="Times New Roman" panose="02020603050405020304" pitchFamily="18" charset="0"/>
              </a:rPr>
              <a:t>Clustering &amp; Cell Type Identification in </a:t>
            </a:r>
            <a:r>
              <a:rPr lang="en-US" sz="3600" b="1" i="0" dirty="0" err="1">
                <a:solidFill>
                  <a:srgbClr val="1F2937"/>
                </a:solidFill>
                <a:effectLst/>
                <a:latin typeface="Times New Roman" panose="02020603050405020304" pitchFamily="18" charset="0"/>
                <a:cs typeface="Times New Roman" panose="02020603050405020304" pitchFamily="18" charset="0"/>
              </a:rPr>
              <a:t>scRNA</a:t>
            </a:r>
            <a:r>
              <a:rPr lang="en-US" sz="3600" b="1" i="0" dirty="0">
                <a:solidFill>
                  <a:srgbClr val="1F2937"/>
                </a:solidFill>
                <a:effectLst/>
                <a:latin typeface="Times New Roman" panose="02020603050405020304" pitchFamily="18" charset="0"/>
                <a:cs typeface="Times New Roman" panose="02020603050405020304" pitchFamily="18" charset="0"/>
              </a:rPr>
              <a:t>-seq</a:t>
            </a:r>
            <a:br>
              <a:rPr lang="en-US" sz="3600" b="1" i="0" dirty="0">
                <a:solidFill>
                  <a:srgbClr val="1F2937"/>
                </a:solidFill>
                <a:effectLst/>
                <a:latin typeface="Times New Roman" panose="02020603050405020304" pitchFamily="18" charset="0"/>
                <a:cs typeface="Times New Roman" panose="02020603050405020304" pitchFamily="18" charset="0"/>
              </a:rPr>
            </a:br>
            <a:r>
              <a:rPr lang="en-IN" sz="1800" kern="100" dirty="0">
                <a:effectLst/>
                <a:latin typeface="Liberation Serif"/>
                <a:ea typeface="Noto Serif CJK SC"/>
                <a:cs typeface="Lohit Devanagari"/>
              </a:rPr>
              <a:t>Aims to identify </a:t>
            </a:r>
            <a:r>
              <a:rPr lang="en-IN" sz="1800" b="1" kern="100" dirty="0">
                <a:effectLst/>
                <a:latin typeface="Liberation Serif"/>
                <a:ea typeface="Noto Serif CJK SC"/>
                <a:cs typeface="Lohit Devanagari"/>
              </a:rPr>
              <a:t>distinct cell populations</a:t>
            </a:r>
            <a:r>
              <a:rPr lang="en-IN" sz="1800" kern="100" dirty="0">
                <a:effectLst/>
                <a:latin typeface="Liberation Serif"/>
                <a:ea typeface="Noto Serif CJK SC"/>
                <a:cs typeface="Lohit Devanagari"/>
              </a:rPr>
              <a:t> and assign biological meanings to </a:t>
            </a:r>
            <a:r>
              <a:rPr lang="en-IN" sz="1800" b="1" kern="100" dirty="0">
                <a:effectLst/>
                <a:latin typeface="Liberation Serif"/>
                <a:ea typeface="Noto Serif CJK SC"/>
                <a:cs typeface="Lohit Devanagari"/>
              </a:rPr>
              <a:t>clusters.</a:t>
            </a:r>
            <a:r>
              <a:rPr lang="en-IN" sz="1800" kern="100" dirty="0">
                <a:effectLst/>
                <a:latin typeface="Liberation Serif"/>
                <a:ea typeface="Noto Serif CJK SC"/>
                <a:cs typeface="Lohit Devanagari"/>
              </a:rPr>
              <a:t> </a:t>
            </a:r>
            <a:br>
              <a:rPr lang="en-IN" sz="1800" kern="100" dirty="0">
                <a:effectLst/>
                <a:latin typeface="Liberation Serif"/>
                <a:ea typeface="Noto Serif CJK SC"/>
                <a:cs typeface="Lohit Devanagari"/>
              </a:rPr>
            </a:br>
            <a:r>
              <a:rPr lang="en-US" sz="1600" kern="100" dirty="0">
                <a:effectLst/>
                <a:latin typeface="Times New Roman" panose="02020603050405020304" pitchFamily="18" charset="0"/>
                <a:ea typeface="Noto Serif CJK SC"/>
                <a:cs typeface="Times New Roman" panose="02020603050405020304" pitchFamily="18" charset="0"/>
              </a:rPr>
              <a:t>G</a:t>
            </a:r>
            <a:r>
              <a:rPr lang="en-US" sz="1600" dirty="0">
                <a:latin typeface="Times New Roman" panose="02020603050405020304" pitchFamily="18" charset="0"/>
                <a:cs typeface="Times New Roman" panose="02020603050405020304" pitchFamily="18" charset="0"/>
              </a:rPr>
              <a:t>rouping cells based on gene expression profiles to identify cell types or states.</a:t>
            </a:r>
            <a:br>
              <a:rPr lang="en-IN" sz="1800" kern="100" dirty="0">
                <a:effectLst/>
                <a:latin typeface="Liberation Serif"/>
                <a:ea typeface="Noto Serif CJK SC"/>
                <a:cs typeface="Lohit Devanagari"/>
              </a:rPr>
            </a:br>
            <a:br>
              <a:rPr lang="en-US" sz="3600" b="1" i="0" dirty="0">
                <a:solidFill>
                  <a:srgbClr val="1F2937"/>
                </a:solidFill>
                <a:effectLst/>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6FD1FAE1-23FA-35B3-841E-BED70F846981}"/>
              </a:ext>
            </a:extLst>
          </p:cNvPr>
          <p:cNvGraphicFramePr>
            <a:graphicFrameLocks noGrp="1"/>
          </p:cNvGraphicFramePr>
          <p:nvPr>
            <p:ph sz="half" idx="1"/>
          </p:nvPr>
        </p:nvGraphicFramePr>
        <p:xfrm>
          <a:off x="5236696" y="4262511"/>
          <a:ext cx="6822836" cy="2549098"/>
        </p:xfrm>
        <a:graphic>
          <a:graphicData uri="http://schemas.openxmlformats.org/drawingml/2006/table">
            <a:tbl>
              <a:tblPr>
                <a:tableStyleId>{5C22544A-7EE6-4342-B048-85BDC9FD1C3A}</a:tableStyleId>
              </a:tblPr>
              <a:tblGrid>
                <a:gridCol w="953089">
                  <a:extLst>
                    <a:ext uri="{9D8B030D-6E8A-4147-A177-3AD203B41FA5}">
                      <a16:colId xmlns:a16="http://schemas.microsoft.com/office/drawing/2014/main" val="2188050973"/>
                    </a:ext>
                  </a:extLst>
                </a:gridCol>
                <a:gridCol w="1507605">
                  <a:extLst>
                    <a:ext uri="{9D8B030D-6E8A-4147-A177-3AD203B41FA5}">
                      <a16:colId xmlns:a16="http://schemas.microsoft.com/office/drawing/2014/main" val="2256525498"/>
                    </a:ext>
                  </a:extLst>
                </a:gridCol>
                <a:gridCol w="1685761">
                  <a:extLst>
                    <a:ext uri="{9D8B030D-6E8A-4147-A177-3AD203B41FA5}">
                      <a16:colId xmlns:a16="http://schemas.microsoft.com/office/drawing/2014/main" val="3852402450"/>
                    </a:ext>
                  </a:extLst>
                </a:gridCol>
                <a:gridCol w="2676381">
                  <a:extLst>
                    <a:ext uri="{9D8B030D-6E8A-4147-A177-3AD203B41FA5}">
                      <a16:colId xmlns:a16="http://schemas.microsoft.com/office/drawing/2014/main" val="2725691262"/>
                    </a:ext>
                  </a:extLst>
                </a:gridCol>
              </a:tblGrid>
              <a:tr h="320406">
                <a:tc>
                  <a:txBody>
                    <a:bodyPr/>
                    <a:lstStyle/>
                    <a:p>
                      <a:pPr algn="ctr"/>
                      <a:r>
                        <a:rPr lang="en-IN" sz="1400" kern="100" dirty="0">
                          <a:effectLst/>
                          <a:latin typeface="Times New Roman" panose="02020603050405020304" pitchFamily="18" charset="0"/>
                          <a:cs typeface="Times New Roman" panose="02020603050405020304" pitchFamily="18" charset="0"/>
                        </a:rPr>
                        <a:t>Tools</a:t>
                      </a:r>
                      <a:endParaRPr lang="en-IN" sz="14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pPr algn="ctr"/>
                      <a:r>
                        <a:rPr lang="en-IN" sz="1400" kern="100" dirty="0">
                          <a:effectLst/>
                          <a:latin typeface="Times New Roman" panose="02020603050405020304" pitchFamily="18" charset="0"/>
                          <a:cs typeface="Times New Roman" panose="02020603050405020304" pitchFamily="18" charset="0"/>
                        </a:rPr>
                        <a:t>Methodology</a:t>
                      </a:r>
                      <a:endParaRPr lang="en-IN" sz="14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pPr algn="ctr"/>
                      <a:r>
                        <a:rPr lang="en-IN" sz="1400" kern="100" dirty="0">
                          <a:effectLst/>
                          <a:latin typeface="Times New Roman" panose="02020603050405020304" pitchFamily="18" charset="0"/>
                          <a:cs typeface="Times New Roman" panose="02020603050405020304" pitchFamily="18" charset="0"/>
                        </a:rPr>
                        <a:t>Input</a:t>
                      </a:r>
                      <a:endParaRPr lang="en-IN" sz="14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pPr algn="ctr"/>
                      <a:r>
                        <a:rPr lang="en-US" sz="1400" kern="100" dirty="0">
                          <a:effectLst/>
                          <a:latin typeface="Times New Roman" panose="02020603050405020304" pitchFamily="18" charset="0"/>
                          <a:ea typeface="Noto Serif CJK SC"/>
                          <a:cs typeface="Times New Roman" panose="02020603050405020304" pitchFamily="18" charset="0"/>
                        </a:rPr>
                        <a:t>A</a:t>
                      </a:r>
                      <a:r>
                        <a:rPr lang="en-IN" sz="1400" kern="100" dirty="0" err="1">
                          <a:effectLst/>
                          <a:latin typeface="Times New Roman" panose="02020603050405020304" pitchFamily="18" charset="0"/>
                          <a:ea typeface="Noto Serif CJK SC"/>
                          <a:cs typeface="Times New Roman" panose="02020603050405020304" pitchFamily="18" charset="0"/>
                        </a:rPr>
                        <a:t>pplication</a:t>
                      </a:r>
                      <a:endParaRPr lang="en-IN" sz="14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948707869"/>
                  </a:ext>
                </a:extLst>
              </a:tr>
              <a:tr h="557173">
                <a:tc>
                  <a:txBody>
                    <a:bodyPr/>
                    <a:lstStyle/>
                    <a:p>
                      <a:r>
                        <a:rPr lang="en-IN" sz="1400" kern="100">
                          <a:effectLst/>
                          <a:latin typeface="Times New Roman" panose="02020603050405020304" pitchFamily="18" charset="0"/>
                          <a:cs typeface="Times New Roman" panose="02020603050405020304" pitchFamily="18" charset="0"/>
                        </a:rPr>
                        <a:t>SingleR</a:t>
                      </a:r>
                      <a:endParaRPr lang="en-IN" sz="14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400" kern="100" dirty="0">
                          <a:effectLst/>
                          <a:latin typeface="Times New Roman" panose="02020603050405020304" pitchFamily="18" charset="0"/>
                          <a:cs typeface="Times New Roman" panose="02020603050405020304" pitchFamily="18" charset="0"/>
                        </a:rPr>
                        <a:t>Reference-based</a:t>
                      </a:r>
                      <a:endParaRPr lang="en-IN" sz="14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400" kern="100" dirty="0">
                          <a:effectLst/>
                          <a:latin typeface="Times New Roman" panose="02020603050405020304" pitchFamily="18" charset="0"/>
                          <a:cs typeface="Times New Roman" panose="02020603050405020304" pitchFamily="18" charset="0"/>
                        </a:rPr>
                        <a:t>Reference dataset</a:t>
                      </a:r>
                      <a:endParaRPr lang="en-IN" sz="14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400" kern="100" dirty="0">
                          <a:effectLst/>
                          <a:latin typeface="Times New Roman" panose="02020603050405020304" pitchFamily="18" charset="0"/>
                          <a:cs typeface="Times New Roman" panose="02020603050405020304" pitchFamily="18" charset="0"/>
                        </a:rPr>
                        <a:t>For automated, flexible, and high-quality annotation.</a:t>
                      </a:r>
                      <a:endParaRPr lang="en-IN" sz="14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3685480466"/>
                  </a:ext>
                </a:extLst>
              </a:tr>
              <a:tr h="557173">
                <a:tc>
                  <a:txBody>
                    <a:bodyPr/>
                    <a:lstStyle/>
                    <a:p>
                      <a:r>
                        <a:rPr lang="en-IN" sz="1400" kern="100">
                          <a:effectLst/>
                          <a:latin typeface="Times New Roman" panose="02020603050405020304" pitchFamily="18" charset="0"/>
                          <a:cs typeface="Times New Roman" panose="02020603050405020304" pitchFamily="18" charset="0"/>
                        </a:rPr>
                        <a:t>ScType</a:t>
                      </a:r>
                      <a:endParaRPr lang="en-IN" sz="14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400" kern="100">
                          <a:effectLst/>
                          <a:latin typeface="Times New Roman" panose="02020603050405020304" pitchFamily="18" charset="0"/>
                          <a:cs typeface="Times New Roman" panose="02020603050405020304" pitchFamily="18" charset="0"/>
                        </a:rPr>
                        <a:t>Marker-based</a:t>
                      </a:r>
                      <a:endParaRPr lang="en-IN" sz="14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400" kern="100" dirty="0">
                          <a:effectLst/>
                          <a:latin typeface="Times New Roman" panose="02020603050405020304" pitchFamily="18" charset="0"/>
                          <a:cs typeface="Times New Roman" panose="02020603050405020304" pitchFamily="18" charset="0"/>
                        </a:rPr>
                        <a:t>Marker gene list</a:t>
                      </a:r>
                      <a:endParaRPr lang="en-IN" sz="14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400" kern="100">
                          <a:effectLst/>
                          <a:latin typeface="Times New Roman" panose="02020603050405020304" pitchFamily="18" charset="0"/>
                          <a:cs typeface="Times New Roman" panose="02020603050405020304" pitchFamily="18" charset="0"/>
                        </a:rPr>
                        <a:t>Fast annotation using curated markers.</a:t>
                      </a:r>
                      <a:endParaRPr lang="en-IN" sz="14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471889059"/>
                  </a:ext>
                </a:extLst>
              </a:tr>
              <a:tr h="557173">
                <a:tc>
                  <a:txBody>
                    <a:bodyPr/>
                    <a:lstStyle/>
                    <a:p>
                      <a:r>
                        <a:rPr lang="en-IN" sz="1400" kern="100">
                          <a:effectLst/>
                          <a:latin typeface="Times New Roman" panose="02020603050405020304" pitchFamily="18" charset="0"/>
                          <a:cs typeface="Times New Roman" panose="02020603050405020304" pitchFamily="18" charset="0"/>
                        </a:rPr>
                        <a:t>CellAssign</a:t>
                      </a:r>
                      <a:endParaRPr lang="en-IN" sz="14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400" kern="100">
                          <a:effectLst/>
                          <a:latin typeface="Times New Roman" panose="02020603050405020304" pitchFamily="18" charset="0"/>
                          <a:cs typeface="Times New Roman" panose="02020603050405020304" pitchFamily="18" charset="0"/>
                        </a:rPr>
                        <a:t>Probabilistic model</a:t>
                      </a:r>
                      <a:endParaRPr lang="en-IN" sz="14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400" kern="100">
                          <a:effectLst/>
                          <a:latin typeface="Times New Roman" panose="02020603050405020304" pitchFamily="18" charset="0"/>
                          <a:cs typeface="Times New Roman" panose="02020603050405020304" pitchFamily="18" charset="0"/>
                        </a:rPr>
                        <a:t>Marker genes, gene expression matrix</a:t>
                      </a:r>
                      <a:endParaRPr lang="en-IN" sz="14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400" kern="100" dirty="0">
                          <a:effectLst/>
                          <a:latin typeface="Times New Roman" panose="02020603050405020304" pitchFamily="18" charset="0"/>
                          <a:cs typeface="Times New Roman" panose="02020603050405020304" pitchFamily="18" charset="0"/>
                        </a:rPr>
                        <a:t>Ideal for datasets with known marker genes.</a:t>
                      </a:r>
                      <a:endParaRPr lang="en-IN" sz="14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1693922574"/>
                  </a:ext>
                </a:extLst>
              </a:tr>
              <a:tr h="557173">
                <a:tc>
                  <a:txBody>
                    <a:bodyPr/>
                    <a:lstStyle/>
                    <a:p>
                      <a:r>
                        <a:rPr lang="en-IN" sz="1400" kern="100">
                          <a:effectLst/>
                          <a:latin typeface="Times New Roman" panose="02020603050405020304" pitchFamily="18" charset="0"/>
                          <a:cs typeface="Times New Roman" panose="02020603050405020304" pitchFamily="18" charset="0"/>
                        </a:rPr>
                        <a:t>Garnett</a:t>
                      </a:r>
                      <a:endParaRPr lang="en-IN" sz="14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400" kern="100">
                          <a:effectLst/>
                          <a:latin typeface="Times New Roman" panose="02020603050405020304" pitchFamily="18" charset="0"/>
                          <a:cs typeface="Times New Roman" panose="02020603050405020304" pitchFamily="18" charset="0"/>
                        </a:rPr>
                        <a:t>Interpretable ML-based</a:t>
                      </a:r>
                      <a:endParaRPr lang="en-IN" sz="14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400" kern="100">
                          <a:effectLst/>
                          <a:latin typeface="Times New Roman" panose="02020603050405020304" pitchFamily="18" charset="0"/>
                          <a:cs typeface="Times New Roman" panose="02020603050405020304" pitchFamily="18" charset="0"/>
                        </a:rPr>
                        <a:t>Marker genes, training dataset</a:t>
                      </a:r>
                      <a:endParaRPr lang="en-IN" sz="14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400" kern="100" dirty="0">
                          <a:effectLst/>
                          <a:latin typeface="Times New Roman" panose="02020603050405020304" pitchFamily="18" charset="0"/>
                          <a:cs typeface="Times New Roman" panose="02020603050405020304" pitchFamily="18" charset="0"/>
                        </a:rPr>
                        <a:t>For interpretable results and large datasets.</a:t>
                      </a:r>
                      <a:endParaRPr lang="en-IN" sz="14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2974208094"/>
                  </a:ext>
                </a:extLst>
              </a:tr>
            </a:tbl>
          </a:graphicData>
        </a:graphic>
      </p:graphicFrame>
      <p:sp>
        <p:nvSpPr>
          <p:cNvPr id="6" name="Content Placeholder 5">
            <a:extLst>
              <a:ext uri="{FF2B5EF4-FFF2-40B4-BE49-F238E27FC236}">
                <a16:creationId xmlns:a16="http://schemas.microsoft.com/office/drawing/2014/main" id="{EC92D5C1-8CDE-4707-D0EF-E75D5B17E051}"/>
              </a:ext>
            </a:extLst>
          </p:cNvPr>
          <p:cNvSpPr>
            <a:spLocks noGrp="1"/>
          </p:cNvSpPr>
          <p:nvPr>
            <p:ph sz="half" idx="2"/>
          </p:nvPr>
        </p:nvSpPr>
        <p:spPr>
          <a:xfrm>
            <a:off x="132468" y="999676"/>
            <a:ext cx="4875630" cy="5811934"/>
          </a:xfrm>
          <a:solidFill>
            <a:schemeClr val="accent2">
              <a:lumMod val="20000"/>
              <a:lumOff val="80000"/>
            </a:schemeClr>
          </a:solidFill>
        </p:spPr>
        <p:txBody>
          <a:bodyPr>
            <a:noAutofit/>
          </a:bodyPr>
          <a:lstStyle/>
          <a:p>
            <a:pPr algn="l"/>
            <a:r>
              <a:rPr lang="en-IN" sz="1800" b="1" i="0" dirty="0">
                <a:solidFill>
                  <a:srgbClr val="1F2937"/>
                </a:solidFill>
                <a:effectLst/>
                <a:latin typeface="Times New Roman" panose="02020603050405020304" pitchFamily="18" charset="0"/>
                <a:cs typeface="Times New Roman" panose="02020603050405020304" pitchFamily="18" charset="0"/>
              </a:rPr>
              <a:t>Clustering Algorithms </a:t>
            </a:r>
          </a:p>
          <a:p>
            <a:pPr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Graph-Based Clustering (Louvain/Leiden)</a:t>
            </a:r>
          </a:p>
          <a:p>
            <a:pPr marL="742950" lvl="1" indent="-285750">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Graphs, Captures cell-type relationship, maximize </a:t>
            </a:r>
            <a:r>
              <a:rPr lang="en-IN" sz="1600" kern="100" dirty="0">
                <a:effectLst/>
                <a:latin typeface="Times New Roman" panose="02020603050405020304" pitchFamily="18" charset="0"/>
                <a:ea typeface="Noto Serif CJK SC"/>
                <a:cs typeface="Times New Roman" panose="02020603050405020304" pitchFamily="18" charset="0"/>
              </a:rPr>
              <a:t>modularity</a:t>
            </a:r>
            <a:r>
              <a:rPr lang="en-IN" sz="1600" b="1" kern="100" dirty="0">
                <a:effectLst/>
                <a:latin typeface="Times New Roman" panose="02020603050405020304" pitchFamily="18" charset="0"/>
                <a:ea typeface="Noto Serif CJK SC"/>
                <a:cs typeface="Times New Roman" panose="02020603050405020304" pitchFamily="18" charset="0"/>
              </a:rPr>
              <a:t> </a:t>
            </a:r>
            <a:r>
              <a:rPr lang="en-IN" sz="1600" kern="100" dirty="0">
                <a:effectLst/>
                <a:latin typeface="Times New Roman" panose="02020603050405020304" pitchFamily="18" charset="0"/>
                <a:ea typeface="Noto Serif CJK SC"/>
                <a:cs typeface="Times New Roman" panose="02020603050405020304" pitchFamily="18" charset="0"/>
              </a:rPr>
              <a:t>(Louvain) or refining the</a:t>
            </a:r>
            <a:r>
              <a:rPr lang="en-IN" sz="1600" b="1" kern="100" dirty="0">
                <a:effectLst/>
                <a:latin typeface="Times New Roman" panose="02020603050405020304" pitchFamily="18" charset="0"/>
                <a:ea typeface="Noto Serif CJK SC"/>
                <a:cs typeface="Times New Roman" panose="02020603050405020304" pitchFamily="18" charset="0"/>
              </a:rPr>
              <a:t> </a:t>
            </a:r>
            <a:r>
              <a:rPr lang="en-IN" sz="1600" kern="100" dirty="0">
                <a:effectLst/>
                <a:latin typeface="Times New Roman" panose="02020603050405020304" pitchFamily="18" charset="0"/>
                <a:ea typeface="Noto Serif CJK SC"/>
                <a:cs typeface="Times New Roman" panose="02020603050405020304" pitchFamily="18" charset="0"/>
              </a:rPr>
              <a:t>partitioning</a:t>
            </a:r>
            <a:r>
              <a:rPr lang="en-IN" sz="1600" b="1" kern="100" dirty="0">
                <a:effectLst/>
                <a:latin typeface="Times New Roman" panose="02020603050405020304" pitchFamily="18" charset="0"/>
                <a:ea typeface="Noto Serif CJK SC"/>
                <a:cs typeface="Times New Roman" panose="02020603050405020304" pitchFamily="18" charset="0"/>
              </a:rPr>
              <a:t> </a:t>
            </a:r>
            <a:r>
              <a:rPr lang="en-IN" sz="1600" kern="100" dirty="0">
                <a:effectLst/>
                <a:latin typeface="Times New Roman" panose="02020603050405020304" pitchFamily="18" charset="0"/>
                <a:ea typeface="Noto Serif CJK SC"/>
                <a:cs typeface="Times New Roman" panose="02020603050405020304" pitchFamily="18" charset="0"/>
              </a:rPr>
              <a:t>(Leiden).</a:t>
            </a:r>
            <a:endParaRPr lang="en-IN" sz="1600" b="0" i="0" dirty="0">
              <a:solidFill>
                <a:srgbClr val="1F2937"/>
              </a:solidFill>
              <a:effectLst/>
              <a:latin typeface="Times New Roman" panose="02020603050405020304" pitchFamily="18" charset="0"/>
              <a:cs typeface="Times New Roman" panose="02020603050405020304" pitchFamily="18" charset="0"/>
            </a:endParaRPr>
          </a:p>
          <a:p>
            <a:pPr marL="742950" lvl="1" indent="-285750"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Tools: Seurat (</a:t>
            </a:r>
            <a:r>
              <a:rPr lang="en-IN" sz="1600" b="0" i="0" dirty="0" err="1">
                <a:solidFill>
                  <a:srgbClr val="1F2937"/>
                </a:solidFill>
                <a:effectLst/>
                <a:latin typeface="Times New Roman" panose="02020603050405020304" pitchFamily="18" charset="0"/>
                <a:cs typeface="Times New Roman" panose="02020603050405020304" pitchFamily="18" charset="0"/>
              </a:rPr>
              <a:t>FindClusters</a:t>
            </a:r>
            <a:r>
              <a:rPr lang="en-IN" sz="1600" b="0" i="0" dirty="0">
                <a:solidFill>
                  <a:srgbClr val="1F2937"/>
                </a:solidFill>
                <a:effectLst/>
                <a:latin typeface="Times New Roman" panose="02020603050405020304" pitchFamily="18" charset="0"/>
                <a:cs typeface="Times New Roman" panose="02020603050405020304" pitchFamily="18" charset="0"/>
              </a:rPr>
              <a:t>()), </a:t>
            </a:r>
            <a:r>
              <a:rPr lang="en-IN" sz="1600" b="0" i="0" dirty="0" err="1">
                <a:solidFill>
                  <a:srgbClr val="1F2937"/>
                </a:solidFill>
                <a:effectLst/>
                <a:latin typeface="Times New Roman" panose="02020603050405020304" pitchFamily="18" charset="0"/>
                <a:cs typeface="Times New Roman" panose="02020603050405020304" pitchFamily="18" charset="0"/>
              </a:rPr>
              <a:t>Scanpy</a:t>
            </a:r>
            <a:r>
              <a:rPr lang="en-IN" sz="1600" b="0" i="0" dirty="0">
                <a:solidFill>
                  <a:srgbClr val="1F2937"/>
                </a:solidFill>
                <a:effectLst/>
                <a:latin typeface="Times New Roman" panose="02020603050405020304" pitchFamily="18" charset="0"/>
                <a:cs typeface="Times New Roman" panose="02020603050405020304" pitchFamily="18" charset="0"/>
              </a:rPr>
              <a:t> (</a:t>
            </a:r>
            <a:r>
              <a:rPr lang="en-IN" sz="1600" b="0" i="0" dirty="0" err="1">
                <a:solidFill>
                  <a:srgbClr val="1F2937"/>
                </a:solidFill>
                <a:effectLst/>
                <a:latin typeface="Times New Roman" panose="02020603050405020304" pitchFamily="18" charset="0"/>
                <a:cs typeface="Times New Roman" panose="02020603050405020304" pitchFamily="18" charset="0"/>
              </a:rPr>
              <a:t>sc.tl.louvain</a:t>
            </a:r>
            <a:r>
              <a:rPr lang="en-IN" sz="1600" b="0" i="0" dirty="0">
                <a:solidFill>
                  <a:srgbClr val="1F2937"/>
                </a:solidFill>
                <a:effectLst/>
                <a:latin typeface="Times New Roman" panose="02020603050405020304" pitchFamily="18" charset="0"/>
                <a:cs typeface="Times New Roman" panose="02020603050405020304" pitchFamily="18" charset="0"/>
              </a:rPr>
              <a:t>()/</a:t>
            </a:r>
            <a:r>
              <a:rPr lang="en-IN" sz="1600" b="0" i="0" dirty="0" err="1">
                <a:solidFill>
                  <a:srgbClr val="1F2937"/>
                </a:solidFill>
                <a:effectLst/>
                <a:latin typeface="Times New Roman" panose="02020603050405020304" pitchFamily="18" charset="0"/>
                <a:cs typeface="Times New Roman" panose="02020603050405020304" pitchFamily="18" charset="0"/>
              </a:rPr>
              <a:t>leiden</a:t>
            </a:r>
            <a:r>
              <a:rPr lang="en-IN" sz="1600" b="0" i="0" dirty="0">
                <a:solidFill>
                  <a:srgbClr val="1F2937"/>
                </a:solidFill>
                <a:effectLst/>
                <a:latin typeface="Times New Roman" panose="02020603050405020304" pitchFamily="18" charset="0"/>
                <a:cs typeface="Times New Roman" panose="02020603050405020304" pitchFamily="18" charset="0"/>
              </a:rPr>
              <a:t>())</a:t>
            </a:r>
          </a:p>
          <a:p>
            <a:pPr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K-means Clustering</a:t>
            </a:r>
          </a:p>
          <a:p>
            <a:pPr marL="742950" lvl="1" indent="-285750"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Divides cells into pre-defined number </a:t>
            </a:r>
            <a:r>
              <a:rPr lang="en-IN" sz="1600" dirty="0">
                <a:solidFill>
                  <a:srgbClr val="1F2937"/>
                </a:solidFill>
                <a:latin typeface="Times New Roman" panose="02020603050405020304" pitchFamily="18" charset="0"/>
                <a:cs typeface="Times New Roman" panose="02020603050405020304" pitchFamily="18" charset="0"/>
              </a:rPr>
              <a:t>of</a:t>
            </a:r>
            <a:r>
              <a:rPr lang="en-IN" sz="1600" b="0" i="0" dirty="0">
                <a:solidFill>
                  <a:srgbClr val="1F2937"/>
                </a:solidFill>
                <a:effectLst/>
                <a:latin typeface="Times New Roman" panose="02020603050405020304" pitchFamily="18" charset="0"/>
                <a:cs typeface="Times New Roman" panose="02020603050405020304" pitchFamily="18" charset="0"/>
              </a:rPr>
              <a:t> clusters</a:t>
            </a:r>
          </a:p>
          <a:p>
            <a:pPr marL="742950" lvl="1" indent="-285750"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Tools: R (</a:t>
            </a:r>
            <a:r>
              <a:rPr lang="en-IN" sz="1600" b="0" i="0" dirty="0" err="1">
                <a:solidFill>
                  <a:srgbClr val="1F2937"/>
                </a:solidFill>
                <a:effectLst/>
                <a:latin typeface="Times New Roman" panose="02020603050405020304" pitchFamily="18" charset="0"/>
                <a:cs typeface="Times New Roman" panose="02020603050405020304" pitchFamily="18" charset="0"/>
              </a:rPr>
              <a:t>kmeans</a:t>
            </a:r>
            <a:r>
              <a:rPr lang="en-IN" sz="1600" b="0" i="0" dirty="0">
                <a:solidFill>
                  <a:srgbClr val="1F2937"/>
                </a:solidFill>
                <a:effectLst/>
                <a:latin typeface="Times New Roman" panose="02020603050405020304" pitchFamily="18" charset="0"/>
                <a:cs typeface="Times New Roman" panose="02020603050405020304" pitchFamily="18" charset="0"/>
              </a:rPr>
              <a:t>()), </a:t>
            </a:r>
            <a:r>
              <a:rPr lang="en-IN" sz="1600" b="0" i="0" dirty="0" err="1">
                <a:solidFill>
                  <a:srgbClr val="1F2937"/>
                </a:solidFill>
                <a:effectLst/>
                <a:latin typeface="Times New Roman" panose="02020603050405020304" pitchFamily="18" charset="0"/>
                <a:cs typeface="Times New Roman" panose="02020603050405020304" pitchFamily="18" charset="0"/>
              </a:rPr>
              <a:t>Scanpy</a:t>
            </a:r>
            <a:r>
              <a:rPr lang="en-IN" sz="1600" b="0" i="0" dirty="0">
                <a:solidFill>
                  <a:srgbClr val="1F2937"/>
                </a:solidFill>
                <a:effectLst/>
                <a:latin typeface="Times New Roman" panose="02020603050405020304" pitchFamily="18" charset="0"/>
                <a:cs typeface="Times New Roman" panose="02020603050405020304" pitchFamily="18" charset="0"/>
              </a:rPr>
              <a:t> (</a:t>
            </a:r>
            <a:r>
              <a:rPr lang="en-IN" sz="1600" b="0" i="0" dirty="0" err="1">
                <a:solidFill>
                  <a:srgbClr val="1F2937"/>
                </a:solidFill>
                <a:effectLst/>
                <a:latin typeface="Times New Roman" panose="02020603050405020304" pitchFamily="18" charset="0"/>
                <a:cs typeface="Times New Roman" panose="02020603050405020304" pitchFamily="18" charset="0"/>
              </a:rPr>
              <a:t>sc.tl.kmeans</a:t>
            </a:r>
            <a:r>
              <a:rPr lang="en-IN" sz="1600" b="0" i="0" dirty="0">
                <a:solidFill>
                  <a:srgbClr val="1F2937"/>
                </a:solidFill>
                <a:effectLst/>
                <a:latin typeface="Times New Roman" panose="02020603050405020304" pitchFamily="18" charset="0"/>
                <a:cs typeface="Times New Roman" panose="02020603050405020304" pitchFamily="18" charset="0"/>
              </a:rPr>
              <a:t>())</a:t>
            </a:r>
          </a:p>
          <a:p>
            <a:pPr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Hierarchical Clustering</a:t>
            </a:r>
          </a:p>
          <a:p>
            <a:pPr marL="742950" lvl="1" indent="-285750"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Builds cluster hierarchy based on distance.</a:t>
            </a:r>
          </a:p>
          <a:p>
            <a:pPr marL="742950" lvl="1" indent="-285750"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Tools: R (</a:t>
            </a:r>
            <a:r>
              <a:rPr lang="en-IN" sz="1600" b="0" i="0" dirty="0" err="1">
                <a:solidFill>
                  <a:srgbClr val="1F2937"/>
                </a:solidFill>
                <a:effectLst/>
                <a:latin typeface="Times New Roman" panose="02020603050405020304" pitchFamily="18" charset="0"/>
                <a:cs typeface="Times New Roman" panose="02020603050405020304" pitchFamily="18" charset="0"/>
              </a:rPr>
              <a:t>hclust</a:t>
            </a:r>
            <a:r>
              <a:rPr lang="en-IN" sz="1600" b="0" i="0" dirty="0">
                <a:solidFill>
                  <a:srgbClr val="1F2937"/>
                </a:solidFill>
                <a:effectLst/>
                <a:latin typeface="Times New Roman" panose="02020603050405020304" pitchFamily="18" charset="0"/>
                <a:cs typeface="Times New Roman" panose="02020603050405020304" pitchFamily="18" charset="0"/>
              </a:rPr>
              <a:t>()), </a:t>
            </a:r>
            <a:r>
              <a:rPr lang="en-IN" sz="1600" b="0" i="0" dirty="0" err="1">
                <a:solidFill>
                  <a:srgbClr val="1F2937"/>
                </a:solidFill>
                <a:effectLst/>
                <a:latin typeface="Times New Roman" panose="02020603050405020304" pitchFamily="18" charset="0"/>
                <a:cs typeface="Times New Roman" panose="02020603050405020304" pitchFamily="18" charset="0"/>
              </a:rPr>
              <a:t>Scanpy</a:t>
            </a:r>
            <a:r>
              <a:rPr lang="en-IN" sz="1600" b="0" i="0" dirty="0">
                <a:solidFill>
                  <a:srgbClr val="1F2937"/>
                </a:solidFill>
                <a:effectLst/>
                <a:latin typeface="Times New Roman" panose="02020603050405020304" pitchFamily="18" charset="0"/>
                <a:cs typeface="Times New Roman" panose="02020603050405020304" pitchFamily="18" charset="0"/>
              </a:rPr>
              <a:t> (</a:t>
            </a:r>
            <a:r>
              <a:rPr lang="en-IN" sz="1600" b="0" i="0" dirty="0" err="1">
                <a:solidFill>
                  <a:srgbClr val="1F2937"/>
                </a:solidFill>
                <a:effectLst/>
                <a:latin typeface="Times New Roman" panose="02020603050405020304" pitchFamily="18" charset="0"/>
                <a:cs typeface="Times New Roman" panose="02020603050405020304" pitchFamily="18" charset="0"/>
              </a:rPr>
              <a:t>sc.tl.dendrogram</a:t>
            </a:r>
            <a:r>
              <a:rPr lang="en-IN" sz="1600" b="0" i="0" dirty="0">
                <a:solidFill>
                  <a:srgbClr val="1F2937"/>
                </a:solidFill>
                <a:effectLst/>
                <a:latin typeface="Times New Roman" panose="02020603050405020304" pitchFamily="18" charset="0"/>
                <a:cs typeface="Times New Roman" panose="02020603050405020304" pitchFamily="18" charset="0"/>
              </a:rPr>
              <a:t>())</a:t>
            </a:r>
          </a:p>
          <a:p>
            <a:pPr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Density-Based Clustering (DBSCAN)</a:t>
            </a:r>
          </a:p>
          <a:p>
            <a:pPr marL="742950" lvl="1" indent="-285750"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Identifies dense regions, mark sparsity as noise.</a:t>
            </a:r>
          </a:p>
          <a:p>
            <a:pPr marL="742950" lvl="1" indent="-285750"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Tool: </a:t>
            </a:r>
            <a:r>
              <a:rPr lang="en-IN" sz="1600" b="0" i="0" dirty="0" err="1">
                <a:solidFill>
                  <a:srgbClr val="1F2937"/>
                </a:solidFill>
                <a:effectLst/>
                <a:latin typeface="Times New Roman" panose="02020603050405020304" pitchFamily="18" charset="0"/>
                <a:cs typeface="Times New Roman" panose="02020603050405020304" pitchFamily="18" charset="0"/>
              </a:rPr>
              <a:t>Scanpy</a:t>
            </a:r>
            <a:r>
              <a:rPr lang="en-IN" sz="1600" b="0" i="0" dirty="0">
                <a:solidFill>
                  <a:srgbClr val="1F2937"/>
                </a:solidFill>
                <a:effectLst/>
                <a:latin typeface="Times New Roman" panose="02020603050405020304" pitchFamily="18" charset="0"/>
                <a:cs typeface="Times New Roman" panose="02020603050405020304" pitchFamily="18" charset="0"/>
              </a:rPr>
              <a:t> (scikit-learn DBSCAN)</a:t>
            </a:r>
          </a:p>
          <a:p>
            <a:pPr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Gaussian Mixture Model (GMM)</a:t>
            </a:r>
          </a:p>
          <a:p>
            <a:pPr marL="742950" lvl="1" indent="-285750"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Finds Clusters that </a:t>
            </a:r>
            <a:r>
              <a:rPr lang="en-IN" sz="1600" dirty="0">
                <a:solidFill>
                  <a:srgbClr val="1F2937"/>
                </a:solidFill>
                <a:latin typeface="Times New Roman" panose="02020603050405020304" pitchFamily="18" charset="0"/>
                <a:cs typeface="Times New Roman" panose="02020603050405020304" pitchFamily="18" charset="0"/>
              </a:rPr>
              <a:t>f</a:t>
            </a:r>
            <a:r>
              <a:rPr lang="en-IN" sz="1600" b="0" i="0" dirty="0">
                <a:solidFill>
                  <a:srgbClr val="1F2937"/>
                </a:solidFill>
                <a:effectLst/>
                <a:latin typeface="Times New Roman" panose="02020603050405020304" pitchFamily="18" charset="0"/>
                <a:cs typeface="Times New Roman" panose="02020603050405020304" pitchFamily="18" charset="0"/>
              </a:rPr>
              <a:t>its Gaussian distributions.</a:t>
            </a:r>
          </a:p>
          <a:p>
            <a:pPr marL="742950" lvl="1" indent="-285750"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Tool: </a:t>
            </a:r>
            <a:r>
              <a:rPr lang="en-IN" sz="1600" b="0" i="0" dirty="0" err="1">
                <a:solidFill>
                  <a:srgbClr val="1F2937"/>
                </a:solidFill>
                <a:effectLst/>
                <a:latin typeface="Times New Roman" panose="02020603050405020304" pitchFamily="18" charset="0"/>
                <a:cs typeface="Times New Roman" panose="02020603050405020304" pitchFamily="18" charset="0"/>
              </a:rPr>
              <a:t>Scanpy</a:t>
            </a:r>
            <a:r>
              <a:rPr lang="en-IN" sz="1600" b="0" i="0" dirty="0">
                <a:solidFill>
                  <a:srgbClr val="1F2937"/>
                </a:solidFill>
                <a:effectLst/>
                <a:latin typeface="Times New Roman" panose="02020603050405020304" pitchFamily="18" charset="0"/>
                <a:cs typeface="Times New Roman" panose="02020603050405020304" pitchFamily="18" charset="0"/>
              </a:rPr>
              <a:t> (</a:t>
            </a:r>
            <a:r>
              <a:rPr lang="en-IN" sz="1600" b="0" i="0" dirty="0" err="1">
                <a:solidFill>
                  <a:srgbClr val="1F2937"/>
                </a:solidFill>
                <a:effectLst/>
                <a:latin typeface="Times New Roman" panose="02020603050405020304" pitchFamily="18" charset="0"/>
                <a:cs typeface="Times New Roman" panose="02020603050405020304" pitchFamily="18" charset="0"/>
              </a:rPr>
              <a:t>sklearn.mixture</a:t>
            </a:r>
            <a:r>
              <a:rPr lang="en-IN" sz="1600" b="0" i="0" dirty="0">
                <a:solidFill>
                  <a:srgbClr val="1F2937"/>
                </a:solidFill>
                <a:effectLst/>
                <a:latin typeface="Times New Roman" panose="02020603050405020304" pitchFamily="18" charset="0"/>
                <a:cs typeface="Times New Roman" panose="02020603050405020304" pitchFamily="18" charset="0"/>
              </a:rPr>
              <a:t>)</a:t>
            </a:r>
          </a:p>
          <a:p>
            <a:pPr marL="0" indent="0">
              <a:buNone/>
            </a:pPr>
            <a:endParaRPr lang="en-IN" sz="1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E255F3B-9F60-6E22-89F8-E962A78EF943}"/>
              </a:ext>
            </a:extLst>
          </p:cNvPr>
          <p:cNvSpPr txBox="1"/>
          <p:nvPr/>
        </p:nvSpPr>
        <p:spPr>
          <a:xfrm>
            <a:off x="5236696" y="999676"/>
            <a:ext cx="4875630" cy="3108543"/>
          </a:xfrm>
          <a:prstGeom prst="rect">
            <a:avLst/>
          </a:prstGeom>
          <a:solidFill>
            <a:srgbClr val="99FFCC"/>
          </a:solidFill>
        </p:spPr>
        <p:txBody>
          <a:bodyPr wrap="square" rtlCol="0">
            <a:spAutoFit/>
          </a:bodyPr>
          <a:lstStyle/>
          <a:p>
            <a:pPr algn="l"/>
            <a:r>
              <a:rPr lang="en-IN" b="1" i="0" dirty="0">
                <a:solidFill>
                  <a:srgbClr val="1F2937"/>
                </a:solidFill>
                <a:effectLst/>
                <a:latin typeface="Times New Roman" panose="02020603050405020304" pitchFamily="18" charset="0"/>
                <a:cs typeface="Times New Roman" panose="02020603050405020304" pitchFamily="18" charset="0"/>
              </a:rPr>
              <a:t>Cell Type Annotation Approaches</a:t>
            </a:r>
          </a:p>
          <a:p>
            <a:pPr algn="l"/>
            <a:endParaRPr lang="en-IN" b="1" i="0" dirty="0">
              <a:solidFill>
                <a:srgbClr val="1F2937"/>
              </a:solidFill>
              <a:effectLst/>
              <a:latin typeface="Times New Roman" panose="02020603050405020304" pitchFamily="18" charset="0"/>
              <a:cs typeface="Times New Roman" panose="02020603050405020304" pitchFamily="18" charset="0"/>
            </a:endParaRPr>
          </a:p>
          <a:p>
            <a:r>
              <a:rPr lang="en-IN" sz="1600" kern="100" dirty="0">
                <a:effectLst/>
                <a:latin typeface="Times New Roman" panose="02020603050405020304" pitchFamily="18" charset="0"/>
                <a:ea typeface="Noto Serif CJK SC"/>
                <a:cs typeface="Times New Roman" panose="02020603050405020304" pitchFamily="18" charset="0"/>
              </a:rPr>
              <a:t>Assign biological label to each cluster, represents different cell types, based on known marker genes.</a:t>
            </a:r>
            <a:endParaRPr lang="en-IN" sz="1600" b="1" i="0" dirty="0">
              <a:solidFill>
                <a:srgbClr val="1F2937"/>
              </a:solidFill>
              <a:effectLst/>
              <a:latin typeface="Times New Roman" panose="02020603050405020304" pitchFamily="18" charset="0"/>
              <a:cs typeface="Times New Roman" panose="02020603050405020304" pitchFamily="18" charset="0"/>
            </a:endParaRPr>
          </a:p>
          <a:p>
            <a:pPr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Manual Annotation</a:t>
            </a:r>
          </a:p>
          <a:p>
            <a:pPr marL="742950" lvl="1" indent="-285750"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Using known marker genes</a:t>
            </a:r>
          </a:p>
          <a:p>
            <a:pPr marL="742950" lvl="1" indent="-285750"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Databases: </a:t>
            </a:r>
            <a:r>
              <a:rPr lang="en-IN" sz="1600" b="0" i="0" dirty="0" err="1">
                <a:solidFill>
                  <a:srgbClr val="1F2937"/>
                </a:solidFill>
                <a:effectLst/>
                <a:latin typeface="Times New Roman" panose="02020603050405020304" pitchFamily="18" charset="0"/>
                <a:cs typeface="Times New Roman" panose="02020603050405020304" pitchFamily="18" charset="0"/>
              </a:rPr>
              <a:t>PanglaoDB</a:t>
            </a:r>
            <a:r>
              <a:rPr lang="en-IN" sz="1600" b="0" i="0" dirty="0">
                <a:solidFill>
                  <a:srgbClr val="1F2937"/>
                </a:solidFill>
                <a:effectLst/>
                <a:latin typeface="Times New Roman" panose="02020603050405020304" pitchFamily="18" charset="0"/>
                <a:cs typeface="Times New Roman" panose="02020603050405020304" pitchFamily="18" charset="0"/>
              </a:rPr>
              <a:t>, </a:t>
            </a:r>
            <a:r>
              <a:rPr lang="en-IN" sz="1600" b="0" i="0" dirty="0" err="1">
                <a:solidFill>
                  <a:srgbClr val="1F2937"/>
                </a:solidFill>
                <a:effectLst/>
                <a:latin typeface="Times New Roman" panose="02020603050405020304" pitchFamily="18" charset="0"/>
                <a:cs typeface="Times New Roman" panose="02020603050405020304" pitchFamily="18" charset="0"/>
              </a:rPr>
              <a:t>CellMarker</a:t>
            </a:r>
            <a:endParaRPr lang="en-IN" sz="1600" b="0" i="0" dirty="0">
              <a:solidFill>
                <a:srgbClr val="1F2937"/>
              </a:solidFill>
              <a:effectLst/>
              <a:latin typeface="Times New Roman" panose="02020603050405020304" pitchFamily="18" charset="0"/>
              <a:cs typeface="Times New Roman" panose="02020603050405020304" pitchFamily="18" charset="0"/>
            </a:endParaRPr>
          </a:p>
          <a:p>
            <a:pPr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Automated Annotation Tools</a:t>
            </a:r>
          </a:p>
          <a:p>
            <a:pPr marL="742950" lvl="1" indent="-285750" algn="l">
              <a:buFont typeface="+mj-lt"/>
              <a:buAutoNum type="arabicPeriod"/>
            </a:pPr>
            <a:r>
              <a:rPr lang="en-IN" sz="1600" b="0" i="0" dirty="0" err="1">
                <a:solidFill>
                  <a:srgbClr val="1F2937"/>
                </a:solidFill>
                <a:effectLst/>
                <a:latin typeface="Times New Roman" panose="02020603050405020304" pitchFamily="18" charset="0"/>
                <a:cs typeface="Times New Roman" panose="02020603050405020304" pitchFamily="18" charset="0"/>
              </a:rPr>
              <a:t>SingleR</a:t>
            </a:r>
            <a:r>
              <a:rPr lang="en-IN" sz="1600" b="0" i="0" dirty="0">
                <a:solidFill>
                  <a:srgbClr val="1F2937"/>
                </a:solidFill>
                <a:effectLst/>
                <a:latin typeface="Times New Roman" panose="02020603050405020304" pitchFamily="18" charset="0"/>
                <a:cs typeface="Times New Roman" panose="02020603050405020304" pitchFamily="18" charset="0"/>
              </a:rPr>
              <a:t>: Reference-based annotation</a:t>
            </a:r>
          </a:p>
          <a:p>
            <a:pPr marL="742950" lvl="1" indent="-285750" algn="l">
              <a:buFont typeface="+mj-lt"/>
              <a:buAutoNum type="arabicPeriod"/>
            </a:pPr>
            <a:r>
              <a:rPr lang="en-IN" sz="1600" b="0" i="0" dirty="0" err="1">
                <a:solidFill>
                  <a:srgbClr val="1F2937"/>
                </a:solidFill>
                <a:effectLst/>
                <a:latin typeface="Times New Roman" panose="02020603050405020304" pitchFamily="18" charset="0"/>
                <a:cs typeface="Times New Roman" panose="02020603050405020304" pitchFamily="18" charset="0"/>
              </a:rPr>
              <a:t>ScType</a:t>
            </a:r>
            <a:r>
              <a:rPr lang="en-IN" sz="1600" b="0" i="0" dirty="0">
                <a:solidFill>
                  <a:srgbClr val="1F2937"/>
                </a:solidFill>
                <a:effectLst/>
                <a:latin typeface="Times New Roman" panose="02020603050405020304" pitchFamily="18" charset="0"/>
                <a:cs typeface="Times New Roman" panose="02020603050405020304" pitchFamily="18" charset="0"/>
              </a:rPr>
              <a:t>: Marker-based classification</a:t>
            </a:r>
          </a:p>
          <a:p>
            <a:pPr marL="742950" lvl="1" indent="-285750" algn="l">
              <a:buFont typeface="+mj-lt"/>
              <a:buAutoNum type="arabicPeriod"/>
            </a:pPr>
            <a:r>
              <a:rPr lang="en-IN" sz="1600" b="0" i="0" dirty="0" err="1">
                <a:solidFill>
                  <a:srgbClr val="1F2937"/>
                </a:solidFill>
                <a:effectLst/>
                <a:latin typeface="Times New Roman" panose="02020603050405020304" pitchFamily="18" charset="0"/>
                <a:cs typeface="Times New Roman" panose="02020603050405020304" pitchFamily="18" charset="0"/>
              </a:rPr>
              <a:t>CellAssign</a:t>
            </a:r>
            <a:r>
              <a:rPr lang="en-IN" sz="1600" b="0" i="0" dirty="0">
                <a:solidFill>
                  <a:srgbClr val="1F2937"/>
                </a:solidFill>
                <a:effectLst/>
                <a:latin typeface="Times New Roman" panose="02020603050405020304" pitchFamily="18" charset="0"/>
                <a:cs typeface="Times New Roman" panose="02020603050405020304" pitchFamily="18" charset="0"/>
              </a:rPr>
              <a:t>: Probabilistic model</a:t>
            </a:r>
          </a:p>
          <a:p>
            <a:pPr marL="742950" lvl="1" indent="-285750" algn="l">
              <a:buFont typeface="+mj-lt"/>
              <a:buAutoNum type="arabicPeriod"/>
            </a:pPr>
            <a:r>
              <a:rPr lang="en-IN" sz="1600" b="0" i="0" dirty="0">
                <a:solidFill>
                  <a:srgbClr val="1F2937"/>
                </a:solidFill>
                <a:effectLst/>
                <a:latin typeface="Times New Roman" panose="02020603050405020304" pitchFamily="18" charset="0"/>
                <a:cs typeface="Times New Roman" panose="02020603050405020304" pitchFamily="18" charset="0"/>
              </a:rPr>
              <a:t>Garnett: Marker-based machine learning</a:t>
            </a:r>
          </a:p>
        </p:txBody>
      </p:sp>
    </p:spTree>
    <p:extLst>
      <p:ext uri="{BB962C8B-B14F-4D97-AF65-F5344CB8AC3E}">
        <p14:creationId xmlns:p14="http://schemas.microsoft.com/office/powerpoint/2010/main" val="2006500790"/>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742D44-0BA0-4B58-5CE5-3DE7E6EB0211}"/>
              </a:ext>
            </a:extLst>
          </p:cNvPr>
          <p:cNvSpPr txBox="1"/>
          <p:nvPr/>
        </p:nvSpPr>
        <p:spPr>
          <a:xfrm>
            <a:off x="0" y="177927"/>
            <a:ext cx="12115800" cy="646331"/>
          </a:xfrm>
          <a:prstGeom prst="rect">
            <a:avLst/>
          </a:prstGeom>
          <a:noFill/>
        </p:spPr>
        <p:txBody>
          <a:bodyPr wrap="square" rtlCol="0">
            <a:spAutoFit/>
          </a:bodyPr>
          <a:lstStyle/>
          <a:p>
            <a:pPr algn="ctr"/>
            <a:r>
              <a:rPr lang="en-IN" sz="3600" b="1" u="sng" kern="100" dirty="0">
                <a:latin typeface="Aptos" panose="020B0004020202020204" pitchFamily="34" charset="0"/>
                <a:cs typeface="Times New Roman" panose="02020603050405020304" pitchFamily="18" charset="0"/>
              </a:rPr>
              <a:t>Identifying Cell Types</a:t>
            </a:r>
          </a:p>
        </p:txBody>
      </p:sp>
      <p:sp>
        <p:nvSpPr>
          <p:cNvPr id="3" name="TextBox 2">
            <a:extLst>
              <a:ext uri="{FF2B5EF4-FFF2-40B4-BE49-F238E27FC236}">
                <a16:creationId xmlns:a16="http://schemas.microsoft.com/office/drawing/2014/main" id="{03C64665-11D1-9199-07FF-A3336A3C2D72}"/>
              </a:ext>
            </a:extLst>
          </p:cNvPr>
          <p:cNvSpPr txBox="1"/>
          <p:nvPr/>
        </p:nvSpPr>
        <p:spPr>
          <a:xfrm>
            <a:off x="186612" y="818092"/>
            <a:ext cx="11929187" cy="6253828"/>
          </a:xfrm>
          <a:prstGeom prst="rect">
            <a:avLst/>
          </a:prstGeom>
          <a:noFill/>
        </p:spPr>
        <p:txBody>
          <a:bodyPr wrap="square" rtlCol="0">
            <a:spAutoFit/>
          </a:bodyPr>
          <a:lstStyle/>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Marker Gene Identification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a:t>
            </a:r>
          </a:p>
          <a:p>
            <a:pPr marL="285750" indent="-285750">
              <a:lnSpc>
                <a:spcPct val="107000"/>
              </a:lnSpc>
              <a:spcAft>
                <a:spcPts val="800"/>
              </a:spcAft>
              <a:buFont typeface="Arial" panose="020B0604020202020204" pitchFamily="34" charset="0"/>
              <a:buChar char="•"/>
            </a:pPr>
            <a:r>
              <a:rPr lang="en-IN" sz="1600" kern="100" dirty="0">
                <a:latin typeface="Aptos" panose="020B0004020202020204" pitchFamily="34" charset="0"/>
                <a:ea typeface="Aptos" panose="020B0004020202020204" pitchFamily="34" charset="0"/>
                <a:cs typeface="Times New Roman" panose="02020603050405020304" pitchFamily="18" charset="0"/>
              </a:rPr>
              <a:t>C</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lassifying individual cells based on their unique gene expression profiles. </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Each cell expresses a distinct set of genes depending on its function and state </a:t>
            </a:r>
          </a:p>
          <a:p>
            <a:pPr marL="285750" indent="-285750">
              <a:lnSpc>
                <a:spcPct val="107000"/>
              </a:lnSpc>
              <a:spcAft>
                <a:spcPts val="800"/>
              </a:spcAft>
              <a:buFont typeface="Arial" panose="020B0604020202020204" pitchFamily="34" charset="0"/>
              <a:buChar char="•"/>
            </a:pP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allows profiling of the transcriptomes of individual cells, leading to the discovery of different cell types, within a heterogeneous tissue.</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Each cluster is annotated by identifying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marker genes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—genes that are uniquely or predominantly expressed in certain cell types.</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Annotation and Validation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Once clusters are identified, they are annotated to specific cell types based on known biology or de novo discovery of novel cell types.</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Validation may be done using other techniques like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flow cytometry</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immunohistochemistry</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or by comparing with existing reference datasets.</a:t>
            </a:r>
          </a:p>
          <a:p>
            <a:pPr marL="285750" indent="-285750">
              <a:lnSpc>
                <a:spcPct val="107000"/>
              </a:lnSpc>
              <a:spcAft>
                <a:spcPts val="800"/>
              </a:spcAft>
              <a:buFont typeface="Arial" panose="020B0604020202020204" pitchFamily="34" charset="0"/>
              <a:buChar char="•"/>
            </a:pPr>
            <a:r>
              <a:rPr lang="en-IN" sz="1600" kern="100" dirty="0">
                <a:latin typeface="Aptos" panose="020B0004020202020204" pitchFamily="34" charset="0"/>
                <a:ea typeface="Aptos" panose="020B0004020202020204" pitchFamily="34" charset="0"/>
                <a:cs typeface="Times New Roman" panose="02020603050405020304" pitchFamily="18" charset="0"/>
              </a:rPr>
              <a:t>I</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dentifying cell types is crucial in various biological contexts, such as :</a:t>
            </a:r>
          </a:p>
          <a:p>
            <a:pPr marL="742950" lvl="1" indent="-285750">
              <a:lnSpc>
                <a:spcPct val="107000"/>
              </a:lnSpc>
              <a:spcAft>
                <a:spcPts val="800"/>
              </a:spcAft>
              <a:buFont typeface="Wingdings" panose="05000000000000000000" pitchFamily="2" charset="2"/>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Understanding Cellular Heterogeneity</a:t>
            </a:r>
          </a:p>
          <a:p>
            <a:pPr marL="742950" lvl="1" indent="-285750">
              <a:lnSpc>
                <a:spcPct val="107000"/>
              </a:lnSpc>
              <a:spcAft>
                <a:spcPts val="800"/>
              </a:spcAft>
              <a:buFont typeface="Wingdings" panose="05000000000000000000" pitchFamily="2" charset="2"/>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Disease Mechanisms</a:t>
            </a:r>
          </a:p>
          <a:p>
            <a:pPr marL="742950" lvl="1" indent="-285750">
              <a:lnSpc>
                <a:spcPct val="107000"/>
              </a:lnSpc>
              <a:spcAft>
                <a:spcPts val="800"/>
              </a:spcAft>
              <a:buFont typeface="Wingdings" panose="05000000000000000000" pitchFamily="2" charset="2"/>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Discovery of New Cell Types or States</a:t>
            </a:r>
          </a:p>
          <a:p>
            <a:pPr marL="742950" lvl="1" indent="-285750">
              <a:lnSpc>
                <a:spcPct val="107000"/>
              </a:lnSpc>
              <a:spcAft>
                <a:spcPts val="800"/>
              </a:spcAft>
              <a:buFont typeface="Wingdings" panose="05000000000000000000" pitchFamily="2" charset="2"/>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Developmental Biology</a:t>
            </a:r>
          </a:p>
          <a:p>
            <a:pPr marL="742950" lvl="1" indent="-285750">
              <a:lnSpc>
                <a:spcPct val="107000"/>
              </a:lnSpc>
              <a:spcAft>
                <a:spcPts val="800"/>
              </a:spcAft>
              <a:buFont typeface="Wingdings" panose="05000000000000000000" pitchFamily="2" charset="2"/>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Therapeutic Targeting</a:t>
            </a:r>
          </a:p>
          <a:p>
            <a:endParaRPr lang="en-IN" sz="1600" dirty="0"/>
          </a:p>
        </p:txBody>
      </p:sp>
      <p:pic>
        <p:nvPicPr>
          <p:cNvPr id="4" name="Picture 4" descr="Installation Instructions for Seurat • Seurat">
            <a:extLst>
              <a:ext uri="{FF2B5EF4-FFF2-40B4-BE49-F238E27FC236}">
                <a16:creationId xmlns:a16="http://schemas.microsoft.com/office/drawing/2014/main" id="{1D0216B5-DD66-78E9-753E-DA05293757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0" y="-114753"/>
            <a:ext cx="2657983" cy="2656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7324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405931-4F4B-EDFF-19A7-B96DBAFB7852}"/>
              </a:ext>
            </a:extLst>
          </p:cNvPr>
          <p:cNvSpPr txBox="1"/>
          <p:nvPr/>
        </p:nvSpPr>
        <p:spPr>
          <a:xfrm>
            <a:off x="0" y="360807"/>
            <a:ext cx="12115800" cy="707886"/>
          </a:xfrm>
          <a:prstGeom prst="rect">
            <a:avLst/>
          </a:prstGeom>
          <a:solidFill>
            <a:schemeClr val="bg1"/>
          </a:solid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en-IN" sz="4000" u="sng" kern="1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lgerian" panose="04020705040A02060702" pitchFamily="82" charset="0"/>
                <a:cs typeface="Times New Roman" panose="02020603050405020304" pitchFamily="18" charset="0"/>
              </a:rPr>
              <a:t>Differential Expression Analysis</a:t>
            </a:r>
          </a:p>
        </p:txBody>
      </p:sp>
      <p:sp>
        <p:nvSpPr>
          <p:cNvPr id="3" name="TextBox 2">
            <a:extLst>
              <a:ext uri="{FF2B5EF4-FFF2-40B4-BE49-F238E27FC236}">
                <a16:creationId xmlns:a16="http://schemas.microsoft.com/office/drawing/2014/main" id="{27762687-85D5-0FCF-59D4-861A095490CD}"/>
              </a:ext>
            </a:extLst>
          </p:cNvPr>
          <p:cNvSpPr txBox="1"/>
          <p:nvPr/>
        </p:nvSpPr>
        <p:spPr>
          <a:xfrm>
            <a:off x="76200" y="1537490"/>
            <a:ext cx="12039600" cy="1445011"/>
          </a:xfrm>
          <a:prstGeom prst="rect">
            <a:avLst/>
          </a:prstGeom>
          <a:noFill/>
        </p:spPr>
        <p:txBody>
          <a:bodyPr wrap="square" rtlCol="0">
            <a:spAutoFit/>
          </a:bodyPr>
          <a:lstStyle/>
          <a:p>
            <a:pPr marL="285750" indent="-285750">
              <a:lnSpc>
                <a:spcPct val="107000"/>
              </a:lnSpc>
              <a:spcAft>
                <a:spcPts val="800"/>
              </a:spcAft>
              <a:buFont typeface="Arial" panose="020B0604020202020204" pitchFamily="34" charset="0"/>
              <a:buChar char="•"/>
            </a:pPr>
            <a:r>
              <a:rPr lang="en-IN" sz="1600" kern="100" dirty="0">
                <a:latin typeface="Aptos" panose="020B0004020202020204" pitchFamily="34" charset="0"/>
                <a:ea typeface="Aptos" panose="020B0004020202020204" pitchFamily="34" charset="0"/>
                <a:cs typeface="Times New Roman" panose="02020603050405020304" pitchFamily="18" charset="0"/>
              </a:rPr>
              <a:t>I</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dentifying genes that show statistically significant differences in expression levels between different groups of cells</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Identifying DEGs helps to understand how cellular functions differ across cell types, developmental stages, or disease states. </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It highlights genes that may play key roles in driving certain biological processes or phenotypic differences.</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Tools for Finding DEGs</a:t>
            </a:r>
            <a:r>
              <a:rPr lang="en-IN" sz="1600" b="1" kern="100" dirty="0">
                <a:latin typeface="Aptos" panose="020B0004020202020204" pitchFamily="34" charset="0"/>
                <a:ea typeface="Aptos" panose="020B0004020202020204" pitchFamily="34" charset="0"/>
                <a:cs typeface="Times New Roman" panose="02020603050405020304" pitchFamily="18" charset="0"/>
              </a:rPr>
              <a: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100" name="Picture 4" descr="Installation Instructions for Seurat • Seurat">
            <a:extLst>
              <a:ext uri="{FF2B5EF4-FFF2-40B4-BE49-F238E27FC236}">
                <a16:creationId xmlns:a16="http://schemas.microsoft.com/office/drawing/2014/main" id="{676B7A6B-E0DF-5B21-67D1-0E925E4D72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7009" y="3841055"/>
            <a:ext cx="2657983" cy="2656138"/>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F7A4AF6F-1592-3717-25F8-DAB0561BDF1C}"/>
              </a:ext>
            </a:extLst>
          </p:cNvPr>
          <p:cNvGrpSpPr/>
          <p:nvPr/>
        </p:nvGrpSpPr>
        <p:grpSpPr>
          <a:xfrm>
            <a:off x="104456" y="3136613"/>
            <a:ext cx="60455547" cy="584775"/>
            <a:chOff x="109728" y="3097482"/>
            <a:chExt cx="60455547" cy="584775"/>
          </a:xfrm>
        </p:grpSpPr>
        <p:sp>
          <p:nvSpPr>
            <p:cNvPr id="4" name="TextBox 3">
              <a:extLst>
                <a:ext uri="{FF2B5EF4-FFF2-40B4-BE49-F238E27FC236}">
                  <a16:creationId xmlns:a16="http://schemas.microsoft.com/office/drawing/2014/main" id="{66D4E048-306F-9B6B-50C9-590822206D0B}"/>
                </a:ext>
              </a:extLst>
            </p:cNvPr>
            <p:cNvSpPr txBox="1"/>
            <p:nvPr/>
          </p:nvSpPr>
          <p:spPr>
            <a:xfrm>
              <a:off x="109728" y="3097482"/>
              <a:ext cx="11914632" cy="584775"/>
            </a:xfrm>
            <a:prstGeom prst="rect">
              <a:avLst/>
            </a:prstGeom>
            <a:noFill/>
          </p:spPr>
          <p:txBody>
            <a:bodyPr wrap="square" rtlCol="0">
              <a:spAutoFit/>
            </a:bodyPr>
            <a:lstStyle/>
            <a:p>
              <a:r>
                <a:rPr lang="en-IN" sz="1600" b="1" kern="100" dirty="0">
                  <a:effectLst/>
                  <a:latin typeface="Aptos" panose="020B0004020202020204" pitchFamily="34" charset="0"/>
                  <a:ea typeface="Aptos" panose="020B0004020202020204" pitchFamily="34" charset="0"/>
                  <a:cs typeface="Times New Roman" panose="02020603050405020304" pitchFamily="18" charset="0"/>
                </a:rPr>
                <a:t>Seurat (R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Integrates various </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clustering, visualization, and differential expression analysis functions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It uses methods like the Wilcoxon rank-sum test for DEA.</a:t>
              </a:r>
              <a:endParaRPr lang="en-IN" sz="1600" dirty="0"/>
            </a:p>
          </p:txBody>
        </p:sp>
        <p:sp>
          <p:nvSpPr>
            <p:cNvPr id="5" name="TextBox 4">
              <a:extLst>
                <a:ext uri="{FF2B5EF4-FFF2-40B4-BE49-F238E27FC236}">
                  <a16:creationId xmlns:a16="http://schemas.microsoft.com/office/drawing/2014/main" id="{BE1CFDFC-2A73-656E-F360-61E69762454D}"/>
                </a:ext>
              </a:extLst>
            </p:cNvPr>
            <p:cNvSpPr txBox="1"/>
            <p:nvPr/>
          </p:nvSpPr>
          <p:spPr>
            <a:xfrm>
              <a:off x="12319205" y="3097482"/>
              <a:ext cx="11914632" cy="584775"/>
            </a:xfrm>
            <a:prstGeom prst="rect">
              <a:avLst/>
            </a:prstGeom>
            <a:noFill/>
          </p:spPr>
          <p:txBody>
            <a:bodyPr wrap="square" rtlCol="0">
              <a:spAutoFit/>
            </a:bodyPr>
            <a:lstStyle/>
            <a:p>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Scanpy</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(Python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 scalable tool for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single-cell data with functionalities similar to Seurat but for Python users.</a:t>
              </a:r>
            </a:p>
            <a:p>
              <a:endParaRPr lang="en-IN" sz="1600" dirty="0"/>
            </a:p>
          </p:txBody>
        </p:sp>
        <p:sp>
          <p:nvSpPr>
            <p:cNvPr id="6" name="TextBox 5">
              <a:extLst>
                <a:ext uri="{FF2B5EF4-FFF2-40B4-BE49-F238E27FC236}">
                  <a16:creationId xmlns:a16="http://schemas.microsoft.com/office/drawing/2014/main" id="{10C32F3E-995D-819D-659D-07A3BAD643A2}"/>
                </a:ext>
              </a:extLst>
            </p:cNvPr>
            <p:cNvSpPr txBox="1"/>
            <p:nvPr/>
          </p:nvSpPr>
          <p:spPr>
            <a:xfrm>
              <a:off x="24506152" y="3097482"/>
              <a:ext cx="11914632" cy="584775"/>
            </a:xfrm>
            <a:prstGeom prst="rect">
              <a:avLst/>
            </a:prstGeom>
            <a:noFill/>
          </p:spPr>
          <p:txBody>
            <a:bodyPr wrap="square" rtlCol="0">
              <a:spAutoFit/>
            </a:bodyPr>
            <a:lstStyle/>
            <a:p>
              <a:r>
                <a:rPr lang="en-IN" sz="1600" b="1" kern="100" dirty="0">
                  <a:effectLst/>
                  <a:latin typeface="Aptos" panose="020B0004020202020204" pitchFamily="34" charset="0"/>
                  <a:ea typeface="Aptos" panose="020B0004020202020204" pitchFamily="34" charset="0"/>
                  <a:cs typeface="Times New Roman" panose="02020603050405020304" pitchFamily="18" charset="0"/>
                </a:rPr>
                <a:t>DESeq2 (R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 tool designed primarily for bulk RNA-</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but can be adapted for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to find DEGs. Uses negative binomial distribution models.</a:t>
              </a:r>
              <a:endParaRPr lang="en-IN" sz="1600" dirty="0"/>
            </a:p>
          </p:txBody>
        </p:sp>
        <p:sp>
          <p:nvSpPr>
            <p:cNvPr id="7" name="TextBox 6">
              <a:extLst>
                <a:ext uri="{FF2B5EF4-FFF2-40B4-BE49-F238E27FC236}">
                  <a16:creationId xmlns:a16="http://schemas.microsoft.com/office/drawing/2014/main" id="{F14AB12A-7E61-F78B-6C37-0F8E5C21DE21}"/>
                </a:ext>
              </a:extLst>
            </p:cNvPr>
            <p:cNvSpPr txBox="1"/>
            <p:nvPr/>
          </p:nvSpPr>
          <p:spPr>
            <a:xfrm>
              <a:off x="36601721" y="3220592"/>
              <a:ext cx="11914632" cy="338554"/>
            </a:xfrm>
            <a:prstGeom prst="rect">
              <a:avLst/>
            </a:prstGeom>
            <a:noFill/>
          </p:spPr>
          <p:txBody>
            <a:bodyPr wrap="square" rtlCol="0">
              <a:spAutoFit/>
            </a:bodyPr>
            <a:lstStyle/>
            <a:p>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edgeR</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(R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Focuses on identifying DEGs using empirical Bayes methods and precise dispersion estimates.</a:t>
              </a:r>
            </a:p>
          </p:txBody>
        </p:sp>
        <p:sp>
          <p:nvSpPr>
            <p:cNvPr id="8" name="TextBox 7">
              <a:extLst>
                <a:ext uri="{FF2B5EF4-FFF2-40B4-BE49-F238E27FC236}">
                  <a16:creationId xmlns:a16="http://schemas.microsoft.com/office/drawing/2014/main" id="{78CE257B-520B-C938-CEBD-720FE41E748C}"/>
                </a:ext>
              </a:extLst>
            </p:cNvPr>
            <p:cNvSpPr txBox="1"/>
            <p:nvPr/>
          </p:nvSpPr>
          <p:spPr>
            <a:xfrm>
              <a:off x="48650643" y="3097482"/>
              <a:ext cx="11914632" cy="584775"/>
            </a:xfrm>
            <a:prstGeom prst="rect">
              <a:avLst/>
            </a:prstGeom>
            <a:noFill/>
          </p:spPr>
          <p:txBody>
            <a:bodyPr wrap="square" rtlCol="0">
              <a:spAutoFit/>
            </a:bodyPr>
            <a:lstStyle/>
            <a:p>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CellRanger</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(10X Genomics)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 suite of software tools from 10X Genomics designed for processing and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data. Includes functions for mapping reads to the genome, counting transcripts, and identifying DEGs between clusters of cells.</a:t>
              </a:r>
            </a:p>
          </p:txBody>
        </p:sp>
      </p:grpSp>
      <p:pic>
        <p:nvPicPr>
          <p:cNvPr id="10" name="Picture 2" descr="5 scRNA-seq Analysis with Bioconductor | Analysis of single cell RNA-seq  data">
            <a:extLst>
              <a:ext uri="{FF2B5EF4-FFF2-40B4-BE49-F238E27FC236}">
                <a16:creationId xmlns:a16="http://schemas.microsoft.com/office/drawing/2014/main" id="{4EF0BE6E-7FA1-6A53-CC4E-B9143AD016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3933" y="182787"/>
            <a:ext cx="5314950" cy="23336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FFD4D31-19D6-CD95-9198-AAFCF6908871}"/>
              </a:ext>
            </a:extLst>
          </p:cNvPr>
          <p:cNvSpPr txBox="1"/>
          <p:nvPr/>
        </p:nvSpPr>
        <p:spPr>
          <a:xfrm>
            <a:off x="7511144" y="6404123"/>
            <a:ext cx="3489648" cy="246221"/>
          </a:xfrm>
          <a:prstGeom prst="rect">
            <a:avLst/>
          </a:prstGeom>
          <a:noFill/>
        </p:spPr>
        <p:txBody>
          <a:bodyPr wrap="square" rtlCol="0">
            <a:spAutoFit/>
          </a:bodyPr>
          <a:lstStyle/>
          <a:p>
            <a:r>
              <a:rPr lang="en-US" sz="1000" dirty="0"/>
              <a:t>Source: https://satijalab.org/seurat/articles/install.html</a:t>
            </a:r>
            <a:endParaRPr lang="en-IN" sz="1000" dirty="0"/>
          </a:p>
        </p:txBody>
      </p:sp>
    </p:spTree>
    <p:extLst>
      <p:ext uri="{BB962C8B-B14F-4D97-AF65-F5344CB8AC3E}">
        <p14:creationId xmlns:p14="http://schemas.microsoft.com/office/powerpoint/2010/main" val="28766431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405931-4F4B-EDFF-19A7-B96DBAFB7852}"/>
              </a:ext>
            </a:extLst>
          </p:cNvPr>
          <p:cNvSpPr txBox="1"/>
          <p:nvPr/>
        </p:nvSpPr>
        <p:spPr>
          <a:xfrm>
            <a:off x="0" y="360807"/>
            <a:ext cx="12115800" cy="707886"/>
          </a:xfrm>
          <a:prstGeom prst="rect">
            <a:avLst/>
          </a:prstGeom>
          <a:solidFill>
            <a:schemeClr val="bg1"/>
          </a:solid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en-IN" sz="4000" u="sng" kern="1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lgerian" panose="04020705040A02060702" pitchFamily="82" charset="0"/>
                <a:cs typeface="Times New Roman" panose="02020603050405020304" pitchFamily="18" charset="0"/>
              </a:rPr>
              <a:t>Differential Expression Analysis</a:t>
            </a:r>
          </a:p>
        </p:txBody>
      </p:sp>
      <p:sp>
        <p:nvSpPr>
          <p:cNvPr id="3" name="TextBox 2">
            <a:extLst>
              <a:ext uri="{FF2B5EF4-FFF2-40B4-BE49-F238E27FC236}">
                <a16:creationId xmlns:a16="http://schemas.microsoft.com/office/drawing/2014/main" id="{27762687-85D5-0FCF-59D4-861A095490CD}"/>
              </a:ext>
            </a:extLst>
          </p:cNvPr>
          <p:cNvSpPr txBox="1"/>
          <p:nvPr/>
        </p:nvSpPr>
        <p:spPr>
          <a:xfrm>
            <a:off x="76200" y="1537490"/>
            <a:ext cx="12039600" cy="1445011"/>
          </a:xfrm>
          <a:prstGeom prst="rect">
            <a:avLst/>
          </a:prstGeom>
          <a:noFill/>
        </p:spPr>
        <p:txBody>
          <a:bodyPr wrap="square" rtlCol="0">
            <a:spAutoFit/>
          </a:bodyPr>
          <a:lstStyle/>
          <a:p>
            <a:pPr marL="285750" indent="-285750">
              <a:lnSpc>
                <a:spcPct val="107000"/>
              </a:lnSpc>
              <a:spcAft>
                <a:spcPts val="800"/>
              </a:spcAft>
              <a:buFont typeface="Arial" panose="020B0604020202020204" pitchFamily="34" charset="0"/>
              <a:buChar char="•"/>
            </a:pPr>
            <a:r>
              <a:rPr lang="en-IN" sz="1600" kern="100" dirty="0">
                <a:latin typeface="Aptos" panose="020B0004020202020204" pitchFamily="34" charset="0"/>
                <a:ea typeface="Aptos" panose="020B0004020202020204" pitchFamily="34" charset="0"/>
                <a:cs typeface="Times New Roman" panose="02020603050405020304" pitchFamily="18" charset="0"/>
              </a:rPr>
              <a:t>I</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dentifying genes that show statistically significant differences in expression levels between different groups of cells</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Identifying DEGs helps to understand how cellular functions differ across cell types, developmental stages, or disease states. </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It highlights genes that may play key roles in driving certain biological processes or phenotypic differences.</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Tools for Finding DEGs</a:t>
            </a:r>
            <a:r>
              <a:rPr lang="en-IN" sz="1600" b="1" kern="100" dirty="0">
                <a:latin typeface="Aptos" panose="020B0004020202020204" pitchFamily="34" charset="0"/>
                <a:ea typeface="Aptos" panose="020B0004020202020204" pitchFamily="34" charset="0"/>
                <a:cs typeface="Times New Roman" panose="02020603050405020304" pitchFamily="18" charset="0"/>
              </a:rPr>
              <a: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100" name="Picture 4" descr="Installation Instructions for Seurat • Seurat">
            <a:extLst>
              <a:ext uri="{FF2B5EF4-FFF2-40B4-BE49-F238E27FC236}">
                <a16:creationId xmlns:a16="http://schemas.microsoft.com/office/drawing/2014/main" id="{676B7A6B-E0DF-5B21-67D1-0E925E4D72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6811" y="90147"/>
            <a:ext cx="2657983" cy="2656138"/>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F7A4AF6F-1592-3717-25F8-DAB0561BDF1C}"/>
              </a:ext>
            </a:extLst>
          </p:cNvPr>
          <p:cNvGrpSpPr/>
          <p:nvPr/>
        </p:nvGrpSpPr>
        <p:grpSpPr>
          <a:xfrm>
            <a:off x="-12034661" y="3136613"/>
            <a:ext cx="60455547" cy="584775"/>
            <a:chOff x="109728" y="3097482"/>
            <a:chExt cx="60455547" cy="584775"/>
          </a:xfrm>
        </p:grpSpPr>
        <p:sp>
          <p:nvSpPr>
            <p:cNvPr id="4" name="TextBox 3">
              <a:extLst>
                <a:ext uri="{FF2B5EF4-FFF2-40B4-BE49-F238E27FC236}">
                  <a16:creationId xmlns:a16="http://schemas.microsoft.com/office/drawing/2014/main" id="{66D4E048-306F-9B6B-50C9-590822206D0B}"/>
                </a:ext>
              </a:extLst>
            </p:cNvPr>
            <p:cNvSpPr txBox="1"/>
            <p:nvPr/>
          </p:nvSpPr>
          <p:spPr>
            <a:xfrm>
              <a:off x="109728" y="3097482"/>
              <a:ext cx="11914632" cy="584775"/>
            </a:xfrm>
            <a:prstGeom prst="rect">
              <a:avLst/>
            </a:prstGeom>
            <a:noFill/>
          </p:spPr>
          <p:txBody>
            <a:bodyPr wrap="square" rtlCol="0">
              <a:spAutoFit/>
            </a:bodyPr>
            <a:lstStyle/>
            <a:p>
              <a:r>
                <a:rPr lang="en-IN" sz="1600" b="1" kern="100" dirty="0">
                  <a:effectLst/>
                  <a:latin typeface="Aptos" panose="020B0004020202020204" pitchFamily="34" charset="0"/>
                  <a:ea typeface="Aptos" panose="020B0004020202020204" pitchFamily="34" charset="0"/>
                  <a:cs typeface="Times New Roman" panose="02020603050405020304" pitchFamily="18" charset="0"/>
                </a:rPr>
                <a:t>Seurat (R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Integrates various </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clustering, visualization, and differential expression analysis functions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It uses methods like the Wilcoxon rank-sum test for DEA.</a:t>
              </a:r>
              <a:endParaRPr lang="en-IN" sz="1600" dirty="0"/>
            </a:p>
          </p:txBody>
        </p:sp>
        <p:sp>
          <p:nvSpPr>
            <p:cNvPr id="5" name="TextBox 4">
              <a:extLst>
                <a:ext uri="{FF2B5EF4-FFF2-40B4-BE49-F238E27FC236}">
                  <a16:creationId xmlns:a16="http://schemas.microsoft.com/office/drawing/2014/main" id="{BE1CFDFC-2A73-656E-F360-61E69762454D}"/>
                </a:ext>
              </a:extLst>
            </p:cNvPr>
            <p:cNvSpPr txBox="1"/>
            <p:nvPr/>
          </p:nvSpPr>
          <p:spPr>
            <a:xfrm>
              <a:off x="12319205" y="3097482"/>
              <a:ext cx="11914632" cy="584775"/>
            </a:xfrm>
            <a:prstGeom prst="rect">
              <a:avLst/>
            </a:prstGeom>
            <a:noFill/>
          </p:spPr>
          <p:txBody>
            <a:bodyPr wrap="square" rtlCol="0">
              <a:spAutoFit/>
            </a:bodyPr>
            <a:lstStyle/>
            <a:p>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Scanpy</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(Python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 scalable tool for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single-cell data with functionalities similar to Seurat but for Python users.</a:t>
              </a:r>
            </a:p>
            <a:p>
              <a:endParaRPr lang="en-IN" sz="1600" dirty="0"/>
            </a:p>
          </p:txBody>
        </p:sp>
        <p:sp>
          <p:nvSpPr>
            <p:cNvPr id="6" name="TextBox 5">
              <a:extLst>
                <a:ext uri="{FF2B5EF4-FFF2-40B4-BE49-F238E27FC236}">
                  <a16:creationId xmlns:a16="http://schemas.microsoft.com/office/drawing/2014/main" id="{10C32F3E-995D-819D-659D-07A3BAD643A2}"/>
                </a:ext>
              </a:extLst>
            </p:cNvPr>
            <p:cNvSpPr txBox="1"/>
            <p:nvPr/>
          </p:nvSpPr>
          <p:spPr>
            <a:xfrm>
              <a:off x="24506152" y="3097482"/>
              <a:ext cx="11914632" cy="584775"/>
            </a:xfrm>
            <a:prstGeom prst="rect">
              <a:avLst/>
            </a:prstGeom>
            <a:noFill/>
          </p:spPr>
          <p:txBody>
            <a:bodyPr wrap="square" rtlCol="0">
              <a:spAutoFit/>
            </a:bodyPr>
            <a:lstStyle/>
            <a:p>
              <a:r>
                <a:rPr lang="en-IN" sz="1600" b="1" kern="100" dirty="0">
                  <a:effectLst/>
                  <a:latin typeface="Aptos" panose="020B0004020202020204" pitchFamily="34" charset="0"/>
                  <a:ea typeface="Aptos" panose="020B0004020202020204" pitchFamily="34" charset="0"/>
                  <a:cs typeface="Times New Roman" panose="02020603050405020304" pitchFamily="18" charset="0"/>
                </a:rPr>
                <a:t>DESeq2 (R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 tool designed primarily for bulk RNA-</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but can be adapted for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to find DEGs. Uses negative binomial distribution models.</a:t>
              </a:r>
              <a:endParaRPr lang="en-IN" sz="1600" dirty="0"/>
            </a:p>
          </p:txBody>
        </p:sp>
        <p:sp>
          <p:nvSpPr>
            <p:cNvPr id="7" name="TextBox 6">
              <a:extLst>
                <a:ext uri="{FF2B5EF4-FFF2-40B4-BE49-F238E27FC236}">
                  <a16:creationId xmlns:a16="http://schemas.microsoft.com/office/drawing/2014/main" id="{F14AB12A-7E61-F78B-6C37-0F8E5C21DE21}"/>
                </a:ext>
              </a:extLst>
            </p:cNvPr>
            <p:cNvSpPr txBox="1"/>
            <p:nvPr/>
          </p:nvSpPr>
          <p:spPr>
            <a:xfrm>
              <a:off x="36601721" y="3220592"/>
              <a:ext cx="11914632" cy="338554"/>
            </a:xfrm>
            <a:prstGeom prst="rect">
              <a:avLst/>
            </a:prstGeom>
            <a:noFill/>
          </p:spPr>
          <p:txBody>
            <a:bodyPr wrap="square" rtlCol="0">
              <a:spAutoFit/>
            </a:bodyPr>
            <a:lstStyle/>
            <a:p>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edgeR</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(R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Focuses on identifying DEGs using empirical Bayes methods and precise dispersion estimates.</a:t>
              </a:r>
            </a:p>
          </p:txBody>
        </p:sp>
        <p:sp>
          <p:nvSpPr>
            <p:cNvPr id="8" name="TextBox 7">
              <a:extLst>
                <a:ext uri="{FF2B5EF4-FFF2-40B4-BE49-F238E27FC236}">
                  <a16:creationId xmlns:a16="http://schemas.microsoft.com/office/drawing/2014/main" id="{78CE257B-520B-C938-CEBD-720FE41E748C}"/>
                </a:ext>
              </a:extLst>
            </p:cNvPr>
            <p:cNvSpPr txBox="1"/>
            <p:nvPr/>
          </p:nvSpPr>
          <p:spPr>
            <a:xfrm>
              <a:off x="48650643" y="3097482"/>
              <a:ext cx="11914632" cy="584775"/>
            </a:xfrm>
            <a:prstGeom prst="rect">
              <a:avLst/>
            </a:prstGeom>
            <a:noFill/>
          </p:spPr>
          <p:txBody>
            <a:bodyPr wrap="square" rtlCol="0">
              <a:spAutoFit/>
            </a:bodyPr>
            <a:lstStyle/>
            <a:p>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CellRanger</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(10X Genomics)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 suite of software tools from 10X Genomics designed for processing and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data. Includes functions for mapping reads to the genome, counting transcripts, and identifying DEGs between clusters of cells.</a:t>
              </a:r>
            </a:p>
          </p:txBody>
        </p:sp>
      </p:grpSp>
      <p:pic>
        <p:nvPicPr>
          <p:cNvPr id="10" name="Picture 2" descr="5 scRNA-seq Analysis with Bioconductor | Analysis of single cell RNA-seq  data">
            <a:extLst>
              <a:ext uri="{FF2B5EF4-FFF2-40B4-BE49-F238E27FC236}">
                <a16:creationId xmlns:a16="http://schemas.microsoft.com/office/drawing/2014/main" id="{2D8218BE-5EDB-35E6-0F01-E8665EBD2E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8525" y="4002311"/>
            <a:ext cx="5314950" cy="233362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DESeq2 consultation-Free DESeq2 RNA-seq Analysis Consultation">
            <a:extLst>
              <a:ext uri="{FF2B5EF4-FFF2-40B4-BE49-F238E27FC236}">
                <a16:creationId xmlns:a16="http://schemas.microsoft.com/office/drawing/2014/main" id="{85976A97-B4A2-56A9-B71D-F461F4AD93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90579" y="89322"/>
            <a:ext cx="2538412" cy="253841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5A6013A-4364-9165-3091-FC895047C938}"/>
              </a:ext>
            </a:extLst>
          </p:cNvPr>
          <p:cNvSpPr txBox="1"/>
          <p:nvPr/>
        </p:nvSpPr>
        <p:spPr>
          <a:xfrm>
            <a:off x="7511144" y="6525422"/>
            <a:ext cx="3489648" cy="246221"/>
          </a:xfrm>
          <a:prstGeom prst="rect">
            <a:avLst/>
          </a:prstGeom>
          <a:noFill/>
        </p:spPr>
        <p:txBody>
          <a:bodyPr wrap="square" rtlCol="0">
            <a:spAutoFit/>
          </a:bodyPr>
          <a:lstStyle/>
          <a:p>
            <a:r>
              <a:rPr lang="en-US" sz="1000" dirty="0"/>
              <a:t>Source: https://google.com</a:t>
            </a:r>
            <a:endParaRPr lang="en-IN" sz="1000" dirty="0"/>
          </a:p>
        </p:txBody>
      </p:sp>
    </p:spTree>
    <p:extLst>
      <p:ext uri="{BB962C8B-B14F-4D97-AF65-F5344CB8AC3E}">
        <p14:creationId xmlns:p14="http://schemas.microsoft.com/office/powerpoint/2010/main" val="21142040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405931-4F4B-EDFF-19A7-B96DBAFB7852}"/>
              </a:ext>
            </a:extLst>
          </p:cNvPr>
          <p:cNvSpPr txBox="1"/>
          <p:nvPr/>
        </p:nvSpPr>
        <p:spPr>
          <a:xfrm>
            <a:off x="0" y="360807"/>
            <a:ext cx="12115800" cy="707886"/>
          </a:xfrm>
          <a:prstGeom prst="rect">
            <a:avLst/>
          </a:prstGeom>
          <a:solidFill>
            <a:schemeClr val="bg1"/>
          </a:solid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en-IN" sz="4000" u="sng" kern="1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lgerian" panose="04020705040A02060702" pitchFamily="82" charset="0"/>
                <a:cs typeface="Times New Roman" panose="02020603050405020304" pitchFamily="18" charset="0"/>
              </a:rPr>
              <a:t>Differential Expression Analysis</a:t>
            </a:r>
          </a:p>
        </p:txBody>
      </p:sp>
      <p:sp>
        <p:nvSpPr>
          <p:cNvPr id="3" name="TextBox 2">
            <a:extLst>
              <a:ext uri="{FF2B5EF4-FFF2-40B4-BE49-F238E27FC236}">
                <a16:creationId xmlns:a16="http://schemas.microsoft.com/office/drawing/2014/main" id="{27762687-85D5-0FCF-59D4-861A095490CD}"/>
              </a:ext>
            </a:extLst>
          </p:cNvPr>
          <p:cNvSpPr txBox="1"/>
          <p:nvPr/>
        </p:nvSpPr>
        <p:spPr>
          <a:xfrm>
            <a:off x="76200" y="1537490"/>
            <a:ext cx="12039600" cy="1445011"/>
          </a:xfrm>
          <a:prstGeom prst="rect">
            <a:avLst/>
          </a:prstGeom>
          <a:noFill/>
        </p:spPr>
        <p:txBody>
          <a:bodyPr wrap="square" rtlCol="0">
            <a:spAutoFit/>
          </a:bodyPr>
          <a:lstStyle/>
          <a:p>
            <a:pPr marL="285750" indent="-285750">
              <a:lnSpc>
                <a:spcPct val="107000"/>
              </a:lnSpc>
              <a:spcAft>
                <a:spcPts val="800"/>
              </a:spcAft>
              <a:buFont typeface="Arial" panose="020B0604020202020204" pitchFamily="34" charset="0"/>
              <a:buChar char="•"/>
            </a:pPr>
            <a:r>
              <a:rPr lang="en-IN" sz="1600" kern="100" dirty="0">
                <a:latin typeface="Aptos" panose="020B0004020202020204" pitchFamily="34" charset="0"/>
                <a:ea typeface="Aptos" panose="020B0004020202020204" pitchFamily="34" charset="0"/>
                <a:cs typeface="Times New Roman" panose="02020603050405020304" pitchFamily="18" charset="0"/>
              </a:rPr>
              <a:t>I</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dentifying genes that show statistically significant differences in expression levels between different groups of cells</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Identifying DEGs helps to understand how cellular functions differ across cell types, developmental stages, or disease states. </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It highlights genes that may play key roles in driving certain biological processes or phenotypic differences.</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Tools for Finding DEGs</a:t>
            </a:r>
            <a:r>
              <a:rPr lang="en-IN" sz="1600" b="1" kern="100" dirty="0">
                <a:latin typeface="Aptos" panose="020B0004020202020204" pitchFamily="34" charset="0"/>
                <a:ea typeface="Aptos" panose="020B0004020202020204" pitchFamily="34" charset="0"/>
                <a:cs typeface="Times New Roman" panose="02020603050405020304" pitchFamily="18" charset="0"/>
              </a:rPr>
              <a: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100" name="Picture 4" descr="Installation Instructions for Seurat • Seurat">
            <a:extLst>
              <a:ext uri="{FF2B5EF4-FFF2-40B4-BE49-F238E27FC236}">
                <a16:creationId xmlns:a16="http://schemas.microsoft.com/office/drawing/2014/main" id="{676B7A6B-E0DF-5B21-67D1-0E925E4D72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6811" y="90147"/>
            <a:ext cx="2657983" cy="2656138"/>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F7A4AF6F-1592-3717-25F8-DAB0561BDF1C}"/>
              </a:ext>
            </a:extLst>
          </p:cNvPr>
          <p:cNvGrpSpPr/>
          <p:nvPr/>
        </p:nvGrpSpPr>
        <p:grpSpPr>
          <a:xfrm>
            <a:off x="-24015156" y="3136613"/>
            <a:ext cx="60455547" cy="584775"/>
            <a:chOff x="109728" y="3097482"/>
            <a:chExt cx="60455547" cy="584775"/>
          </a:xfrm>
        </p:grpSpPr>
        <p:sp>
          <p:nvSpPr>
            <p:cNvPr id="4" name="TextBox 3">
              <a:extLst>
                <a:ext uri="{FF2B5EF4-FFF2-40B4-BE49-F238E27FC236}">
                  <a16:creationId xmlns:a16="http://schemas.microsoft.com/office/drawing/2014/main" id="{66D4E048-306F-9B6B-50C9-590822206D0B}"/>
                </a:ext>
              </a:extLst>
            </p:cNvPr>
            <p:cNvSpPr txBox="1"/>
            <p:nvPr/>
          </p:nvSpPr>
          <p:spPr>
            <a:xfrm>
              <a:off x="109728" y="3097482"/>
              <a:ext cx="11914632" cy="584775"/>
            </a:xfrm>
            <a:prstGeom prst="rect">
              <a:avLst/>
            </a:prstGeom>
            <a:noFill/>
          </p:spPr>
          <p:txBody>
            <a:bodyPr wrap="square" rtlCol="0">
              <a:spAutoFit/>
            </a:bodyPr>
            <a:lstStyle/>
            <a:p>
              <a:r>
                <a:rPr lang="en-IN" sz="1600" b="1" kern="100" dirty="0">
                  <a:effectLst/>
                  <a:latin typeface="Aptos" panose="020B0004020202020204" pitchFamily="34" charset="0"/>
                  <a:ea typeface="Aptos" panose="020B0004020202020204" pitchFamily="34" charset="0"/>
                  <a:cs typeface="Times New Roman" panose="02020603050405020304" pitchFamily="18" charset="0"/>
                </a:rPr>
                <a:t>Seurat (R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Integrates various </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clustering, visualization, and differential expression analysis functions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It uses methods like the Wilcoxon rank-sum test for DEA.</a:t>
              </a:r>
              <a:endParaRPr lang="en-IN" sz="1600" dirty="0"/>
            </a:p>
          </p:txBody>
        </p:sp>
        <p:sp>
          <p:nvSpPr>
            <p:cNvPr id="5" name="TextBox 4">
              <a:extLst>
                <a:ext uri="{FF2B5EF4-FFF2-40B4-BE49-F238E27FC236}">
                  <a16:creationId xmlns:a16="http://schemas.microsoft.com/office/drawing/2014/main" id="{BE1CFDFC-2A73-656E-F360-61E69762454D}"/>
                </a:ext>
              </a:extLst>
            </p:cNvPr>
            <p:cNvSpPr txBox="1"/>
            <p:nvPr/>
          </p:nvSpPr>
          <p:spPr>
            <a:xfrm>
              <a:off x="12319205" y="3097482"/>
              <a:ext cx="11914632" cy="584775"/>
            </a:xfrm>
            <a:prstGeom prst="rect">
              <a:avLst/>
            </a:prstGeom>
            <a:noFill/>
          </p:spPr>
          <p:txBody>
            <a:bodyPr wrap="square" rtlCol="0">
              <a:spAutoFit/>
            </a:bodyPr>
            <a:lstStyle/>
            <a:p>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Scanpy</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(Python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 scalable tool for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single-cell data with functionalities similar to Seurat but for Python users.</a:t>
              </a:r>
            </a:p>
            <a:p>
              <a:endParaRPr lang="en-IN" sz="1600" dirty="0"/>
            </a:p>
          </p:txBody>
        </p:sp>
        <p:sp>
          <p:nvSpPr>
            <p:cNvPr id="6" name="TextBox 5">
              <a:extLst>
                <a:ext uri="{FF2B5EF4-FFF2-40B4-BE49-F238E27FC236}">
                  <a16:creationId xmlns:a16="http://schemas.microsoft.com/office/drawing/2014/main" id="{10C32F3E-995D-819D-659D-07A3BAD643A2}"/>
                </a:ext>
              </a:extLst>
            </p:cNvPr>
            <p:cNvSpPr txBox="1"/>
            <p:nvPr/>
          </p:nvSpPr>
          <p:spPr>
            <a:xfrm>
              <a:off x="24506152" y="3097482"/>
              <a:ext cx="11914632" cy="584775"/>
            </a:xfrm>
            <a:prstGeom prst="rect">
              <a:avLst/>
            </a:prstGeom>
            <a:noFill/>
          </p:spPr>
          <p:txBody>
            <a:bodyPr wrap="square" rtlCol="0">
              <a:spAutoFit/>
            </a:bodyPr>
            <a:lstStyle/>
            <a:p>
              <a:r>
                <a:rPr lang="en-IN" sz="1600" b="1" kern="100" dirty="0">
                  <a:effectLst/>
                  <a:latin typeface="Aptos" panose="020B0004020202020204" pitchFamily="34" charset="0"/>
                  <a:ea typeface="Aptos" panose="020B0004020202020204" pitchFamily="34" charset="0"/>
                  <a:cs typeface="Times New Roman" panose="02020603050405020304" pitchFamily="18" charset="0"/>
                </a:rPr>
                <a:t>DESeq2 (R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 tool designed primarily for bulk RNA-</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but can be adapted for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to find DEGs. Uses negative binomial distribution models.</a:t>
              </a:r>
              <a:endParaRPr lang="en-IN" sz="1600" dirty="0"/>
            </a:p>
          </p:txBody>
        </p:sp>
        <p:sp>
          <p:nvSpPr>
            <p:cNvPr id="7" name="TextBox 6">
              <a:extLst>
                <a:ext uri="{FF2B5EF4-FFF2-40B4-BE49-F238E27FC236}">
                  <a16:creationId xmlns:a16="http://schemas.microsoft.com/office/drawing/2014/main" id="{F14AB12A-7E61-F78B-6C37-0F8E5C21DE21}"/>
                </a:ext>
              </a:extLst>
            </p:cNvPr>
            <p:cNvSpPr txBox="1"/>
            <p:nvPr/>
          </p:nvSpPr>
          <p:spPr>
            <a:xfrm>
              <a:off x="36601721" y="3220592"/>
              <a:ext cx="11914632" cy="338554"/>
            </a:xfrm>
            <a:prstGeom prst="rect">
              <a:avLst/>
            </a:prstGeom>
            <a:noFill/>
          </p:spPr>
          <p:txBody>
            <a:bodyPr wrap="square" rtlCol="0">
              <a:spAutoFit/>
            </a:bodyPr>
            <a:lstStyle/>
            <a:p>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edgeR</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(R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Focuses on identifying DEGs using empirical Bayes methods and precise dispersion estimates.</a:t>
              </a:r>
            </a:p>
          </p:txBody>
        </p:sp>
        <p:sp>
          <p:nvSpPr>
            <p:cNvPr id="8" name="TextBox 7">
              <a:extLst>
                <a:ext uri="{FF2B5EF4-FFF2-40B4-BE49-F238E27FC236}">
                  <a16:creationId xmlns:a16="http://schemas.microsoft.com/office/drawing/2014/main" id="{78CE257B-520B-C938-CEBD-720FE41E748C}"/>
                </a:ext>
              </a:extLst>
            </p:cNvPr>
            <p:cNvSpPr txBox="1"/>
            <p:nvPr/>
          </p:nvSpPr>
          <p:spPr>
            <a:xfrm>
              <a:off x="48650643" y="3097482"/>
              <a:ext cx="11914632" cy="584775"/>
            </a:xfrm>
            <a:prstGeom prst="rect">
              <a:avLst/>
            </a:prstGeom>
            <a:noFill/>
          </p:spPr>
          <p:txBody>
            <a:bodyPr wrap="square" rtlCol="0">
              <a:spAutoFit/>
            </a:bodyPr>
            <a:lstStyle/>
            <a:p>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CellRanger</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(10X Genomics)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 suite of software tools from 10X Genomics designed for processing and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data. Includes functions for mapping reads to the genome, counting transcripts, and identifying DEGs between clusters of cells.</a:t>
              </a:r>
            </a:p>
          </p:txBody>
        </p:sp>
      </p:grpSp>
      <p:pic>
        <p:nvPicPr>
          <p:cNvPr id="10" name="Picture 2" descr="5 scRNA-seq Analysis with Bioconductor | Analysis of single cell RNA-seq  data">
            <a:extLst>
              <a:ext uri="{FF2B5EF4-FFF2-40B4-BE49-F238E27FC236}">
                <a16:creationId xmlns:a16="http://schemas.microsoft.com/office/drawing/2014/main" id="{2D8218BE-5EDB-35E6-0F01-E8665EBD2E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173" y="214083"/>
            <a:ext cx="5314950" cy="233362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DESeq2 consultation-Free DESeq2 RNA-seq Analysis Consultation">
            <a:extLst>
              <a:ext uri="{FF2B5EF4-FFF2-40B4-BE49-F238E27FC236}">
                <a16:creationId xmlns:a16="http://schemas.microsoft.com/office/drawing/2014/main" id="{D12D5198-0BE4-49DE-16E5-51D7D7803A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6794" y="3982132"/>
            <a:ext cx="2538412" cy="253841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Adapting limma and edgeR for Single-cell and Proteomics - Chan Zuckerberg  Initiative">
            <a:extLst>
              <a:ext uri="{FF2B5EF4-FFF2-40B4-BE49-F238E27FC236}">
                <a16:creationId xmlns:a16="http://schemas.microsoft.com/office/drawing/2014/main" id="{E17FDBC4-8C79-2608-3033-71B6F05E4D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62720" y="106670"/>
            <a:ext cx="2471737" cy="289559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BBF8B11-3A01-B2BB-5AA1-204C2BDA646E}"/>
              </a:ext>
            </a:extLst>
          </p:cNvPr>
          <p:cNvSpPr txBox="1"/>
          <p:nvPr/>
        </p:nvSpPr>
        <p:spPr>
          <a:xfrm>
            <a:off x="7511144" y="6525422"/>
            <a:ext cx="3489648" cy="246221"/>
          </a:xfrm>
          <a:prstGeom prst="rect">
            <a:avLst/>
          </a:prstGeom>
          <a:noFill/>
        </p:spPr>
        <p:txBody>
          <a:bodyPr wrap="square" rtlCol="0">
            <a:spAutoFit/>
          </a:bodyPr>
          <a:lstStyle/>
          <a:p>
            <a:r>
              <a:rPr lang="en-US" sz="1000" dirty="0"/>
              <a:t>Source: https://google.com</a:t>
            </a:r>
            <a:endParaRPr lang="en-IN" sz="1000" dirty="0"/>
          </a:p>
        </p:txBody>
      </p:sp>
    </p:spTree>
    <p:extLst>
      <p:ext uri="{BB962C8B-B14F-4D97-AF65-F5344CB8AC3E}">
        <p14:creationId xmlns:p14="http://schemas.microsoft.com/office/powerpoint/2010/main" val="39443425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405931-4F4B-EDFF-19A7-B96DBAFB7852}"/>
              </a:ext>
            </a:extLst>
          </p:cNvPr>
          <p:cNvSpPr txBox="1"/>
          <p:nvPr/>
        </p:nvSpPr>
        <p:spPr>
          <a:xfrm>
            <a:off x="0" y="360807"/>
            <a:ext cx="12115800" cy="707886"/>
          </a:xfrm>
          <a:prstGeom prst="rect">
            <a:avLst/>
          </a:prstGeom>
          <a:solidFill>
            <a:schemeClr val="bg1"/>
          </a:solid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en-IN" sz="4000" u="sng" kern="1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lgerian" panose="04020705040A02060702" pitchFamily="82" charset="0"/>
                <a:cs typeface="Times New Roman" panose="02020603050405020304" pitchFamily="18" charset="0"/>
              </a:rPr>
              <a:t>Differential Expression Analysis</a:t>
            </a:r>
          </a:p>
        </p:txBody>
      </p:sp>
      <p:sp>
        <p:nvSpPr>
          <p:cNvPr id="3" name="TextBox 2">
            <a:extLst>
              <a:ext uri="{FF2B5EF4-FFF2-40B4-BE49-F238E27FC236}">
                <a16:creationId xmlns:a16="http://schemas.microsoft.com/office/drawing/2014/main" id="{27762687-85D5-0FCF-59D4-861A095490CD}"/>
              </a:ext>
            </a:extLst>
          </p:cNvPr>
          <p:cNvSpPr txBox="1"/>
          <p:nvPr/>
        </p:nvSpPr>
        <p:spPr>
          <a:xfrm>
            <a:off x="76200" y="1537490"/>
            <a:ext cx="12039600" cy="1445011"/>
          </a:xfrm>
          <a:prstGeom prst="rect">
            <a:avLst/>
          </a:prstGeom>
          <a:noFill/>
        </p:spPr>
        <p:txBody>
          <a:bodyPr wrap="square" rtlCol="0">
            <a:spAutoFit/>
          </a:bodyPr>
          <a:lstStyle/>
          <a:p>
            <a:pPr marL="285750" indent="-285750">
              <a:lnSpc>
                <a:spcPct val="107000"/>
              </a:lnSpc>
              <a:spcAft>
                <a:spcPts val="800"/>
              </a:spcAft>
              <a:buFont typeface="Arial" panose="020B0604020202020204" pitchFamily="34" charset="0"/>
              <a:buChar char="•"/>
            </a:pPr>
            <a:r>
              <a:rPr lang="en-IN" sz="1600" kern="100" dirty="0">
                <a:latin typeface="Aptos" panose="020B0004020202020204" pitchFamily="34" charset="0"/>
                <a:ea typeface="Aptos" panose="020B0004020202020204" pitchFamily="34" charset="0"/>
                <a:cs typeface="Times New Roman" panose="02020603050405020304" pitchFamily="18" charset="0"/>
              </a:rPr>
              <a:t>I</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dentifying genes that show statistically significant differences in expression levels between different groups of cells</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Identifying DEGs helps to understand how cellular functions differ across cell types, developmental stages, or disease states. </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It highlights genes that may play key roles in driving certain biological processes or phenotypic differences.</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Tools for Finding DEGs</a:t>
            </a:r>
            <a:r>
              <a:rPr lang="en-IN" sz="1600" b="1" kern="100" dirty="0">
                <a:latin typeface="Aptos" panose="020B0004020202020204" pitchFamily="34" charset="0"/>
                <a:ea typeface="Aptos" panose="020B0004020202020204" pitchFamily="34" charset="0"/>
                <a:cs typeface="Times New Roman" panose="02020603050405020304" pitchFamily="18" charset="0"/>
              </a:rPr>
              <a: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100" name="Picture 4" descr="Installation Instructions for Seurat • Seurat">
            <a:extLst>
              <a:ext uri="{FF2B5EF4-FFF2-40B4-BE49-F238E27FC236}">
                <a16:creationId xmlns:a16="http://schemas.microsoft.com/office/drawing/2014/main" id="{676B7A6B-E0DF-5B21-67D1-0E925E4D72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6811" y="90147"/>
            <a:ext cx="2657983" cy="2656138"/>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F7A4AF6F-1592-3717-25F8-DAB0561BDF1C}"/>
              </a:ext>
            </a:extLst>
          </p:cNvPr>
          <p:cNvGrpSpPr/>
          <p:nvPr/>
        </p:nvGrpSpPr>
        <p:grpSpPr>
          <a:xfrm>
            <a:off x="-36070296" y="3136613"/>
            <a:ext cx="60455547" cy="584775"/>
            <a:chOff x="109728" y="3097482"/>
            <a:chExt cx="60455547" cy="584775"/>
          </a:xfrm>
        </p:grpSpPr>
        <p:sp>
          <p:nvSpPr>
            <p:cNvPr id="4" name="TextBox 3">
              <a:extLst>
                <a:ext uri="{FF2B5EF4-FFF2-40B4-BE49-F238E27FC236}">
                  <a16:creationId xmlns:a16="http://schemas.microsoft.com/office/drawing/2014/main" id="{66D4E048-306F-9B6B-50C9-590822206D0B}"/>
                </a:ext>
              </a:extLst>
            </p:cNvPr>
            <p:cNvSpPr txBox="1"/>
            <p:nvPr/>
          </p:nvSpPr>
          <p:spPr>
            <a:xfrm>
              <a:off x="109728" y="3097482"/>
              <a:ext cx="11914632" cy="584775"/>
            </a:xfrm>
            <a:prstGeom prst="rect">
              <a:avLst/>
            </a:prstGeom>
            <a:noFill/>
          </p:spPr>
          <p:txBody>
            <a:bodyPr wrap="square" rtlCol="0">
              <a:spAutoFit/>
            </a:bodyPr>
            <a:lstStyle/>
            <a:p>
              <a:r>
                <a:rPr lang="en-IN" sz="1600" b="1" kern="100" dirty="0">
                  <a:effectLst/>
                  <a:latin typeface="Aptos" panose="020B0004020202020204" pitchFamily="34" charset="0"/>
                  <a:ea typeface="Aptos" panose="020B0004020202020204" pitchFamily="34" charset="0"/>
                  <a:cs typeface="Times New Roman" panose="02020603050405020304" pitchFamily="18" charset="0"/>
                </a:rPr>
                <a:t>Seurat (R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Integrates various </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clustering, visualization, and differential expression analysis functions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It uses methods like the Wilcoxon rank-sum test for DEA.</a:t>
              </a:r>
              <a:endParaRPr lang="en-IN" sz="1600" dirty="0"/>
            </a:p>
          </p:txBody>
        </p:sp>
        <p:sp>
          <p:nvSpPr>
            <p:cNvPr id="5" name="TextBox 4">
              <a:extLst>
                <a:ext uri="{FF2B5EF4-FFF2-40B4-BE49-F238E27FC236}">
                  <a16:creationId xmlns:a16="http://schemas.microsoft.com/office/drawing/2014/main" id="{BE1CFDFC-2A73-656E-F360-61E69762454D}"/>
                </a:ext>
              </a:extLst>
            </p:cNvPr>
            <p:cNvSpPr txBox="1"/>
            <p:nvPr/>
          </p:nvSpPr>
          <p:spPr>
            <a:xfrm>
              <a:off x="12319205" y="3097482"/>
              <a:ext cx="11914632" cy="584775"/>
            </a:xfrm>
            <a:prstGeom prst="rect">
              <a:avLst/>
            </a:prstGeom>
            <a:noFill/>
          </p:spPr>
          <p:txBody>
            <a:bodyPr wrap="square" rtlCol="0">
              <a:spAutoFit/>
            </a:bodyPr>
            <a:lstStyle/>
            <a:p>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Scanpy</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(Python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 scalable tool for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single-cell data with functionalities similar to Seurat but for Python users.</a:t>
              </a:r>
            </a:p>
            <a:p>
              <a:endParaRPr lang="en-IN" sz="1600" dirty="0"/>
            </a:p>
          </p:txBody>
        </p:sp>
        <p:sp>
          <p:nvSpPr>
            <p:cNvPr id="6" name="TextBox 5">
              <a:extLst>
                <a:ext uri="{FF2B5EF4-FFF2-40B4-BE49-F238E27FC236}">
                  <a16:creationId xmlns:a16="http://schemas.microsoft.com/office/drawing/2014/main" id="{10C32F3E-995D-819D-659D-07A3BAD643A2}"/>
                </a:ext>
              </a:extLst>
            </p:cNvPr>
            <p:cNvSpPr txBox="1"/>
            <p:nvPr/>
          </p:nvSpPr>
          <p:spPr>
            <a:xfrm>
              <a:off x="24506152" y="3097482"/>
              <a:ext cx="11914632" cy="584775"/>
            </a:xfrm>
            <a:prstGeom prst="rect">
              <a:avLst/>
            </a:prstGeom>
            <a:noFill/>
          </p:spPr>
          <p:txBody>
            <a:bodyPr wrap="square" rtlCol="0">
              <a:spAutoFit/>
            </a:bodyPr>
            <a:lstStyle/>
            <a:p>
              <a:r>
                <a:rPr lang="en-IN" sz="1600" b="1" kern="100" dirty="0">
                  <a:effectLst/>
                  <a:latin typeface="Aptos" panose="020B0004020202020204" pitchFamily="34" charset="0"/>
                  <a:ea typeface="Aptos" panose="020B0004020202020204" pitchFamily="34" charset="0"/>
                  <a:cs typeface="Times New Roman" panose="02020603050405020304" pitchFamily="18" charset="0"/>
                </a:rPr>
                <a:t>DESeq2 (R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 tool designed primarily for bulk RNA-</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but can be adapted for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to find DEGs. Uses negative binomial distribution models.</a:t>
              </a:r>
              <a:endParaRPr lang="en-IN" sz="1600" dirty="0"/>
            </a:p>
          </p:txBody>
        </p:sp>
        <p:sp>
          <p:nvSpPr>
            <p:cNvPr id="7" name="TextBox 6">
              <a:extLst>
                <a:ext uri="{FF2B5EF4-FFF2-40B4-BE49-F238E27FC236}">
                  <a16:creationId xmlns:a16="http://schemas.microsoft.com/office/drawing/2014/main" id="{F14AB12A-7E61-F78B-6C37-0F8E5C21DE21}"/>
                </a:ext>
              </a:extLst>
            </p:cNvPr>
            <p:cNvSpPr txBox="1"/>
            <p:nvPr/>
          </p:nvSpPr>
          <p:spPr>
            <a:xfrm>
              <a:off x="36601721" y="3220592"/>
              <a:ext cx="11914632" cy="338554"/>
            </a:xfrm>
            <a:prstGeom prst="rect">
              <a:avLst/>
            </a:prstGeom>
            <a:noFill/>
          </p:spPr>
          <p:txBody>
            <a:bodyPr wrap="square" rtlCol="0">
              <a:spAutoFit/>
            </a:bodyPr>
            <a:lstStyle/>
            <a:p>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edgeR</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(R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Focuses on identifying DEGs using empirical Bayes methods and precise dispersion estimates.</a:t>
              </a:r>
            </a:p>
          </p:txBody>
        </p:sp>
        <p:sp>
          <p:nvSpPr>
            <p:cNvPr id="8" name="TextBox 7">
              <a:extLst>
                <a:ext uri="{FF2B5EF4-FFF2-40B4-BE49-F238E27FC236}">
                  <a16:creationId xmlns:a16="http://schemas.microsoft.com/office/drawing/2014/main" id="{78CE257B-520B-C938-CEBD-720FE41E748C}"/>
                </a:ext>
              </a:extLst>
            </p:cNvPr>
            <p:cNvSpPr txBox="1"/>
            <p:nvPr/>
          </p:nvSpPr>
          <p:spPr>
            <a:xfrm>
              <a:off x="48650643" y="3097482"/>
              <a:ext cx="11914632" cy="584775"/>
            </a:xfrm>
            <a:prstGeom prst="rect">
              <a:avLst/>
            </a:prstGeom>
            <a:noFill/>
          </p:spPr>
          <p:txBody>
            <a:bodyPr wrap="square" rtlCol="0">
              <a:spAutoFit/>
            </a:bodyPr>
            <a:lstStyle/>
            <a:p>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CellRanger</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(10X Genomics)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 suite of software tools from 10X Genomics designed for processing and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data. Includes functions for mapping reads to the genome, counting transcripts, and identifying DEGs between clusters of cells.</a:t>
              </a:r>
            </a:p>
          </p:txBody>
        </p:sp>
      </p:grpSp>
      <p:pic>
        <p:nvPicPr>
          <p:cNvPr id="10" name="Picture 2" descr="5 scRNA-seq Analysis with Bioconductor | Analysis of single cell RNA-seq  data">
            <a:extLst>
              <a:ext uri="{FF2B5EF4-FFF2-40B4-BE49-F238E27FC236}">
                <a16:creationId xmlns:a16="http://schemas.microsoft.com/office/drawing/2014/main" id="{2D8218BE-5EDB-35E6-0F01-E8665EBD2E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173" y="214083"/>
            <a:ext cx="5314950" cy="233362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DESeq2 consultation-Free DESeq2 RNA-seq Analysis Consultation">
            <a:extLst>
              <a:ext uri="{FF2B5EF4-FFF2-40B4-BE49-F238E27FC236}">
                <a16:creationId xmlns:a16="http://schemas.microsoft.com/office/drawing/2014/main" id="{D12D5198-0BE4-49DE-16E5-51D7D7803A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4303" y="287211"/>
            <a:ext cx="2538412" cy="2538412"/>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dapting limma and edgeR for Single-cell and Proteomics - Chan Zuckerberg  Initiative">
            <a:extLst>
              <a:ext uri="{FF2B5EF4-FFF2-40B4-BE49-F238E27FC236}">
                <a16:creationId xmlns:a16="http://schemas.microsoft.com/office/drawing/2014/main" id="{19932BF2-8891-4EC0-E6C5-18F3EB6698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0132" y="3726949"/>
            <a:ext cx="2471737" cy="289559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0" descr="cellranger/README.md at main · 10XGenomics/cellranger · GitHub">
            <a:extLst>
              <a:ext uri="{FF2B5EF4-FFF2-40B4-BE49-F238E27FC236}">
                <a16:creationId xmlns:a16="http://schemas.microsoft.com/office/drawing/2014/main" id="{6C8F9D27-A421-7BCC-E7CF-D74A5DD070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22415" y="74908"/>
            <a:ext cx="5299258" cy="264962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F6FF3FBE-D005-059C-8A30-B6079F0CD496}"/>
              </a:ext>
            </a:extLst>
          </p:cNvPr>
          <p:cNvSpPr txBox="1"/>
          <p:nvPr/>
        </p:nvSpPr>
        <p:spPr>
          <a:xfrm>
            <a:off x="7511144" y="6525422"/>
            <a:ext cx="3489648" cy="246221"/>
          </a:xfrm>
          <a:prstGeom prst="rect">
            <a:avLst/>
          </a:prstGeom>
          <a:noFill/>
        </p:spPr>
        <p:txBody>
          <a:bodyPr wrap="square" rtlCol="0">
            <a:spAutoFit/>
          </a:bodyPr>
          <a:lstStyle/>
          <a:p>
            <a:r>
              <a:rPr lang="en-US" sz="1000" dirty="0"/>
              <a:t>Source: https://google.com</a:t>
            </a:r>
            <a:endParaRPr lang="en-IN" sz="1000" dirty="0"/>
          </a:p>
        </p:txBody>
      </p:sp>
    </p:spTree>
    <p:extLst>
      <p:ext uri="{BB962C8B-B14F-4D97-AF65-F5344CB8AC3E}">
        <p14:creationId xmlns:p14="http://schemas.microsoft.com/office/powerpoint/2010/main" val="4094285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405931-4F4B-EDFF-19A7-B96DBAFB7852}"/>
              </a:ext>
            </a:extLst>
          </p:cNvPr>
          <p:cNvSpPr txBox="1"/>
          <p:nvPr/>
        </p:nvSpPr>
        <p:spPr>
          <a:xfrm>
            <a:off x="0" y="360807"/>
            <a:ext cx="12115800" cy="707886"/>
          </a:xfrm>
          <a:prstGeom prst="rect">
            <a:avLst/>
          </a:prstGeom>
          <a:solidFill>
            <a:schemeClr val="bg1"/>
          </a:solid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en-IN" sz="4000" u="sng" kern="1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lgerian" panose="04020705040A02060702" pitchFamily="82" charset="0"/>
                <a:cs typeface="Times New Roman" panose="02020603050405020304" pitchFamily="18" charset="0"/>
              </a:rPr>
              <a:t>Differential Expression Analysis</a:t>
            </a:r>
          </a:p>
        </p:txBody>
      </p:sp>
      <p:sp>
        <p:nvSpPr>
          <p:cNvPr id="3" name="TextBox 2">
            <a:extLst>
              <a:ext uri="{FF2B5EF4-FFF2-40B4-BE49-F238E27FC236}">
                <a16:creationId xmlns:a16="http://schemas.microsoft.com/office/drawing/2014/main" id="{27762687-85D5-0FCF-59D4-861A095490CD}"/>
              </a:ext>
            </a:extLst>
          </p:cNvPr>
          <p:cNvSpPr txBox="1"/>
          <p:nvPr/>
        </p:nvSpPr>
        <p:spPr>
          <a:xfrm>
            <a:off x="76200" y="1537490"/>
            <a:ext cx="12039600" cy="1445011"/>
          </a:xfrm>
          <a:prstGeom prst="rect">
            <a:avLst/>
          </a:prstGeom>
          <a:noFill/>
        </p:spPr>
        <p:txBody>
          <a:bodyPr wrap="square" rtlCol="0">
            <a:spAutoFit/>
          </a:bodyPr>
          <a:lstStyle/>
          <a:p>
            <a:pPr marL="285750" indent="-285750">
              <a:lnSpc>
                <a:spcPct val="107000"/>
              </a:lnSpc>
              <a:spcAft>
                <a:spcPts val="800"/>
              </a:spcAft>
              <a:buFont typeface="Arial" panose="020B0604020202020204" pitchFamily="34" charset="0"/>
              <a:buChar char="•"/>
            </a:pPr>
            <a:r>
              <a:rPr lang="en-IN" sz="1600" kern="100" dirty="0">
                <a:latin typeface="Aptos" panose="020B0004020202020204" pitchFamily="34" charset="0"/>
                <a:ea typeface="Aptos" panose="020B0004020202020204" pitchFamily="34" charset="0"/>
                <a:cs typeface="Times New Roman" panose="02020603050405020304" pitchFamily="18" charset="0"/>
              </a:rPr>
              <a:t>I</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dentifying genes that show statistically significant differences in expression levels between different groups of cells</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Identifying DEGs helps to understand how cellular functions differ across cell types, developmental stages, or disease states. </a:t>
            </a:r>
          </a:p>
          <a:p>
            <a:pPr marL="285750" indent="-285750">
              <a:lnSpc>
                <a:spcPct val="107000"/>
              </a:lnSpc>
              <a:spcAft>
                <a:spcPts val="800"/>
              </a:spcAft>
              <a:buFont typeface="Arial" panose="020B0604020202020204" pitchFamily="34" charset="0"/>
              <a:buChar char="•"/>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It highlights genes that may play key roles in driving certain biological processes or phenotypic differences.</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Tools for Finding DEGs</a:t>
            </a:r>
            <a:r>
              <a:rPr lang="en-IN" sz="1600" b="1" kern="100" dirty="0">
                <a:latin typeface="Aptos" panose="020B0004020202020204" pitchFamily="34" charset="0"/>
                <a:ea typeface="Aptos" panose="020B0004020202020204" pitchFamily="34" charset="0"/>
                <a:cs typeface="Times New Roman" panose="02020603050405020304" pitchFamily="18" charset="0"/>
              </a:rPr>
              <a: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100" name="Picture 4" descr="Installation Instructions for Seurat • Seurat">
            <a:extLst>
              <a:ext uri="{FF2B5EF4-FFF2-40B4-BE49-F238E27FC236}">
                <a16:creationId xmlns:a16="http://schemas.microsoft.com/office/drawing/2014/main" id="{676B7A6B-E0DF-5B21-67D1-0E925E4D72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6811" y="90147"/>
            <a:ext cx="2657983" cy="2656138"/>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F7A4AF6F-1592-3717-25F8-DAB0561BDF1C}"/>
              </a:ext>
            </a:extLst>
          </p:cNvPr>
          <p:cNvGrpSpPr/>
          <p:nvPr/>
        </p:nvGrpSpPr>
        <p:grpSpPr>
          <a:xfrm>
            <a:off x="-48386693" y="3136613"/>
            <a:ext cx="60455547" cy="584775"/>
            <a:chOff x="109728" y="3097482"/>
            <a:chExt cx="60455547" cy="584775"/>
          </a:xfrm>
        </p:grpSpPr>
        <p:sp>
          <p:nvSpPr>
            <p:cNvPr id="4" name="TextBox 3">
              <a:extLst>
                <a:ext uri="{FF2B5EF4-FFF2-40B4-BE49-F238E27FC236}">
                  <a16:creationId xmlns:a16="http://schemas.microsoft.com/office/drawing/2014/main" id="{66D4E048-306F-9B6B-50C9-590822206D0B}"/>
                </a:ext>
              </a:extLst>
            </p:cNvPr>
            <p:cNvSpPr txBox="1"/>
            <p:nvPr/>
          </p:nvSpPr>
          <p:spPr>
            <a:xfrm>
              <a:off x="109728" y="3097482"/>
              <a:ext cx="11914632" cy="584775"/>
            </a:xfrm>
            <a:prstGeom prst="rect">
              <a:avLst/>
            </a:prstGeom>
            <a:noFill/>
          </p:spPr>
          <p:txBody>
            <a:bodyPr wrap="square" rtlCol="0">
              <a:spAutoFit/>
            </a:bodyPr>
            <a:lstStyle/>
            <a:p>
              <a:r>
                <a:rPr lang="en-IN" sz="1600" b="1" kern="100" dirty="0">
                  <a:effectLst/>
                  <a:latin typeface="Aptos" panose="020B0004020202020204" pitchFamily="34" charset="0"/>
                  <a:ea typeface="Aptos" panose="020B0004020202020204" pitchFamily="34" charset="0"/>
                  <a:cs typeface="Times New Roman" panose="02020603050405020304" pitchFamily="18" charset="0"/>
                </a:rPr>
                <a:t>Seurat (R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Integrates various </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clustering, visualization, and differential expression analysis functions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It uses methods like the Wilcoxon rank-sum test for DEA.</a:t>
              </a:r>
              <a:endParaRPr lang="en-IN" sz="1600" dirty="0"/>
            </a:p>
          </p:txBody>
        </p:sp>
        <p:sp>
          <p:nvSpPr>
            <p:cNvPr id="5" name="TextBox 4">
              <a:extLst>
                <a:ext uri="{FF2B5EF4-FFF2-40B4-BE49-F238E27FC236}">
                  <a16:creationId xmlns:a16="http://schemas.microsoft.com/office/drawing/2014/main" id="{BE1CFDFC-2A73-656E-F360-61E69762454D}"/>
                </a:ext>
              </a:extLst>
            </p:cNvPr>
            <p:cNvSpPr txBox="1"/>
            <p:nvPr/>
          </p:nvSpPr>
          <p:spPr>
            <a:xfrm>
              <a:off x="12319205" y="3097482"/>
              <a:ext cx="11914632" cy="584775"/>
            </a:xfrm>
            <a:prstGeom prst="rect">
              <a:avLst/>
            </a:prstGeom>
            <a:noFill/>
          </p:spPr>
          <p:txBody>
            <a:bodyPr wrap="square" rtlCol="0">
              <a:spAutoFit/>
            </a:bodyPr>
            <a:lstStyle/>
            <a:p>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Scanpy</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(Python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 scalable tool for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single-cell data with functionalities similar to Seurat but for Python users.</a:t>
              </a:r>
            </a:p>
            <a:p>
              <a:endParaRPr lang="en-IN" sz="1600" dirty="0"/>
            </a:p>
          </p:txBody>
        </p:sp>
        <p:sp>
          <p:nvSpPr>
            <p:cNvPr id="6" name="TextBox 5">
              <a:extLst>
                <a:ext uri="{FF2B5EF4-FFF2-40B4-BE49-F238E27FC236}">
                  <a16:creationId xmlns:a16="http://schemas.microsoft.com/office/drawing/2014/main" id="{10C32F3E-995D-819D-659D-07A3BAD643A2}"/>
                </a:ext>
              </a:extLst>
            </p:cNvPr>
            <p:cNvSpPr txBox="1"/>
            <p:nvPr/>
          </p:nvSpPr>
          <p:spPr>
            <a:xfrm>
              <a:off x="24506152" y="3097482"/>
              <a:ext cx="11914632" cy="584775"/>
            </a:xfrm>
            <a:prstGeom prst="rect">
              <a:avLst/>
            </a:prstGeom>
            <a:noFill/>
          </p:spPr>
          <p:txBody>
            <a:bodyPr wrap="square" rtlCol="0">
              <a:spAutoFit/>
            </a:bodyPr>
            <a:lstStyle/>
            <a:p>
              <a:r>
                <a:rPr lang="en-IN" sz="1600" b="1" kern="100" dirty="0">
                  <a:effectLst/>
                  <a:latin typeface="Aptos" panose="020B0004020202020204" pitchFamily="34" charset="0"/>
                  <a:ea typeface="Aptos" panose="020B0004020202020204" pitchFamily="34" charset="0"/>
                  <a:cs typeface="Times New Roman" panose="02020603050405020304" pitchFamily="18" charset="0"/>
                </a:rPr>
                <a:t>DESeq2 (R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 tool designed primarily for bulk RNA-</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but can be adapted for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to find DEGs. Uses negative binomial distribution models.</a:t>
              </a:r>
              <a:endParaRPr lang="en-IN" sz="1600" dirty="0"/>
            </a:p>
          </p:txBody>
        </p:sp>
        <p:sp>
          <p:nvSpPr>
            <p:cNvPr id="7" name="TextBox 6">
              <a:extLst>
                <a:ext uri="{FF2B5EF4-FFF2-40B4-BE49-F238E27FC236}">
                  <a16:creationId xmlns:a16="http://schemas.microsoft.com/office/drawing/2014/main" id="{F14AB12A-7E61-F78B-6C37-0F8E5C21DE21}"/>
                </a:ext>
              </a:extLst>
            </p:cNvPr>
            <p:cNvSpPr txBox="1"/>
            <p:nvPr/>
          </p:nvSpPr>
          <p:spPr>
            <a:xfrm>
              <a:off x="36601721" y="3220592"/>
              <a:ext cx="11914632" cy="338554"/>
            </a:xfrm>
            <a:prstGeom prst="rect">
              <a:avLst/>
            </a:prstGeom>
            <a:noFill/>
          </p:spPr>
          <p:txBody>
            <a:bodyPr wrap="square" rtlCol="0">
              <a:spAutoFit/>
            </a:bodyPr>
            <a:lstStyle/>
            <a:p>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edgeR</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(R package)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Focuses on identifying DEGs using empirical Bayes methods and precise dispersion estimates.</a:t>
              </a:r>
            </a:p>
          </p:txBody>
        </p:sp>
        <p:sp>
          <p:nvSpPr>
            <p:cNvPr id="8" name="TextBox 7">
              <a:extLst>
                <a:ext uri="{FF2B5EF4-FFF2-40B4-BE49-F238E27FC236}">
                  <a16:creationId xmlns:a16="http://schemas.microsoft.com/office/drawing/2014/main" id="{78CE257B-520B-C938-CEBD-720FE41E748C}"/>
                </a:ext>
              </a:extLst>
            </p:cNvPr>
            <p:cNvSpPr txBox="1"/>
            <p:nvPr/>
          </p:nvSpPr>
          <p:spPr>
            <a:xfrm>
              <a:off x="48650643" y="3097482"/>
              <a:ext cx="11914632" cy="584775"/>
            </a:xfrm>
            <a:prstGeom prst="rect">
              <a:avLst/>
            </a:prstGeom>
            <a:noFill/>
          </p:spPr>
          <p:txBody>
            <a:bodyPr wrap="square" rtlCol="0">
              <a:spAutoFit/>
            </a:bodyPr>
            <a:lstStyle/>
            <a:p>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CellRanger</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(10X Genomics)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 suite of software tools from 10X Genomics designed for processing and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data. Includes functions for mapping reads to the genome, counting transcripts, and identifying DEGs between clusters of cells.</a:t>
              </a:r>
            </a:p>
          </p:txBody>
        </p:sp>
      </p:grpSp>
      <p:pic>
        <p:nvPicPr>
          <p:cNvPr id="10" name="Picture 2" descr="5 scRNA-seq Analysis with Bioconductor | Analysis of single cell RNA-seq  data">
            <a:extLst>
              <a:ext uri="{FF2B5EF4-FFF2-40B4-BE49-F238E27FC236}">
                <a16:creationId xmlns:a16="http://schemas.microsoft.com/office/drawing/2014/main" id="{2D8218BE-5EDB-35E6-0F01-E8665EBD2E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173" y="214083"/>
            <a:ext cx="5314950" cy="233362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DESeq2 consultation-Free DESeq2 RNA-seq Analysis Consultation">
            <a:extLst>
              <a:ext uri="{FF2B5EF4-FFF2-40B4-BE49-F238E27FC236}">
                <a16:creationId xmlns:a16="http://schemas.microsoft.com/office/drawing/2014/main" id="{D12D5198-0BE4-49DE-16E5-51D7D7803A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4303" y="287211"/>
            <a:ext cx="2538412" cy="2538412"/>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dapting limma and edgeR for Single-cell and Proteomics - Chan Zuckerberg  Initiative">
            <a:extLst>
              <a:ext uri="{FF2B5EF4-FFF2-40B4-BE49-F238E27FC236}">
                <a16:creationId xmlns:a16="http://schemas.microsoft.com/office/drawing/2014/main" id="{19932BF2-8891-4EC0-E6C5-18F3EB6698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7034" y="-247890"/>
            <a:ext cx="2471737" cy="2895599"/>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cellranger/README.md at main · 10XGenomics/cellranger · GitHub">
            <a:extLst>
              <a:ext uri="{FF2B5EF4-FFF2-40B4-BE49-F238E27FC236}">
                <a16:creationId xmlns:a16="http://schemas.microsoft.com/office/drawing/2014/main" id="{D9247DA7-A087-0E8D-C373-E43DEDC36F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46371" y="3928452"/>
            <a:ext cx="5299258" cy="2649629"/>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03E33EFB-9F3C-53B0-5875-79B81B9A9420}"/>
              </a:ext>
            </a:extLst>
          </p:cNvPr>
          <p:cNvGrpSpPr/>
          <p:nvPr/>
        </p:nvGrpSpPr>
        <p:grpSpPr>
          <a:xfrm>
            <a:off x="12340636" y="222732"/>
            <a:ext cx="9012463" cy="4820394"/>
            <a:chOff x="3103337" y="1902245"/>
            <a:chExt cx="9012463" cy="4820394"/>
          </a:xfrm>
        </p:grpSpPr>
        <p:pic>
          <p:nvPicPr>
            <p:cNvPr id="13" name="Picture 2" descr="A heatmap plot of the differentially expressed genes (DEGs) of all... |  Download Scientific Diagram">
              <a:extLst>
                <a:ext uri="{FF2B5EF4-FFF2-40B4-BE49-F238E27FC236}">
                  <a16:creationId xmlns:a16="http://schemas.microsoft.com/office/drawing/2014/main" id="{074A703F-424B-DE0E-4085-A21722B9CAA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03337" y="1902245"/>
              <a:ext cx="4332722" cy="4666506"/>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4F7F6A05-9205-64A5-557D-DF4FE3FEF113}"/>
                </a:ext>
              </a:extLst>
            </p:cNvPr>
            <p:cNvSpPr txBox="1"/>
            <p:nvPr/>
          </p:nvSpPr>
          <p:spPr>
            <a:xfrm>
              <a:off x="7604449" y="6014753"/>
              <a:ext cx="4511351" cy="707886"/>
            </a:xfrm>
            <a:prstGeom prst="rect">
              <a:avLst/>
            </a:prstGeom>
            <a:noFill/>
          </p:spPr>
          <p:txBody>
            <a:bodyPr wrap="square" rtlCol="0">
              <a:spAutoFit/>
            </a:bodyPr>
            <a:lstStyle/>
            <a:p>
              <a:r>
                <a:rPr lang="en-IN" sz="1000" b="1" dirty="0"/>
                <a:t>Source:</a:t>
              </a:r>
              <a:r>
                <a:rPr lang="en-IN" sz="1000" dirty="0"/>
                <a:t> https://www.researchgate.net/publication/319942046_Pathway_and_network-based_analysis_of_genome-wide_association_studies_and_RT-PCR_validation_in_polycystic_ovary_syndrome/figures?lo=1</a:t>
              </a:r>
            </a:p>
          </p:txBody>
        </p:sp>
      </p:grpSp>
      <p:sp>
        <p:nvSpPr>
          <p:cNvPr id="16" name="TextBox 15">
            <a:extLst>
              <a:ext uri="{FF2B5EF4-FFF2-40B4-BE49-F238E27FC236}">
                <a16:creationId xmlns:a16="http://schemas.microsoft.com/office/drawing/2014/main" id="{E81D3778-0EBA-388D-3D3E-C6DAEF8733D3}"/>
              </a:ext>
            </a:extLst>
          </p:cNvPr>
          <p:cNvSpPr txBox="1"/>
          <p:nvPr/>
        </p:nvSpPr>
        <p:spPr>
          <a:xfrm>
            <a:off x="8966721" y="6525422"/>
            <a:ext cx="3489648" cy="246221"/>
          </a:xfrm>
          <a:prstGeom prst="rect">
            <a:avLst/>
          </a:prstGeom>
          <a:noFill/>
        </p:spPr>
        <p:txBody>
          <a:bodyPr wrap="square" rtlCol="0">
            <a:spAutoFit/>
          </a:bodyPr>
          <a:lstStyle/>
          <a:p>
            <a:r>
              <a:rPr lang="en-US" sz="1000" dirty="0"/>
              <a:t>Source: https://google.com</a:t>
            </a:r>
            <a:endParaRPr lang="en-IN" sz="1000" dirty="0"/>
          </a:p>
        </p:txBody>
      </p:sp>
    </p:spTree>
    <p:extLst>
      <p:ext uri="{BB962C8B-B14F-4D97-AF65-F5344CB8AC3E}">
        <p14:creationId xmlns:p14="http://schemas.microsoft.com/office/powerpoint/2010/main" val="2062670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5405931-4F4B-EDFF-19A7-B96DBAFB7852}"/>
              </a:ext>
            </a:extLst>
          </p:cNvPr>
          <p:cNvSpPr txBox="1"/>
          <p:nvPr/>
        </p:nvSpPr>
        <p:spPr>
          <a:xfrm>
            <a:off x="589560" y="856180"/>
            <a:ext cx="5279408" cy="112806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b="1" u="sng" dirty="0">
                <a:latin typeface="+mj-lt"/>
                <a:ea typeface="+mj-ea"/>
                <a:cs typeface="+mj-cs"/>
              </a:rPr>
              <a:t>Differential Expression Analysis</a:t>
            </a:r>
          </a:p>
        </p:txBody>
      </p:sp>
      <p:grpSp>
        <p:nvGrpSpPr>
          <p:cNvPr id="5129" name="Group 512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5130" name="Rectangle 512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Rectangle 513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33" name="Rectangle 513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7762687-85D5-0FCF-59D4-861A095490CD}"/>
              </a:ext>
            </a:extLst>
          </p:cNvPr>
          <p:cNvSpPr txBox="1"/>
          <p:nvPr/>
        </p:nvSpPr>
        <p:spPr>
          <a:xfrm>
            <a:off x="590719" y="2330505"/>
            <a:ext cx="5278066" cy="3979585"/>
          </a:xfrm>
          <a:prstGeom prst="rect">
            <a:avLst/>
          </a:prstGeom>
        </p:spPr>
        <p:txBody>
          <a:bodyPr vert="horz" lIns="91440" tIns="45720" rIns="91440" bIns="45720" rtlCol="0" anchor="ctr">
            <a:normAutofit/>
          </a:bodyPr>
          <a:lstStyle/>
          <a:p>
            <a:pPr indent="-228600">
              <a:lnSpc>
                <a:spcPct val="90000"/>
              </a:lnSpc>
              <a:spcAft>
                <a:spcPts val="800"/>
              </a:spcAft>
              <a:buFont typeface="Arial" panose="020B0604020202020204" pitchFamily="34" charset="0"/>
              <a:buChar char="•"/>
            </a:pPr>
            <a:r>
              <a:rPr lang="en-US" sz="1900" b="1">
                <a:effectLst/>
              </a:rPr>
              <a:t>Pathway and Gene Set Enrichment Analysis: </a:t>
            </a:r>
            <a:endParaRPr lang="en-US" sz="1900">
              <a:effectLst/>
            </a:endParaRPr>
          </a:p>
          <a:p>
            <a:pPr marL="285750" indent="-228600">
              <a:lnSpc>
                <a:spcPct val="90000"/>
              </a:lnSpc>
              <a:spcAft>
                <a:spcPts val="800"/>
              </a:spcAft>
              <a:buFont typeface="Arial" panose="020B0604020202020204" pitchFamily="34" charset="0"/>
              <a:buChar char="•"/>
            </a:pPr>
            <a:r>
              <a:rPr lang="en-US" sz="1900">
                <a:effectLst/>
              </a:rPr>
              <a:t>Pathway analysis is used to identify biological pathways that are significantly enriched in a set of DEGs. </a:t>
            </a:r>
          </a:p>
          <a:p>
            <a:pPr marL="285750" indent="-228600">
              <a:lnSpc>
                <a:spcPct val="90000"/>
              </a:lnSpc>
              <a:spcAft>
                <a:spcPts val="800"/>
              </a:spcAft>
              <a:buFont typeface="Arial" panose="020B0604020202020204" pitchFamily="34" charset="0"/>
              <a:buChar char="•"/>
            </a:pPr>
            <a:r>
              <a:rPr lang="en-US" sz="1900">
                <a:effectLst/>
              </a:rPr>
              <a:t>This helps to understand the broader biological processes and molecular functions influenced by the genes identified.</a:t>
            </a:r>
          </a:p>
          <a:p>
            <a:pPr indent="-228600">
              <a:lnSpc>
                <a:spcPct val="90000"/>
              </a:lnSpc>
              <a:spcAft>
                <a:spcPts val="800"/>
              </a:spcAft>
              <a:buFont typeface="Arial" panose="020B0604020202020204" pitchFamily="34" charset="0"/>
              <a:buChar char="•"/>
            </a:pPr>
            <a:r>
              <a:rPr lang="en-US" sz="1900" b="1">
                <a:effectLst/>
              </a:rPr>
              <a:t>Tools for Pathway and Gene Set Enrichment</a:t>
            </a:r>
            <a:r>
              <a:rPr lang="en-US" sz="1900">
                <a:effectLst/>
              </a:rPr>
              <a:t>:</a:t>
            </a:r>
          </a:p>
          <a:p>
            <a:pPr marL="285750" indent="-228600">
              <a:lnSpc>
                <a:spcPct val="90000"/>
              </a:lnSpc>
              <a:spcAft>
                <a:spcPts val="800"/>
              </a:spcAft>
              <a:buFont typeface="Arial" panose="020B0604020202020204" pitchFamily="34" charset="0"/>
              <a:buChar char="•"/>
            </a:pPr>
            <a:r>
              <a:rPr lang="en-US" sz="1900">
                <a:effectLst/>
              </a:rPr>
              <a:t>GO (Gene Ontology)</a:t>
            </a:r>
          </a:p>
          <a:p>
            <a:pPr marL="285750" indent="-228600">
              <a:lnSpc>
                <a:spcPct val="90000"/>
              </a:lnSpc>
              <a:spcAft>
                <a:spcPts val="800"/>
              </a:spcAft>
              <a:buFont typeface="Arial" panose="020B0604020202020204" pitchFamily="34" charset="0"/>
              <a:buChar char="•"/>
            </a:pPr>
            <a:r>
              <a:rPr lang="en-US" sz="1900">
                <a:effectLst/>
              </a:rPr>
              <a:t>KEGG (Kyoto Encyclopedia of Genes and Genomes)</a:t>
            </a:r>
          </a:p>
        </p:txBody>
      </p:sp>
      <p:sp>
        <p:nvSpPr>
          <p:cNvPr id="5135" name="Rectangle 513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7" name="Rectangle 513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9" name="Rectangle 5138">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9BB38DDE-89D8-21F8-7C77-48586C5B1814}"/>
              </a:ext>
            </a:extLst>
          </p:cNvPr>
          <p:cNvGrpSpPr/>
          <p:nvPr/>
        </p:nvGrpSpPr>
        <p:grpSpPr>
          <a:xfrm>
            <a:off x="7078321" y="436754"/>
            <a:ext cx="4380254" cy="5789896"/>
            <a:chOff x="7078321" y="436754"/>
            <a:chExt cx="4380254" cy="5789896"/>
          </a:xfrm>
        </p:grpSpPr>
        <p:pic>
          <p:nvPicPr>
            <p:cNvPr id="5122" name="Picture 2" descr="Gene Ontology: application and importance in functional annotation of the  genomic data - ScienceDirect">
              <a:extLst>
                <a:ext uri="{FF2B5EF4-FFF2-40B4-BE49-F238E27FC236}">
                  <a16:creationId xmlns:a16="http://schemas.microsoft.com/office/drawing/2014/main" id="{693BB2B9-51EF-6860-4726-91AF1BBE9FC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64959" y="3707894"/>
              <a:ext cx="2432497" cy="251875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KEGG Overview">
              <a:extLst>
                <a:ext uri="{FF2B5EF4-FFF2-40B4-BE49-F238E27FC236}">
                  <a16:creationId xmlns:a16="http://schemas.microsoft.com/office/drawing/2014/main" id="{51BD1C43-83BD-3FA2-7FC0-1E17D424E9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8321" y="436754"/>
              <a:ext cx="4380254" cy="275412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Group 10">
            <a:extLst>
              <a:ext uri="{FF2B5EF4-FFF2-40B4-BE49-F238E27FC236}">
                <a16:creationId xmlns:a16="http://schemas.microsoft.com/office/drawing/2014/main" id="{46D1B241-2CD6-7FF1-88C2-8B9F671900C3}"/>
              </a:ext>
            </a:extLst>
          </p:cNvPr>
          <p:cNvGrpSpPr/>
          <p:nvPr/>
        </p:nvGrpSpPr>
        <p:grpSpPr>
          <a:xfrm>
            <a:off x="-8407466" y="48205"/>
            <a:ext cx="8277030" cy="4631848"/>
            <a:chOff x="3838770" y="2138266"/>
            <a:chExt cx="8277030" cy="4631848"/>
          </a:xfrm>
        </p:grpSpPr>
        <p:pic>
          <p:nvPicPr>
            <p:cNvPr id="12" name="Picture 2" descr="The boxplot of expression level of top5 DEG miRNAs in 80 pairs of... |  Download Scientific Diagram">
              <a:extLst>
                <a:ext uri="{FF2B5EF4-FFF2-40B4-BE49-F238E27FC236}">
                  <a16:creationId xmlns:a16="http://schemas.microsoft.com/office/drawing/2014/main" id="{57F16CD2-C951-5423-A153-39353B4B0B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8770" y="2138266"/>
              <a:ext cx="4514461" cy="451446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C3E0976-8A63-D1E0-DD0C-BCA02010077D}"/>
                </a:ext>
              </a:extLst>
            </p:cNvPr>
            <p:cNvSpPr txBox="1"/>
            <p:nvPr/>
          </p:nvSpPr>
          <p:spPr>
            <a:xfrm>
              <a:off x="8425973" y="5908340"/>
              <a:ext cx="3689827" cy="861774"/>
            </a:xfrm>
            <a:prstGeom prst="rect">
              <a:avLst/>
            </a:prstGeom>
            <a:noFill/>
          </p:spPr>
          <p:txBody>
            <a:bodyPr wrap="square" rtlCol="0">
              <a:spAutoFit/>
            </a:bodyPr>
            <a:lstStyle/>
            <a:p>
              <a:r>
                <a:rPr lang="en-US" sz="1000" dirty="0"/>
                <a:t>Source:</a:t>
              </a:r>
            </a:p>
            <a:p>
              <a:r>
                <a:rPr lang="en-IN" sz="1000" dirty="0"/>
                <a:t>https://www.researchgate.net/publication/319683444_MicroRNA-196b_inhibits_late_apoptosis_of_pancreatic_cancer_cells_by_targeting_CADM1/figures?lo=1</a:t>
              </a:r>
            </a:p>
          </p:txBody>
        </p:sp>
      </p:grpSp>
      <p:pic>
        <p:nvPicPr>
          <p:cNvPr id="15" name="Picture 2" descr="Case Study Images – Browse 114,281 Stock Photos, Vectors, and Video | Adobe  Stock">
            <a:extLst>
              <a:ext uri="{FF2B5EF4-FFF2-40B4-BE49-F238E27FC236}">
                <a16:creationId xmlns:a16="http://schemas.microsoft.com/office/drawing/2014/main" id="{554C364A-96BA-7F15-2D0C-BB14F11992E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22629"/>
          <a:stretch/>
        </p:blipFill>
        <p:spPr bwMode="auto">
          <a:xfrm>
            <a:off x="12395719" y="87705"/>
            <a:ext cx="3730752" cy="384048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F262E53A-BDCC-191D-6AFA-DB5743E1A588}"/>
              </a:ext>
            </a:extLst>
          </p:cNvPr>
          <p:cNvSpPr txBox="1"/>
          <p:nvPr/>
        </p:nvSpPr>
        <p:spPr>
          <a:xfrm>
            <a:off x="7511144" y="6525422"/>
            <a:ext cx="3489648" cy="246221"/>
          </a:xfrm>
          <a:prstGeom prst="rect">
            <a:avLst/>
          </a:prstGeom>
          <a:noFill/>
        </p:spPr>
        <p:txBody>
          <a:bodyPr wrap="square" rtlCol="0">
            <a:spAutoFit/>
          </a:bodyPr>
          <a:lstStyle/>
          <a:p>
            <a:r>
              <a:rPr lang="en-US" sz="1000" dirty="0"/>
              <a:t>Source: https://google.com</a:t>
            </a:r>
            <a:endParaRPr lang="en-IN" sz="1000" dirty="0"/>
          </a:p>
        </p:txBody>
      </p:sp>
    </p:spTree>
    <p:extLst>
      <p:ext uri="{BB962C8B-B14F-4D97-AF65-F5344CB8AC3E}">
        <p14:creationId xmlns:p14="http://schemas.microsoft.com/office/powerpoint/2010/main" val="1269949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80">
                                          <p:stCondLst>
                                            <p:cond delay="0"/>
                                          </p:stCondLst>
                                        </p:cTn>
                                        <p:tgtEl>
                                          <p:spTgt spid="14"/>
                                        </p:tgtEl>
                                      </p:cBhvr>
                                    </p:animEffect>
                                    <p:anim calcmode="lin" valueType="num">
                                      <p:cBhvr>
                                        <p:cTn id="8"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3" dur="26">
                                          <p:stCondLst>
                                            <p:cond delay="650"/>
                                          </p:stCondLst>
                                        </p:cTn>
                                        <p:tgtEl>
                                          <p:spTgt spid="14"/>
                                        </p:tgtEl>
                                      </p:cBhvr>
                                      <p:to x="100000" y="60000"/>
                                    </p:animScale>
                                    <p:animScale>
                                      <p:cBhvr>
                                        <p:cTn id="14" dur="166" decel="50000">
                                          <p:stCondLst>
                                            <p:cond delay="676"/>
                                          </p:stCondLst>
                                        </p:cTn>
                                        <p:tgtEl>
                                          <p:spTgt spid="14"/>
                                        </p:tgtEl>
                                      </p:cBhvr>
                                      <p:to x="100000" y="100000"/>
                                    </p:animScale>
                                    <p:animScale>
                                      <p:cBhvr>
                                        <p:cTn id="15" dur="26">
                                          <p:stCondLst>
                                            <p:cond delay="1312"/>
                                          </p:stCondLst>
                                        </p:cTn>
                                        <p:tgtEl>
                                          <p:spTgt spid="14"/>
                                        </p:tgtEl>
                                      </p:cBhvr>
                                      <p:to x="100000" y="80000"/>
                                    </p:animScale>
                                    <p:animScale>
                                      <p:cBhvr>
                                        <p:cTn id="16" dur="166" decel="50000">
                                          <p:stCondLst>
                                            <p:cond delay="1338"/>
                                          </p:stCondLst>
                                        </p:cTn>
                                        <p:tgtEl>
                                          <p:spTgt spid="14"/>
                                        </p:tgtEl>
                                      </p:cBhvr>
                                      <p:to x="100000" y="100000"/>
                                    </p:animScale>
                                    <p:animScale>
                                      <p:cBhvr>
                                        <p:cTn id="17" dur="26">
                                          <p:stCondLst>
                                            <p:cond delay="1642"/>
                                          </p:stCondLst>
                                        </p:cTn>
                                        <p:tgtEl>
                                          <p:spTgt spid="14"/>
                                        </p:tgtEl>
                                      </p:cBhvr>
                                      <p:to x="100000" y="90000"/>
                                    </p:animScale>
                                    <p:animScale>
                                      <p:cBhvr>
                                        <p:cTn id="18" dur="166" decel="50000">
                                          <p:stCondLst>
                                            <p:cond delay="1668"/>
                                          </p:stCondLst>
                                        </p:cTn>
                                        <p:tgtEl>
                                          <p:spTgt spid="14"/>
                                        </p:tgtEl>
                                      </p:cBhvr>
                                      <p:to x="100000" y="100000"/>
                                    </p:animScale>
                                    <p:animScale>
                                      <p:cBhvr>
                                        <p:cTn id="19" dur="26">
                                          <p:stCondLst>
                                            <p:cond delay="1808"/>
                                          </p:stCondLst>
                                        </p:cTn>
                                        <p:tgtEl>
                                          <p:spTgt spid="14"/>
                                        </p:tgtEl>
                                      </p:cBhvr>
                                      <p:to x="100000" y="95000"/>
                                    </p:animScale>
                                    <p:animScale>
                                      <p:cBhvr>
                                        <p:cTn id="20" dur="166" decel="50000">
                                          <p:stCondLst>
                                            <p:cond delay="1834"/>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65D760-9438-D224-FD0D-1F52FC38AA73}"/>
              </a:ext>
            </a:extLst>
          </p:cNvPr>
          <p:cNvSpPr>
            <a:spLocks noGrp="1"/>
          </p:cNvSpPr>
          <p:nvPr>
            <p:ph type="title"/>
          </p:nvPr>
        </p:nvSpPr>
        <p:spPr>
          <a:xfrm>
            <a:off x="2264898" y="0"/>
            <a:ext cx="6215575" cy="943170"/>
          </a:xfrm>
        </p:spPr>
        <p:txBody>
          <a:bodyPr>
            <a:normAutofit fontScale="90000"/>
          </a:bodyPr>
          <a:lstStyle/>
          <a:p>
            <a:r>
              <a:rPr lang="en-US" u="sng" dirty="0">
                <a:latin typeface="Algerian" panose="04020705040A02060702" pitchFamily="82" charset="0"/>
              </a:rPr>
              <a:t>Pseudo-Time Analysis</a:t>
            </a:r>
            <a:endParaRPr lang="en-IN" u="sng" dirty="0">
              <a:latin typeface="Algerian" panose="04020705040A02060702" pitchFamily="82" charset="0"/>
            </a:endParaRPr>
          </a:p>
        </p:txBody>
      </p:sp>
      <p:sp>
        <p:nvSpPr>
          <p:cNvPr id="7" name="TextBox 6">
            <a:extLst>
              <a:ext uri="{FF2B5EF4-FFF2-40B4-BE49-F238E27FC236}">
                <a16:creationId xmlns:a16="http://schemas.microsoft.com/office/drawing/2014/main" id="{26622683-A83D-33DC-51DA-4FAB933F3BBD}"/>
              </a:ext>
            </a:extLst>
          </p:cNvPr>
          <p:cNvSpPr txBox="1"/>
          <p:nvPr/>
        </p:nvSpPr>
        <p:spPr>
          <a:xfrm>
            <a:off x="182881" y="943171"/>
            <a:ext cx="4121834" cy="7015767"/>
          </a:xfrm>
          <a:prstGeom prst="rect">
            <a:avLst/>
          </a:prstGeom>
          <a:noFill/>
        </p:spPr>
        <p:txBody>
          <a:bodyPr wrap="square" rtlCol="0">
            <a:spAutoFit/>
          </a:bodyPr>
          <a:lstStyle/>
          <a:p>
            <a:pPr marL="285750" lvl="0" indent="-285750">
              <a:buFont typeface="Wingdings" panose="05000000000000000000" pitchFamily="2" charset="2"/>
              <a:buChar char="§"/>
              <a:tabLst>
                <a:tab pos="457200" algn="l"/>
              </a:tabLst>
            </a:pPr>
            <a:r>
              <a:rPr lang="en-IN" sz="1600" kern="100" dirty="0">
                <a:latin typeface="Times New Roman" panose="02020603050405020304" pitchFamily="18" charset="0"/>
                <a:ea typeface="Noto Serif CJK SC"/>
                <a:cs typeface="Times New Roman" panose="02020603050405020304" pitchFamily="18" charset="0"/>
              </a:rPr>
              <a:t>T</a:t>
            </a:r>
            <a:r>
              <a:rPr lang="en-IN" sz="1600" kern="100" dirty="0">
                <a:effectLst/>
                <a:latin typeface="Times New Roman" panose="02020603050405020304" pitchFamily="18" charset="0"/>
                <a:ea typeface="Noto Serif CJK SC"/>
                <a:cs typeface="Times New Roman" panose="02020603050405020304" pitchFamily="18" charset="0"/>
              </a:rPr>
              <a:t>o study </a:t>
            </a:r>
            <a:r>
              <a:rPr lang="en-IN" sz="1600" b="1" kern="100" dirty="0">
                <a:latin typeface="Times New Roman" panose="02020603050405020304" pitchFamily="18" charset="0"/>
                <a:ea typeface="Noto Serif CJK SC"/>
                <a:cs typeface="Times New Roman" panose="02020603050405020304" pitchFamily="18" charset="0"/>
              </a:rPr>
              <a:t>D</a:t>
            </a:r>
            <a:r>
              <a:rPr lang="en-IN" sz="1600" b="1" kern="100" dirty="0">
                <a:effectLst/>
                <a:latin typeface="Times New Roman" panose="02020603050405020304" pitchFamily="18" charset="0"/>
                <a:ea typeface="Noto Serif CJK SC"/>
                <a:cs typeface="Times New Roman" panose="02020603050405020304" pitchFamily="18" charset="0"/>
              </a:rPr>
              <a:t>ynamic changes in biological processes</a:t>
            </a:r>
            <a:r>
              <a:rPr lang="en-IN" sz="1600" kern="100" dirty="0">
                <a:effectLst/>
                <a:latin typeface="Times New Roman" panose="02020603050405020304" pitchFamily="18" charset="0"/>
                <a:ea typeface="Noto Serif CJK SC"/>
                <a:cs typeface="Times New Roman" panose="02020603050405020304" pitchFamily="18" charset="0"/>
              </a:rPr>
              <a:t>, </a:t>
            </a:r>
          </a:p>
          <a:p>
            <a:pPr marL="285750" lvl="0" indent="-285750">
              <a:buFont typeface="Wingdings" panose="05000000000000000000" pitchFamily="2" charset="2"/>
              <a:buChar char="ü"/>
              <a:tabLst>
                <a:tab pos="457200" algn="l"/>
              </a:tabLst>
            </a:pPr>
            <a:r>
              <a:rPr lang="en-IN" sz="1600" kern="100" dirty="0">
                <a:effectLst/>
                <a:latin typeface="Times New Roman" panose="02020603050405020304" pitchFamily="18" charset="0"/>
                <a:ea typeface="Noto Serif CJK SC"/>
                <a:cs typeface="Times New Roman" panose="02020603050405020304" pitchFamily="18" charset="0"/>
              </a:rPr>
              <a:t> cell differentiation, </a:t>
            </a:r>
          </a:p>
          <a:p>
            <a:pPr marL="285750" lvl="0" indent="-285750">
              <a:buFont typeface="Wingdings" panose="05000000000000000000" pitchFamily="2" charset="2"/>
              <a:buChar char="ü"/>
              <a:tabLst>
                <a:tab pos="457200" algn="l"/>
              </a:tabLst>
            </a:pPr>
            <a:r>
              <a:rPr lang="en-IN" sz="1600" kern="100" dirty="0">
                <a:effectLst/>
                <a:latin typeface="Times New Roman" panose="02020603050405020304" pitchFamily="18" charset="0"/>
                <a:ea typeface="Noto Serif CJK SC"/>
                <a:cs typeface="Times New Roman" panose="02020603050405020304" pitchFamily="18" charset="0"/>
              </a:rPr>
              <a:t>proliferation, or </a:t>
            </a:r>
          </a:p>
          <a:p>
            <a:pPr marL="285750" lvl="0" indent="-285750">
              <a:buFont typeface="Wingdings" panose="05000000000000000000" pitchFamily="2" charset="2"/>
              <a:buChar char="ü"/>
              <a:tabLst>
                <a:tab pos="457200" algn="l"/>
              </a:tabLst>
            </a:pPr>
            <a:r>
              <a:rPr lang="en-IN" sz="1600" kern="100" dirty="0">
                <a:effectLst/>
                <a:latin typeface="Times New Roman" panose="02020603050405020304" pitchFamily="18" charset="0"/>
                <a:ea typeface="Noto Serif CJK SC"/>
                <a:cs typeface="Times New Roman" panose="02020603050405020304" pitchFamily="18" charset="0"/>
              </a:rPr>
              <a:t>disease progression.</a:t>
            </a:r>
          </a:p>
          <a:p>
            <a:pPr lvl="0">
              <a:tabLst>
                <a:tab pos="457200" algn="l"/>
              </a:tabLst>
            </a:pPr>
            <a:endParaRPr lang="en-IN" sz="1600" kern="100" dirty="0">
              <a:effectLst/>
              <a:latin typeface="Times New Roman" panose="02020603050405020304" pitchFamily="18" charset="0"/>
              <a:ea typeface="Noto Serif CJK SC"/>
              <a:cs typeface="Times New Roman" panose="02020603050405020304" pitchFamily="18" charset="0"/>
            </a:endParaRPr>
          </a:p>
          <a:p>
            <a:pPr marL="285750" lvl="0" indent="-285750">
              <a:buFont typeface="Wingdings" panose="05000000000000000000" pitchFamily="2" charset="2"/>
              <a:buChar char="§"/>
              <a:tabLst>
                <a:tab pos="457200" algn="l"/>
              </a:tabLst>
            </a:pPr>
            <a:r>
              <a:rPr lang="en-IN" sz="1600" kern="100" dirty="0">
                <a:effectLst/>
                <a:latin typeface="Times New Roman" panose="02020603050405020304" pitchFamily="18" charset="0"/>
                <a:ea typeface="Noto Serif CJK SC"/>
                <a:cs typeface="Times New Roman" panose="02020603050405020304" pitchFamily="18" charset="0"/>
              </a:rPr>
              <a:t>It aims to order cells along a </a:t>
            </a:r>
            <a:r>
              <a:rPr lang="en-IN" sz="1600" b="1" kern="100" dirty="0">
                <a:effectLst/>
                <a:latin typeface="Times New Roman" panose="02020603050405020304" pitchFamily="18" charset="0"/>
                <a:ea typeface="Noto Serif CJK SC"/>
                <a:cs typeface="Times New Roman" panose="02020603050405020304" pitchFamily="18" charset="0"/>
              </a:rPr>
              <a:t>developmental or differentiation trajectory</a:t>
            </a:r>
            <a:r>
              <a:rPr lang="en-IN" sz="1600" kern="100" dirty="0">
                <a:effectLst/>
                <a:latin typeface="Times New Roman" panose="02020603050405020304" pitchFamily="18" charset="0"/>
                <a:ea typeface="Noto Serif CJK SC"/>
                <a:cs typeface="Times New Roman" panose="02020603050405020304" pitchFamily="18" charset="0"/>
              </a:rPr>
              <a:t>, based on their gene expression profiles</a:t>
            </a:r>
          </a:p>
          <a:p>
            <a:pPr lvl="0">
              <a:tabLst>
                <a:tab pos="457200" algn="l"/>
              </a:tabLst>
            </a:pPr>
            <a:endParaRPr lang="en-IN" sz="1600" kern="100" dirty="0">
              <a:effectLst/>
              <a:latin typeface="Times New Roman" panose="02020603050405020304" pitchFamily="18" charset="0"/>
              <a:ea typeface="Noto Serif CJK SC"/>
              <a:cs typeface="Times New Roman" panose="02020603050405020304" pitchFamily="18" charset="0"/>
            </a:endParaRPr>
          </a:p>
          <a:p>
            <a:pPr marL="285750" lvl="0" indent="-285750">
              <a:buFont typeface="Wingdings" panose="05000000000000000000" pitchFamily="2" charset="2"/>
              <a:buChar char="§"/>
              <a:tabLst>
                <a:tab pos="457200" algn="l"/>
              </a:tabLst>
            </a:pPr>
            <a:r>
              <a:rPr lang="en-IN" sz="1600" kern="100" dirty="0">
                <a:effectLst/>
                <a:latin typeface="Times New Roman" panose="02020603050405020304" pitchFamily="18" charset="0"/>
                <a:ea typeface="Noto Serif CJK SC"/>
                <a:cs typeface="Times New Roman" panose="02020603050405020304" pitchFamily="18" charset="0"/>
              </a:rPr>
              <a:t>Do not requires explicit time-series data. </a:t>
            </a:r>
          </a:p>
          <a:p>
            <a:pPr marL="285750" lvl="0" indent="-285750">
              <a:buFont typeface="Wingdings" panose="05000000000000000000" pitchFamily="2" charset="2"/>
              <a:buChar char="§"/>
              <a:tabLst>
                <a:tab pos="457200" algn="l"/>
              </a:tabLst>
            </a:pPr>
            <a:endParaRPr lang="en-IN" sz="1600" kern="100" dirty="0">
              <a:latin typeface="Times New Roman" panose="02020603050405020304" pitchFamily="18" charset="0"/>
              <a:ea typeface="Noto Serif CJK SC"/>
              <a:cs typeface="Times New Roman" panose="02020603050405020304" pitchFamily="18" charset="0"/>
            </a:endParaRPr>
          </a:p>
          <a:p>
            <a:pPr marL="285750" indent="-285750">
              <a:buFont typeface="Wingdings" panose="05000000000000000000" pitchFamily="2" charset="2"/>
              <a:buChar char="§"/>
              <a:tabLst>
                <a:tab pos="457200" algn="l"/>
              </a:tabLst>
            </a:pPr>
            <a:r>
              <a:rPr lang="en-IN" sz="1600" kern="100" dirty="0">
                <a:latin typeface="Times New Roman" panose="02020603050405020304" pitchFamily="18" charset="0"/>
                <a:ea typeface="Noto Serif CJK SC"/>
                <a:cs typeface="Times New Roman" panose="02020603050405020304" pitchFamily="18" charset="0"/>
              </a:rPr>
              <a:t>R</a:t>
            </a:r>
            <a:r>
              <a:rPr lang="en-IN" sz="1600" kern="100" dirty="0">
                <a:effectLst/>
                <a:latin typeface="Times New Roman" panose="02020603050405020304" pitchFamily="18" charset="0"/>
                <a:ea typeface="Noto Serif CJK SC"/>
                <a:cs typeface="Times New Roman" panose="02020603050405020304" pitchFamily="18" charset="0"/>
              </a:rPr>
              <a:t>econstruct a </a:t>
            </a:r>
            <a:r>
              <a:rPr lang="en-IN" sz="1600" b="1" kern="100" dirty="0">
                <a:effectLst/>
                <a:latin typeface="Times New Roman" panose="02020603050405020304" pitchFamily="18" charset="0"/>
                <a:ea typeface="Noto Serif CJK SC"/>
                <a:cs typeface="Times New Roman" panose="02020603050405020304" pitchFamily="18" charset="0"/>
              </a:rPr>
              <a:t>continuous trajectory </a:t>
            </a:r>
            <a:r>
              <a:rPr lang="en-IN" sz="1600" kern="100" dirty="0">
                <a:effectLst/>
                <a:latin typeface="Times New Roman" panose="02020603050405020304" pitchFamily="18" charset="0"/>
                <a:ea typeface="Noto Serif CJK SC"/>
                <a:cs typeface="Times New Roman" panose="02020603050405020304" pitchFamily="18" charset="0"/>
              </a:rPr>
              <a:t>that orders cells based on</a:t>
            </a:r>
            <a:r>
              <a:rPr lang="en-IN" sz="1600" b="1" kern="100" dirty="0">
                <a:effectLst/>
                <a:latin typeface="Times New Roman" panose="02020603050405020304" pitchFamily="18" charset="0"/>
                <a:ea typeface="Noto Serif CJK SC"/>
                <a:cs typeface="Times New Roman" panose="02020603050405020304" pitchFamily="18" charset="0"/>
              </a:rPr>
              <a:t> similarities</a:t>
            </a:r>
            <a:r>
              <a:rPr lang="en-IN" sz="1600" kern="100" dirty="0">
                <a:effectLst/>
                <a:latin typeface="Times New Roman" panose="02020603050405020304" pitchFamily="18" charset="0"/>
                <a:ea typeface="Noto Serif CJK SC"/>
                <a:cs typeface="Times New Roman" panose="02020603050405020304" pitchFamily="18" charset="0"/>
              </a:rPr>
              <a:t> in their gene expression profiles.</a:t>
            </a:r>
          </a:p>
          <a:p>
            <a:pPr>
              <a:tabLst>
                <a:tab pos="457200" algn="l"/>
              </a:tabLst>
            </a:pPr>
            <a:endParaRPr lang="en-IN" sz="1600" kern="100" dirty="0">
              <a:effectLst/>
              <a:latin typeface="Times New Roman" panose="02020603050405020304" pitchFamily="18" charset="0"/>
              <a:ea typeface="Noto Serif CJK SC"/>
              <a:cs typeface="Times New Roman" panose="02020603050405020304" pitchFamily="18" charset="0"/>
            </a:endParaRPr>
          </a:p>
          <a:p>
            <a:pPr marL="342900" lvl="0" indent="-342900">
              <a:lnSpc>
                <a:spcPct val="115000"/>
              </a:lnSpc>
              <a:spcAft>
                <a:spcPts val="700"/>
              </a:spcAft>
              <a:buFont typeface="Symbol" panose="05050102010706020507" pitchFamily="18" charset="2"/>
              <a:buChar char=""/>
              <a:tabLst>
                <a:tab pos="450215" algn="l"/>
              </a:tabLst>
            </a:pPr>
            <a:r>
              <a:rPr lang="en-IN" sz="1600" b="1" kern="100" dirty="0">
                <a:effectLst/>
                <a:latin typeface="Times New Roman" panose="02020603050405020304" pitchFamily="18" charset="0"/>
                <a:ea typeface="Noto Serif CJK SC"/>
                <a:cs typeface="Times New Roman" panose="02020603050405020304" pitchFamily="18" charset="0"/>
              </a:rPr>
              <a:t>Monocle</a:t>
            </a:r>
            <a:r>
              <a:rPr lang="en-IN" sz="1600" kern="100" dirty="0">
                <a:effectLst/>
                <a:latin typeface="Times New Roman" panose="02020603050405020304" pitchFamily="18" charset="0"/>
                <a:ea typeface="Noto Serif CJK SC"/>
                <a:cs typeface="Times New Roman" panose="02020603050405020304" pitchFamily="18" charset="0"/>
              </a:rPr>
              <a:t> and </a:t>
            </a:r>
            <a:r>
              <a:rPr lang="en-IN" sz="1600" b="1" kern="100" dirty="0">
                <a:effectLst/>
                <a:latin typeface="Times New Roman" panose="02020603050405020304" pitchFamily="18" charset="0"/>
                <a:ea typeface="Noto Serif CJK SC"/>
                <a:cs typeface="Times New Roman" panose="02020603050405020304" pitchFamily="18" charset="0"/>
              </a:rPr>
              <a:t>Slingshot</a:t>
            </a:r>
            <a:r>
              <a:rPr lang="en-IN" sz="1600" kern="100" dirty="0">
                <a:effectLst/>
                <a:latin typeface="Times New Roman" panose="02020603050405020304" pitchFamily="18" charset="0"/>
                <a:ea typeface="Noto Serif CJK SC"/>
                <a:cs typeface="Times New Roman" panose="02020603050405020304" pitchFamily="18" charset="0"/>
              </a:rPr>
              <a:t> - complex branching trajectories.</a:t>
            </a:r>
          </a:p>
          <a:p>
            <a:pPr marL="342900" lvl="0" indent="-342900">
              <a:lnSpc>
                <a:spcPct val="115000"/>
              </a:lnSpc>
              <a:spcAft>
                <a:spcPts val="700"/>
              </a:spcAft>
              <a:buFont typeface="Symbol" panose="05050102010706020507" pitchFamily="18" charset="2"/>
              <a:buChar char=""/>
              <a:tabLst>
                <a:tab pos="450215" algn="l"/>
              </a:tabLst>
            </a:pPr>
            <a:r>
              <a:rPr lang="en-IN" sz="1600" b="1" kern="100" dirty="0">
                <a:effectLst/>
                <a:latin typeface="Times New Roman" panose="02020603050405020304" pitchFamily="18" charset="0"/>
                <a:ea typeface="Noto Serif CJK SC"/>
                <a:cs typeface="Times New Roman" panose="02020603050405020304" pitchFamily="18" charset="0"/>
              </a:rPr>
              <a:t>SCORPIUS</a:t>
            </a:r>
            <a:r>
              <a:rPr lang="en-IN" sz="1600" kern="100" dirty="0">
                <a:effectLst/>
                <a:latin typeface="Times New Roman" panose="02020603050405020304" pitchFamily="18" charset="0"/>
                <a:ea typeface="Noto Serif CJK SC"/>
                <a:cs typeface="Times New Roman" panose="02020603050405020304" pitchFamily="18" charset="0"/>
              </a:rPr>
              <a:t> and </a:t>
            </a:r>
            <a:r>
              <a:rPr lang="en-IN" sz="1600" b="1" kern="100" dirty="0">
                <a:effectLst/>
                <a:latin typeface="Times New Roman" panose="02020603050405020304" pitchFamily="18" charset="0"/>
                <a:ea typeface="Noto Serif CJK SC"/>
                <a:cs typeface="Times New Roman" panose="02020603050405020304" pitchFamily="18" charset="0"/>
              </a:rPr>
              <a:t>TSCAN</a:t>
            </a:r>
            <a:r>
              <a:rPr lang="en-IN" sz="1600" kern="100" dirty="0">
                <a:effectLst/>
                <a:latin typeface="Times New Roman" panose="02020603050405020304" pitchFamily="18" charset="0"/>
                <a:ea typeface="Noto Serif CJK SC"/>
                <a:cs typeface="Times New Roman" panose="02020603050405020304" pitchFamily="18" charset="0"/>
              </a:rPr>
              <a:t> are ideal for simpler linear trajectories.</a:t>
            </a:r>
          </a:p>
          <a:p>
            <a:pPr marL="342900" lvl="0" indent="-342900">
              <a:lnSpc>
                <a:spcPct val="115000"/>
              </a:lnSpc>
              <a:spcAft>
                <a:spcPts val="700"/>
              </a:spcAft>
              <a:buFont typeface="Symbol" panose="05050102010706020507" pitchFamily="18" charset="2"/>
              <a:buChar char=""/>
              <a:tabLst>
                <a:tab pos="450215" algn="l"/>
              </a:tabLst>
            </a:pPr>
            <a:r>
              <a:rPr lang="en-IN" sz="1600" b="1" kern="100" dirty="0">
                <a:effectLst/>
                <a:latin typeface="Times New Roman" panose="02020603050405020304" pitchFamily="18" charset="0"/>
                <a:ea typeface="Noto Serif CJK SC"/>
                <a:cs typeface="Times New Roman" panose="02020603050405020304" pitchFamily="18" charset="0"/>
              </a:rPr>
              <a:t>DPT</a:t>
            </a:r>
            <a:r>
              <a:rPr lang="en-IN" sz="1600" kern="100" dirty="0">
                <a:effectLst/>
                <a:latin typeface="Times New Roman" panose="02020603050405020304" pitchFamily="18" charset="0"/>
                <a:ea typeface="Noto Serif CJK SC"/>
                <a:cs typeface="Times New Roman" panose="02020603050405020304" pitchFamily="18" charset="0"/>
              </a:rPr>
              <a:t> offers a robust alternative, especially in noisy or subtle datasets.</a:t>
            </a:r>
          </a:p>
          <a:p>
            <a:pPr marL="285750" indent="-285750">
              <a:buFont typeface="Wingdings" panose="05000000000000000000" pitchFamily="2" charset="2"/>
              <a:buChar char="§"/>
              <a:tabLst>
                <a:tab pos="457200" algn="l"/>
              </a:tabLst>
            </a:pPr>
            <a:endParaRPr lang="en-IN" sz="1800" kern="100" dirty="0">
              <a:effectLst/>
              <a:latin typeface="Times New Roman" panose="02020603050405020304" pitchFamily="18" charset="0"/>
              <a:ea typeface="Noto Serif CJK SC"/>
              <a:cs typeface="Times New Roman" panose="02020603050405020304" pitchFamily="18" charset="0"/>
            </a:endParaRPr>
          </a:p>
          <a:p>
            <a:pPr marL="285750" lvl="0" indent="-285750">
              <a:buFont typeface="Wingdings" panose="05000000000000000000" pitchFamily="2" charset="2"/>
              <a:buChar char="§"/>
              <a:tabLst>
                <a:tab pos="457200" algn="l"/>
              </a:tabLst>
            </a:pPr>
            <a:endParaRPr lang="en-IN" sz="1600" kern="100" dirty="0">
              <a:effectLst/>
              <a:latin typeface="Times New Roman" panose="02020603050405020304" pitchFamily="18" charset="0"/>
              <a:ea typeface="Noto Serif CJK SC"/>
              <a:cs typeface="Times New Roman" panose="02020603050405020304" pitchFamily="18" charset="0"/>
            </a:endParaRPr>
          </a:p>
          <a:p>
            <a:endParaRPr lang="en-IN" sz="1600" kern="100" dirty="0">
              <a:effectLst/>
              <a:latin typeface="Times New Roman" panose="02020603050405020304" pitchFamily="18" charset="0"/>
              <a:ea typeface="Noto Serif CJK SC"/>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86DD44F-4CA7-8D87-9414-530E34554B03}"/>
              </a:ext>
            </a:extLst>
          </p:cNvPr>
          <p:cNvSpPr txBox="1"/>
          <p:nvPr/>
        </p:nvSpPr>
        <p:spPr>
          <a:xfrm>
            <a:off x="4628271" y="1188403"/>
            <a:ext cx="7380849" cy="5136791"/>
          </a:xfrm>
          <a:prstGeom prst="rect">
            <a:avLst/>
          </a:prstGeom>
          <a:solidFill>
            <a:schemeClr val="accent2">
              <a:lumMod val="60000"/>
              <a:lumOff val="40000"/>
            </a:schemeClr>
          </a:solidFill>
        </p:spPr>
        <p:txBody>
          <a:bodyPr wrap="square" rtlCol="0">
            <a:spAutoFit/>
          </a:bodyPr>
          <a:lstStyle/>
          <a:p>
            <a:pPr>
              <a:spcBef>
                <a:spcPts val="700"/>
              </a:spcBef>
              <a:spcAft>
                <a:spcPts val="600"/>
              </a:spcAft>
            </a:pPr>
            <a:r>
              <a:rPr lang="en-IN" b="1" u="sng" kern="100" dirty="0">
                <a:effectLst/>
                <a:latin typeface="Times New Roman" panose="02020603050405020304" pitchFamily="18" charset="0"/>
                <a:cs typeface="Times New Roman" panose="02020603050405020304" pitchFamily="18" charset="0"/>
              </a:rPr>
              <a:t>Tools for </a:t>
            </a:r>
            <a:r>
              <a:rPr lang="en-IN" b="1" u="sng" kern="100" dirty="0" err="1">
                <a:effectLst/>
                <a:latin typeface="Times New Roman" panose="02020603050405020304" pitchFamily="18" charset="0"/>
                <a:cs typeface="Times New Roman" panose="02020603050405020304" pitchFamily="18" charset="0"/>
              </a:rPr>
              <a:t>Pseudotime</a:t>
            </a:r>
            <a:r>
              <a:rPr lang="en-IN" b="1" u="sng" kern="100" dirty="0">
                <a:effectLst/>
                <a:latin typeface="Times New Roman" panose="02020603050405020304" pitchFamily="18" charset="0"/>
                <a:cs typeface="Times New Roman" panose="02020603050405020304" pitchFamily="18" charset="0"/>
              </a:rPr>
              <a:t> Analysis</a:t>
            </a:r>
          </a:p>
          <a:p>
            <a:pPr marL="342900" lvl="0" indent="-342900">
              <a:lnSpc>
                <a:spcPct val="115000"/>
              </a:lnSpc>
              <a:spcAft>
                <a:spcPts val="700"/>
              </a:spcAft>
              <a:buFont typeface="Symbol" panose="05050102010706020507" pitchFamily="18" charset="2"/>
              <a:buChar char=""/>
              <a:tabLst>
                <a:tab pos="450215" algn="l"/>
              </a:tabLst>
            </a:pPr>
            <a:r>
              <a:rPr lang="en-IN" sz="1600" b="1" kern="100" dirty="0">
                <a:effectLst/>
                <a:latin typeface="Times New Roman" panose="02020603050405020304" pitchFamily="18" charset="0"/>
                <a:ea typeface="Noto Serif CJK SC"/>
                <a:cs typeface="Times New Roman" panose="02020603050405020304" pitchFamily="18" charset="0"/>
              </a:rPr>
              <a:t>Monocle3</a:t>
            </a:r>
            <a:r>
              <a:rPr lang="en-IN" sz="1600" kern="100" dirty="0">
                <a:effectLst/>
                <a:latin typeface="Times New Roman" panose="02020603050405020304" pitchFamily="18" charset="0"/>
                <a:ea typeface="Noto Serif CJK SC"/>
                <a:cs typeface="Times New Roman" panose="02020603050405020304" pitchFamily="18" charset="0"/>
              </a:rPr>
              <a:t>: (R package)</a:t>
            </a:r>
          </a:p>
          <a:p>
            <a:pPr marL="742950" lvl="1" indent="-285750">
              <a:lnSpc>
                <a:spcPct val="115000"/>
              </a:lnSpc>
              <a:spcAft>
                <a:spcPts val="700"/>
              </a:spcAft>
              <a:buFont typeface="Symbol" panose="05050102010706020507" pitchFamily="18" charset="2"/>
              <a:buChar char=""/>
              <a:tabLst>
                <a:tab pos="900430" algn="l"/>
              </a:tabLst>
            </a:pPr>
            <a:r>
              <a:rPr lang="en-IN" sz="1600" kern="100" dirty="0">
                <a:effectLst/>
                <a:latin typeface="Times New Roman" panose="02020603050405020304" pitchFamily="18" charset="0"/>
                <a:ea typeface="Noto Serif CJK SC"/>
                <a:cs typeface="Times New Roman" panose="02020603050405020304" pitchFamily="18" charset="0"/>
              </a:rPr>
              <a:t>Combines dimensionality reduction, clustering, and trajectory inference.</a:t>
            </a:r>
          </a:p>
          <a:p>
            <a:pPr marL="742950" lvl="1" indent="-285750">
              <a:lnSpc>
                <a:spcPct val="115000"/>
              </a:lnSpc>
              <a:spcAft>
                <a:spcPts val="700"/>
              </a:spcAft>
              <a:buFont typeface="Symbol" panose="05050102010706020507" pitchFamily="18" charset="2"/>
              <a:buChar char=""/>
              <a:tabLst>
                <a:tab pos="900430" algn="l"/>
              </a:tabLst>
            </a:pPr>
            <a:r>
              <a:rPr lang="en-IN" sz="1600" kern="100" dirty="0">
                <a:effectLst/>
                <a:latin typeface="Times New Roman" panose="02020603050405020304" pitchFamily="18" charset="0"/>
                <a:ea typeface="Noto Serif CJK SC"/>
                <a:cs typeface="Times New Roman" panose="02020603050405020304" pitchFamily="18" charset="0"/>
              </a:rPr>
              <a:t>Highly flexible, handles both linear and branching trajectories.</a:t>
            </a:r>
          </a:p>
          <a:p>
            <a:pPr marL="342900" lvl="0" indent="-342900">
              <a:lnSpc>
                <a:spcPct val="115000"/>
              </a:lnSpc>
              <a:spcAft>
                <a:spcPts val="700"/>
              </a:spcAft>
              <a:buFont typeface="Symbol" panose="05050102010706020507" pitchFamily="18" charset="2"/>
              <a:buChar char=""/>
              <a:tabLst>
                <a:tab pos="450215" algn="l"/>
              </a:tabLst>
            </a:pPr>
            <a:r>
              <a:rPr lang="en-IN" sz="1600" b="1" kern="100" dirty="0">
                <a:effectLst/>
                <a:latin typeface="Times New Roman" panose="02020603050405020304" pitchFamily="18" charset="0"/>
                <a:ea typeface="Noto Serif CJK SC"/>
                <a:cs typeface="Times New Roman" panose="02020603050405020304" pitchFamily="18" charset="0"/>
              </a:rPr>
              <a:t>Slingshot</a:t>
            </a:r>
            <a:r>
              <a:rPr lang="en-IN" sz="1600" kern="100" dirty="0">
                <a:effectLst/>
                <a:latin typeface="Times New Roman" panose="02020603050405020304" pitchFamily="18" charset="0"/>
                <a:ea typeface="Noto Serif CJK SC"/>
                <a:cs typeface="Times New Roman" panose="02020603050405020304" pitchFamily="18" charset="0"/>
              </a:rPr>
              <a:t>: (R package)</a:t>
            </a:r>
          </a:p>
          <a:p>
            <a:pPr marL="742950" lvl="1" indent="-285750">
              <a:lnSpc>
                <a:spcPct val="115000"/>
              </a:lnSpc>
              <a:spcAft>
                <a:spcPts val="700"/>
              </a:spcAft>
              <a:buFont typeface="Symbol" panose="05050102010706020507" pitchFamily="18" charset="2"/>
              <a:buChar char=""/>
              <a:tabLst>
                <a:tab pos="900430" algn="l"/>
              </a:tabLst>
            </a:pPr>
            <a:r>
              <a:rPr lang="en-IN" sz="1600" kern="100" dirty="0">
                <a:effectLst/>
                <a:latin typeface="Times New Roman" panose="02020603050405020304" pitchFamily="18" charset="0"/>
                <a:ea typeface="Noto Serif CJK SC"/>
                <a:cs typeface="Times New Roman" panose="02020603050405020304" pitchFamily="18" charset="0"/>
              </a:rPr>
              <a:t>A simple, effective tool that can infer multiple branching lineages.</a:t>
            </a:r>
          </a:p>
          <a:p>
            <a:pPr marL="742950" lvl="1" indent="-285750">
              <a:lnSpc>
                <a:spcPct val="115000"/>
              </a:lnSpc>
              <a:spcAft>
                <a:spcPts val="700"/>
              </a:spcAft>
              <a:buFont typeface="Symbol" panose="05050102010706020507" pitchFamily="18" charset="2"/>
              <a:buChar char=""/>
              <a:tabLst>
                <a:tab pos="900430" algn="l"/>
              </a:tabLst>
            </a:pPr>
            <a:r>
              <a:rPr lang="en-IN" sz="1600" kern="100" dirty="0">
                <a:effectLst/>
                <a:latin typeface="Times New Roman" panose="02020603050405020304" pitchFamily="18" charset="0"/>
                <a:ea typeface="Noto Serif CJK SC"/>
                <a:cs typeface="Times New Roman" panose="02020603050405020304" pitchFamily="18" charset="0"/>
              </a:rPr>
              <a:t>Compatible with popular dimensionality reduction tools like PCA or UMAP.</a:t>
            </a:r>
          </a:p>
          <a:p>
            <a:pPr marL="342900" lvl="0" indent="-342900">
              <a:lnSpc>
                <a:spcPct val="115000"/>
              </a:lnSpc>
              <a:spcAft>
                <a:spcPts val="700"/>
              </a:spcAft>
              <a:buFont typeface="Symbol" panose="05050102010706020507" pitchFamily="18" charset="2"/>
              <a:buChar char=""/>
              <a:tabLst>
                <a:tab pos="450215" algn="l"/>
              </a:tabLst>
            </a:pPr>
            <a:r>
              <a:rPr lang="en-IN" sz="1600" b="1" kern="100" dirty="0">
                <a:effectLst/>
                <a:latin typeface="Times New Roman" panose="02020603050405020304" pitchFamily="18" charset="0"/>
                <a:ea typeface="Noto Serif CJK SC"/>
                <a:cs typeface="Times New Roman" panose="02020603050405020304" pitchFamily="18" charset="0"/>
              </a:rPr>
              <a:t>SCORPIUS</a:t>
            </a:r>
            <a:r>
              <a:rPr lang="en-IN" sz="1600" kern="100" dirty="0">
                <a:effectLst/>
                <a:latin typeface="Times New Roman" panose="02020603050405020304" pitchFamily="18" charset="0"/>
                <a:ea typeface="Noto Serif CJK SC"/>
                <a:cs typeface="Times New Roman" panose="02020603050405020304" pitchFamily="18" charset="0"/>
              </a:rPr>
              <a:t>: (R package)</a:t>
            </a:r>
          </a:p>
          <a:p>
            <a:pPr marL="742950" lvl="1" indent="-285750">
              <a:lnSpc>
                <a:spcPct val="115000"/>
              </a:lnSpc>
              <a:spcAft>
                <a:spcPts val="700"/>
              </a:spcAft>
              <a:buFont typeface="Symbol" panose="05050102010706020507" pitchFamily="18" charset="2"/>
              <a:buChar char=""/>
              <a:tabLst>
                <a:tab pos="900430" algn="l"/>
              </a:tabLst>
            </a:pPr>
            <a:r>
              <a:rPr lang="en-IN" sz="1600" kern="100" dirty="0">
                <a:effectLst/>
                <a:latin typeface="Times New Roman" panose="02020603050405020304" pitchFamily="18" charset="0"/>
                <a:ea typeface="Noto Serif CJK SC"/>
                <a:cs typeface="Times New Roman" panose="02020603050405020304" pitchFamily="18" charset="0"/>
              </a:rPr>
              <a:t>Linear trajectory tool, highly intuitive and computationally efficient.</a:t>
            </a:r>
          </a:p>
          <a:p>
            <a:pPr marL="342900" lvl="0" indent="-342900">
              <a:lnSpc>
                <a:spcPct val="115000"/>
              </a:lnSpc>
              <a:spcAft>
                <a:spcPts val="700"/>
              </a:spcAft>
              <a:buFont typeface="Symbol" panose="05050102010706020507" pitchFamily="18" charset="2"/>
              <a:buChar char=""/>
              <a:tabLst>
                <a:tab pos="450215" algn="l"/>
              </a:tabLst>
            </a:pPr>
            <a:r>
              <a:rPr lang="en-IN" sz="1600" b="1" kern="100" dirty="0">
                <a:effectLst/>
                <a:latin typeface="Times New Roman" panose="02020603050405020304" pitchFamily="18" charset="0"/>
                <a:ea typeface="Noto Serif CJK SC"/>
                <a:cs typeface="Times New Roman" panose="02020603050405020304" pitchFamily="18" charset="0"/>
              </a:rPr>
              <a:t>TSCAN(Time Series Clustering Analysis)</a:t>
            </a:r>
            <a:r>
              <a:rPr lang="en-IN" sz="1600" kern="100" dirty="0">
                <a:effectLst/>
                <a:latin typeface="Times New Roman" panose="02020603050405020304" pitchFamily="18" charset="0"/>
                <a:ea typeface="Noto Serif CJK SC"/>
                <a:cs typeface="Times New Roman" panose="02020603050405020304" pitchFamily="18" charset="0"/>
              </a:rPr>
              <a:t>: (R package)</a:t>
            </a:r>
          </a:p>
          <a:p>
            <a:pPr marL="742950" lvl="1" indent="-285750">
              <a:lnSpc>
                <a:spcPct val="115000"/>
              </a:lnSpc>
              <a:spcAft>
                <a:spcPts val="700"/>
              </a:spcAft>
              <a:buFont typeface="Symbol" panose="05050102010706020507" pitchFamily="18" charset="2"/>
              <a:buChar char=""/>
              <a:tabLst>
                <a:tab pos="900430" algn="l"/>
              </a:tabLst>
            </a:pPr>
            <a:r>
              <a:rPr lang="en-IN" sz="1600" kern="100" dirty="0">
                <a:effectLst/>
                <a:latin typeface="Times New Roman" panose="02020603050405020304" pitchFamily="18" charset="0"/>
                <a:ea typeface="Noto Serif CJK SC"/>
                <a:cs typeface="Times New Roman" panose="02020603050405020304" pitchFamily="18" charset="0"/>
              </a:rPr>
              <a:t>Good for identifying non-branching trajectories, lightweight.</a:t>
            </a:r>
          </a:p>
          <a:p>
            <a:pPr marL="342900" lvl="0" indent="-342900">
              <a:lnSpc>
                <a:spcPct val="115000"/>
              </a:lnSpc>
              <a:spcAft>
                <a:spcPts val="700"/>
              </a:spcAft>
              <a:buFont typeface="Symbol" panose="05050102010706020507" pitchFamily="18" charset="2"/>
              <a:buChar char=""/>
              <a:tabLst>
                <a:tab pos="450215" algn="l"/>
              </a:tabLst>
            </a:pPr>
            <a:r>
              <a:rPr lang="en-IN" sz="1600" b="1" kern="100" dirty="0">
                <a:effectLst/>
                <a:latin typeface="Times New Roman" panose="02020603050405020304" pitchFamily="18" charset="0"/>
                <a:ea typeface="Noto Serif CJK SC"/>
                <a:cs typeface="Times New Roman" panose="02020603050405020304" pitchFamily="18" charset="0"/>
              </a:rPr>
              <a:t>DPT (Diffusion </a:t>
            </a:r>
            <a:r>
              <a:rPr lang="en-IN" sz="1600" b="1" kern="100" dirty="0" err="1">
                <a:effectLst/>
                <a:latin typeface="Times New Roman" panose="02020603050405020304" pitchFamily="18" charset="0"/>
                <a:ea typeface="Noto Serif CJK SC"/>
                <a:cs typeface="Times New Roman" panose="02020603050405020304" pitchFamily="18" charset="0"/>
              </a:rPr>
              <a:t>Pseudotime</a:t>
            </a:r>
            <a:r>
              <a:rPr lang="en-IN" sz="1600" b="1" kern="100" dirty="0">
                <a:effectLst/>
                <a:latin typeface="Times New Roman" panose="02020603050405020304" pitchFamily="18" charset="0"/>
                <a:ea typeface="Noto Serif CJK SC"/>
                <a:cs typeface="Times New Roman" panose="02020603050405020304" pitchFamily="18" charset="0"/>
              </a:rPr>
              <a:t>)</a:t>
            </a:r>
            <a:r>
              <a:rPr lang="en-IN" sz="1600" kern="100" dirty="0">
                <a:effectLst/>
                <a:latin typeface="Times New Roman" panose="02020603050405020304" pitchFamily="18" charset="0"/>
                <a:ea typeface="Noto Serif CJK SC"/>
                <a:cs typeface="Times New Roman" panose="02020603050405020304" pitchFamily="18" charset="0"/>
              </a:rPr>
              <a:t>: (</a:t>
            </a:r>
            <a:r>
              <a:rPr lang="en-IN" sz="1600" kern="100" dirty="0" err="1">
                <a:effectLst/>
                <a:latin typeface="Times New Roman" panose="02020603050405020304" pitchFamily="18" charset="0"/>
                <a:ea typeface="Noto Serif CJK SC"/>
                <a:cs typeface="Times New Roman" panose="02020603050405020304" pitchFamily="18" charset="0"/>
              </a:rPr>
              <a:t>Scanpy</a:t>
            </a:r>
            <a:r>
              <a:rPr lang="en-IN" sz="1600" kern="100" dirty="0">
                <a:effectLst/>
                <a:latin typeface="Times New Roman" panose="02020603050405020304" pitchFamily="18" charset="0"/>
                <a:ea typeface="Noto Serif CJK SC"/>
                <a:cs typeface="Times New Roman" panose="02020603050405020304" pitchFamily="18" charset="0"/>
              </a:rPr>
              <a:t> library)</a:t>
            </a:r>
          </a:p>
          <a:p>
            <a:pPr marL="742950" lvl="1" indent="-285750">
              <a:lnSpc>
                <a:spcPct val="115000"/>
              </a:lnSpc>
              <a:spcAft>
                <a:spcPts val="700"/>
              </a:spcAft>
              <a:buFont typeface="Symbol" panose="05050102010706020507" pitchFamily="18" charset="2"/>
              <a:buChar char=""/>
              <a:tabLst>
                <a:tab pos="900430" algn="l"/>
              </a:tabLst>
            </a:pPr>
            <a:r>
              <a:rPr lang="en-IN" sz="1600" kern="100" dirty="0">
                <a:effectLst/>
                <a:latin typeface="Times New Roman" panose="02020603050405020304" pitchFamily="18" charset="0"/>
                <a:ea typeface="Noto Serif CJK SC"/>
                <a:cs typeface="Times New Roman" panose="02020603050405020304" pitchFamily="18" charset="0"/>
              </a:rPr>
              <a:t>Robust and noise-tolerant method, particularly good for non-linear trajectories.</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8440364"/>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BC4B5B-02FE-1093-06CF-1427D2C6C049}"/>
              </a:ext>
            </a:extLst>
          </p:cNvPr>
          <p:cNvSpPr>
            <a:spLocks noGrp="1"/>
          </p:cNvSpPr>
          <p:nvPr>
            <p:ph type="title"/>
          </p:nvPr>
        </p:nvSpPr>
        <p:spPr/>
        <p:txBody>
          <a:bodyPr/>
          <a:lstStyle/>
          <a:p>
            <a:pPr algn="ctr"/>
            <a:r>
              <a:rPr lang="en-US" u="sng" dirty="0">
                <a:latin typeface="Algerian" panose="04020705040A02060702" pitchFamily="82" charset="0"/>
                <a:cs typeface="Times New Roman" panose="02020603050405020304" pitchFamily="18" charset="0"/>
              </a:rPr>
              <a:t>Visualization</a:t>
            </a:r>
            <a:endParaRPr lang="en-IN" u="sng" dirty="0">
              <a:latin typeface="Algerian" panose="04020705040A02060702" pitchFamily="82" charset="0"/>
              <a:cs typeface="Times New Roman" panose="02020603050405020304" pitchFamily="18" charset="0"/>
            </a:endParaRPr>
          </a:p>
        </p:txBody>
      </p:sp>
      <p:graphicFrame>
        <p:nvGraphicFramePr>
          <p:cNvPr id="7" name="Content Placeholder 6">
            <a:extLst>
              <a:ext uri="{FF2B5EF4-FFF2-40B4-BE49-F238E27FC236}">
                <a16:creationId xmlns:a16="http://schemas.microsoft.com/office/drawing/2014/main" id="{CD175919-BB95-F05A-AF19-8E86C27B27EB}"/>
              </a:ext>
            </a:extLst>
          </p:cNvPr>
          <p:cNvGraphicFramePr>
            <a:graphicFrameLocks noGrp="1"/>
          </p:cNvGraphicFramePr>
          <p:nvPr>
            <p:ph idx="1"/>
          </p:nvPr>
        </p:nvGraphicFramePr>
        <p:xfrm>
          <a:off x="838200" y="2574387"/>
          <a:ext cx="11034932" cy="3602039"/>
        </p:xfrm>
        <a:graphic>
          <a:graphicData uri="http://schemas.openxmlformats.org/drawingml/2006/table">
            <a:tbl>
              <a:tblPr firstRow="1">
                <a:tableStyleId>{93296810-A885-4BE3-A3E7-6D5BEEA58F35}</a:tableStyleId>
              </a:tblPr>
              <a:tblGrid>
                <a:gridCol w="2943878">
                  <a:extLst>
                    <a:ext uri="{9D8B030D-6E8A-4147-A177-3AD203B41FA5}">
                      <a16:colId xmlns:a16="http://schemas.microsoft.com/office/drawing/2014/main" val="3276452338"/>
                    </a:ext>
                  </a:extLst>
                </a:gridCol>
                <a:gridCol w="4412362">
                  <a:extLst>
                    <a:ext uri="{9D8B030D-6E8A-4147-A177-3AD203B41FA5}">
                      <a16:colId xmlns:a16="http://schemas.microsoft.com/office/drawing/2014/main" val="11394122"/>
                    </a:ext>
                  </a:extLst>
                </a:gridCol>
                <a:gridCol w="3678692">
                  <a:extLst>
                    <a:ext uri="{9D8B030D-6E8A-4147-A177-3AD203B41FA5}">
                      <a16:colId xmlns:a16="http://schemas.microsoft.com/office/drawing/2014/main" val="3053176128"/>
                    </a:ext>
                  </a:extLst>
                </a:gridCol>
              </a:tblGrid>
              <a:tr h="444278">
                <a:tc>
                  <a:txBody>
                    <a:bodyPr/>
                    <a:lstStyle/>
                    <a:p>
                      <a:pPr algn="ctr"/>
                      <a:r>
                        <a:rPr lang="en-IN" sz="1600" b="1" kern="100" dirty="0">
                          <a:effectLst/>
                        </a:rPr>
                        <a:t>Types of Visualization </a:t>
                      </a:r>
                      <a:endParaRPr lang="en-IN" sz="1600" b="1"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pPr algn="ctr"/>
                      <a:r>
                        <a:rPr lang="en-US" sz="1600" b="1" kern="100" dirty="0">
                          <a:effectLst/>
                        </a:rPr>
                        <a:t>F</a:t>
                      </a:r>
                      <a:r>
                        <a:rPr lang="en-IN" sz="1600" b="1" kern="100" dirty="0">
                          <a:effectLst/>
                        </a:rPr>
                        <a:t>unction</a:t>
                      </a:r>
                      <a:endParaRPr lang="en-IN" sz="1600" b="1"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pPr algn="ctr"/>
                      <a:r>
                        <a:rPr lang="en-IN" sz="1600" b="1" kern="100" dirty="0">
                          <a:effectLst/>
                        </a:rPr>
                        <a:t>Tools used</a:t>
                      </a:r>
                      <a:endParaRPr lang="en-IN" sz="1600" b="1"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888801673"/>
                  </a:ext>
                </a:extLst>
              </a:tr>
              <a:tr h="765767">
                <a:tc>
                  <a:txBody>
                    <a:bodyPr/>
                    <a:lstStyle/>
                    <a:p>
                      <a:pPr algn="ctr"/>
                      <a:r>
                        <a:rPr lang="en-IN" sz="1600" kern="100">
                          <a:effectLst/>
                        </a:rPr>
                        <a:t>Trajectory Plot</a:t>
                      </a:r>
                      <a:endParaRPr lang="en-IN" sz="16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600" kern="100" dirty="0">
                          <a:effectLst/>
                        </a:rPr>
                        <a:t>Visualizing cell progression along pseudo-time trajectory.</a:t>
                      </a:r>
                      <a:endParaRPr lang="en-IN" sz="16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pPr algn="ctr"/>
                      <a:r>
                        <a:rPr lang="en-IN" sz="1600" kern="100" dirty="0">
                          <a:effectLst/>
                        </a:rPr>
                        <a:t>Monocle, Slingshot</a:t>
                      </a:r>
                      <a:endParaRPr lang="en-IN" sz="16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114690157"/>
                  </a:ext>
                </a:extLst>
              </a:tr>
              <a:tr h="624419">
                <a:tc>
                  <a:txBody>
                    <a:bodyPr/>
                    <a:lstStyle/>
                    <a:p>
                      <a:pPr algn="ctr"/>
                      <a:r>
                        <a:rPr lang="en-IN" sz="1600" kern="100" dirty="0">
                          <a:effectLst/>
                        </a:rPr>
                        <a:t>Lineage Trees</a:t>
                      </a:r>
                      <a:endParaRPr lang="en-IN" sz="16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600" kern="100" dirty="0">
                          <a:effectLst/>
                        </a:rPr>
                        <a:t>Mapping branching lineages in differentiation pathways.</a:t>
                      </a:r>
                      <a:endParaRPr lang="en-IN" sz="16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pPr algn="ctr"/>
                      <a:r>
                        <a:rPr lang="en-IN" sz="1600" kern="100" dirty="0">
                          <a:effectLst/>
                        </a:rPr>
                        <a:t>Slingshot, Monocle</a:t>
                      </a:r>
                      <a:endParaRPr lang="en-IN" sz="16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2133275391"/>
                  </a:ext>
                </a:extLst>
              </a:tr>
              <a:tr h="444278">
                <a:tc>
                  <a:txBody>
                    <a:bodyPr/>
                    <a:lstStyle/>
                    <a:p>
                      <a:pPr algn="ctr"/>
                      <a:r>
                        <a:rPr lang="en-IN" sz="1600" kern="100">
                          <a:effectLst/>
                        </a:rPr>
                        <a:t>Gene Expression Heatmaps</a:t>
                      </a:r>
                      <a:endParaRPr lang="en-IN" sz="16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600" kern="100" dirty="0">
                          <a:effectLst/>
                        </a:rPr>
                        <a:t>Showing HVGs dynamics along pseudo-time. Visualize change in Gene expression patterns.</a:t>
                      </a:r>
                      <a:endParaRPr lang="en-IN" sz="16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pPr algn="ctr"/>
                      <a:r>
                        <a:rPr lang="en-IN" sz="1600" kern="100" dirty="0">
                          <a:effectLst/>
                        </a:rPr>
                        <a:t>Monocle, SCORPIUS</a:t>
                      </a:r>
                      <a:endParaRPr lang="en-IN" sz="16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3335674576"/>
                  </a:ext>
                </a:extLst>
              </a:tr>
              <a:tr h="444278">
                <a:tc>
                  <a:txBody>
                    <a:bodyPr/>
                    <a:lstStyle/>
                    <a:p>
                      <a:pPr algn="ctr"/>
                      <a:r>
                        <a:rPr lang="en-IN" sz="1600" kern="100" dirty="0">
                          <a:effectLst/>
                        </a:rPr>
                        <a:t>Branch Plot</a:t>
                      </a:r>
                      <a:endParaRPr lang="en-IN" sz="16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600" kern="100" dirty="0">
                          <a:effectLst/>
                        </a:rPr>
                        <a:t>Visualizing cell transitions between branches.</a:t>
                      </a:r>
                      <a:endParaRPr lang="en-IN" sz="16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pPr algn="ctr"/>
                      <a:r>
                        <a:rPr lang="en-IN" sz="1600" kern="100" dirty="0">
                          <a:effectLst/>
                        </a:rPr>
                        <a:t>Monocle3</a:t>
                      </a:r>
                      <a:endParaRPr lang="en-IN" sz="16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3472224269"/>
                  </a:ext>
                </a:extLst>
              </a:tr>
              <a:tr h="765767">
                <a:tc>
                  <a:txBody>
                    <a:bodyPr/>
                    <a:lstStyle/>
                    <a:p>
                      <a:pPr algn="ctr"/>
                      <a:r>
                        <a:rPr lang="en-IN" sz="1600" kern="100" dirty="0" err="1">
                          <a:effectLst/>
                        </a:rPr>
                        <a:t>Pseudotime</a:t>
                      </a:r>
                      <a:r>
                        <a:rPr lang="en-IN" sz="1600" kern="100" dirty="0">
                          <a:effectLst/>
                        </a:rPr>
                        <a:t> </a:t>
                      </a:r>
                      <a:r>
                        <a:rPr lang="en-IN" sz="1600" kern="100" dirty="0" err="1">
                          <a:effectLst/>
                        </a:rPr>
                        <a:t>Color</a:t>
                      </a:r>
                      <a:r>
                        <a:rPr lang="en-IN" sz="1600" kern="100" dirty="0">
                          <a:effectLst/>
                        </a:rPr>
                        <a:t> Maps</a:t>
                      </a:r>
                      <a:endParaRPr lang="en-IN" sz="16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600" kern="100" dirty="0">
                          <a:effectLst/>
                        </a:rPr>
                        <a:t>Overview of </a:t>
                      </a:r>
                      <a:r>
                        <a:rPr lang="en-IN" sz="1600" kern="100" dirty="0" err="1">
                          <a:effectLst/>
                        </a:rPr>
                        <a:t>pseudotime</a:t>
                      </a:r>
                      <a:r>
                        <a:rPr lang="en-IN" sz="1600" kern="100" dirty="0">
                          <a:effectLst/>
                        </a:rPr>
                        <a:t> progression early to late stages of the cellular progression.</a:t>
                      </a:r>
                      <a:endParaRPr lang="en-IN" sz="16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pPr algn="ctr"/>
                      <a:r>
                        <a:rPr lang="en-IN" sz="1600" kern="100" dirty="0">
                          <a:effectLst/>
                        </a:rPr>
                        <a:t>Monocle, Slingshot, TSCAN</a:t>
                      </a:r>
                      <a:endParaRPr lang="en-IN" sz="16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1761062251"/>
                  </a:ext>
                </a:extLst>
              </a:tr>
            </a:tbl>
          </a:graphicData>
        </a:graphic>
      </p:graphicFrame>
      <p:sp>
        <p:nvSpPr>
          <p:cNvPr id="9" name="TextBox 8">
            <a:extLst>
              <a:ext uri="{FF2B5EF4-FFF2-40B4-BE49-F238E27FC236}">
                <a16:creationId xmlns:a16="http://schemas.microsoft.com/office/drawing/2014/main" id="{C4576E6C-42FE-DE31-BAAB-1D513CA7D0A6}"/>
              </a:ext>
            </a:extLst>
          </p:cNvPr>
          <p:cNvSpPr txBox="1"/>
          <p:nvPr/>
        </p:nvSpPr>
        <p:spPr>
          <a:xfrm>
            <a:off x="601394" y="1329397"/>
            <a:ext cx="8908366" cy="777649"/>
          </a:xfrm>
          <a:prstGeom prst="rect">
            <a:avLst/>
          </a:prstGeom>
          <a:noFill/>
        </p:spPr>
        <p:txBody>
          <a:bodyPr wrap="square">
            <a:spAutoFit/>
          </a:bodyPr>
          <a:lstStyle/>
          <a:p>
            <a:pPr marL="285750" indent="-285750">
              <a:lnSpc>
                <a:spcPct val="115000"/>
              </a:lnSpc>
              <a:spcAft>
                <a:spcPts val="700"/>
              </a:spcAft>
              <a:buFont typeface="Wingdings" panose="05000000000000000000" pitchFamily="2" charset="2"/>
              <a:buChar char="§"/>
            </a:pPr>
            <a:r>
              <a:rPr lang="en-IN" kern="100" dirty="0">
                <a:effectLst/>
                <a:latin typeface="Times New Roman" panose="02020603050405020304" pitchFamily="18" charset="0"/>
                <a:ea typeface="Noto Serif CJK SC"/>
                <a:cs typeface="Times New Roman" panose="02020603050405020304" pitchFamily="18" charset="0"/>
              </a:rPr>
              <a:t>Visual representation of lineage differentiation or cellular progression in single-cell RNA</a:t>
            </a:r>
          </a:p>
          <a:p>
            <a:pPr marL="285750" indent="-285750">
              <a:buFont typeface="Wingdings" panose="05000000000000000000" pitchFamily="2" charset="2"/>
              <a:buChar char="§"/>
            </a:pPr>
            <a:r>
              <a:rPr lang="en-IN" dirty="0">
                <a:effectLst/>
                <a:latin typeface="Times New Roman" panose="02020603050405020304" pitchFamily="18" charset="0"/>
                <a:ea typeface="Noto Serif CJK SC"/>
                <a:cs typeface="Times New Roman" panose="02020603050405020304" pitchFamily="18" charset="0"/>
              </a:rPr>
              <a:t>help to interpret </a:t>
            </a:r>
            <a:r>
              <a:rPr lang="en-IN" dirty="0" err="1">
                <a:effectLst/>
                <a:latin typeface="Times New Roman" panose="02020603050405020304" pitchFamily="18" charset="0"/>
                <a:ea typeface="Noto Serif CJK SC"/>
                <a:cs typeface="Times New Roman" panose="02020603050405020304" pitchFamily="18" charset="0"/>
              </a:rPr>
              <a:t>pseudotime</a:t>
            </a:r>
            <a:r>
              <a:rPr lang="en-IN" dirty="0">
                <a:effectLst/>
                <a:latin typeface="Times New Roman" panose="02020603050405020304" pitchFamily="18" charset="0"/>
                <a:ea typeface="Noto Serif CJK SC"/>
                <a:cs typeface="Times New Roman" panose="02020603050405020304" pitchFamily="18" charset="0"/>
              </a:rPr>
              <a:t> analysis and highlight distinct branches and pathways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26862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762687-85D5-0FCF-59D4-861A095490CD}"/>
              </a:ext>
            </a:extLst>
          </p:cNvPr>
          <p:cNvSpPr txBox="1"/>
          <p:nvPr/>
        </p:nvSpPr>
        <p:spPr>
          <a:xfrm>
            <a:off x="76200" y="819031"/>
            <a:ext cx="12039600" cy="1073884"/>
          </a:xfrm>
          <a:prstGeom prst="rect">
            <a:avLst/>
          </a:prstGeom>
          <a:noFill/>
        </p:spPr>
        <p:txBody>
          <a:bodyPr wrap="square" rtlCol="0">
            <a:spAutoFit/>
          </a:bodyPr>
          <a:lstStyle/>
          <a:p>
            <a:pPr>
              <a:lnSpc>
                <a:spcPct val="107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Visualization:</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The results can be visualized as heatmaps, volcano plots, or dot plots the x-axis represents the log fold change, and the y-axis represents the statistical significance (p-value).</a:t>
            </a:r>
          </a:p>
        </p:txBody>
      </p:sp>
      <p:pic>
        <p:nvPicPr>
          <p:cNvPr id="4" name="Picture 10" descr="cellranger/README.md at main · 10XGenomics/cellranger · GitHub">
            <a:extLst>
              <a:ext uri="{FF2B5EF4-FFF2-40B4-BE49-F238E27FC236}">
                <a16:creationId xmlns:a16="http://schemas.microsoft.com/office/drawing/2014/main" id="{9A7DDBB6-8523-2FC3-8D35-58732E5F7B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0330" y="177546"/>
            <a:ext cx="5299258" cy="264962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8C0FF72-A5A1-E312-D17B-CE722DAF543D}"/>
              </a:ext>
            </a:extLst>
          </p:cNvPr>
          <p:cNvSpPr txBox="1"/>
          <p:nvPr/>
        </p:nvSpPr>
        <p:spPr>
          <a:xfrm>
            <a:off x="0" y="24903"/>
            <a:ext cx="12115800" cy="707886"/>
          </a:xfrm>
          <a:prstGeom prst="rect">
            <a:avLst/>
          </a:prstGeom>
          <a:solidFill>
            <a:schemeClr val="bg1"/>
          </a:solid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en-IN" sz="4000" u="sng" kern="1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lgerian" panose="04020705040A02060702" pitchFamily="82" charset="0"/>
                <a:cs typeface="Times New Roman" panose="02020603050405020304" pitchFamily="18" charset="0"/>
              </a:rPr>
              <a:t>Differential Expression Analysis</a:t>
            </a:r>
          </a:p>
        </p:txBody>
      </p:sp>
      <p:grpSp>
        <p:nvGrpSpPr>
          <p:cNvPr id="7" name="Group 6">
            <a:extLst>
              <a:ext uri="{FF2B5EF4-FFF2-40B4-BE49-F238E27FC236}">
                <a16:creationId xmlns:a16="http://schemas.microsoft.com/office/drawing/2014/main" id="{9031F8EF-A6CB-4D92-5BED-49D2C7C9612E}"/>
              </a:ext>
            </a:extLst>
          </p:cNvPr>
          <p:cNvGrpSpPr/>
          <p:nvPr/>
        </p:nvGrpSpPr>
        <p:grpSpPr>
          <a:xfrm>
            <a:off x="3103337" y="1902245"/>
            <a:ext cx="9012463" cy="4820394"/>
            <a:chOff x="3103337" y="1902245"/>
            <a:chExt cx="9012463" cy="4820394"/>
          </a:xfrm>
        </p:grpSpPr>
        <p:pic>
          <p:nvPicPr>
            <p:cNvPr id="6146" name="Picture 2" descr="A heatmap plot of the differentially expressed genes (DEGs) of all... |  Download Scientific Diagram">
              <a:extLst>
                <a:ext uri="{FF2B5EF4-FFF2-40B4-BE49-F238E27FC236}">
                  <a16:creationId xmlns:a16="http://schemas.microsoft.com/office/drawing/2014/main" id="{76F47780-DCF2-D21D-2E88-862602F11A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3337" y="1902245"/>
              <a:ext cx="4332722" cy="466650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599600E-7BDD-412E-08EA-F789A794D9FF}"/>
                </a:ext>
              </a:extLst>
            </p:cNvPr>
            <p:cNvSpPr txBox="1"/>
            <p:nvPr/>
          </p:nvSpPr>
          <p:spPr>
            <a:xfrm>
              <a:off x="7604449" y="6014753"/>
              <a:ext cx="4511351" cy="707886"/>
            </a:xfrm>
            <a:prstGeom prst="rect">
              <a:avLst/>
            </a:prstGeom>
            <a:noFill/>
          </p:spPr>
          <p:txBody>
            <a:bodyPr wrap="square" rtlCol="0">
              <a:spAutoFit/>
            </a:bodyPr>
            <a:lstStyle/>
            <a:p>
              <a:r>
                <a:rPr lang="en-IN" sz="1000" b="1" dirty="0"/>
                <a:t>Source:</a:t>
              </a:r>
              <a:r>
                <a:rPr lang="en-IN" sz="1000" dirty="0"/>
                <a:t> https://www.researchgate.net/publication/319942046_Pathway_and_network-based_analysis_of_genome-wide_association_studies_and_RT-PCR_validation_in_polycystic_ovary_syndrome/figures?lo=1</a:t>
              </a:r>
            </a:p>
          </p:txBody>
        </p:sp>
      </p:grpSp>
      <p:grpSp>
        <p:nvGrpSpPr>
          <p:cNvPr id="9" name="Group 8">
            <a:extLst>
              <a:ext uri="{FF2B5EF4-FFF2-40B4-BE49-F238E27FC236}">
                <a16:creationId xmlns:a16="http://schemas.microsoft.com/office/drawing/2014/main" id="{3325B296-37B2-7105-6D94-D150F8C82406}"/>
              </a:ext>
            </a:extLst>
          </p:cNvPr>
          <p:cNvGrpSpPr/>
          <p:nvPr/>
        </p:nvGrpSpPr>
        <p:grpSpPr>
          <a:xfrm>
            <a:off x="12451907" y="67478"/>
            <a:ext cx="8443993" cy="4877743"/>
            <a:chOff x="3671807" y="1980256"/>
            <a:chExt cx="8443993" cy="4877743"/>
          </a:xfrm>
        </p:grpSpPr>
        <p:pic>
          <p:nvPicPr>
            <p:cNvPr id="10" name="Picture 2" descr="Hands-on: Visualization of RNA-Seq results with Volcano Plot /  Visualization of RNA-Seq results with Volcano Plot / Transcriptomics">
              <a:extLst>
                <a:ext uri="{FF2B5EF4-FFF2-40B4-BE49-F238E27FC236}">
                  <a16:creationId xmlns:a16="http://schemas.microsoft.com/office/drawing/2014/main" id="{9C5A1E5D-6CF5-2751-6375-AF93F13D04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1807" y="1980256"/>
              <a:ext cx="4848387" cy="487774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24F1981-5F3E-9A53-09FB-B94B869BB0D0}"/>
                </a:ext>
              </a:extLst>
            </p:cNvPr>
            <p:cNvSpPr txBox="1"/>
            <p:nvPr/>
          </p:nvSpPr>
          <p:spPr>
            <a:xfrm>
              <a:off x="8425973" y="6038969"/>
              <a:ext cx="3689827" cy="707886"/>
            </a:xfrm>
            <a:prstGeom prst="rect">
              <a:avLst/>
            </a:prstGeom>
            <a:noFill/>
          </p:spPr>
          <p:txBody>
            <a:bodyPr wrap="square" rtlCol="0">
              <a:spAutoFit/>
            </a:bodyPr>
            <a:lstStyle/>
            <a:p>
              <a:r>
                <a:rPr lang="en-US" sz="1000" dirty="0"/>
                <a:t>Source:</a:t>
              </a:r>
            </a:p>
            <a:p>
              <a:r>
                <a:rPr lang="en-IN" sz="1000" dirty="0"/>
                <a:t>https://training.galaxyproject.org/training-material/topics/transcriptomics/tutorials/rna-seq-viz-with-volcanoplot/tutorial.html</a:t>
              </a:r>
            </a:p>
          </p:txBody>
        </p:sp>
      </p:grpSp>
    </p:spTree>
    <p:extLst>
      <p:ext uri="{BB962C8B-B14F-4D97-AF65-F5344CB8AC3E}">
        <p14:creationId xmlns:p14="http://schemas.microsoft.com/office/powerpoint/2010/main" val="2599447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762687-85D5-0FCF-59D4-861A095490CD}"/>
              </a:ext>
            </a:extLst>
          </p:cNvPr>
          <p:cNvSpPr txBox="1"/>
          <p:nvPr/>
        </p:nvSpPr>
        <p:spPr>
          <a:xfrm>
            <a:off x="76200" y="819031"/>
            <a:ext cx="12039600" cy="1073884"/>
          </a:xfrm>
          <a:prstGeom prst="rect">
            <a:avLst/>
          </a:prstGeom>
          <a:noFill/>
        </p:spPr>
        <p:txBody>
          <a:bodyPr wrap="square" rtlCol="0">
            <a:spAutoFit/>
          </a:bodyPr>
          <a:lstStyle/>
          <a:p>
            <a:pPr>
              <a:lnSpc>
                <a:spcPct val="107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Visualization:</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The results can be visualized as heatmaps, volcano plots, or dot plots the x-axis represents the log fold change, and the y-axis represents the statistical significance (p-value).</a:t>
            </a:r>
          </a:p>
        </p:txBody>
      </p:sp>
      <p:sp>
        <p:nvSpPr>
          <p:cNvPr id="5" name="TextBox 4">
            <a:extLst>
              <a:ext uri="{FF2B5EF4-FFF2-40B4-BE49-F238E27FC236}">
                <a16:creationId xmlns:a16="http://schemas.microsoft.com/office/drawing/2014/main" id="{A8C0FF72-A5A1-E312-D17B-CE722DAF543D}"/>
              </a:ext>
            </a:extLst>
          </p:cNvPr>
          <p:cNvSpPr txBox="1"/>
          <p:nvPr/>
        </p:nvSpPr>
        <p:spPr>
          <a:xfrm>
            <a:off x="0" y="24903"/>
            <a:ext cx="12115800" cy="707886"/>
          </a:xfrm>
          <a:prstGeom prst="rect">
            <a:avLst/>
          </a:prstGeom>
          <a:solidFill>
            <a:schemeClr val="bg1"/>
          </a:solid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en-IN" sz="4000" u="sng" kern="1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lgerian" panose="04020705040A02060702" pitchFamily="82" charset="0"/>
                <a:cs typeface="Times New Roman" panose="02020603050405020304" pitchFamily="18" charset="0"/>
              </a:rPr>
              <a:t>Differential Expression Analysis</a:t>
            </a:r>
          </a:p>
        </p:txBody>
      </p:sp>
      <p:grpSp>
        <p:nvGrpSpPr>
          <p:cNvPr id="7" name="Group 6">
            <a:extLst>
              <a:ext uri="{FF2B5EF4-FFF2-40B4-BE49-F238E27FC236}">
                <a16:creationId xmlns:a16="http://schemas.microsoft.com/office/drawing/2014/main" id="{9031F8EF-A6CB-4D92-5BED-49D2C7C9612E}"/>
              </a:ext>
            </a:extLst>
          </p:cNvPr>
          <p:cNvGrpSpPr/>
          <p:nvPr/>
        </p:nvGrpSpPr>
        <p:grpSpPr>
          <a:xfrm>
            <a:off x="-9146631" y="73445"/>
            <a:ext cx="9012463" cy="4820394"/>
            <a:chOff x="3103337" y="1902245"/>
            <a:chExt cx="9012463" cy="4820394"/>
          </a:xfrm>
        </p:grpSpPr>
        <p:pic>
          <p:nvPicPr>
            <p:cNvPr id="6146" name="Picture 2" descr="A heatmap plot of the differentially expressed genes (DEGs) of all... |  Download Scientific Diagram">
              <a:extLst>
                <a:ext uri="{FF2B5EF4-FFF2-40B4-BE49-F238E27FC236}">
                  <a16:creationId xmlns:a16="http://schemas.microsoft.com/office/drawing/2014/main" id="{76F47780-DCF2-D21D-2E88-862602F11A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3337" y="1902245"/>
              <a:ext cx="4332722" cy="466650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599600E-7BDD-412E-08EA-F789A794D9FF}"/>
                </a:ext>
              </a:extLst>
            </p:cNvPr>
            <p:cNvSpPr txBox="1"/>
            <p:nvPr/>
          </p:nvSpPr>
          <p:spPr>
            <a:xfrm>
              <a:off x="7604449" y="6014753"/>
              <a:ext cx="4511351" cy="707886"/>
            </a:xfrm>
            <a:prstGeom prst="rect">
              <a:avLst/>
            </a:prstGeom>
            <a:noFill/>
          </p:spPr>
          <p:txBody>
            <a:bodyPr wrap="square" rtlCol="0">
              <a:spAutoFit/>
            </a:bodyPr>
            <a:lstStyle/>
            <a:p>
              <a:r>
                <a:rPr lang="en-IN" sz="1000" b="1" dirty="0"/>
                <a:t>Source:</a:t>
              </a:r>
              <a:r>
                <a:rPr lang="en-IN" sz="1000" dirty="0"/>
                <a:t> https://www.researchgate.net/publication/319942046_Pathway_and_network-based_analysis_of_genome-wide_association_studies_and_RT-PCR_validation_in_polycystic_ovary_syndrome/figures?lo=1</a:t>
              </a:r>
            </a:p>
          </p:txBody>
        </p:sp>
      </p:grpSp>
      <p:grpSp>
        <p:nvGrpSpPr>
          <p:cNvPr id="8" name="Group 7">
            <a:extLst>
              <a:ext uri="{FF2B5EF4-FFF2-40B4-BE49-F238E27FC236}">
                <a16:creationId xmlns:a16="http://schemas.microsoft.com/office/drawing/2014/main" id="{10F3BF26-E93F-412A-46E5-802C1EC71BBD}"/>
              </a:ext>
            </a:extLst>
          </p:cNvPr>
          <p:cNvGrpSpPr/>
          <p:nvPr/>
        </p:nvGrpSpPr>
        <p:grpSpPr>
          <a:xfrm>
            <a:off x="3671807" y="1980256"/>
            <a:ext cx="8443993" cy="4877743"/>
            <a:chOff x="3671807" y="1980256"/>
            <a:chExt cx="8443993" cy="4877743"/>
          </a:xfrm>
        </p:grpSpPr>
        <p:pic>
          <p:nvPicPr>
            <p:cNvPr id="10242" name="Picture 2" descr="Hands-on: Visualization of RNA-Seq results with Volcano Plot /  Visualization of RNA-Seq results with Volcano Plot / Transcriptomics">
              <a:extLst>
                <a:ext uri="{FF2B5EF4-FFF2-40B4-BE49-F238E27FC236}">
                  <a16:creationId xmlns:a16="http://schemas.microsoft.com/office/drawing/2014/main" id="{C924A629-10EE-ED1E-3FE6-75BC58414C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1807" y="1980256"/>
              <a:ext cx="4848387" cy="487774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04F227F-2E7E-B11E-F69D-8FA813068071}"/>
                </a:ext>
              </a:extLst>
            </p:cNvPr>
            <p:cNvSpPr txBox="1"/>
            <p:nvPr/>
          </p:nvSpPr>
          <p:spPr>
            <a:xfrm>
              <a:off x="8425973" y="6038969"/>
              <a:ext cx="3689827" cy="707886"/>
            </a:xfrm>
            <a:prstGeom prst="rect">
              <a:avLst/>
            </a:prstGeom>
            <a:noFill/>
          </p:spPr>
          <p:txBody>
            <a:bodyPr wrap="square" rtlCol="0">
              <a:spAutoFit/>
            </a:bodyPr>
            <a:lstStyle/>
            <a:p>
              <a:r>
                <a:rPr lang="en-US" sz="1000" dirty="0"/>
                <a:t>Source:</a:t>
              </a:r>
            </a:p>
            <a:p>
              <a:r>
                <a:rPr lang="en-IN" sz="1000" dirty="0"/>
                <a:t>https://training.galaxyproject.org/training-material/topics/transcriptomics/tutorials/rna-seq-viz-with-volcanoplot/tutorial.html</a:t>
              </a:r>
            </a:p>
          </p:txBody>
        </p:sp>
      </p:grpSp>
      <p:grpSp>
        <p:nvGrpSpPr>
          <p:cNvPr id="9" name="Group 8">
            <a:extLst>
              <a:ext uri="{FF2B5EF4-FFF2-40B4-BE49-F238E27FC236}">
                <a16:creationId xmlns:a16="http://schemas.microsoft.com/office/drawing/2014/main" id="{4A018CF3-F0B8-D94F-F32A-C9AD8531E3D2}"/>
              </a:ext>
            </a:extLst>
          </p:cNvPr>
          <p:cNvGrpSpPr/>
          <p:nvPr/>
        </p:nvGrpSpPr>
        <p:grpSpPr>
          <a:xfrm>
            <a:off x="12432258" y="132182"/>
            <a:ext cx="8277030" cy="4631848"/>
            <a:chOff x="3838770" y="2138266"/>
            <a:chExt cx="8277030" cy="4631848"/>
          </a:xfrm>
        </p:grpSpPr>
        <p:pic>
          <p:nvPicPr>
            <p:cNvPr id="10" name="Picture 2" descr="The boxplot of expression level of top5 DEG miRNAs in 80 pairs of... |  Download Scientific Diagram">
              <a:extLst>
                <a:ext uri="{FF2B5EF4-FFF2-40B4-BE49-F238E27FC236}">
                  <a16:creationId xmlns:a16="http://schemas.microsoft.com/office/drawing/2014/main" id="{1DAC117C-3BE5-49C3-632E-74BF4B9A3A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8770" y="2138266"/>
              <a:ext cx="4514461" cy="451446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A83C321-9DB2-BD81-8A39-789AA1F2AC28}"/>
                </a:ext>
              </a:extLst>
            </p:cNvPr>
            <p:cNvSpPr txBox="1"/>
            <p:nvPr/>
          </p:nvSpPr>
          <p:spPr>
            <a:xfrm>
              <a:off x="8425973" y="5908340"/>
              <a:ext cx="3689827" cy="861774"/>
            </a:xfrm>
            <a:prstGeom prst="rect">
              <a:avLst/>
            </a:prstGeom>
            <a:noFill/>
          </p:spPr>
          <p:txBody>
            <a:bodyPr wrap="square" rtlCol="0">
              <a:spAutoFit/>
            </a:bodyPr>
            <a:lstStyle/>
            <a:p>
              <a:r>
                <a:rPr lang="en-US" sz="1000" dirty="0"/>
                <a:t>Source:</a:t>
              </a:r>
            </a:p>
            <a:p>
              <a:r>
                <a:rPr lang="en-IN" sz="1000" dirty="0"/>
                <a:t>https://www.researchgate.net/publication/319683444_MicroRNA-196b_inhibits_late_apoptosis_of_pancreatic_cancer_cells_by_targeting_CADM1/figures?lo=1</a:t>
              </a:r>
            </a:p>
          </p:txBody>
        </p:sp>
      </p:grpSp>
    </p:spTree>
    <p:extLst>
      <p:ext uri="{BB962C8B-B14F-4D97-AF65-F5344CB8AC3E}">
        <p14:creationId xmlns:p14="http://schemas.microsoft.com/office/powerpoint/2010/main" val="2240687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762687-85D5-0FCF-59D4-861A095490CD}"/>
              </a:ext>
            </a:extLst>
          </p:cNvPr>
          <p:cNvSpPr txBox="1"/>
          <p:nvPr/>
        </p:nvSpPr>
        <p:spPr>
          <a:xfrm>
            <a:off x="76200" y="819031"/>
            <a:ext cx="12039600" cy="1073884"/>
          </a:xfrm>
          <a:prstGeom prst="rect">
            <a:avLst/>
          </a:prstGeom>
          <a:noFill/>
        </p:spPr>
        <p:txBody>
          <a:bodyPr wrap="square" rtlCol="0">
            <a:spAutoFit/>
          </a:bodyPr>
          <a:lstStyle/>
          <a:p>
            <a:pPr>
              <a:lnSpc>
                <a:spcPct val="107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Visualization:</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The results can be visualized as heatmaps, volcano plots, or </a:t>
            </a:r>
            <a:r>
              <a:rPr lang="en-IN" kern="100" dirty="0">
                <a:latin typeface="Aptos" panose="020B0004020202020204" pitchFamily="34" charset="0"/>
                <a:ea typeface="Aptos" panose="020B0004020202020204" pitchFamily="34" charset="0"/>
                <a:cs typeface="Times New Roman" panose="02020603050405020304" pitchFamily="18" charset="0"/>
              </a:rPr>
              <a:t>box</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plots the x-axis represents the log fold change, and the y-axis represents the statistical significance (p-value).</a:t>
            </a:r>
          </a:p>
        </p:txBody>
      </p:sp>
      <p:sp>
        <p:nvSpPr>
          <p:cNvPr id="5" name="TextBox 4">
            <a:extLst>
              <a:ext uri="{FF2B5EF4-FFF2-40B4-BE49-F238E27FC236}">
                <a16:creationId xmlns:a16="http://schemas.microsoft.com/office/drawing/2014/main" id="{A8C0FF72-A5A1-E312-D17B-CE722DAF543D}"/>
              </a:ext>
            </a:extLst>
          </p:cNvPr>
          <p:cNvSpPr txBox="1"/>
          <p:nvPr/>
        </p:nvSpPr>
        <p:spPr>
          <a:xfrm>
            <a:off x="0" y="24903"/>
            <a:ext cx="12115800" cy="707886"/>
          </a:xfrm>
          <a:prstGeom prst="rect">
            <a:avLst/>
          </a:prstGeom>
          <a:solidFill>
            <a:schemeClr val="bg1"/>
          </a:solid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en-IN" sz="4000" u="sng" kern="1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lgerian" panose="04020705040A02060702" pitchFamily="82" charset="0"/>
                <a:cs typeface="Times New Roman" panose="02020603050405020304" pitchFamily="18" charset="0"/>
              </a:rPr>
              <a:t>Differential Expression Analysis</a:t>
            </a:r>
          </a:p>
        </p:txBody>
      </p:sp>
      <p:grpSp>
        <p:nvGrpSpPr>
          <p:cNvPr id="7" name="Group 6">
            <a:extLst>
              <a:ext uri="{FF2B5EF4-FFF2-40B4-BE49-F238E27FC236}">
                <a16:creationId xmlns:a16="http://schemas.microsoft.com/office/drawing/2014/main" id="{9031F8EF-A6CB-4D92-5BED-49D2C7C9612E}"/>
              </a:ext>
            </a:extLst>
          </p:cNvPr>
          <p:cNvGrpSpPr/>
          <p:nvPr/>
        </p:nvGrpSpPr>
        <p:grpSpPr>
          <a:xfrm>
            <a:off x="-9146631" y="73445"/>
            <a:ext cx="9012463" cy="4820394"/>
            <a:chOff x="3103337" y="1902245"/>
            <a:chExt cx="9012463" cy="4820394"/>
          </a:xfrm>
        </p:grpSpPr>
        <p:pic>
          <p:nvPicPr>
            <p:cNvPr id="6146" name="Picture 2" descr="A heatmap plot of the differentially expressed genes (DEGs) of all... |  Download Scientific Diagram">
              <a:extLst>
                <a:ext uri="{FF2B5EF4-FFF2-40B4-BE49-F238E27FC236}">
                  <a16:creationId xmlns:a16="http://schemas.microsoft.com/office/drawing/2014/main" id="{76F47780-DCF2-D21D-2E88-862602F11A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3337" y="1902245"/>
              <a:ext cx="4332722" cy="466650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599600E-7BDD-412E-08EA-F789A794D9FF}"/>
                </a:ext>
              </a:extLst>
            </p:cNvPr>
            <p:cNvSpPr txBox="1"/>
            <p:nvPr/>
          </p:nvSpPr>
          <p:spPr>
            <a:xfrm>
              <a:off x="7604449" y="6014753"/>
              <a:ext cx="4511351" cy="707886"/>
            </a:xfrm>
            <a:prstGeom prst="rect">
              <a:avLst/>
            </a:prstGeom>
            <a:noFill/>
          </p:spPr>
          <p:txBody>
            <a:bodyPr wrap="square" rtlCol="0">
              <a:spAutoFit/>
            </a:bodyPr>
            <a:lstStyle/>
            <a:p>
              <a:r>
                <a:rPr lang="en-IN" sz="1000" b="1" dirty="0"/>
                <a:t>Source:</a:t>
              </a:r>
              <a:r>
                <a:rPr lang="en-IN" sz="1000" dirty="0"/>
                <a:t> https://www.researchgate.net/publication/319942046_Pathway_and_network-based_analysis_of_genome-wide_association_studies_and_RT-PCR_validation_in_polycystic_ovary_syndrome/figures?lo=1</a:t>
              </a:r>
            </a:p>
          </p:txBody>
        </p:sp>
      </p:grpSp>
      <p:grpSp>
        <p:nvGrpSpPr>
          <p:cNvPr id="8" name="Group 7">
            <a:extLst>
              <a:ext uri="{FF2B5EF4-FFF2-40B4-BE49-F238E27FC236}">
                <a16:creationId xmlns:a16="http://schemas.microsoft.com/office/drawing/2014/main" id="{10F3BF26-E93F-412A-46E5-802C1EC71BBD}"/>
              </a:ext>
            </a:extLst>
          </p:cNvPr>
          <p:cNvGrpSpPr/>
          <p:nvPr/>
        </p:nvGrpSpPr>
        <p:grpSpPr>
          <a:xfrm>
            <a:off x="-8775216" y="58149"/>
            <a:ext cx="8443993" cy="4877743"/>
            <a:chOff x="3671807" y="1980256"/>
            <a:chExt cx="8443993" cy="4877743"/>
          </a:xfrm>
        </p:grpSpPr>
        <p:pic>
          <p:nvPicPr>
            <p:cNvPr id="10242" name="Picture 2" descr="Hands-on: Visualization of RNA-Seq results with Volcano Plot /  Visualization of RNA-Seq results with Volcano Plot / Transcriptomics">
              <a:extLst>
                <a:ext uri="{FF2B5EF4-FFF2-40B4-BE49-F238E27FC236}">
                  <a16:creationId xmlns:a16="http://schemas.microsoft.com/office/drawing/2014/main" id="{C924A629-10EE-ED1E-3FE6-75BC58414C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1807" y="1980256"/>
              <a:ext cx="4848387" cy="487774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04F227F-2E7E-B11E-F69D-8FA813068071}"/>
                </a:ext>
              </a:extLst>
            </p:cNvPr>
            <p:cNvSpPr txBox="1"/>
            <p:nvPr/>
          </p:nvSpPr>
          <p:spPr>
            <a:xfrm>
              <a:off x="8425973" y="6038969"/>
              <a:ext cx="3689827" cy="707886"/>
            </a:xfrm>
            <a:prstGeom prst="rect">
              <a:avLst/>
            </a:prstGeom>
            <a:noFill/>
          </p:spPr>
          <p:txBody>
            <a:bodyPr wrap="square" rtlCol="0">
              <a:spAutoFit/>
            </a:bodyPr>
            <a:lstStyle/>
            <a:p>
              <a:r>
                <a:rPr lang="en-US" sz="1000" dirty="0"/>
                <a:t>Source:</a:t>
              </a:r>
            </a:p>
            <a:p>
              <a:r>
                <a:rPr lang="en-IN" sz="1000" dirty="0"/>
                <a:t>https://training.galaxyproject.org/training-material/topics/transcriptomics/tutorials/rna-seq-viz-with-volcanoplot/tutorial.html</a:t>
              </a:r>
            </a:p>
          </p:txBody>
        </p:sp>
      </p:grpSp>
      <p:grpSp>
        <p:nvGrpSpPr>
          <p:cNvPr id="9" name="Group 8">
            <a:extLst>
              <a:ext uri="{FF2B5EF4-FFF2-40B4-BE49-F238E27FC236}">
                <a16:creationId xmlns:a16="http://schemas.microsoft.com/office/drawing/2014/main" id="{BEB9B665-364E-C79F-2EFF-BECD30D62246}"/>
              </a:ext>
            </a:extLst>
          </p:cNvPr>
          <p:cNvGrpSpPr/>
          <p:nvPr/>
        </p:nvGrpSpPr>
        <p:grpSpPr>
          <a:xfrm>
            <a:off x="3838770" y="2138266"/>
            <a:ext cx="8277030" cy="4631848"/>
            <a:chOff x="3838770" y="2138266"/>
            <a:chExt cx="8277030" cy="4631848"/>
          </a:xfrm>
        </p:grpSpPr>
        <p:pic>
          <p:nvPicPr>
            <p:cNvPr id="12290" name="Picture 2" descr="The boxplot of expression level of top5 DEG miRNAs in 80 pairs of... |  Download Scientific Diagram">
              <a:extLst>
                <a:ext uri="{FF2B5EF4-FFF2-40B4-BE49-F238E27FC236}">
                  <a16:creationId xmlns:a16="http://schemas.microsoft.com/office/drawing/2014/main" id="{6DFCDAEA-71A3-BD9B-40EB-0F5A6CC711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8770" y="2138266"/>
              <a:ext cx="4514461" cy="45144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79D9D9A-A79C-088C-DC6D-2FF3A2540774}"/>
                </a:ext>
              </a:extLst>
            </p:cNvPr>
            <p:cNvSpPr txBox="1"/>
            <p:nvPr/>
          </p:nvSpPr>
          <p:spPr>
            <a:xfrm>
              <a:off x="8425973" y="5908340"/>
              <a:ext cx="3689827" cy="861774"/>
            </a:xfrm>
            <a:prstGeom prst="rect">
              <a:avLst/>
            </a:prstGeom>
            <a:noFill/>
          </p:spPr>
          <p:txBody>
            <a:bodyPr wrap="square" rtlCol="0">
              <a:spAutoFit/>
            </a:bodyPr>
            <a:lstStyle/>
            <a:p>
              <a:r>
                <a:rPr lang="en-US" sz="1000" dirty="0"/>
                <a:t>Source:</a:t>
              </a:r>
            </a:p>
            <a:p>
              <a:r>
                <a:rPr lang="en-IN" sz="1000" dirty="0"/>
                <a:t>https://www.researchgate.net/publication/319683444_MicroRNA-196b_inhibits_late_apoptosis_of_pancreatic_cancer_cells_by_targeting_CADM1/figures?lo=1</a:t>
              </a:r>
            </a:p>
          </p:txBody>
        </p:sp>
      </p:grpSp>
    </p:spTree>
    <p:extLst>
      <p:ext uri="{BB962C8B-B14F-4D97-AF65-F5344CB8AC3E}">
        <p14:creationId xmlns:p14="http://schemas.microsoft.com/office/powerpoint/2010/main" val="22013656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1C54F-624E-9490-DFE4-4DE80A97DAE6}"/>
              </a:ext>
            </a:extLst>
          </p:cNvPr>
          <p:cNvSpPr>
            <a:spLocks noGrp="1"/>
          </p:cNvSpPr>
          <p:nvPr>
            <p:ph type="title"/>
          </p:nvPr>
        </p:nvSpPr>
        <p:spPr>
          <a:xfrm>
            <a:off x="838200" y="365125"/>
            <a:ext cx="3987018" cy="985373"/>
          </a:xfrm>
        </p:spPr>
        <p:txBody>
          <a:bodyPr>
            <a:noAutofit/>
          </a:bodyPr>
          <a:lstStyle/>
          <a:p>
            <a:r>
              <a:rPr lang="en-US" sz="3600" dirty="0">
                <a:latin typeface="Times New Roman" panose="02020603050405020304" pitchFamily="18" charset="0"/>
                <a:cs typeface="Times New Roman" panose="02020603050405020304" pitchFamily="18" charset="0"/>
              </a:rPr>
              <a:t>Multi-Omics Integration with </a:t>
            </a:r>
            <a:r>
              <a:rPr lang="en-US" sz="3600" dirty="0" err="1">
                <a:latin typeface="Times New Roman" panose="02020603050405020304" pitchFamily="18" charset="0"/>
                <a:cs typeface="Times New Roman" panose="02020603050405020304" pitchFamily="18" charset="0"/>
              </a:rPr>
              <a:t>ScRNA</a:t>
            </a:r>
            <a:r>
              <a:rPr lang="en-US" sz="3600" dirty="0">
                <a:latin typeface="Times New Roman" panose="02020603050405020304" pitchFamily="18" charset="0"/>
                <a:cs typeface="Times New Roman" panose="02020603050405020304" pitchFamily="18" charset="0"/>
              </a:rPr>
              <a:t> seq study</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80F2CE-90DD-BC6C-ABAF-23817CCAEB41}"/>
              </a:ext>
            </a:extLst>
          </p:cNvPr>
          <p:cNvSpPr>
            <a:spLocks noGrp="1"/>
          </p:cNvSpPr>
          <p:nvPr>
            <p:ph sz="half" idx="1"/>
          </p:nvPr>
        </p:nvSpPr>
        <p:spPr>
          <a:xfrm>
            <a:off x="403273" y="2110154"/>
            <a:ext cx="4421945" cy="4601381"/>
          </a:xfrm>
        </p:spPr>
        <p:txBody>
          <a:bodyPr>
            <a:normAutofit/>
          </a:bodyPr>
          <a:lstStyle/>
          <a:p>
            <a:pPr algn="l">
              <a:buFont typeface="Arial" panose="020B0604020202020204" pitchFamily="34" charset="0"/>
              <a:buChar char="•"/>
            </a:pPr>
            <a:r>
              <a:rPr lang="en-US" sz="1800" b="0" i="0" dirty="0">
                <a:solidFill>
                  <a:srgbClr val="1F2937"/>
                </a:solidFill>
                <a:effectLst/>
                <a:latin typeface="Times New Roman" panose="02020603050405020304" pitchFamily="18" charset="0"/>
                <a:cs typeface="Times New Roman" panose="02020603050405020304" pitchFamily="18" charset="0"/>
              </a:rPr>
              <a:t>Combines </a:t>
            </a:r>
            <a:r>
              <a:rPr lang="en-US" sz="1800" b="1" i="0" dirty="0">
                <a:solidFill>
                  <a:srgbClr val="1F2937"/>
                </a:solidFill>
                <a:effectLst/>
                <a:latin typeface="Times New Roman" panose="02020603050405020304" pitchFamily="18" charset="0"/>
                <a:cs typeface="Times New Roman" panose="02020603050405020304" pitchFamily="18" charset="0"/>
              </a:rPr>
              <a:t>multiple layers </a:t>
            </a:r>
            <a:r>
              <a:rPr lang="en-US" sz="1800" b="0" i="0" dirty="0">
                <a:solidFill>
                  <a:srgbClr val="1F2937"/>
                </a:solidFill>
                <a:effectLst/>
                <a:latin typeface="Times New Roman" panose="02020603050405020304" pitchFamily="18" charset="0"/>
                <a:cs typeface="Times New Roman" panose="02020603050405020304" pitchFamily="18" charset="0"/>
              </a:rPr>
              <a:t>of biological information.</a:t>
            </a:r>
          </a:p>
          <a:p>
            <a:pPr algn="l">
              <a:buFont typeface="Arial" panose="020B0604020202020204" pitchFamily="34" charset="0"/>
              <a:buChar char="•"/>
            </a:pPr>
            <a:r>
              <a:rPr lang="en-US" sz="1800" b="0" i="0" dirty="0">
                <a:solidFill>
                  <a:srgbClr val="1F2937"/>
                </a:solidFill>
                <a:effectLst/>
                <a:latin typeface="Times New Roman" panose="02020603050405020304" pitchFamily="18" charset="0"/>
                <a:cs typeface="Times New Roman" panose="02020603050405020304" pitchFamily="18" charset="0"/>
              </a:rPr>
              <a:t>Uncovers complex biological mechanisms and interactions.</a:t>
            </a:r>
          </a:p>
          <a:p>
            <a:pPr algn="l">
              <a:buFont typeface="Arial" panose="020B0604020202020204" pitchFamily="34" charset="0"/>
              <a:buChar char="•"/>
            </a:pPr>
            <a:r>
              <a:rPr lang="en-US" sz="1800" b="0" i="0" dirty="0">
                <a:solidFill>
                  <a:srgbClr val="1F2937"/>
                </a:solidFill>
                <a:effectLst/>
                <a:latin typeface="Times New Roman" panose="02020603050405020304" pitchFamily="18" charset="0"/>
                <a:cs typeface="Times New Roman" panose="02020603050405020304" pitchFamily="18" charset="0"/>
              </a:rPr>
              <a:t>Contributes to </a:t>
            </a:r>
            <a:r>
              <a:rPr lang="en-US" sz="1800" b="1" i="0" dirty="0">
                <a:solidFill>
                  <a:srgbClr val="1F2937"/>
                </a:solidFill>
                <a:effectLst/>
                <a:latin typeface="Times New Roman" panose="02020603050405020304" pitchFamily="18" charset="0"/>
                <a:cs typeface="Times New Roman" panose="02020603050405020304" pitchFamily="18" charset="0"/>
              </a:rPr>
              <a:t>personalized medicine </a:t>
            </a:r>
            <a:r>
              <a:rPr lang="en-US" sz="1800" b="0" i="0" dirty="0">
                <a:solidFill>
                  <a:srgbClr val="1F2937"/>
                </a:solidFill>
                <a:effectLst/>
                <a:latin typeface="Times New Roman" panose="02020603050405020304" pitchFamily="18" charset="0"/>
                <a:cs typeface="Times New Roman" panose="02020603050405020304" pitchFamily="18" charset="0"/>
              </a:rPr>
              <a:t>and </a:t>
            </a:r>
            <a:r>
              <a:rPr lang="en-US" sz="1800" b="1" i="0" dirty="0">
                <a:solidFill>
                  <a:srgbClr val="1F2937"/>
                </a:solidFill>
                <a:effectLst/>
                <a:latin typeface="Times New Roman" panose="02020603050405020304" pitchFamily="18" charset="0"/>
                <a:cs typeface="Times New Roman" panose="02020603050405020304" pitchFamily="18" charset="0"/>
              </a:rPr>
              <a:t>targeted therapies.</a:t>
            </a:r>
          </a:p>
          <a:p>
            <a:pPr algn="l">
              <a:buFont typeface="Arial" panose="020B0604020202020204" pitchFamily="34" charset="0"/>
              <a:buChar char="•"/>
            </a:pPr>
            <a:r>
              <a:rPr lang="en-US" sz="1800" dirty="0">
                <a:solidFill>
                  <a:srgbClr val="1F2937"/>
                </a:solidFill>
                <a:latin typeface="Times New Roman" panose="02020603050405020304" pitchFamily="18" charset="0"/>
                <a:cs typeface="Times New Roman" panose="02020603050405020304" pitchFamily="18" charset="0"/>
              </a:rPr>
              <a:t>Requires </a:t>
            </a:r>
            <a:r>
              <a:rPr lang="en-US" sz="1800" b="1" dirty="0">
                <a:solidFill>
                  <a:srgbClr val="1F2937"/>
                </a:solidFill>
                <a:latin typeface="Times New Roman" panose="02020603050405020304" pitchFamily="18" charset="0"/>
                <a:cs typeface="Times New Roman" panose="02020603050405020304" pitchFamily="18" charset="0"/>
              </a:rPr>
              <a:t>cross-platform</a:t>
            </a:r>
            <a:r>
              <a:rPr lang="en-US" sz="1800" dirty="0">
                <a:solidFill>
                  <a:srgbClr val="1F2937"/>
                </a:solidFill>
                <a:latin typeface="Times New Roman" panose="02020603050405020304" pitchFamily="18" charset="0"/>
                <a:cs typeface="Times New Roman" panose="02020603050405020304" pitchFamily="18" charset="0"/>
              </a:rPr>
              <a:t> compatibility.</a:t>
            </a:r>
            <a:endParaRPr lang="en-US" sz="1800" b="0" i="0" dirty="0">
              <a:solidFill>
                <a:srgbClr val="1F2937"/>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1800" b="1" i="0" dirty="0">
                <a:solidFill>
                  <a:srgbClr val="1F2937"/>
                </a:solidFill>
                <a:effectLst/>
                <a:latin typeface="Times New Roman" panose="02020603050405020304" pitchFamily="18" charset="0"/>
                <a:cs typeface="Times New Roman" panose="02020603050405020304" pitchFamily="18" charset="0"/>
              </a:rPr>
              <a:t>Tools Used </a:t>
            </a:r>
            <a:r>
              <a:rPr lang="en-US" sz="1800" b="0" i="0" dirty="0">
                <a:solidFill>
                  <a:srgbClr val="1F2937"/>
                </a:solidFill>
                <a:effectLst/>
                <a:latin typeface="Times New Roman" panose="02020603050405020304" pitchFamily="18" charset="0"/>
                <a:cs typeface="Times New Roman" panose="02020603050405020304" pitchFamily="18" charset="0"/>
              </a:rPr>
              <a:t>to integrate &amp; analyze multi-omics data: </a:t>
            </a:r>
          </a:p>
          <a:p>
            <a:pPr algn="l">
              <a:buFont typeface="Wingdings" panose="05000000000000000000" pitchFamily="2" charset="2"/>
              <a:buChar char="ü"/>
            </a:pPr>
            <a:r>
              <a:rPr lang="en-US" sz="1800" b="0" i="0" dirty="0">
                <a:solidFill>
                  <a:srgbClr val="1F2937"/>
                </a:solidFill>
                <a:effectLst/>
                <a:latin typeface="Times New Roman" panose="02020603050405020304" pitchFamily="18" charset="0"/>
                <a:cs typeface="Times New Roman" panose="02020603050405020304" pitchFamily="18" charset="0"/>
              </a:rPr>
              <a:t>Multi-Omics Frameworks (MOFA)</a:t>
            </a:r>
          </a:p>
          <a:p>
            <a:pPr algn="l">
              <a:buFont typeface="Wingdings" panose="05000000000000000000" pitchFamily="2" charset="2"/>
              <a:buChar char="ü"/>
            </a:pPr>
            <a:r>
              <a:rPr lang="en-IN" sz="1800" dirty="0">
                <a:effectLst/>
                <a:latin typeface="Liberation Serif"/>
                <a:ea typeface="Noto Serif CJK SC"/>
                <a:cs typeface="Lohit Devanagari"/>
              </a:rPr>
              <a:t>Seurat (R)</a:t>
            </a:r>
          </a:p>
          <a:p>
            <a:pPr algn="l">
              <a:buFont typeface="Wingdings" panose="05000000000000000000" pitchFamily="2" charset="2"/>
              <a:buChar char="ü"/>
            </a:pPr>
            <a:r>
              <a:rPr lang="en-IN" sz="1800" dirty="0">
                <a:effectLst/>
                <a:latin typeface="Liberation Serif"/>
                <a:ea typeface="Noto Serif CJK SC"/>
                <a:cs typeface="Lohit Devanagari"/>
              </a:rPr>
              <a:t>Harmony (R)</a:t>
            </a:r>
            <a:endParaRPr lang="en-US" sz="1800" b="0" i="0" dirty="0">
              <a:solidFill>
                <a:srgbClr val="1F2937"/>
              </a:solidFill>
              <a:effectLst/>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7B68C32E-A989-39BD-EA0E-B60B0DFDAE6F}"/>
              </a:ext>
            </a:extLst>
          </p:cNvPr>
          <p:cNvSpPr>
            <a:spLocks noGrp="1"/>
          </p:cNvSpPr>
          <p:nvPr>
            <p:ph sz="half" idx="2"/>
          </p:nvPr>
        </p:nvSpPr>
        <p:spPr>
          <a:xfrm>
            <a:off x="5148775" y="0"/>
            <a:ext cx="7043225" cy="6858000"/>
          </a:xfrm>
          <a:solidFill>
            <a:srgbClr val="99FFCC"/>
          </a:solidFill>
        </p:spPr>
        <p:txBody>
          <a:bodyPr>
            <a:noAutofit/>
          </a:bodyPr>
          <a:lstStyle/>
          <a:p>
            <a:pPr marL="0" indent="0">
              <a:spcBef>
                <a:spcPts val="700"/>
              </a:spcBef>
              <a:spcAft>
                <a:spcPts val="600"/>
              </a:spcAft>
              <a:buNone/>
            </a:pPr>
            <a:r>
              <a:rPr lang="en-IN" sz="1800" b="1" u="sng" kern="100" dirty="0">
                <a:effectLst/>
                <a:latin typeface="Times New Roman" panose="02020603050405020304" pitchFamily="18" charset="0"/>
                <a:cs typeface="Times New Roman" panose="02020603050405020304" pitchFamily="18" charset="0"/>
              </a:rPr>
              <a:t>Types of Multi-Omics Integrations:</a:t>
            </a:r>
          </a:p>
          <a:p>
            <a:pPr marL="0" indent="0">
              <a:spcBef>
                <a:spcPts val="600"/>
              </a:spcBef>
              <a:spcAft>
                <a:spcPts val="600"/>
              </a:spcAft>
              <a:buNone/>
            </a:pPr>
            <a:r>
              <a:rPr lang="en-IN" sz="1600" b="1" kern="100" dirty="0">
                <a:latin typeface="Times New Roman" panose="02020603050405020304" pitchFamily="18" charset="0"/>
                <a:cs typeface="Times New Roman" panose="02020603050405020304" pitchFamily="18" charset="0"/>
              </a:rPr>
              <a:t>1. </a:t>
            </a:r>
            <a:r>
              <a:rPr lang="en-IN" sz="1600" b="1" kern="100" dirty="0">
                <a:effectLst/>
                <a:latin typeface="Times New Roman" panose="02020603050405020304" pitchFamily="18" charset="0"/>
                <a:cs typeface="Times New Roman" panose="02020603050405020304" pitchFamily="18" charset="0"/>
              </a:rPr>
              <a:t>Genomics: </a:t>
            </a:r>
          </a:p>
          <a:p>
            <a:pPr>
              <a:spcBef>
                <a:spcPts val="600"/>
              </a:spcBef>
              <a:spcAft>
                <a:spcPts val="600"/>
              </a:spcAft>
            </a:pPr>
            <a:r>
              <a:rPr lang="en-IN" sz="1600" kern="100" dirty="0">
                <a:effectLst/>
                <a:latin typeface="Times New Roman" panose="02020603050405020304" pitchFamily="18" charset="0"/>
                <a:ea typeface="Noto Serif CJK SC"/>
                <a:cs typeface="Times New Roman" panose="02020603050405020304" pitchFamily="18" charset="0"/>
              </a:rPr>
              <a:t>Combining </a:t>
            </a:r>
            <a:r>
              <a:rPr lang="en-IN" sz="1600" kern="100" dirty="0" err="1">
                <a:effectLst/>
                <a:latin typeface="Times New Roman" panose="02020603050405020304" pitchFamily="18" charset="0"/>
                <a:ea typeface="Noto Serif CJK SC"/>
                <a:cs typeface="Times New Roman" panose="02020603050405020304" pitchFamily="18" charset="0"/>
              </a:rPr>
              <a:t>scRNA-seq</a:t>
            </a:r>
            <a:r>
              <a:rPr lang="en-IN" sz="1600" kern="100" dirty="0">
                <a:effectLst/>
                <a:latin typeface="Times New Roman" panose="02020603050405020304" pitchFamily="18" charset="0"/>
                <a:ea typeface="Noto Serif CJK SC"/>
                <a:cs typeface="Times New Roman" panose="02020603050405020304" pitchFamily="18" charset="0"/>
              </a:rPr>
              <a:t> with single-cell DNA sequencing (</a:t>
            </a:r>
            <a:r>
              <a:rPr lang="en-IN" sz="1600" kern="100" dirty="0" err="1">
                <a:effectLst/>
                <a:latin typeface="Times New Roman" panose="02020603050405020304" pitchFamily="18" charset="0"/>
                <a:ea typeface="Noto Serif CJK SC"/>
                <a:cs typeface="Times New Roman" panose="02020603050405020304" pitchFamily="18" charset="0"/>
              </a:rPr>
              <a:t>scDNA-seq</a:t>
            </a:r>
            <a:r>
              <a:rPr lang="en-IN" sz="1600" kern="100" dirty="0">
                <a:effectLst/>
                <a:latin typeface="Times New Roman" panose="02020603050405020304" pitchFamily="18" charset="0"/>
                <a:ea typeface="Noto Serif CJK SC"/>
                <a:cs typeface="Times New Roman" panose="02020603050405020304" pitchFamily="18" charset="0"/>
              </a:rPr>
              <a:t>) to study </a:t>
            </a:r>
            <a:r>
              <a:rPr lang="en-IN" sz="1600" b="1" kern="100" dirty="0">
                <a:effectLst/>
                <a:latin typeface="Times New Roman" panose="02020603050405020304" pitchFamily="18" charset="0"/>
                <a:ea typeface="Noto Serif CJK SC"/>
                <a:cs typeface="Times New Roman" panose="02020603050405020304" pitchFamily="18" charset="0"/>
              </a:rPr>
              <a:t>genetic variations</a:t>
            </a:r>
            <a:r>
              <a:rPr lang="en-IN" sz="1600" kern="100" dirty="0">
                <a:effectLst/>
                <a:latin typeface="Times New Roman" panose="02020603050405020304" pitchFamily="18" charset="0"/>
                <a:ea typeface="Noto Serif CJK SC"/>
                <a:cs typeface="Times New Roman" panose="02020603050405020304" pitchFamily="18" charset="0"/>
              </a:rPr>
              <a:t> (somatic mutations, copy number variations), </a:t>
            </a:r>
            <a:r>
              <a:rPr lang="en-IN" sz="1600" b="1" kern="100" dirty="0">
                <a:effectLst/>
                <a:latin typeface="Times New Roman" panose="02020603050405020304" pitchFamily="18" charset="0"/>
                <a:ea typeface="Noto Serif CJK SC"/>
                <a:cs typeface="Times New Roman" panose="02020603050405020304" pitchFamily="18" charset="0"/>
              </a:rPr>
              <a:t>cancer heterogeneity</a:t>
            </a:r>
            <a:r>
              <a:rPr lang="en-IN" sz="1600" kern="100" dirty="0">
                <a:effectLst/>
                <a:latin typeface="Times New Roman" panose="02020603050405020304" pitchFamily="18" charset="0"/>
                <a:ea typeface="Noto Serif CJK SC"/>
                <a:cs typeface="Times New Roman" panose="02020603050405020304" pitchFamily="18" charset="0"/>
              </a:rPr>
              <a:t> and </a:t>
            </a:r>
            <a:r>
              <a:rPr lang="en-IN" sz="1600" b="1" kern="100" dirty="0">
                <a:effectLst/>
                <a:latin typeface="Times New Roman" panose="02020603050405020304" pitchFamily="18" charset="0"/>
                <a:ea typeface="Noto Serif CJK SC"/>
                <a:cs typeface="Times New Roman" panose="02020603050405020304" pitchFamily="18" charset="0"/>
              </a:rPr>
              <a:t>evolutionary dynamics.</a:t>
            </a:r>
            <a:endParaRPr lang="en-IN" sz="1600" kern="100" dirty="0">
              <a:effectLst/>
              <a:latin typeface="Times New Roman" panose="02020603050405020304" pitchFamily="18" charset="0"/>
              <a:ea typeface="Noto Serif CJK SC"/>
              <a:cs typeface="Times New Roman" panose="02020603050405020304" pitchFamily="18" charset="0"/>
            </a:endParaRPr>
          </a:p>
          <a:p>
            <a:pPr marL="0" indent="0">
              <a:spcBef>
                <a:spcPts val="600"/>
              </a:spcBef>
              <a:spcAft>
                <a:spcPts val="600"/>
              </a:spcAft>
              <a:buNone/>
            </a:pPr>
            <a:r>
              <a:rPr lang="en-IN" sz="1600" b="1" kern="100" dirty="0">
                <a:latin typeface="Times New Roman" panose="02020603050405020304" pitchFamily="18" charset="0"/>
                <a:cs typeface="Times New Roman" panose="02020603050405020304" pitchFamily="18" charset="0"/>
              </a:rPr>
              <a:t>2. </a:t>
            </a:r>
            <a:r>
              <a:rPr lang="en-IN" sz="1600" b="1" kern="100" dirty="0">
                <a:effectLst/>
                <a:latin typeface="Times New Roman" panose="02020603050405020304" pitchFamily="18" charset="0"/>
                <a:cs typeface="Times New Roman" panose="02020603050405020304" pitchFamily="18" charset="0"/>
              </a:rPr>
              <a:t> Epigenomics</a:t>
            </a:r>
          </a:p>
          <a:p>
            <a:pPr>
              <a:lnSpc>
                <a:spcPct val="115000"/>
              </a:lnSpc>
              <a:spcAft>
                <a:spcPts val="700"/>
              </a:spcAft>
              <a:tabLst>
                <a:tab pos="450215" algn="l"/>
              </a:tabLst>
            </a:pPr>
            <a:r>
              <a:rPr lang="en-IN" sz="1600" kern="100" dirty="0">
                <a:effectLst/>
                <a:latin typeface="Times New Roman" panose="02020603050405020304" pitchFamily="18" charset="0"/>
                <a:ea typeface="Noto Serif CJK SC"/>
                <a:cs typeface="Times New Roman" panose="02020603050405020304" pitchFamily="18" charset="0"/>
              </a:rPr>
              <a:t>Merging </a:t>
            </a:r>
            <a:r>
              <a:rPr lang="en-IN" sz="1600" kern="100" dirty="0" err="1">
                <a:effectLst/>
                <a:latin typeface="Times New Roman" panose="02020603050405020304" pitchFamily="18" charset="0"/>
                <a:ea typeface="Noto Serif CJK SC"/>
                <a:cs typeface="Times New Roman" panose="02020603050405020304" pitchFamily="18" charset="0"/>
              </a:rPr>
              <a:t>scRNA-seq</a:t>
            </a:r>
            <a:r>
              <a:rPr lang="en-IN" sz="1600" kern="100" dirty="0">
                <a:effectLst/>
                <a:latin typeface="Times New Roman" panose="02020603050405020304" pitchFamily="18" charset="0"/>
                <a:ea typeface="Noto Serif CJK SC"/>
                <a:cs typeface="Times New Roman" panose="02020603050405020304" pitchFamily="18" charset="0"/>
              </a:rPr>
              <a:t> data with single-cell epigenomic profiling (e.g., ATAC-</a:t>
            </a:r>
            <a:r>
              <a:rPr lang="en-IN" sz="1600" kern="100" dirty="0" err="1">
                <a:effectLst/>
                <a:latin typeface="Times New Roman" panose="02020603050405020304" pitchFamily="18" charset="0"/>
                <a:ea typeface="Noto Serif CJK SC"/>
                <a:cs typeface="Times New Roman" panose="02020603050405020304" pitchFamily="18" charset="0"/>
              </a:rPr>
              <a:t>seq</a:t>
            </a:r>
            <a:r>
              <a:rPr lang="en-IN" sz="1600" kern="100" dirty="0">
                <a:effectLst/>
                <a:latin typeface="Times New Roman" panose="02020603050405020304" pitchFamily="18" charset="0"/>
                <a:ea typeface="Noto Serif CJK SC"/>
                <a:cs typeface="Times New Roman" panose="02020603050405020304" pitchFamily="18" charset="0"/>
              </a:rPr>
              <a:t> for chromatin accessibility or methylation profiling).Helps in study of </a:t>
            </a:r>
            <a:r>
              <a:rPr lang="en-IN" sz="1600" b="1" kern="100" dirty="0">
                <a:effectLst/>
                <a:latin typeface="Times New Roman" panose="02020603050405020304" pitchFamily="18" charset="0"/>
                <a:ea typeface="Noto Serif CJK SC"/>
                <a:cs typeface="Times New Roman" panose="02020603050405020304" pitchFamily="18" charset="0"/>
              </a:rPr>
              <a:t>gene regulation mechanisms, cellular differentiation</a:t>
            </a:r>
            <a:endParaRPr lang="en-IN" sz="1600" kern="100" dirty="0">
              <a:effectLst/>
              <a:latin typeface="Times New Roman" panose="02020603050405020304" pitchFamily="18" charset="0"/>
              <a:ea typeface="Noto Serif CJK SC"/>
              <a:cs typeface="Times New Roman" panose="02020603050405020304" pitchFamily="18" charset="0"/>
            </a:endParaRPr>
          </a:p>
          <a:p>
            <a:pPr marL="0" indent="0">
              <a:spcBef>
                <a:spcPts val="600"/>
              </a:spcBef>
              <a:spcAft>
                <a:spcPts val="600"/>
              </a:spcAft>
              <a:buNone/>
            </a:pPr>
            <a:r>
              <a:rPr lang="en-IN" sz="1600" b="1" kern="100" dirty="0">
                <a:effectLst/>
                <a:latin typeface="Times New Roman" panose="02020603050405020304" pitchFamily="18" charset="0"/>
                <a:cs typeface="Times New Roman" panose="02020603050405020304" pitchFamily="18" charset="0"/>
              </a:rPr>
              <a:t>3. Proteomics</a:t>
            </a:r>
          </a:p>
          <a:p>
            <a:pPr>
              <a:lnSpc>
                <a:spcPct val="115000"/>
              </a:lnSpc>
              <a:spcAft>
                <a:spcPts val="700"/>
              </a:spcAft>
              <a:tabLst>
                <a:tab pos="450215" algn="l"/>
              </a:tabLst>
            </a:pPr>
            <a:r>
              <a:rPr lang="en-IN" sz="1600" kern="100" dirty="0">
                <a:effectLst/>
                <a:latin typeface="Times New Roman" panose="02020603050405020304" pitchFamily="18" charset="0"/>
                <a:ea typeface="Noto Serif CJK SC"/>
                <a:cs typeface="Times New Roman" panose="02020603050405020304" pitchFamily="18" charset="0"/>
              </a:rPr>
              <a:t>Incorporating single-cell proteomics data, such as mass cytometry or CITE-</a:t>
            </a:r>
            <a:r>
              <a:rPr lang="en-IN" sz="1600" kern="100" dirty="0" err="1">
                <a:effectLst/>
                <a:latin typeface="Times New Roman" panose="02020603050405020304" pitchFamily="18" charset="0"/>
                <a:ea typeface="Noto Serif CJK SC"/>
                <a:cs typeface="Times New Roman" panose="02020603050405020304" pitchFamily="18" charset="0"/>
              </a:rPr>
              <a:t>seq</a:t>
            </a:r>
            <a:r>
              <a:rPr lang="en-IN" sz="1600" kern="100" dirty="0">
                <a:effectLst/>
                <a:latin typeface="Times New Roman" panose="02020603050405020304" pitchFamily="18" charset="0"/>
                <a:ea typeface="Noto Serif CJK SC"/>
                <a:cs typeface="Times New Roman" panose="02020603050405020304" pitchFamily="18" charset="0"/>
              </a:rPr>
              <a:t> To study cellular functions, </a:t>
            </a:r>
            <a:r>
              <a:rPr lang="en-IN" sz="1600" b="1" kern="100" dirty="0">
                <a:effectLst/>
                <a:latin typeface="Times New Roman" panose="02020603050405020304" pitchFamily="18" charset="0"/>
                <a:ea typeface="Noto Serif CJK SC"/>
                <a:cs typeface="Times New Roman" panose="02020603050405020304" pitchFamily="18" charset="0"/>
              </a:rPr>
              <a:t>protein modification effects</a:t>
            </a:r>
            <a:r>
              <a:rPr lang="en-IN" sz="1600" kern="100" dirty="0">
                <a:effectLst/>
                <a:latin typeface="Times New Roman" panose="02020603050405020304" pitchFamily="18" charset="0"/>
                <a:ea typeface="Noto Serif CJK SC"/>
                <a:cs typeface="Times New Roman" panose="02020603050405020304" pitchFamily="18" charset="0"/>
              </a:rPr>
              <a:t> on pathways and functional states.</a:t>
            </a:r>
          </a:p>
          <a:p>
            <a:pPr marL="0" indent="0">
              <a:spcBef>
                <a:spcPts val="600"/>
              </a:spcBef>
              <a:spcAft>
                <a:spcPts val="600"/>
              </a:spcAft>
              <a:buNone/>
            </a:pPr>
            <a:r>
              <a:rPr lang="en-IN" sz="1600" b="1" kern="100" dirty="0">
                <a:effectLst/>
                <a:latin typeface="Times New Roman" panose="02020603050405020304" pitchFamily="18" charset="0"/>
                <a:cs typeface="Times New Roman" panose="02020603050405020304" pitchFamily="18" charset="0"/>
              </a:rPr>
              <a:t>4. Metabolomics</a:t>
            </a:r>
          </a:p>
          <a:p>
            <a:pPr>
              <a:lnSpc>
                <a:spcPct val="115000"/>
              </a:lnSpc>
              <a:spcAft>
                <a:spcPts val="700"/>
              </a:spcAft>
              <a:tabLst>
                <a:tab pos="450215" algn="l"/>
              </a:tabLst>
            </a:pPr>
            <a:r>
              <a:rPr lang="en-IN" sz="1600" kern="100" dirty="0">
                <a:effectLst/>
                <a:latin typeface="Times New Roman" panose="02020603050405020304" pitchFamily="18" charset="0"/>
                <a:ea typeface="Noto Serif CJK SC"/>
                <a:cs typeface="Times New Roman" panose="02020603050405020304" pitchFamily="18" charset="0"/>
              </a:rPr>
              <a:t>Provides insights into how </a:t>
            </a:r>
            <a:r>
              <a:rPr lang="en-IN" sz="1600" b="1" kern="100" dirty="0">
                <a:effectLst/>
                <a:latin typeface="Times New Roman" panose="02020603050405020304" pitchFamily="18" charset="0"/>
                <a:ea typeface="Noto Serif CJK SC"/>
                <a:cs typeface="Times New Roman" panose="02020603050405020304" pitchFamily="18" charset="0"/>
              </a:rPr>
              <a:t>metabolic states </a:t>
            </a:r>
            <a:r>
              <a:rPr lang="en-IN" sz="1600" kern="100" dirty="0">
                <a:effectLst/>
                <a:latin typeface="Times New Roman" panose="02020603050405020304" pitchFamily="18" charset="0"/>
                <a:ea typeface="Noto Serif CJK SC"/>
                <a:cs typeface="Times New Roman" panose="02020603050405020304" pitchFamily="18" charset="0"/>
              </a:rPr>
              <a:t>influence gene expression and cellular functions, particularly in cancer and immune responses.</a:t>
            </a:r>
          </a:p>
          <a:p>
            <a:pPr marL="0" indent="0">
              <a:spcBef>
                <a:spcPts val="600"/>
              </a:spcBef>
              <a:spcAft>
                <a:spcPts val="600"/>
              </a:spcAft>
              <a:buNone/>
            </a:pPr>
            <a:r>
              <a:rPr lang="en-IN" sz="1600" b="1" kern="100" dirty="0">
                <a:latin typeface="Times New Roman" panose="02020603050405020304" pitchFamily="18" charset="0"/>
                <a:cs typeface="Times New Roman" panose="02020603050405020304" pitchFamily="18" charset="0"/>
              </a:rPr>
              <a:t>5. </a:t>
            </a:r>
            <a:r>
              <a:rPr lang="en-IN" sz="1600" b="1" kern="100" dirty="0">
                <a:effectLst/>
                <a:latin typeface="Times New Roman" panose="02020603050405020304" pitchFamily="18" charset="0"/>
                <a:cs typeface="Times New Roman" panose="02020603050405020304" pitchFamily="18" charset="0"/>
              </a:rPr>
              <a:t>Spatial Transcriptomics</a:t>
            </a:r>
          </a:p>
          <a:p>
            <a:pPr>
              <a:spcBef>
                <a:spcPts val="600"/>
              </a:spcBef>
              <a:spcAft>
                <a:spcPts val="600"/>
              </a:spcAft>
            </a:pPr>
            <a:r>
              <a:rPr lang="en-IN" sz="1600" kern="100" dirty="0">
                <a:effectLst/>
                <a:latin typeface="Times New Roman" panose="02020603050405020304" pitchFamily="18" charset="0"/>
                <a:ea typeface="Noto Serif CJK SC"/>
                <a:cs typeface="Times New Roman" panose="02020603050405020304" pitchFamily="18" charset="0"/>
              </a:rPr>
              <a:t>Enables visualization of </a:t>
            </a:r>
            <a:r>
              <a:rPr lang="en-IN" sz="1600" b="1" kern="100" dirty="0">
                <a:effectLst/>
                <a:latin typeface="Times New Roman" panose="02020603050405020304" pitchFamily="18" charset="0"/>
                <a:ea typeface="Noto Serif CJK SC"/>
                <a:cs typeface="Times New Roman" panose="02020603050405020304" pitchFamily="18" charset="0"/>
              </a:rPr>
              <a:t>spatial organization </a:t>
            </a:r>
            <a:r>
              <a:rPr lang="en-IN" sz="1600" kern="100" dirty="0">
                <a:effectLst/>
                <a:latin typeface="Times New Roman" panose="02020603050405020304" pitchFamily="18" charset="0"/>
                <a:ea typeface="Noto Serif CJK SC"/>
                <a:cs typeface="Times New Roman" panose="02020603050405020304" pitchFamily="18" charset="0"/>
              </a:rPr>
              <a:t>and cellular interactions within tissues, enhancing the understanding of how microenvironments affect cellular </a:t>
            </a:r>
            <a:r>
              <a:rPr lang="en-IN" sz="1600" kern="100" dirty="0" err="1">
                <a:effectLst/>
                <a:latin typeface="Times New Roman" panose="02020603050405020304" pitchFamily="18" charset="0"/>
                <a:ea typeface="Noto Serif CJK SC"/>
                <a:cs typeface="Times New Roman" panose="02020603050405020304" pitchFamily="18" charset="0"/>
              </a:rPr>
              <a:t>behavior</a:t>
            </a:r>
            <a:r>
              <a:rPr lang="en-IN" sz="1600" kern="100" dirty="0">
                <a:effectLst/>
                <a:latin typeface="Times New Roman" panose="02020603050405020304" pitchFamily="18" charset="0"/>
                <a:ea typeface="Noto Serif CJK SC"/>
                <a:cs typeface="Times New Roman" panose="02020603050405020304" pitchFamily="18" charset="0"/>
              </a:rPr>
              <a:t>.</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03717"/>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0E3DB8-1570-4500-D3D2-5E44D0AC5493}"/>
              </a:ext>
            </a:extLst>
          </p:cNvPr>
          <p:cNvSpPr>
            <a:spLocks noGrp="1"/>
          </p:cNvSpPr>
          <p:nvPr>
            <p:ph type="title"/>
          </p:nvPr>
        </p:nvSpPr>
        <p:spPr>
          <a:xfrm>
            <a:off x="838200" y="365125"/>
            <a:ext cx="10261209" cy="647749"/>
          </a:xfrm>
        </p:spPr>
        <p:txBody>
          <a:bodyPr>
            <a:normAutofit/>
          </a:bodyPr>
          <a:lstStyle/>
          <a:p>
            <a:r>
              <a:rPr lang="en-US" sz="3600" dirty="0">
                <a:latin typeface="Algerian" panose="04020705040A02060702" pitchFamily="82" charset="0"/>
                <a:cs typeface="Times New Roman" panose="02020603050405020304" pitchFamily="18" charset="0"/>
              </a:rPr>
              <a:t>Implications of multi-omics integration</a:t>
            </a:r>
            <a:endParaRPr lang="en-IN" sz="3600" dirty="0">
              <a:latin typeface="Algerian" panose="04020705040A02060702" pitchFamily="82"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92E2ED1C-2FC4-79D6-5857-C40343075D59}"/>
              </a:ext>
            </a:extLst>
          </p:cNvPr>
          <p:cNvGraphicFramePr>
            <a:graphicFrameLocks noGrp="1"/>
          </p:cNvGraphicFramePr>
          <p:nvPr/>
        </p:nvGraphicFramePr>
        <p:xfrm>
          <a:off x="0" y="1364567"/>
          <a:ext cx="12192000" cy="5493434"/>
        </p:xfrm>
        <a:graphic>
          <a:graphicData uri="http://schemas.openxmlformats.org/drawingml/2006/table">
            <a:tbl>
              <a:tblPr firstRow="1">
                <a:tableStyleId>{21E4AEA4-8DFA-4A89-87EB-49C32662AFE0}</a:tableStyleId>
              </a:tblPr>
              <a:tblGrid>
                <a:gridCol w="2560320">
                  <a:extLst>
                    <a:ext uri="{9D8B030D-6E8A-4147-A177-3AD203B41FA5}">
                      <a16:colId xmlns:a16="http://schemas.microsoft.com/office/drawing/2014/main" val="17161873"/>
                    </a:ext>
                  </a:extLst>
                </a:gridCol>
                <a:gridCol w="3193366">
                  <a:extLst>
                    <a:ext uri="{9D8B030D-6E8A-4147-A177-3AD203B41FA5}">
                      <a16:colId xmlns:a16="http://schemas.microsoft.com/office/drawing/2014/main" val="1976764483"/>
                    </a:ext>
                  </a:extLst>
                </a:gridCol>
                <a:gridCol w="3263705">
                  <a:extLst>
                    <a:ext uri="{9D8B030D-6E8A-4147-A177-3AD203B41FA5}">
                      <a16:colId xmlns:a16="http://schemas.microsoft.com/office/drawing/2014/main" val="201303445"/>
                    </a:ext>
                  </a:extLst>
                </a:gridCol>
                <a:gridCol w="3174609">
                  <a:extLst>
                    <a:ext uri="{9D8B030D-6E8A-4147-A177-3AD203B41FA5}">
                      <a16:colId xmlns:a16="http://schemas.microsoft.com/office/drawing/2014/main" val="1632008711"/>
                    </a:ext>
                  </a:extLst>
                </a:gridCol>
              </a:tblGrid>
              <a:tr h="622513">
                <a:tc>
                  <a:txBody>
                    <a:bodyPr/>
                    <a:lstStyle/>
                    <a:p>
                      <a:pPr algn="ctr"/>
                      <a:r>
                        <a:rPr lang="en-IN" sz="1800" b="1" kern="100" dirty="0">
                          <a:effectLst/>
                          <a:latin typeface="Times New Roman" panose="02020603050405020304" pitchFamily="18" charset="0"/>
                          <a:cs typeface="Times New Roman" panose="02020603050405020304" pitchFamily="18" charset="0"/>
                        </a:rPr>
                        <a:t>Omics Layer</a:t>
                      </a:r>
                      <a:endParaRPr lang="en-IN" sz="1800" b="1"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pPr algn="ctr"/>
                      <a:r>
                        <a:rPr lang="en-IN" sz="1800" b="1" kern="100" dirty="0">
                          <a:effectLst/>
                          <a:latin typeface="Times New Roman" panose="02020603050405020304" pitchFamily="18" charset="0"/>
                          <a:cs typeface="Times New Roman" panose="02020603050405020304" pitchFamily="18" charset="0"/>
                        </a:rPr>
                        <a:t>Integration Method</a:t>
                      </a:r>
                      <a:endParaRPr lang="en-IN" sz="1800" b="1"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pPr algn="ctr"/>
                      <a:r>
                        <a:rPr lang="en-IN" sz="1800" b="1" kern="100" dirty="0">
                          <a:effectLst/>
                          <a:latin typeface="Times New Roman" panose="02020603050405020304" pitchFamily="18" charset="0"/>
                          <a:cs typeface="Times New Roman" panose="02020603050405020304" pitchFamily="18" charset="0"/>
                        </a:rPr>
                        <a:t>Contributions to Heterogeneity</a:t>
                      </a:r>
                      <a:endParaRPr lang="en-IN" sz="1800" b="1"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pPr algn="ctr"/>
                      <a:r>
                        <a:rPr lang="en-IN" sz="1800" b="1" kern="100" dirty="0">
                          <a:effectLst/>
                          <a:latin typeface="Times New Roman" panose="02020603050405020304" pitchFamily="18" charset="0"/>
                          <a:cs typeface="Times New Roman" panose="02020603050405020304" pitchFamily="18" charset="0"/>
                        </a:rPr>
                        <a:t>Implications</a:t>
                      </a:r>
                      <a:endParaRPr lang="en-IN" sz="1800" b="1"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991935628"/>
                  </a:ext>
                </a:extLst>
              </a:tr>
              <a:tr h="622513">
                <a:tc>
                  <a:txBody>
                    <a:bodyPr/>
                    <a:lstStyle/>
                    <a:p>
                      <a:pPr algn="ctr"/>
                      <a:r>
                        <a:rPr lang="en-IN" sz="1800" kern="100" dirty="0">
                          <a:effectLst/>
                          <a:latin typeface="Times New Roman" panose="02020603050405020304" pitchFamily="18" charset="0"/>
                          <a:cs typeface="Times New Roman" panose="02020603050405020304" pitchFamily="18" charset="0"/>
                        </a:rPr>
                        <a:t>Genomics</a:t>
                      </a:r>
                      <a:endParaRPr lang="en-IN" sz="18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Genetic variations (SNPs, CNVs)</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Genetic variability</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Genetic markers, targeted therapies</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157538540"/>
                  </a:ext>
                </a:extLst>
              </a:tr>
              <a:tr h="622513">
                <a:tc>
                  <a:txBody>
                    <a:bodyPr/>
                    <a:lstStyle/>
                    <a:p>
                      <a:pPr algn="ctr"/>
                      <a:r>
                        <a:rPr lang="en-IN" sz="1800" kern="100" dirty="0">
                          <a:effectLst/>
                          <a:latin typeface="Times New Roman" panose="02020603050405020304" pitchFamily="18" charset="0"/>
                          <a:cs typeface="Times New Roman" panose="02020603050405020304" pitchFamily="18" charset="0"/>
                        </a:rPr>
                        <a:t>Transcriptomics</a:t>
                      </a:r>
                      <a:endParaRPr lang="en-IN" sz="18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Epigenomic-transcriptomic integration</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dirty="0">
                          <a:effectLst/>
                          <a:latin typeface="Times New Roman" panose="02020603050405020304" pitchFamily="18" charset="0"/>
                          <a:cs typeface="Times New Roman" panose="02020603050405020304" pitchFamily="18" charset="0"/>
                        </a:rPr>
                        <a:t>Gene expression variability</a:t>
                      </a:r>
                      <a:endParaRPr lang="en-IN" sz="18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Gene regulation, therapeutic targets</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2002456898"/>
                  </a:ext>
                </a:extLst>
              </a:tr>
              <a:tr h="622513">
                <a:tc>
                  <a:txBody>
                    <a:bodyPr/>
                    <a:lstStyle/>
                    <a:p>
                      <a:pPr algn="ctr"/>
                      <a:r>
                        <a:rPr lang="en-IN" sz="1800" kern="100">
                          <a:effectLst/>
                          <a:latin typeface="Times New Roman" panose="02020603050405020304" pitchFamily="18" charset="0"/>
                          <a:cs typeface="Times New Roman" panose="02020603050405020304" pitchFamily="18" charset="0"/>
                        </a:rPr>
                        <a:t>Proteomics</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dirty="0" err="1">
                          <a:effectLst/>
                          <a:latin typeface="Times New Roman" panose="02020603050405020304" pitchFamily="18" charset="0"/>
                          <a:cs typeface="Times New Roman" panose="02020603050405020304" pitchFamily="18" charset="0"/>
                        </a:rPr>
                        <a:t>scRNA-seq</a:t>
                      </a:r>
                      <a:r>
                        <a:rPr lang="en-IN" sz="1800" kern="100" dirty="0">
                          <a:effectLst/>
                          <a:latin typeface="Times New Roman" panose="02020603050405020304" pitchFamily="18" charset="0"/>
                          <a:cs typeface="Times New Roman" panose="02020603050405020304" pitchFamily="18" charset="0"/>
                        </a:rPr>
                        <a:t> integration</a:t>
                      </a:r>
                      <a:endParaRPr lang="en-IN" sz="18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Transcript-protein activity</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Protein dynamics, targeted therapies</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1038733839"/>
                  </a:ext>
                </a:extLst>
              </a:tr>
              <a:tr h="622513">
                <a:tc>
                  <a:txBody>
                    <a:bodyPr/>
                    <a:lstStyle/>
                    <a:p>
                      <a:pPr algn="ctr"/>
                      <a:r>
                        <a:rPr lang="en-IN" sz="1800" kern="100">
                          <a:effectLst/>
                          <a:latin typeface="Times New Roman" panose="02020603050405020304" pitchFamily="18" charset="0"/>
                          <a:cs typeface="Times New Roman" panose="02020603050405020304" pitchFamily="18" charset="0"/>
                        </a:rPr>
                        <a:t>Metabolomics</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dirty="0">
                          <a:effectLst/>
                          <a:latin typeface="Times New Roman" panose="02020603050405020304" pitchFamily="18" charset="0"/>
                          <a:cs typeface="Times New Roman" panose="02020603050405020304" pitchFamily="18" charset="0"/>
                        </a:rPr>
                        <a:t>Metabolic pathway analysis</a:t>
                      </a:r>
                      <a:endParaRPr lang="en-IN" sz="18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Metabolic pathway identification</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Biomarkers, metabolic therapies</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2703734926"/>
                  </a:ext>
                </a:extLst>
              </a:tr>
              <a:tr h="922755">
                <a:tc>
                  <a:txBody>
                    <a:bodyPr/>
                    <a:lstStyle/>
                    <a:p>
                      <a:pPr algn="ctr"/>
                      <a:r>
                        <a:rPr lang="en-IN" sz="1800" kern="100">
                          <a:effectLst/>
                          <a:latin typeface="Times New Roman" panose="02020603050405020304" pitchFamily="18" charset="0"/>
                          <a:cs typeface="Times New Roman" panose="02020603050405020304" pitchFamily="18" charset="0"/>
                        </a:rPr>
                        <a:t>Spatial Transcriptomics</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Spatial data combination</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Cell-cell interactions, tissue architecture</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Tumor microenvironment, spatial therapies</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257964172"/>
                  </a:ext>
                </a:extLst>
              </a:tr>
              <a:tr h="922755">
                <a:tc>
                  <a:txBody>
                    <a:bodyPr/>
                    <a:lstStyle/>
                    <a:p>
                      <a:pPr algn="ctr"/>
                      <a:r>
                        <a:rPr lang="en-IN" sz="1800" kern="100">
                          <a:effectLst/>
                          <a:latin typeface="Times New Roman" panose="02020603050405020304" pitchFamily="18" charset="0"/>
                          <a:cs typeface="Times New Roman" panose="02020603050405020304" pitchFamily="18" charset="0"/>
                        </a:rPr>
                        <a:t>Multi-Omics Integration</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Holistic multi-layer analysis</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Unique biomarker profiles</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Personalized medicine, targeted therapies</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3448699528"/>
                  </a:ext>
                </a:extLst>
              </a:tr>
              <a:tr h="535359">
                <a:tc>
                  <a:txBody>
                    <a:bodyPr/>
                    <a:lstStyle/>
                    <a:p>
                      <a:pPr algn="ctr"/>
                      <a:r>
                        <a:rPr lang="en-IN" sz="1800" kern="100" dirty="0">
                          <a:effectLst/>
                          <a:latin typeface="Times New Roman" panose="02020603050405020304" pitchFamily="18" charset="0"/>
                          <a:cs typeface="Times New Roman" panose="02020603050405020304" pitchFamily="18" charset="0"/>
                        </a:rPr>
                        <a:t>Machine Learning</a:t>
                      </a:r>
                      <a:endParaRPr lang="en-IN" sz="18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Predictive modeling</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a:effectLst/>
                          <a:latin typeface="Times New Roman" panose="02020603050405020304" pitchFamily="18" charset="0"/>
                          <a:cs typeface="Times New Roman" panose="02020603050405020304" pitchFamily="18" charset="0"/>
                        </a:rPr>
                        <a:t>Cellular behavior predictions</a:t>
                      </a:r>
                      <a:endParaRPr lang="en-IN" sz="1800" kern="100">
                        <a:effectLst/>
                        <a:latin typeface="Times New Roman" panose="02020603050405020304" pitchFamily="18" charset="0"/>
                        <a:ea typeface="Noto Serif CJK SC"/>
                        <a:cs typeface="Times New Roman" panose="02020603050405020304" pitchFamily="18" charset="0"/>
                      </a:endParaRPr>
                    </a:p>
                  </a:txBody>
                  <a:tcPr marL="34925" marR="34925" marT="34925" marB="34925"/>
                </a:tc>
                <a:tc>
                  <a:txBody>
                    <a:bodyPr/>
                    <a:lstStyle/>
                    <a:p>
                      <a:r>
                        <a:rPr lang="en-IN" sz="1800" kern="100" dirty="0">
                          <a:effectLst/>
                          <a:latin typeface="Times New Roman" panose="02020603050405020304" pitchFamily="18" charset="0"/>
                          <a:cs typeface="Times New Roman" panose="02020603050405020304" pitchFamily="18" charset="0"/>
                        </a:rPr>
                        <a:t>Enhanced treatment strategies</a:t>
                      </a:r>
                      <a:endParaRPr lang="en-IN" sz="1800" kern="100" dirty="0">
                        <a:effectLst/>
                        <a:latin typeface="Times New Roman" panose="02020603050405020304" pitchFamily="18" charset="0"/>
                        <a:ea typeface="Noto Serif CJK SC"/>
                        <a:cs typeface="Times New Roman" panose="02020603050405020304" pitchFamily="18" charset="0"/>
                      </a:endParaRPr>
                    </a:p>
                  </a:txBody>
                  <a:tcPr marL="34925" marR="34925" marT="34925" marB="34925"/>
                </a:tc>
                <a:extLst>
                  <a:ext uri="{0D108BD9-81ED-4DB2-BD59-A6C34878D82A}">
                    <a16:rowId xmlns:a16="http://schemas.microsoft.com/office/drawing/2014/main" val="2527420253"/>
                  </a:ext>
                </a:extLst>
              </a:tr>
            </a:tbl>
          </a:graphicData>
        </a:graphic>
      </p:graphicFrame>
    </p:spTree>
    <p:extLst>
      <p:ext uri="{BB962C8B-B14F-4D97-AF65-F5344CB8AC3E}">
        <p14:creationId xmlns:p14="http://schemas.microsoft.com/office/powerpoint/2010/main" val="42188378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ase Study Images – Browse 114,281 Stock Photos, Vectors, and Video | Adobe  Stock">
            <a:extLst>
              <a:ext uri="{FF2B5EF4-FFF2-40B4-BE49-F238E27FC236}">
                <a16:creationId xmlns:a16="http://schemas.microsoft.com/office/drawing/2014/main" id="{E8E86927-85FA-62D3-90E9-FF8CEBFCDD6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51529"/>
          <a:stretch/>
        </p:blipFill>
        <p:spPr bwMode="auto">
          <a:xfrm>
            <a:off x="0" y="-3048"/>
            <a:ext cx="12188952" cy="6861048"/>
          </a:xfrm>
          <a:prstGeom prst="rect">
            <a:avLst/>
          </a:prstGeom>
          <a:noFill/>
          <a:extLst>
            <a:ext uri="{909E8E84-426E-40DD-AFC4-6F175D3DCCD1}">
              <a14:hiddenFill xmlns:a14="http://schemas.microsoft.com/office/drawing/2010/main">
                <a:solidFill>
                  <a:srgbClr val="FFFFFF"/>
                </a:solidFill>
              </a14:hiddenFill>
            </a:ext>
          </a:extLst>
        </p:spPr>
      </p:pic>
      <p:pic>
        <p:nvPicPr>
          <p:cNvPr id="15362" name="Picture 2" descr="Case Study Images – Browse 114,281 Stock Photos, Vectors, and Video | Adobe  Stock">
            <a:extLst>
              <a:ext uri="{FF2B5EF4-FFF2-40B4-BE49-F238E27FC236}">
                <a16:creationId xmlns:a16="http://schemas.microsoft.com/office/drawing/2014/main" id="{E8693DCF-5FC6-96F3-260B-E9039CBCDA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2629"/>
          <a:stretch/>
        </p:blipFill>
        <p:spPr bwMode="auto">
          <a:xfrm>
            <a:off x="8458200" y="3017520"/>
            <a:ext cx="3730752" cy="384048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C989D72-2F65-E81F-0BBD-BB5274BE9227}"/>
              </a:ext>
            </a:extLst>
          </p:cNvPr>
          <p:cNvSpPr txBox="1"/>
          <p:nvPr/>
        </p:nvSpPr>
        <p:spPr>
          <a:xfrm>
            <a:off x="211376" y="267602"/>
            <a:ext cx="11769248" cy="1138773"/>
          </a:xfrm>
          <a:prstGeom prst="rect">
            <a:avLst/>
          </a:prstGeom>
          <a:noFill/>
        </p:spPr>
        <p:txBody>
          <a:bodyPr wrap="square" rtlCol="0">
            <a:spAutoFit/>
          </a:bodyPr>
          <a:lstStyle/>
          <a:p>
            <a:pPr algn="ctr"/>
            <a:r>
              <a:rPr lang="en-IN" sz="2000" b="1" dirty="0">
                <a:solidFill>
                  <a:srgbClr val="1F2937"/>
                </a:solidFill>
                <a:latin typeface="Times New Roman" panose="02020603050405020304" pitchFamily="18" charset="0"/>
                <a:cs typeface="Times New Roman" panose="02020603050405020304" pitchFamily="18" charset="0"/>
              </a:rPr>
              <a:t>Case Study 1-</a:t>
            </a:r>
            <a:r>
              <a:rPr lang="en-IN" sz="2000" b="1" i="0" dirty="0">
                <a:solidFill>
                  <a:srgbClr val="1F2937"/>
                </a:solidFill>
                <a:effectLst/>
                <a:latin typeface="Times New Roman" panose="02020603050405020304" pitchFamily="18" charset="0"/>
                <a:cs typeface="Times New Roman" panose="02020603050405020304" pitchFamily="18" charset="0"/>
              </a:rPr>
              <a:t> </a:t>
            </a:r>
            <a:r>
              <a:rPr lang="en-US" sz="2400" b="1" i="0" dirty="0">
                <a:solidFill>
                  <a:srgbClr val="212121"/>
                </a:solidFill>
                <a:effectLst/>
                <a:latin typeface="Times New Roman" panose="02020603050405020304" pitchFamily="18" charset="0"/>
                <a:cs typeface="Times New Roman" panose="02020603050405020304" pitchFamily="18" charset="0"/>
              </a:rPr>
              <a:t>Single-cell RNA sequencing reveals the gene expression profile and cellular communication in human fetal heart development</a:t>
            </a:r>
            <a:br>
              <a:rPr lang="en-US" sz="2000" b="1" i="0" dirty="0">
                <a:solidFill>
                  <a:srgbClr val="212121"/>
                </a:solidFill>
                <a:effectLst/>
                <a:latin typeface="Times New Roman" panose="02020603050405020304" pitchFamily="18" charset="0"/>
                <a:cs typeface="Times New Roman" panose="02020603050405020304" pitchFamily="18" charset="0"/>
              </a:rPr>
            </a:br>
            <a:r>
              <a:rPr lang="en-US" i="0" dirty="0">
                <a:solidFill>
                  <a:srgbClr val="212121"/>
                </a:solidFill>
                <a:effectLst/>
                <a:latin typeface="Times New Roman" panose="02020603050405020304" pitchFamily="18" charset="0"/>
                <a:cs typeface="Times New Roman" panose="02020603050405020304" pitchFamily="18" charset="0"/>
              </a:rPr>
              <a:t>By Hou et al. (2024)</a:t>
            </a:r>
            <a:endParaRPr lang="en-IN" b="1" dirty="0"/>
          </a:p>
        </p:txBody>
      </p:sp>
      <p:sp>
        <p:nvSpPr>
          <p:cNvPr id="6" name="TextBox 5">
            <a:extLst>
              <a:ext uri="{FF2B5EF4-FFF2-40B4-BE49-F238E27FC236}">
                <a16:creationId xmlns:a16="http://schemas.microsoft.com/office/drawing/2014/main" id="{045FD72F-8C93-5B46-B74B-192EBB64525A}"/>
              </a:ext>
            </a:extLst>
          </p:cNvPr>
          <p:cNvSpPr txBox="1"/>
          <p:nvPr/>
        </p:nvSpPr>
        <p:spPr>
          <a:xfrm>
            <a:off x="537028" y="1409680"/>
            <a:ext cx="9666514" cy="5262979"/>
          </a:xfrm>
          <a:prstGeom prst="rect">
            <a:avLst/>
          </a:prstGeom>
          <a:noFill/>
        </p:spPr>
        <p:txBody>
          <a:bodyPr wrap="square">
            <a:spAutoFit/>
          </a:bodyPr>
          <a:lstStyle/>
          <a:p>
            <a:pPr marL="342900" lvl="0" indent="-342900">
              <a:buFont typeface="Arial" panose="020B0604020202020204" pitchFamily="34" charset="0"/>
              <a:buChar char="•"/>
              <a:tabLst>
                <a:tab pos="457200" algn="l"/>
              </a:tabLst>
            </a:pPr>
            <a:r>
              <a:rPr lang="en-IN" sz="1800" kern="100" dirty="0">
                <a:effectLst/>
                <a:latin typeface="Times New Roman" panose="02020603050405020304" pitchFamily="18" charset="0"/>
                <a:ea typeface="Noto Serif CJK SC"/>
                <a:cs typeface="Times New Roman" panose="02020603050405020304" pitchFamily="18" charset="0"/>
              </a:rPr>
              <a:t>Analysis of </a:t>
            </a:r>
            <a:r>
              <a:rPr lang="en-IN" sz="1800" b="1" kern="100" dirty="0">
                <a:effectLst/>
                <a:latin typeface="Times New Roman" panose="02020603050405020304" pitchFamily="18" charset="0"/>
                <a:ea typeface="Noto Serif CJK SC"/>
                <a:cs typeface="Times New Roman" panose="02020603050405020304" pitchFamily="18" charset="0"/>
              </a:rPr>
              <a:t>19,808 cells </a:t>
            </a:r>
            <a:r>
              <a:rPr lang="en-IN" sz="1800" kern="100" dirty="0">
                <a:effectLst/>
                <a:latin typeface="Times New Roman" panose="02020603050405020304" pitchFamily="18" charset="0"/>
                <a:ea typeface="Noto Serif CJK SC"/>
                <a:cs typeface="Times New Roman" panose="02020603050405020304" pitchFamily="18" charset="0"/>
              </a:rPr>
              <a:t>across four gestational time points</a:t>
            </a:r>
          </a:p>
          <a:p>
            <a:pPr marL="342900" lvl="0" indent="-342900">
              <a:buFont typeface="Arial" panose="020B0604020202020204" pitchFamily="34" charset="0"/>
              <a:buChar char="•"/>
              <a:tabLst>
                <a:tab pos="457200" algn="l"/>
              </a:tabLst>
            </a:pPr>
            <a:r>
              <a:rPr lang="en-IN" sz="1800" kern="100" dirty="0">
                <a:effectLst/>
                <a:latin typeface="Times New Roman" panose="02020603050405020304" pitchFamily="18" charset="0"/>
                <a:ea typeface="Noto Serif CJK SC"/>
                <a:cs typeface="Times New Roman" panose="02020603050405020304" pitchFamily="18" charset="0"/>
              </a:rPr>
              <a:t>Gestational weeks examined: </a:t>
            </a:r>
            <a:r>
              <a:rPr lang="en-IN" sz="1800" b="1" kern="100" dirty="0">
                <a:effectLst/>
                <a:latin typeface="Times New Roman" panose="02020603050405020304" pitchFamily="18" charset="0"/>
                <a:ea typeface="Noto Serif CJK SC"/>
                <a:cs typeface="Times New Roman" panose="02020603050405020304" pitchFamily="18" charset="0"/>
              </a:rPr>
              <a:t>GW8, GW10, GW11</a:t>
            </a:r>
            <a:r>
              <a:rPr lang="en-IN" sz="1800" kern="100" dirty="0">
                <a:effectLst/>
                <a:latin typeface="Times New Roman" panose="02020603050405020304" pitchFamily="18" charset="0"/>
                <a:ea typeface="Noto Serif CJK SC"/>
                <a:cs typeface="Times New Roman" panose="02020603050405020304" pitchFamily="18" charset="0"/>
              </a:rPr>
              <a:t>, and </a:t>
            </a:r>
            <a:r>
              <a:rPr lang="en-IN" sz="1800" b="1" kern="100" dirty="0">
                <a:effectLst/>
                <a:latin typeface="Times New Roman" panose="02020603050405020304" pitchFamily="18" charset="0"/>
                <a:ea typeface="Noto Serif CJK SC"/>
                <a:cs typeface="Times New Roman" panose="02020603050405020304" pitchFamily="18" charset="0"/>
              </a:rPr>
              <a:t>GW17</a:t>
            </a:r>
          </a:p>
          <a:p>
            <a:pPr marL="342900" lvl="0" indent="-342900">
              <a:buFont typeface="Arial" panose="020B0604020202020204" pitchFamily="34" charset="0"/>
              <a:buChar char="•"/>
              <a:tabLst>
                <a:tab pos="457200" algn="l"/>
              </a:tabLst>
            </a:pPr>
            <a:r>
              <a:rPr lang="en-IN" sz="1800" kern="100" dirty="0">
                <a:effectLst/>
                <a:latin typeface="Times New Roman" panose="02020603050405020304" pitchFamily="18" charset="0"/>
                <a:ea typeface="Noto Serif CJK SC"/>
                <a:cs typeface="Times New Roman" panose="02020603050405020304" pitchFamily="18" charset="0"/>
              </a:rPr>
              <a:t>Method: Single-cell RNA sequencing (</a:t>
            </a:r>
            <a:r>
              <a:rPr lang="en-IN" sz="1800" b="1" kern="100" dirty="0" err="1">
                <a:effectLst/>
                <a:latin typeface="Times New Roman" panose="02020603050405020304" pitchFamily="18" charset="0"/>
                <a:ea typeface="Noto Serif CJK SC"/>
                <a:cs typeface="Times New Roman" panose="02020603050405020304" pitchFamily="18" charset="0"/>
              </a:rPr>
              <a:t>scRNA-seq</a:t>
            </a:r>
            <a:r>
              <a:rPr lang="en-IN" sz="1800" kern="100" dirty="0">
                <a:effectLst/>
                <a:latin typeface="Times New Roman" panose="02020603050405020304" pitchFamily="18" charset="0"/>
                <a:ea typeface="Noto Serif CJK SC"/>
                <a:cs typeface="Times New Roman" panose="02020603050405020304" pitchFamily="18" charset="0"/>
              </a:rPr>
              <a:t>)</a:t>
            </a:r>
          </a:p>
          <a:p>
            <a:pPr lvl="0">
              <a:tabLst>
                <a:tab pos="457200" algn="l"/>
              </a:tabLst>
            </a:pPr>
            <a:endParaRPr lang="en-IN" sz="1800" kern="100" dirty="0">
              <a:effectLst/>
              <a:latin typeface="Times New Roman" panose="02020603050405020304" pitchFamily="18" charset="0"/>
              <a:ea typeface="Noto Serif CJK SC"/>
              <a:cs typeface="Times New Roman" panose="02020603050405020304" pitchFamily="18" charset="0"/>
            </a:endParaRPr>
          </a:p>
          <a:p>
            <a:pPr marL="342900" lvl="0" indent="-342900">
              <a:buFont typeface="Arial" panose="020B0604020202020204" pitchFamily="34" charset="0"/>
              <a:buChar char="•"/>
              <a:tabLst>
                <a:tab pos="457200" algn="l"/>
              </a:tabLst>
            </a:pPr>
            <a:r>
              <a:rPr lang="en-IN" sz="2400" u="sng" kern="100" dirty="0">
                <a:latin typeface="Algerian" panose="04020705040A02060702" pitchFamily="82" charset="0"/>
                <a:ea typeface="Noto Serif CJK SC"/>
                <a:cs typeface="Times New Roman" panose="02020603050405020304" pitchFamily="18" charset="0"/>
              </a:rPr>
              <a:t>KEY Findings and Implications</a:t>
            </a:r>
            <a:r>
              <a:rPr lang="en-IN" sz="2400" u="sng" kern="100" dirty="0">
                <a:effectLst/>
                <a:latin typeface="Algerian" panose="04020705040A02060702" pitchFamily="82" charset="0"/>
                <a:ea typeface="Noto Serif CJK SC"/>
                <a:cs typeface="Times New Roman" panose="02020603050405020304" pitchFamily="18" charset="0"/>
              </a:rPr>
              <a:t>: </a:t>
            </a:r>
          </a:p>
          <a:p>
            <a:pPr lvl="0">
              <a:tabLst>
                <a:tab pos="457200" algn="l"/>
              </a:tabLst>
            </a:pPr>
            <a:endParaRPr lang="en-IN" sz="2400" u="sng" kern="100" dirty="0">
              <a:effectLst/>
              <a:latin typeface="Algerian" panose="04020705040A02060702" pitchFamily="82" charset="0"/>
              <a:ea typeface="Noto Serif CJK SC"/>
              <a:cs typeface="Times New Roman" panose="02020603050405020304" pitchFamily="18" charset="0"/>
            </a:endParaRPr>
          </a:p>
          <a:p>
            <a:pPr marL="342900" lvl="0" indent="-342900">
              <a:buFont typeface="Arial" panose="020B0604020202020204" pitchFamily="34" charset="0"/>
              <a:buChar char="•"/>
              <a:tabLst>
                <a:tab pos="457200" algn="l"/>
              </a:tabLst>
            </a:pPr>
            <a:r>
              <a:rPr lang="en-IN" sz="1800" kern="100" dirty="0">
                <a:effectLst/>
                <a:latin typeface="Times New Roman" panose="02020603050405020304" pitchFamily="18" charset="0"/>
                <a:ea typeface="Noto Serif CJK SC"/>
                <a:cs typeface="Times New Roman" panose="02020603050405020304" pitchFamily="18" charset="0"/>
              </a:rPr>
              <a:t>11 major </a:t>
            </a:r>
            <a:r>
              <a:rPr lang="en-IN" sz="1800" b="1" kern="100" dirty="0">
                <a:effectLst/>
                <a:latin typeface="Times New Roman" panose="02020603050405020304" pitchFamily="18" charset="0"/>
                <a:ea typeface="Noto Serif CJK SC"/>
                <a:cs typeface="Times New Roman" panose="02020603050405020304" pitchFamily="18" charset="0"/>
              </a:rPr>
              <a:t>cell types </a:t>
            </a:r>
            <a:r>
              <a:rPr lang="en-IN" sz="1800" kern="100" dirty="0">
                <a:effectLst/>
                <a:latin typeface="Times New Roman" panose="02020603050405020304" pitchFamily="18" charset="0"/>
                <a:ea typeface="Noto Serif CJK SC"/>
                <a:cs typeface="Times New Roman" panose="02020603050405020304" pitchFamily="18" charset="0"/>
              </a:rPr>
              <a:t>discovered:</a:t>
            </a:r>
            <a:br>
              <a:rPr lang="en-IN" sz="1800" kern="100" dirty="0">
                <a:effectLst/>
                <a:latin typeface="Times New Roman" panose="02020603050405020304" pitchFamily="18" charset="0"/>
                <a:ea typeface="Noto Serif CJK SC"/>
                <a:cs typeface="Times New Roman" panose="02020603050405020304" pitchFamily="18" charset="0"/>
              </a:rPr>
            </a:br>
            <a:r>
              <a:rPr lang="en-IN" sz="1800" kern="100" dirty="0">
                <a:effectLst/>
                <a:latin typeface="Times New Roman" panose="02020603050405020304" pitchFamily="18" charset="0"/>
                <a:ea typeface="Noto Serif CJK SC"/>
                <a:cs typeface="Times New Roman" panose="02020603050405020304" pitchFamily="18" charset="0"/>
              </a:rPr>
              <a:t>• Erythroid cells, Fibroblasts, Heart endothelial cells, Ventricular and atrial cardiomyocytes, Macrophages and dendritic cells (DCs), Smooth muscle cells, Pericytes, Neural cells, Schwann cells</a:t>
            </a:r>
          </a:p>
          <a:p>
            <a:pPr marL="342900" lvl="0" indent="-342900">
              <a:buFont typeface="Arial" panose="020B0604020202020204" pitchFamily="34" charset="0"/>
              <a:buChar char="•"/>
              <a:tabLst>
                <a:tab pos="457200" algn="l"/>
              </a:tabLst>
            </a:pPr>
            <a:r>
              <a:rPr lang="en-IN" sz="1800" b="1" kern="100" dirty="0">
                <a:effectLst/>
                <a:latin typeface="Times New Roman" panose="02020603050405020304" pitchFamily="18" charset="0"/>
                <a:ea typeface="Noto Serif CJK SC"/>
                <a:cs typeface="Times New Roman" panose="02020603050405020304" pitchFamily="18" charset="0"/>
              </a:rPr>
              <a:t>Gene Expression Dynamics</a:t>
            </a:r>
            <a:r>
              <a:rPr lang="en-IN" sz="1800" kern="100" dirty="0">
                <a:effectLst/>
                <a:latin typeface="Times New Roman" panose="02020603050405020304" pitchFamily="18" charset="0"/>
                <a:ea typeface="Noto Serif CJK SC"/>
                <a:cs typeface="Times New Roman" panose="02020603050405020304" pitchFamily="18" charset="0"/>
              </a:rPr>
              <a:t>: Significant differences in gene expression profiles across gestational weeks showed dynamic cellular functions during development</a:t>
            </a:r>
          </a:p>
          <a:p>
            <a:pPr marL="342900" lvl="0" indent="-342900">
              <a:buFont typeface="Arial" panose="020B0604020202020204" pitchFamily="34" charset="0"/>
              <a:buChar char="•"/>
              <a:tabLst>
                <a:tab pos="457200" algn="l"/>
              </a:tabLst>
            </a:pPr>
            <a:r>
              <a:rPr lang="en-IN" sz="1800" b="1" kern="100" dirty="0" err="1">
                <a:effectLst/>
                <a:latin typeface="Times New Roman" panose="02020603050405020304" pitchFamily="18" charset="0"/>
                <a:ea typeface="Noto Serif CJK SC"/>
                <a:cs typeface="Times New Roman" panose="02020603050405020304" pitchFamily="18" charset="0"/>
              </a:rPr>
              <a:t>Signaling</a:t>
            </a:r>
            <a:r>
              <a:rPr lang="en-IN" sz="1800" b="1" kern="100" dirty="0">
                <a:effectLst/>
                <a:latin typeface="Times New Roman" panose="02020603050405020304" pitchFamily="18" charset="0"/>
                <a:ea typeface="Noto Serif CJK SC"/>
                <a:cs typeface="Times New Roman" panose="02020603050405020304" pitchFamily="18" charset="0"/>
              </a:rPr>
              <a:t> Pathways </a:t>
            </a:r>
            <a:r>
              <a:rPr lang="en-IN" sz="1800" kern="100" dirty="0">
                <a:effectLst/>
                <a:latin typeface="Times New Roman" panose="02020603050405020304" pitchFamily="18" charset="0"/>
                <a:ea typeface="Noto Serif CJK SC"/>
                <a:cs typeface="Times New Roman" panose="02020603050405020304" pitchFamily="18" charset="0"/>
              </a:rPr>
              <a:t>such as ANNEXIN, MIF, PTN, and GRN pathways were </a:t>
            </a:r>
            <a:r>
              <a:rPr lang="en-IN" sz="1800" kern="100" dirty="0" err="1">
                <a:effectLst/>
                <a:latin typeface="Times New Roman" panose="02020603050405020304" pitchFamily="18" charset="0"/>
                <a:ea typeface="Noto Serif CJK SC"/>
                <a:cs typeface="Times New Roman" panose="02020603050405020304" pitchFamily="18" charset="0"/>
              </a:rPr>
              <a:t>analyzed</a:t>
            </a:r>
            <a:endParaRPr lang="en-IN" sz="1800" kern="100" dirty="0">
              <a:effectLst/>
              <a:latin typeface="Times New Roman" panose="02020603050405020304" pitchFamily="18" charset="0"/>
              <a:ea typeface="Noto Serif CJK SC"/>
              <a:cs typeface="Times New Roman" panose="02020603050405020304" pitchFamily="18" charset="0"/>
            </a:endParaRPr>
          </a:p>
          <a:p>
            <a:pPr marL="342900" lvl="0" indent="-342900">
              <a:buFont typeface="Arial" panose="020B0604020202020204" pitchFamily="34" charset="0"/>
              <a:buChar char="•"/>
              <a:tabLst>
                <a:tab pos="457200" algn="l"/>
              </a:tabLst>
            </a:pPr>
            <a:r>
              <a:rPr lang="en-IN" sz="1800" kern="100" dirty="0">
                <a:effectLst/>
                <a:latin typeface="Times New Roman" panose="02020603050405020304" pitchFamily="18" charset="0"/>
                <a:ea typeface="Noto Serif CJK SC"/>
                <a:cs typeface="Times New Roman" panose="02020603050405020304" pitchFamily="18" charset="0"/>
              </a:rPr>
              <a:t>GW8: Simpler </a:t>
            </a:r>
            <a:r>
              <a:rPr lang="en-IN" sz="1800" kern="100" dirty="0" err="1">
                <a:effectLst/>
                <a:latin typeface="Times New Roman" panose="02020603050405020304" pitchFamily="18" charset="0"/>
                <a:ea typeface="Noto Serif CJK SC"/>
                <a:cs typeface="Times New Roman" panose="02020603050405020304" pitchFamily="18" charset="0"/>
              </a:rPr>
              <a:t>signaling</a:t>
            </a:r>
            <a:r>
              <a:rPr lang="en-IN" sz="1800" kern="100" dirty="0">
                <a:effectLst/>
                <a:latin typeface="Times New Roman" panose="02020603050405020304" pitchFamily="18" charset="0"/>
                <a:ea typeface="Noto Serif CJK SC"/>
                <a:cs typeface="Times New Roman" panose="02020603050405020304" pitchFamily="18" charset="0"/>
              </a:rPr>
              <a:t> pathways, fewer intercellular connections</a:t>
            </a:r>
          </a:p>
          <a:p>
            <a:pPr marL="342900" lvl="0" indent="-342900">
              <a:buFont typeface="Arial" panose="020B0604020202020204" pitchFamily="34" charset="0"/>
              <a:buChar char="•"/>
              <a:tabLst>
                <a:tab pos="457200" algn="l"/>
              </a:tabLst>
            </a:pPr>
            <a:r>
              <a:rPr lang="en-IN" sz="1800" kern="100" dirty="0">
                <a:effectLst/>
                <a:latin typeface="Times New Roman" panose="02020603050405020304" pitchFamily="18" charset="0"/>
                <a:ea typeface="Noto Serif CJK SC"/>
                <a:cs typeface="Times New Roman" panose="02020603050405020304" pitchFamily="18" charset="0"/>
              </a:rPr>
              <a:t>GW10, GW11, GW17: More complex </a:t>
            </a:r>
            <a:r>
              <a:rPr lang="en-IN" sz="1800" kern="100" dirty="0" err="1">
                <a:effectLst/>
                <a:latin typeface="Times New Roman" panose="02020603050405020304" pitchFamily="18" charset="0"/>
                <a:ea typeface="Noto Serif CJK SC"/>
                <a:cs typeface="Times New Roman" panose="02020603050405020304" pitchFamily="18" charset="0"/>
              </a:rPr>
              <a:t>signaling</a:t>
            </a:r>
            <a:r>
              <a:rPr lang="en-IN" sz="1800" kern="100" dirty="0">
                <a:effectLst/>
                <a:latin typeface="Times New Roman" panose="02020603050405020304" pitchFamily="18" charset="0"/>
                <a:ea typeface="Noto Serif CJK SC"/>
                <a:cs typeface="Times New Roman" panose="02020603050405020304" pitchFamily="18" charset="0"/>
              </a:rPr>
              <a:t> networks, enhanced intercellular communication</a:t>
            </a:r>
          </a:p>
          <a:p>
            <a:pPr marL="342900" lvl="0" indent="-342900">
              <a:buFont typeface="Arial" panose="020B0604020202020204" pitchFamily="34" charset="0"/>
              <a:buChar char="•"/>
              <a:tabLst>
                <a:tab pos="457200" algn="l"/>
              </a:tabLst>
            </a:pPr>
            <a:r>
              <a:rPr lang="en-IN" sz="1800" b="1" kern="100" dirty="0">
                <a:effectLst/>
                <a:latin typeface="Times New Roman" panose="02020603050405020304" pitchFamily="18" charset="0"/>
                <a:ea typeface="Noto Serif CJK SC"/>
                <a:cs typeface="Times New Roman" panose="02020603050405020304" pitchFamily="18" charset="0"/>
              </a:rPr>
              <a:t>Cellular Composition Changed </a:t>
            </a:r>
            <a:r>
              <a:rPr lang="en-IN" sz="1800" kern="100" dirty="0">
                <a:effectLst/>
                <a:latin typeface="Times New Roman" panose="02020603050405020304" pitchFamily="18" charset="0"/>
                <a:ea typeface="Noto Serif CJK SC"/>
                <a:cs typeface="Times New Roman" panose="02020603050405020304" pitchFamily="18" charset="0"/>
              </a:rPr>
              <a:t>: Cell type proportions shift throughout gestational timeline</a:t>
            </a:r>
          </a:p>
          <a:p>
            <a:pPr marL="342900" lvl="0" indent="-342900">
              <a:buFont typeface="Arial" panose="020B0604020202020204" pitchFamily="34" charset="0"/>
              <a:buChar char="•"/>
              <a:tabLst>
                <a:tab pos="457200" algn="l"/>
              </a:tabLst>
            </a:pPr>
            <a:r>
              <a:rPr lang="en-IN" sz="1800" kern="100" dirty="0">
                <a:effectLst/>
                <a:latin typeface="Times New Roman" panose="02020603050405020304" pitchFamily="18" charset="0"/>
                <a:ea typeface="Noto Serif CJK SC"/>
                <a:cs typeface="Times New Roman" panose="02020603050405020304" pitchFamily="18" charset="0"/>
              </a:rPr>
              <a:t>Potential impact on heart regeneration research,  regenerative medicine &amp; heart disease treatment</a:t>
            </a:r>
          </a:p>
          <a:p>
            <a:pPr marL="0" indent="0">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0075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ase Study Images – Browse 114,281 Stock Photos, Vectors, and Video | Adobe  Stock">
            <a:extLst>
              <a:ext uri="{FF2B5EF4-FFF2-40B4-BE49-F238E27FC236}">
                <a16:creationId xmlns:a16="http://schemas.microsoft.com/office/drawing/2014/main" id="{E8E86927-85FA-62D3-90E9-FF8CEBFCDD6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51529"/>
          <a:stretch/>
        </p:blipFill>
        <p:spPr bwMode="auto">
          <a:xfrm>
            <a:off x="0" y="-3048"/>
            <a:ext cx="12188952" cy="6861048"/>
          </a:xfrm>
          <a:prstGeom prst="rect">
            <a:avLst/>
          </a:prstGeom>
          <a:noFill/>
          <a:extLst>
            <a:ext uri="{909E8E84-426E-40DD-AFC4-6F175D3DCCD1}">
              <a14:hiddenFill xmlns:a14="http://schemas.microsoft.com/office/drawing/2010/main">
                <a:solidFill>
                  <a:srgbClr val="FFFFFF"/>
                </a:solidFill>
              </a14:hiddenFill>
            </a:ext>
          </a:extLst>
        </p:spPr>
      </p:pic>
      <p:pic>
        <p:nvPicPr>
          <p:cNvPr id="15362" name="Picture 2" descr="Case Study Images – Browse 114,281 Stock Photos, Vectors, and Video | Adobe  Stock">
            <a:extLst>
              <a:ext uri="{FF2B5EF4-FFF2-40B4-BE49-F238E27FC236}">
                <a16:creationId xmlns:a16="http://schemas.microsoft.com/office/drawing/2014/main" id="{E8693DCF-5FC6-96F3-260B-E9039CBCDA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2629"/>
          <a:stretch/>
        </p:blipFill>
        <p:spPr bwMode="auto">
          <a:xfrm>
            <a:off x="8458200" y="3017520"/>
            <a:ext cx="3730752" cy="384048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C989D72-2F65-E81F-0BBD-BB5274BE9227}"/>
              </a:ext>
            </a:extLst>
          </p:cNvPr>
          <p:cNvSpPr txBox="1"/>
          <p:nvPr/>
        </p:nvSpPr>
        <p:spPr>
          <a:xfrm>
            <a:off x="211376" y="267602"/>
            <a:ext cx="11769248" cy="1138773"/>
          </a:xfrm>
          <a:prstGeom prst="rect">
            <a:avLst/>
          </a:prstGeom>
          <a:noFill/>
        </p:spPr>
        <p:txBody>
          <a:bodyPr wrap="square" rtlCol="0">
            <a:spAutoFit/>
          </a:bodyPr>
          <a:lstStyle/>
          <a:p>
            <a:pPr algn="ctr"/>
            <a:r>
              <a:rPr lang="en-IN" sz="2000" b="1" dirty="0">
                <a:solidFill>
                  <a:srgbClr val="1F2937"/>
                </a:solidFill>
                <a:latin typeface="Times New Roman" panose="02020603050405020304" pitchFamily="18" charset="0"/>
                <a:cs typeface="Times New Roman" panose="02020603050405020304" pitchFamily="18" charset="0"/>
              </a:rPr>
              <a:t>Case Study 1-</a:t>
            </a:r>
            <a:r>
              <a:rPr lang="en-IN" sz="2000" b="1" i="0" dirty="0">
                <a:solidFill>
                  <a:srgbClr val="1F2937"/>
                </a:solidFill>
                <a:effectLst/>
                <a:latin typeface="Times New Roman" panose="02020603050405020304" pitchFamily="18" charset="0"/>
                <a:cs typeface="Times New Roman" panose="02020603050405020304" pitchFamily="18" charset="0"/>
              </a:rPr>
              <a:t> </a:t>
            </a:r>
            <a:r>
              <a:rPr lang="en-US" sz="2400" b="1" i="0" dirty="0">
                <a:solidFill>
                  <a:srgbClr val="212121"/>
                </a:solidFill>
                <a:effectLst/>
                <a:latin typeface="Times New Roman" panose="02020603050405020304" pitchFamily="18" charset="0"/>
                <a:cs typeface="Times New Roman" panose="02020603050405020304" pitchFamily="18" charset="0"/>
              </a:rPr>
              <a:t>Single-cell RNA sequencing reveals the gene expression profile and cellular communication in human fetal heart development</a:t>
            </a:r>
            <a:br>
              <a:rPr lang="en-US" sz="2000" b="1" i="0" dirty="0">
                <a:solidFill>
                  <a:srgbClr val="212121"/>
                </a:solidFill>
                <a:effectLst/>
                <a:latin typeface="Times New Roman" panose="02020603050405020304" pitchFamily="18" charset="0"/>
                <a:cs typeface="Times New Roman" panose="02020603050405020304" pitchFamily="18" charset="0"/>
              </a:rPr>
            </a:br>
            <a:r>
              <a:rPr lang="en-US" i="0" dirty="0">
                <a:solidFill>
                  <a:srgbClr val="212121"/>
                </a:solidFill>
                <a:effectLst/>
                <a:latin typeface="Times New Roman" panose="02020603050405020304" pitchFamily="18" charset="0"/>
                <a:cs typeface="Times New Roman" panose="02020603050405020304" pitchFamily="18" charset="0"/>
              </a:rPr>
              <a:t>By Hou et al. (2024)</a:t>
            </a:r>
            <a:endParaRPr lang="en-IN" b="1" dirty="0"/>
          </a:p>
        </p:txBody>
      </p:sp>
      <p:pic>
        <p:nvPicPr>
          <p:cNvPr id="5" name="Picture 4">
            <a:extLst>
              <a:ext uri="{FF2B5EF4-FFF2-40B4-BE49-F238E27FC236}">
                <a16:creationId xmlns:a16="http://schemas.microsoft.com/office/drawing/2014/main" id="{80C0264C-A925-A290-08C0-2F38893425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2418" y="1406375"/>
            <a:ext cx="8244115" cy="4691257"/>
          </a:xfrm>
          <a:prstGeom prst="rect">
            <a:avLst/>
          </a:prstGeom>
        </p:spPr>
      </p:pic>
      <p:sp>
        <p:nvSpPr>
          <p:cNvPr id="7" name="TextBox 6">
            <a:extLst>
              <a:ext uri="{FF2B5EF4-FFF2-40B4-BE49-F238E27FC236}">
                <a16:creationId xmlns:a16="http://schemas.microsoft.com/office/drawing/2014/main" id="{A1FDDF45-67F8-01A7-0DD6-B7727CB473DF}"/>
              </a:ext>
            </a:extLst>
          </p:cNvPr>
          <p:cNvSpPr txBox="1"/>
          <p:nvPr/>
        </p:nvSpPr>
        <p:spPr>
          <a:xfrm>
            <a:off x="1367973" y="6256473"/>
            <a:ext cx="9125856" cy="615553"/>
          </a:xfrm>
          <a:prstGeom prst="rect">
            <a:avLst/>
          </a:prstGeom>
          <a:noFill/>
        </p:spPr>
        <p:txBody>
          <a:bodyPr wrap="square" rtlCol="0">
            <a:spAutoFit/>
          </a:bodyPr>
          <a:lstStyle/>
          <a:p>
            <a:r>
              <a:rPr lang="en-US" dirty="0"/>
              <a:t>Fig: </a:t>
            </a:r>
            <a:r>
              <a:rPr lang="en-US" sz="1600" dirty="0">
                <a:latin typeface="Times New Roman" panose="02020603050405020304" pitchFamily="18" charset="0"/>
                <a:cs typeface="Times New Roman" panose="02020603050405020304" pitchFamily="18" charset="0"/>
              </a:rPr>
              <a:t>The gene expression imprints from various gestational week , clustering of similar cell types and final expression and interactions analysis.</a:t>
            </a:r>
            <a:endParaRPr lang="en-IN" sz="1600" dirty="0">
              <a:latin typeface="Times New Roman" panose="02020603050405020304" pitchFamily="18" charset="0"/>
              <a:cs typeface="Times New Roman" panose="02020603050405020304" pitchFamily="18" charset="0"/>
            </a:endParaRPr>
          </a:p>
        </p:txBody>
      </p:sp>
      <p:pic>
        <p:nvPicPr>
          <p:cNvPr id="6" name="Picture 2" descr="Case Study Images – Browse 114,281 Stock Photos, Vectors, and Video | Adobe  Stock">
            <a:extLst>
              <a:ext uri="{FF2B5EF4-FFF2-40B4-BE49-F238E27FC236}">
                <a16:creationId xmlns:a16="http://schemas.microsoft.com/office/drawing/2014/main" id="{FD76A3B4-4510-96B6-EA39-86ACFB2A8C9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6081" t="25000" r="22629"/>
          <a:stretch/>
        </p:blipFill>
        <p:spPr bwMode="auto">
          <a:xfrm>
            <a:off x="12316968" y="-2350008"/>
            <a:ext cx="1508760" cy="288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51104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xit" presetSubtype="0" fill="hold" nodeType="withEffect">
                                  <p:stCondLst>
                                    <p:cond delay="0"/>
                                  </p:stCondLst>
                                  <p:childTnLst>
                                    <p:animEffect transition="out" filter="fade">
                                      <p:cBhvr>
                                        <p:cTn id="6" dur="4250"/>
                                        <p:tgtEl>
                                          <p:spTgt spid="6"/>
                                        </p:tgtEl>
                                      </p:cBhvr>
                                    </p:animEffect>
                                    <p:anim calcmode="lin" valueType="num">
                                      <p:cBhvr>
                                        <p:cTn id="7" dur="4250"/>
                                        <p:tgtEl>
                                          <p:spTgt spid="6"/>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4250"/>
                                        <p:tgtEl>
                                          <p:spTgt spid="6"/>
                                        </p:tgtEl>
                                        <p:attrNameLst>
                                          <p:attrName>ppt_h</p:attrName>
                                        </p:attrNameLst>
                                      </p:cBhvr>
                                      <p:tavLst>
                                        <p:tav tm="0">
                                          <p:val>
                                            <p:strVal val="ppt_h"/>
                                          </p:val>
                                        </p:tav>
                                        <p:tav tm="100000">
                                          <p:val>
                                            <p:strVal val="ppt_h"/>
                                          </p:val>
                                        </p:tav>
                                      </p:tavLst>
                                    </p:anim>
                                    <p:set>
                                      <p:cBhvr>
                                        <p:cTn id="9" dur="1" fill="hold">
                                          <p:stCondLst>
                                            <p:cond delay="424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ase Study Images – Browse 114,281 Stock Photos, Vectors, and Video | Adobe  Stock">
            <a:extLst>
              <a:ext uri="{FF2B5EF4-FFF2-40B4-BE49-F238E27FC236}">
                <a16:creationId xmlns:a16="http://schemas.microsoft.com/office/drawing/2014/main" id="{E8E86927-85FA-62D3-90E9-FF8CEBFCDD6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51529"/>
          <a:stretch/>
        </p:blipFill>
        <p:spPr bwMode="auto">
          <a:xfrm>
            <a:off x="0" y="-3048"/>
            <a:ext cx="12188952" cy="6861048"/>
          </a:xfrm>
          <a:prstGeom prst="rect">
            <a:avLst/>
          </a:prstGeom>
          <a:noFill/>
          <a:extLst>
            <a:ext uri="{909E8E84-426E-40DD-AFC4-6F175D3DCCD1}">
              <a14:hiddenFill xmlns:a14="http://schemas.microsoft.com/office/drawing/2010/main">
                <a:solidFill>
                  <a:srgbClr val="FFFFFF"/>
                </a:solidFill>
              </a14:hiddenFill>
            </a:ext>
          </a:extLst>
        </p:spPr>
      </p:pic>
      <p:pic>
        <p:nvPicPr>
          <p:cNvPr id="15362" name="Picture 2" descr="Case Study Images – Browse 114,281 Stock Photos, Vectors, and Video | Adobe  Stock">
            <a:extLst>
              <a:ext uri="{FF2B5EF4-FFF2-40B4-BE49-F238E27FC236}">
                <a16:creationId xmlns:a16="http://schemas.microsoft.com/office/drawing/2014/main" id="{E8693DCF-5FC6-96F3-260B-E9039CBCDA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6081" t="25000" r="22629"/>
          <a:stretch/>
        </p:blipFill>
        <p:spPr bwMode="auto">
          <a:xfrm>
            <a:off x="10680192" y="3977640"/>
            <a:ext cx="1508760" cy="28803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C989D72-2F65-E81F-0BBD-BB5274BE9227}"/>
              </a:ext>
            </a:extLst>
          </p:cNvPr>
          <p:cNvSpPr txBox="1"/>
          <p:nvPr/>
        </p:nvSpPr>
        <p:spPr>
          <a:xfrm>
            <a:off x="211376" y="267602"/>
            <a:ext cx="11769248" cy="1292662"/>
          </a:xfrm>
          <a:prstGeom prst="rect">
            <a:avLst/>
          </a:prstGeom>
          <a:noFill/>
        </p:spPr>
        <p:txBody>
          <a:bodyPr wrap="square" rtlCol="0">
            <a:spAutoFit/>
          </a:bodyPr>
          <a:lstStyle/>
          <a:p>
            <a:pPr algn="ctr"/>
            <a:r>
              <a:rPr lang="en-IN" sz="2000" b="1" kern="100" dirty="0">
                <a:effectLst/>
                <a:latin typeface="Aptos" panose="020B0004020202020204" pitchFamily="34" charset="0"/>
                <a:ea typeface="Aptos" panose="020B0004020202020204" pitchFamily="34" charset="0"/>
                <a:cs typeface="Times New Roman" panose="02020603050405020304" pitchFamily="18" charset="0"/>
              </a:rPr>
              <a:t>Case Study 2- Revealing Cellular Heterogeneity and Key Regulatory Factors of Triple-Negative Breast Cancer through Single-Cell RNA Sequencing</a:t>
            </a:r>
          </a:p>
          <a:p>
            <a:pPr algn="ctr"/>
            <a:r>
              <a:rPr lang="en-IN" sz="1800" kern="100" dirty="0">
                <a:effectLst/>
                <a:latin typeface="Aptos" panose="020B0004020202020204" pitchFamily="34" charset="0"/>
                <a:ea typeface="Aptos" panose="020B0004020202020204" pitchFamily="34" charset="0"/>
                <a:cs typeface="Times New Roman" panose="02020603050405020304" pitchFamily="18" charset="0"/>
              </a:rPr>
              <a:t>by - Hu Zhang et al; 2024</a:t>
            </a:r>
            <a:endParaRPr lang="en-IN" sz="2000" b="1" kern="100" dirty="0">
              <a:effectLst/>
              <a:latin typeface="Aptos" panose="020B0004020202020204" pitchFamily="34" charset="0"/>
              <a:ea typeface="Aptos" panose="020B0004020202020204" pitchFamily="34" charset="0"/>
              <a:cs typeface="Times New Roman" panose="02020603050405020304" pitchFamily="18" charset="0"/>
            </a:endParaRPr>
          </a:p>
          <a:p>
            <a:pPr algn="ctr"/>
            <a:endParaRPr lang="en-IN" sz="2000" b="1" dirty="0"/>
          </a:p>
        </p:txBody>
      </p:sp>
      <p:sp>
        <p:nvSpPr>
          <p:cNvPr id="3" name="TextBox 2">
            <a:extLst>
              <a:ext uri="{FF2B5EF4-FFF2-40B4-BE49-F238E27FC236}">
                <a16:creationId xmlns:a16="http://schemas.microsoft.com/office/drawing/2014/main" id="{15576562-8C01-9DD9-2D28-AC2BA77521D6}"/>
              </a:ext>
            </a:extLst>
          </p:cNvPr>
          <p:cNvSpPr txBox="1"/>
          <p:nvPr/>
        </p:nvSpPr>
        <p:spPr>
          <a:xfrm>
            <a:off x="211376" y="1047266"/>
            <a:ext cx="10569400" cy="11652998"/>
          </a:xfrm>
          <a:prstGeom prst="rect">
            <a:avLst/>
          </a:prstGeom>
          <a:noFill/>
        </p:spPr>
        <p:txBody>
          <a:bodyPr wrap="square" rtlCol="0">
            <a:spAutoFit/>
          </a:bodyPr>
          <a:lstStyle/>
          <a:p>
            <a:pPr lvl="0">
              <a:lnSpc>
                <a:spcPct val="107000"/>
              </a:lnSpc>
              <a:spcAft>
                <a:spcPts val="800"/>
              </a:spcAft>
              <a:tabLst>
                <a:tab pos="457200" algn="l"/>
              </a:tabLst>
            </a:pPr>
            <a:r>
              <a:rPr lang="en-IN" b="1" kern="100" dirty="0">
                <a:effectLst/>
                <a:latin typeface="Aharoni" panose="02010803020104030203" pitchFamily="2" charset="-79"/>
                <a:ea typeface="Aptos" panose="020B0004020202020204" pitchFamily="34" charset="0"/>
                <a:cs typeface="Aharoni" panose="02010803020104030203" pitchFamily="2" charset="-79"/>
              </a:rPr>
              <a:t>Methodology:</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Data Acquisition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data from five primary breast cancer samples were obtained from the GEO database.</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Preprocessing of Data</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Seurat R package was utilized for preprocessing the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data. This involved filtering the data based on specific criteria and normalizing the data using the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sctransform</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function.</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Dimensionality Reduction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PCA was performed to reduce the dimensionality of the data. Subsequently, batch effects were removed using the Harmony R package, and Uniform Manifold Approximation and Projection (UMAP) was applied for further dimensionality reduction.</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Clustering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FindNeighbors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and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FindClusters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functions from the Seurat package were used to cluster the cells into distinct groups.</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Marker Gene Identification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FindAllMarkers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function was employed to identify high-expressed genes in each cell subset, which helped in exploring the heterogeneity of gene expression patterns across different cell types.</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Gene Function Enrichment Analysis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identified genes of interest were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analyzed</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for their biological functions using DAVID.</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Single-Cell Regulatory Network Inference and Clustering (SCENIC) Analysis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This method was applied to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gene regulatory networks and identify key regulatory genes. </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Cellular Experiments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Finally, the expression and potential biological functions were verified through cellular experiments, which included silencing specific genes and assessing their impact on cancer cell invasion.</a:t>
            </a:r>
          </a:p>
          <a:p>
            <a:pPr marL="342900" lvl="0" indent="-342900">
              <a:lnSpc>
                <a:spcPct val="107000"/>
              </a:lnSpc>
              <a:spcAft>
                <a:spcPts val="800"/>
              </a:spcAft>
              <a:buFont typeface="+mj-lt"/>
              <a:buAutoNum type="arabicPeriod"/>
              <a:tabLst>
                <a:tab pos="457200" algn="l"/>
              </a:tabLst>
            </a:pPr>
            <a:endParaRPr lang="en-IN" sz="1600" kern="100" dirty="0">
              <a:latin typeface="Aptos" panose="020B000402020202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endParaRPr lang="en-IN" sz="1600" kern="100" dirty="0">
              <a:latin typeface="Aptos" panose="020B000402020202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endParaRPr lang="en-IN" sz="1600" kern="100" dirty="0">
              <a:latin typeface="Aptos" panose="020B0004020202020204" pitchFamily="34" charset="0"/>
              <a:cs typeface="Times New Roman" panose="02020603050405020304" pitchFamily="18" charset="0"/>
            </a:endParaRPr>
          </a:p>
          <a:p>
            <a:pPr>
              <a:lnSpc>
                <a:spcPct val="107000"/>
              </a:lnSpc>
              <a:spcAft>
                <a:spcPts val="800"/>
              </a:spcAft>
            </a:pPr>
            <a:endParaRPr lang="en-IN" sz="1600" b="1" kern="100" dirty="0">
              <a:effectLst/>
              <a:latin typeface="Aharoni" panose="02010803020104030203" pitchFamily="2" charset="-79"/>
              <a:ea typeface="Aptos" panose="020B0004020202020204" pitchFamily="34" charset="0"/>
              <a:cs typeface="Aharoni" panose="02010803020104030203" pitchFamily="2" charset="-79"/>
            </a:endParaRPr>
          </a:p>
          <a:p>
            <a:pPr>
              <a:lnSpc>
                <a:spcPct val="107000"/>
              </a:lnSpc>
              <a:spcAft>
                <a:spcPts val="800"/>
              </a:spcAft>
            </a:pPr>
            <a:endParaRPr lang="en-IN" sz="1600" b="1" kern="100" dirty="0">
              <a:latin typeface="Aharoni" panose="02010803020104030203" pitchFamily="2" charset="-79"/>
              <a:ea typeface="Aptos" panose="020B0004020202020204" pitchFamily="34" charset="0"/>
              <a:cs typeface="Aharoni" panose="02010803020104030203" pitchFamily="2" charset="-79"/>
            </a:endParaRPr>
          </a:p>
          <a:p>
            <a:pPr>
              <a:lnSpc>
                <a:spcPct val="107000"/>
              </a:lnSpc>
              <a:spcAft>
                <a:spcPts val="800"/>
              </a:spcAft>
            </a:pPr>
            <a:endParaRPr lang="en-IN" sz="1600" b="1" kern="100" dirty="0">
              <a:effectLst/>
              <a:latin typeface="Aharoni" panose="02010803020104030203" pitchFamily="2" charset="-79"/>
              <a:ea typeface="Aptos" panose="020B0004020202020204" pitchFamily="34" charset="0"/>
              <a:cs typeface="Aharoni" panose="02010803020104030203" pitchFamily="2" charset="-79"/>
            </a:endParaRPr>
          </a:p>
          <a:p>
            <a:pPr>
              <a:lnSpc>
                <a:spcPct val="107000"/>
              </a:lnSpc>
              <a:spcAft>
                <a:spcPts val="800"/>
              </a:spcAft>
            </a:pPr>
            <a:r>
              <a:rPr lang="en-IN" sz="1600" b="1" kern="100" dirty="0">
                <a:effectLst/>
                <a:latin typeface="Aharoni" panose="02010803020104030203" pitchFamily="2" charset="-79"/>
                <a:ea typeface="Aptos" panose="020B0004020202020204" pitchFamily="34" charset="0"/>
                <a:cs typeface="Aharoni" panose="02010803020104030203" pitchFamily="2" charset="-79"/>
              </a:rPr>
              <a:t>Findings &amp; Conclusion: </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Significant Cellular Contributions: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study identified four epithelial cell subsets (EC2, EC3, EC4, and EC5) as being particularly impactful in the TNBC pathotype. </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Key Regulatory Factors: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research highlighted two critical regulons—</a:t>
            </a:r>
            <a:r>
              <a:rPr lang="en-IN" sz="1600" i="1" kern="100" dirty="0">
                <a:effectLst/>
                <a:latin typeface="Aptos" panose="020B0004020202020204" pitchFamily="34" charset="0"/>
                <a:ea typeface="Aptos" panose="020B0004020202020204" pitchFamily="34" charset="0"/>
                <a:cs typeface="Times New Roman" panose="02020603050405020304" pitchFamily="18" charset="0"/>
              </a:rPr>
              <a:t>C-</a:t>
            </a:r>
            <a:r>
              <a:rPr lang="en-IN" sz="1600" i="1" kern="100" dirty="0" err="1">
                <a:effectLst/>
                <a:latin typeface="Aptos" panose="020B0004020202020204" pitchFamily="34" charset="0"/>
                <a:ea typeface="Aptos" panose="020B0004020202020204" pitchFamily="34" charset="0"/>
                <a:cs typeface="Times New Roman" panose="02020603050405020304" pitchFamily="18" charset="0"/>
              </a:rPr>
              <a:t>fos</a:t>
            </a:r>
            <a:r>
              <a:rPr lang="en-IN" sz="1600" i="1" kern="100" dirty="0">
                <a:effectLst/>
                <a:latin typeface="Aptos" panose="020B0004020202020204" pitchFamily="34" charset="0"/>
                <a:ea typeface="Aptos" panose="020B0004020202020204" pitchFamily="34" charset="0"/>
                <a:cs typeface="Times New Roman" panose="02020603050405020304" pitchFamily="18" charset="0"/>
              </a:rPr>
              <a:t> gene (FOS)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and </a:t>
            </a:r>
            <a:r>
              <a:rPr lang="en-IN" sz="1600" i="1" kern="100" dirty="0">
                <a:effectLst/>
                <a:latin typeface="Aptos" panose="020B0004020202020204" pitchFamily="34" charset="0"/>
                <a:ea typeface="Aptos" panose="020B0004020202020204" pitchFamily="34" charset="0"/>
                <a:cs typeface="Times New Roman" panose="02020603050405020304" pitchFamily="18" charset="0"/>
              </a:rPr>
              <a:t>X-box binding protein 1 (XBP1</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)—as being involved in TNBC progression. </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Mechanisms of </a:t>
            </a:r>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Tumor</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Progression: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i="1" kern="100" dirty="0">
                <a:effectLst/>
                <a:latin typeface="Aptos" panose="020B0004020202020204" pitchFamily="34" charset="0"/>
                <a:ea typeface="Aptos" panose="020B0004020202020204" pitchFamily="34" charset="0"/>
                <a:cs typeface="Times New Roman" panose="02020603050405020304" pitchFamily="18" charset="0"/>
              </a:rPr>
              <a:t>ANXA3-expressing subset</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interact with T cells and suppress immune responses through various mechanisms. This suppression of immune function is thought to facilitate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tumor</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progression .</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Implications for Therapy:</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study concludes that understanding the specific epithelial cell subsets and their associated regulatory networks could provide insights into potential therapeutic targets for TNBC. The identified regulons, especially FOS and XBP1, may serve as promising candidates for developing effective treatment strategies aimed at overcoming the challenges posed by TNBC's heterogeneity</a:t>
            </a:r>
          </a:p>
          <a:p>
            <a:pPr lvl="0">
              <a:lnSpc>
                <a:spcPct val="107000"/>
              </a:lnSpc>
              <a:spcAft>
                <a:spcPts val="800"/>
              </a:spcAft>
              <a:tabLst>
                <a:tab pos="457200" algn="l"/>
              </a:tabLst>
            </a:pPr>
            <a:endParaRPr lang="en-IN" sz="1600" dirty="0"/>
          </a:p>
        </p:txBody>
      </p:sp>
    </p:spTree>
    <p:extLst>
      <p:ext uri="{BB962C8B-B14F-4D97-AF65-F5344CB8AC3E}">
        <p14:creationId xmlns:p14="http://schemas.microsoft.com/office/powerpoint/2010/main" val="40859571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xit" presetSubtype="0" fill="hold" nodeType="withEffect">
                                  <p:stCondLst>
                                    <p:cond delay="0"/>
                                  </p:stCondLst>
                                  <p:childTnLst>
                                    <p:animEffect transition="out" filter="fade">
                                      <p:cBhvr>
                                        <p:cTn id="6" dur="4250"/>
                                        <p:tgtEl>
                                          <p:spTgt spid="15362"/>
                                        </p:tgtEl>
                                      </p:cBhvr>
                                    </p:animEffect>
                                    <p:anim calcmode="lin" valueType="num">
                                      <p:cBhvr>
                                        <p:cTn id="7" dur="4250"/>
                                        <p:tgtEl>
                                          <p:spTgt spid="15362"/>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4250"/>
                                        <p:tgtEl>
                                          <p:spTgt spid="15362"/>
                                        </p:tgtEl>
                                        <p:attrNameLst>
                                          <p:attrName>ppt_h</p:attrName>
                                        </p:attrNameLst>
                                      </p:cBhvr>
                                      <p:tavLst>
                                        <p:tav tm="0">
                                          <p:val>
                                            <p:strVal val="ppt_h"/>
                                          </p:val>
                                        </p:tav>
                                        <p:tav tm="100000">
                                          <p:val>
                                            <p:strVal val="ppt_h"/>
                                          </p:val>
                                        </p:tav>
                                      </p:tavLst>
                                    </p:anim>
                                    <p:set>
                                      <p:cBhvr>
                                        <p:cTn id="9" dur="1" fill="hold">
                                          <p:stCondLst>
                                            <p:cond delay="4249"/>
                                          </p:stCondLst>
                                        </p:cTn>
                                        <p:tgtEl>
                                          <p:spTgt spid="15362"/>
                                        </p:tgtEl>
                                        <p:attrNameLst>
                                          <p:attrName>style.visibility</p:attrName>
                                        </p:attrNameLst>
                                      </p:cBhvr>
                                      <p:to>
                                        <p:strVal val="hidden"/>
                                      </p:to>
                                    </p:set>
                                  </p:childTnLst>
                                </p:cTn>
                              </p:par>
                            </p:childTnLst>
                          </p:cTn>
                        </p:par>
                        <p:par>
                          <p:cTn id="10" fill="hold">
                            <p:stCondLst>
                              <p:cond delay="4250"/>
                            </p:stCondLst>
                            <p:childTnLst>
                              <p:par>
                                <p:cTn id="11" presetID="1" presetClass="entr" presetSubtype="0" fill="hold" nodeType="afterEffect">
                                  <p:stCondLst>
                                    <p:cond delay="0"/>
                                  </p:stCondLst>
                                  <p:childTnLst>
                                    <p:set>
                                      <p:cBhvr>
                                        <p:cTn id="12" dur="1" fill="hold">
                                          <p:stCondLst>
                                            <p:cond delay="0"/>
                                          </p:stCondLst>
                                        </p:cTn>
                                        <p:tgtEl>
                                          <p:spTgt spid="153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ase Study Images – Browse 114,281 Stock Photos, Vectors, and Video | Adobe  Stock">
            <a:extLst>
              <a:ext uri="{FF2B5EF4-FFF2-40B4-BE49-F238E27FC236}">
                <a16:creationId xmlns:a16="http://schemas.microsoft.com/office/drawing/2014/main" id="{E8E86927-85FA-62D3-90E9-FF8CEBFCDD6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51529"/>
          <a:stretch/>
        </p:blipFill>
        <p:spPr bwMode="auto">
          <a:xfrm>
            <a:off x="0" y="-3048"/>
            <a:ext cx="12188952" cy="6861048"/>
          </a:xfrm>
          <a:prstGeom prst="rect">
            <a:avLst/>
          </a:prstGeom>
          <a:noFill/>
          <a:extLst>
            <a:ext uri="{909E8E84-426E-40DD-AFC4-6F175D3DCCD1}">
              <a14:hiddenFill xmlns:a14="http://schemas.microsoft.com/office/drawing/2010/main">
                <a:solidFill>
                  <a:srgbClr val="FFFFFF"/>
                </a:solidFill>
              </a14:hiddenFill>
            </a:ext>
          </a:extLst>
        </p:spPr>
      </p:pic>
      <p:pic>
        <p:nvPicPr>
          <p:cNvPr id="15362" name="Picture 2" descr="Case Study Images – Browse 114,281 Stock Photos, Vectors, and Video | Adobe  Stock">
            <a:extLst>
              <a:ext uri="{FF2B5EF4-FFF2-40B4-BE49-F238E27FC236}">
                <a16:creationId xmlns:a16="http://schemas.microsoft.com/office/drawing/2014/main" id="{E8693DCF-5FC6-96F3-260B-E9039CBCDA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2629"/>
          <a:stretch/>
        </p:blipFill>
        <p:spPr bwMode="auto">
          <a:xfrm>
            <a:off x="8458200" y="3017520"/>
            <a:ext cx="3730752" cy="384048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C989D72-2F65-E81F-0BBD-BB5274BE9227}"/>
              </a:ext>
            </a:extLst>
          </p:cNvPr>
          <p:cNvSpPr txBox="1"/>
          <p:nvPr/>
        </p:nvSpPr>
        <p:spPr>
          <a:xfrm>
            <a:off x="211376" y="267602"/>
            <a:ext cx="11769248" cy="1292662"/>
          </a:xfrm>
          <a:prstGeom prst="rect">
            <a:avLst/>
          </a:prstGeom>
          <a:noFill/>
        </p:spPr>
        <p:txBody>
          <a:bodyPr wrap="square" rtlCol="0">
            <a:spAutoFit/>
          </a:bodyPr>
          <a:lstStyle/>
          <a:p>
            <a:pPr algn="ctr"/>
            <a:r>
              <a:rPr lang="en-IN" sz="2000" b="1" kern="100" dirty="0">
                <a:effectLst/>
                <a:latin typeface="Aptos" panose="020B0004020202020204" pitchFamily="34" charset="0"/>
                <a:ea typeface="Aptos" panose="020B0004020202020204" pitchFamily="34" charset="0"/>
                <a:cs typeface="Times New Roman" panose="02020603050405020304" pitchFamily="18" charset="0"/>
              </a:rPr>
              <a:t>Case Study 2- Revealing Cellular Heterogeneity and Key Regulatory Factors of Triple-Negative Breast Cancer through Single-Cell RNA Sequencing</a:t>
            </a:r>
          </a:p>
          <a:p>
            <a:pPr algn="ctr"/>
            <a:r>
              <a:rPr lang="en-IN" sz="1800" kern="100" dirty="0">
                <a:effectLst/>
                <a:latin typeface="Aptos" panose="020B0004020202020204" pitchFamily="34" charset="0"/>
                <a:ea typeface="Aptos" panose="020B0004020202020204" pitchFamily="34" charset="0"/>
                <a:cs typeface="Times New Roman" panose="02020603050405020304" pitchFamily="18" charset="0"/>
              </a:rPr>
              <a:t>by - Hu Zhang et al; 2024</a:t>
            </a:r>
            <a:endParaRPr lang="en-IN" sz="2000" b="1" kern="100" dirty="0">
              <a:effectLst/>
              <a:latin typeface="Aptos" panose="020B0004020202020204" pitchFamily="34" charset="0"/>
              <a:ea typeface="Aptos" panose="020B0004020202020204" pitchFamily="34" charset="0"/>
              <a:cs typeface="Times New Roman" panose="02020603050405020304" pitchFamily="18" charset="0"/>
            </a:endParaRPr>
          </a:p>
          <a:p>
            <a:pPr algn="ctr"/>
            <a:endParaRPr lang="en-IN" sz="2000" b="1" dirty="0"/>
          </a:p>
        </p:txBody>
      </p:sp>
      <p:sp>
        <p:nvSpPr>
          <p:cNvPr id="3" name="TextBox 2">
            <a:extLst>
              <a:ext uri="{FF2B5EF4-FFF2-40B4-BE49-F238E27FC236}">
                <a16:creationId xmlns:a16="http://schemas.microsoft.com/office/drawing/2014/main" id="{15576562-8C01-9DD9-2D28-AC2BA77521D6}"/>
              </a:ext>
            </a:extLst>
          </p:cNvPr>
          <p:cNvSpPr txBox="1"/>
          <p:nvPr/>
        </p:nvSpPr>
        <p:spPr>
          <a:xfrm>
            <a:off x="211376" y="-6130774"/>
            <a:ext cx="10569400" cy="11652998"/>
          </a:xfrm>
          <a:prstGeom prst="rect">
            <a:avLst/>
          </a:prstGeom>
          <a:noFill/>
        </p:spPr>
        <p:txBody>
          <a:bodyPr wrap="square" rtlCol="0">
            <a:spAutoFit/>
          </a:bodyPr>
          <a:lstStyle/>
          <a:p>
            <a:pPr lvl="0">
              <a:lnSpc>
                <a:spcPct val="107000"/>
              </a:lnSpc>
              <a:spcAft>
                <a:spcPts val="800"/>
              </a:spcAft>
              <a:tabLst>
                <a:tab pos="457200" algn="l"/>
              </a:tabLst>
            </a:pPr>
            <a:r>
              <a:rPr lang="en-IN" b="1" kern="100" dirty="0">
                <a:effectLst/>
                <a:latin typeface="Aharoni" panose="02010803020104030203" pitchFamily="2" charset="-79"/>
                <a:ea typeface="Aptos" panose="020B0004020202020204" pitchFamily="34" charset="0"/>
                <a:cs typeface="Aharoni" panose="02010803020104030203" pitchFamily="2" charset="-79"/>
              </a:rPr>
              <a:t>Methodology:</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Data Acquisition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data from five primary breast cancer samples were obtained from the GEO database.</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Preprocessing of Data</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Seurat R package was utilized for preprocessing the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data. This involved filtering the data based on specific criteria and normalizing the data using the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sctransform</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function.</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Dimensionality Reduction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PCA was performed to reduce the dimensionality of the data. Subsequently, batch effects were removed using the Harmony R package, and Uniform Manifold Approximation and Projection (UMAP) was applied for further dimensionality reduction.</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Clustering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FindNeighbors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and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FindClusters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functions from the Seurat package were used to cluster the cells into distinct groups.</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Marker Gene Identification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FindAllMarkers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function was employed to identify high-expressed genes in each cell subset, which helped in exploring the heterogeneity of gene expression patterns across different cell types.</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Gene Function Enrichment Analysis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identified genes of interest were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analyzed</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for their biological functions using DAVID.</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Single-Cell Regulatory Network Inference and Clustering (SCENIC) Analysis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This method was applied to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analyze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gene regulatory networks and identify key regulatory genes. </a:t>
            </a:r>
          </a:p>
          <a:p>
            <a:pPr marL="342900" lvl="0" indent="-342900">
              <a:lnSpc>
                <a:spcPct val="107000"/>
              </a:lnSpc>
              <a:spcAft>
                <a:spcPts val="800"/>
              </a:spcAft>
              <a:buFont typeface="+mj-lt"/>
              <a:buAutoNum type="arabicPeriod"/>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Cellular Experiments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Finally, the expression and potential biological functions were verified through cellular experiments, which included silencing specific genes and assessing their impact on cancer cell invasion.</a:t>
            </a:r>
          </a:p>
          <a:p>
            <a:pPr marL="342900" lvl="0" indent="-342900">
              <a:lnSpc>
                <a:spcPct val="107000"/>
              </a:lnSpc>
              <a:spcAft>
                <a:spcPts val="800"/>
              </a:spcAft>
              <a:buFont typeface="+mj-lt"/>
              <a:buAutoNum type="arabicPeriod"/>
              <a:tabLst>
                <a:tab pos="457200" algn="l"/>
              </a:tabLst>
            </a:pPr>
            <a:endParaRPr lang="en-IN" sz="1600" kern="100" dirty="0">
              <a:latin typeface="Aptos" panose="020B000402020202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endParaRPr lang="en-IN" sz="1600" kern="100" dirty="0">
              <a:latin typeface="Aptos" panose="020B000402020202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endParaRPr lang="en-IN" sz="1600" kern="100" dirty="0">
              <a:latin typeface="Aptos" panose="020B0004020202020204" pitchFamily="34" charset="0"/>
              <a:cs typeface="Times New Roman" panose="02020603050405020304" pitchFamily="18" charset="0"/>
            </a:endParaRPr>
          </a:p>
          <a:p>
            <a:pPr>
              <a:lnSpc>
                <a:spcPct val="107000"/>
              </a:lnSpc>
              <a:spcAft>
                <a:spcPts val="800"/>
              </a:spcAft>
            </a:pPr>
            <a:endParaRPr lang="en-IN" sz="1600" b="1" kern="100" dirty="0">
              <a:effectLst/>
              <a:latin typeface="Aharoni" panose="02010803020104030203" pitchFamily="2" charset="-79"/>
              <a:ea typeface="Aptos" panose="020B0004020202020204" pitchFamily="34" charset="0"/>
              <a:cs typeface="Aharoni" panose="02010803020104030203" pitchFamily="2" charset="-79"/>
            </a:endParaRPr>
          </a:p>
          <a:p>
            <a:pPr>
              <a:lnSpc>
                <a:spcPct val="107000"/>
              </a:lnSpc>
              <a:spcAft>
                <a:spcPts val="800"/>
              </a:spcAft>
            </a:pPr>
            <a:endParaRPr lang="en-IN" sz="1600" b="1" kern="100" dirty="0">
              <a:latin typeface="Aharoni" panose="02010803020104030203" pitchFamily="2" charset="-79"/>
              <a:ea typeface="Aptos" panose="020B0004020202020204" pitchFamily="34" charset="0"/>
              <a:cs typeface="Aharoni" panose="02010803020104030203" pitchFamily="2" charset="-79"/>
            </a:endParaRPr>
          </a:p>
          <a:p>
            <a:pPr>
              <a:lnSpc>
                <a:spcPct val="107000"/>
              </a:lnSpc>
              <a:spcAft>
                <a:spcPts val="800"/>
              </a:spcAft>
            </a:pPr>
            <a:endParaRPr lang="en-IN" sz="1600" b="1" kern="100" dirty="0">
              <a:effectLst/>
              <a:latin typeface="Aharoni" panose="02010803020104030203" pitchFamily="2" charset="-79"/>
              <a:ea typeface="Aptos" panose="020B0004020202020204" pitchFamily="34" charset="0"/>
              <a:cs typeface="Aharoni" panose="02010803020104030203" pitchFamily="2" charset="-79"/>
            </a:endParaRPr>
          </a:p>
          <a:p>
            <a:pPr>
              <a:lnSpc>
                <a:spcPct val="107000"/>
              </a:lnSpc>
              <a:spcAft>
                <a:spcPts val="800"/>
              </a:spcAft>
            </a:pPr>
            <a:r>
              <a:rPr lang="en-IN" sz="1600" b="1" kern="100" dirty="0">
                <a:effectLst/>
                <a:latin typeface="Aharoni" panose="02010803020104030203" pitchFamily="2" charset="-79"/>
                <a:ea typeface="Aptos" panose="020B0004020202020204" pitchFamily="34" charset="0"/>
                <a:cs typeface="Aharoni" panose="02010803020104030203" pitchFamily="2" charset="-79"/>
              </a:rPr>
              <a:t>Findings &amp; Conclusion: </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Significant Cellular Contributions: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study identified four epithelial cell subsets (EC2, EC3, EC4, and EC5) as being particularly impactful in the TNBC pathotype. </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Key Regulatory Factors: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research highlighted two critical regulons—</a:t>
            </a:r>
            <a:r>
              <a:rPr lang="en-IN" sz="1600" i="1" kern="100" dirty="0">
                <a:effectLst/>
                <a:latin typeface="Aptos" panose="020B0004020202020204" pitchFamily="34" charset="0"/>
                <a:ea typeface="Aptos" panose="020B0004020202020204" pitchFamily="34" charset="0"/>
                <a:cs typeface="Times New Roman" panose="02020603050405020304" pitchFamily="18" charset="0"/>
              </a:rPr>
              <a:t>C-</a:t>
            </a:r>
            <a:r>
              <a:rPr lang="en-IN" sz="1600" i="1" kern="100" dirty="0" err="1">
                <a:effectLst/>
                <a:latin typeface="Aptos" panose="020B0004020202020204" pitchFamily="34" charset="0"/>
                <a:ea typeface="Aptos" panose="020B0004020202020204" pitchFamily="34" charset="0"/>
                <a:cs typeface="Times New Roman" panose="02020603050405020304" pitchFamily="18" charset="0"/>
              </a:rPr>
              <a:t>fos</a:t>
            </a:r>
            <a:r>
              <a:rPr lang="en-IN" sz="1600" i="1" kern="100" dirty="0">
                <a:effectLst/>
                <a:latin typeface="Aptos" panose="020B0004020202020204" pitchFamily="34" charset="0"/>
                <a:ea typeface="Aptos" panose="020B0004020202020204" pitchFamily="34" charset="0"/>
                <a:cs typeface="Times New Roman" panose="02020603050405020304" pitchFamily="18" charset="0"/>
              </a:rPr>
              <a:t> gene (FOS)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and </a:t>
            </a:r>
            <a:r>
              <a:rPr lang="en-IN" sz="1600" i="1" kern="100" dirty="0">
                <a:effectLst/>
                <a:latin typeface="Aptos" panose="020B0004020202020204" pitchFamily="34" charset="0"/>
                <a:ea typeface="Aptos" panose="020B0004020202020204" pitchFamily="34" charset="0"/>
                <a:cs typeface="Times New Roman" panose="02020603050405020304" pitchFamily="18" charset="0"/>
              </a:rPr>
              <a:t>X-box binding protein 1 (XBP1</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)—as being involved in TNBC progression. </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Mechanisms of </a:t>
            </a:r>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Tumor</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Progression: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i="1" kern="100" dirty="0">
                <a:effectLst/>
                <a:latin typeface="Aptos" panose="020B0004020202020204" pitchFamily="34" charset="0"/>
                <a:ea typeface="Aptos" panose="020B0004020202020204" pitchFamily="34" charset="0"/>
                <a:cs typeface="Times New Roman" panose="02020603050405020304" pitchFamily="18" charset="0"/>
              </a:rPr>
              <a:t>ANXA3-expressing subset</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interact with T cells and suppress immune responses through various mechanisms. This suppression of immune function is thought to facilitate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tumor</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progression .</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Implications for Therapy:</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study concludes that understanding the specific epithelial cell subsets and their associated regulatory networks could provide insights into potential therapeutic targets for TNBC. The identified regulons, especially FOS and XBP1, may serve as promising candidates for developing effective treatment strategies aimed at overcoming the challenges posed by TNBC's heterogeneity</a:t>
            </a:r>
          </a:p>
          <a:p>
            <a:pPr lvl="0">
              <a:lnSpc>
                <a:spcPct val="107000"/>
              </a:lnSpc>
              <a:spcAft>
                <a:spcPts val="800"/>
              </a:spcAft>
              <a:tabLst>
                <a:tab pos="457200" algn="l"/>
              </a:tabLst>
            </a:pPr>
            <a:endParaRPr lang="en-IN" sz="1600" dirty="0"/>
          </a:p>
        </p:txBody>
      </p:sp>
    </p:spTree>
    <p:extLst>
      <p:ext uri="{BB962C8B-B14F-4D97-AF65-F5344CB8AC3E}">
        <p14:creationId xmlns:p14="http://schemas.microsoft.com/office/powerpoint/2010/main" val="4201668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Case Study Images – Browse 114,281 Stock Photos, Vectors, and Video | Adobe  Stock">
            <a:extLst>
              <a:ext uri="{FF2B5EF4-FFF2-40B4-BE49-F238E27FC236}">
                <a16:creationId xmlns:a16="http://schemas.microsoft.com/office/drawing/2014/main" id="{6264E0AB-C196-1C45-4859-F397EED2C36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51529"/>
          <a:stretch/>
        </p:blipFill>
        <p:spPr bwMode="auto">
          <a:xfrm>
            <a:off x="0" y="-3048"/>
            <a:ext cx="12188952" cy="686104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C989D72-2F65-E81F-0BBD-BB5274BE9227}"/>
              </a:ext>
            </a:extLst>
          </p:cNvPr>
          <p:cNvSpPr txBox="1"/>
          <p:nvPr/>
        </p:nvSpPr>
        <p:spPr>
          <a:xfrm>
            <a:off x="211376" y="267602"/>
            <a:ext cx="11769248" cy="1292662"/>
          </a:xfrm>
          <a:prstGeom prst="rect">
            <a:avLst/>
          </a:prstGeom>
          <a:noFill/>
        </p:spPr>
        <p:txBody>
          <a:bodyPr wrap="square" rtlCol="0">
            <a:spAutoFit/>
          </a:bodyPr>
          <a:lstStyle/>
          <a:p>
            <a:pPr algn="ctr"/>
            <a:r>
              <a:rPr lang="en-IN" sz="2000" b="1" kern="100" dirty="0">
                <a:effectLst/>
                <a:latin typeface="Aptos" panose="020B0004020202020204" pitchFamily="34" charset="0"/>
                <a:ea typeface="Aptos" panose="020B0004020202020204" pitchFamily="34" charset="0"/>
                <a:cs typeface="Times New Roman" panose="02020603050405020304" pitchFamily="18" charset="0"/>
              </a:rPr>
              <a:t>Case Study 2- Revealing Cellular Heterogeneity and Key Regulatory Factors of Triple-Negative Breast Cancer through Single-Cell RNA Sequencing</a:t>
            </a:r>
          </a:p>
          <a:p>
            <a:pPr algn="ctr"/>
            <a:r>
              <a:rPr lang="en-IN" sz="1800" kern="100" dirty="0">
                <a:effectLst/>
                <a:latin typeface="Aptos" panose="020B0004020202020204" pitchFamily="34" charset="0"/>
                <a:ea typeface="Aptos" panose="020B0004020202020204" pitchFamily="34" charset="0"/>
                <a:cs typeface="Times New Roman" panose="02020603050405020304" pitchFamily="18" charset="0"/>
              </a:rPr>
              <a:t>by - Hu Zhang et al; 2024</a:t>
            </a:r>
            <a:endParaRPr lang="en-IN" sz="2000" b="1" kern="100" dirty="0">
              <a:effectLst/>
              <a:latin typeface="Aptos" panose="020B0004020202020204" pitchFamily="34" charset="0"/>
              <a:ea typeface="Aptos" panose="020B0004020202020204" pitchFamily="34" charset="0"/>
              <a:cs typeface="Times New Roman" panose="02020603050405020304" pitchFamily="18" charset="0"/>
            </a:endParaRPr>
          </a:p>
          <a:p>
            <a:pPr algn="ctr"/>
            <a:endParaRPr lang="en-IN" sz="2000" b="1" dirty="0"/>
          </a:p>
        </p:txBody>
      </p:sp>
      <p:grpSp>
        <p:nvGrpSpPr>
          <p:cNvPr id="10" name="Group 9">
            <a:extLst>
              <a:ext uri="{FF2B5EF4-FFF2-40B4-BE49-F238E27FC236}">
                <a16:creationId xmlns:a16="http://schemas.microsoft.com/office/drawing/2014/main" id="{DE66D37C-E6EB-F28D-E402-8A1BE20BE564}"/>
              </a:ext>
            </a:extLst>
          </p:cNvPr>
          <p:cNvGrpSpPr/>
          <p:nvPr/>
        </p:nvGrpSpPr>
        <p:grpSpPr>
          <a:xfrm>
            <a:off x="640461" y="1203312"/>
            <a:ext cx="11340163" cy="5587567"/>
            <a:chOff x="640461" y="1203312"/>
            <a:chExt cx="11340163" cy="5587567"/>
          </a:xfrm>
        </p:grpSpPr>
        <p:pic>
          <p:nvPicPr>
            <p:cNvPr id="5" name="Picture 4">
              <a:extLst>
                <a:ext uri="{FF2B5EF4-FFF2-40B4-BE49-F238E27FC236}">
                  <a16:creationId xmlns:a16="http://schemas.microsoft.com/office/drawing/2014/main" id="{FDD7BDAA-97B7-41AB-CAC1-6D05A1EA4256}"/>
                </a:ext>
              </a:extLst>
            </p:cNvPr>
            <p:cNvPicPr>
              <a:picLocks noChangeAspect="1"/>
            </p:cNvPicPr>
            <p:nvPr/>
          </p:nvPicPr>
          <p:blipFill>
            <a:blip r:embed="rId3"/>
            <a:stretch>
              <a:fillRect/>
            </a:stretch>
          </p:blipFill>
          <p:spPr>
            <a:xfrm>
              <a:off x="640461" y="1227962"/>
              <a:ext cx="5004790" cy="4486275"/>
            </a:xfrm>
            <a:prstGeom prst="rect">
              <a:avLst/>
            </a:prstGeom>
          </p:spPr>
        </p:pic>
        <p:sp>
          <p:nvSpPr>
            <p:cNvPr id="6" name="TextBox 5">
              <a:extLst>
                <a:ext uri="{FF2B5EF4-FFF2-40B4-BE49-F238E27FC236}">
                  <a16:creationId xmlns:a16="http://schemas.microsoft.com/office/drawing/2014/main" id="{9E70EFB2-597A-0518-3E87-208A9B0AC57C}"/>
                </a:ext>
              </a:extLst>
            </p:cNvPr>
            <p:cNvSpPr txBox="1"/>
            <p:nvPr/>
          </p:nvSpPr>
          <p:spPr>
            <a:xfrm>
              <a:off x="917803" y="5852160"/>
              <a:ext cx="4727448" cy="938719"/>
            </a:xfrm>
            <a:prstGeom prst="rect">
              <a:avLst/>
            </a:prstGeom>
            <a:noFill/>
          </p:spPr>
          <p:txBody>
            <a:bodyPr wrap="square" rtlCol="0">
              <a:spAutoFit/>
            </a:bodyPr>
            <a:lstStyle/>
            <a:p>
              <a:r>
                <a:rPr lang="en-IN" sz="1100" dirty="0"/>
                <a:t>Fig. 1. Single-cell landscape of </a:t>
              </a:r>
              <a:r>
                <a:rPr lang="en-IN" sz="1100" dirty="0" err="1"/>
                <a:t>BCtissues</a:t>
              </a:r>
              <a:r>
                <a:rPr lang="en-IN" sz="1100" dirty="0"/>
                <a:t>. (A)</a:t>
              </a:r>
              <a:r>
                <a:rPr lang="en-IN" sz="1100" dirty="0" err="1"/>
                <a:t>UMAPplotofannotatedcellclusters</a:t>
              </a:r>
              <a:r>
                <a:rPr lang="en-IN" sz="1100" dirty="0"/>
                <a:t>.(B)</a:t>
              </a:r>
              <a:r>
                <a:rPr lang="en-IN" sz="1100" dirty="0" err="1"/>
                <a:t>UMAPdimensionalityreductionplotoftissue</a:t>
              </a:r>
              <a:r>
                <a:rPr lang="en-IN" sz="1100" dirty="0"/>
                <a:t> types of each cell. (C) Bar plot of the proportion of each cell cluster in three pathologies tissues. (D) Bubble plot of marker genes in each cell cluster.</a:t>
              </a:r>
            </a:p>
          </p:txBody>
        </p:sp>
        <p:pic>
          <p:nvPicPr>
            <p:cNvPr id="8" name="Picture 7">
              <a:extLst>
                <a:ext uri="{FF2B5EF4-FFF2-40B4-BE49-F238E27FC236}">
                  <a16:creationId xmlns:a16="http://schemas.microsoft.com/office/drawing/2014/main" id="{16329F71-E071-B981-BB7F-436BDCB9013E}"/>
                </a:ext>
              </a:extLst>
            </p:cNvPr>
            <p:cNvPicPr>
              <a:picLocks noChangeAspect="1"/>
            </p:cNvPicPr>
            <p:nvPr/>
          </p:nvPicPr>
          <p:blipFill>
            <a:blip r:embed="rId4"/>
            <a:stretch>
              <a:fillRect/>
            </a:stretch>
          </p:blipFill>
          <p:spPr>
            <a:xfrm>
              <a:off x="5930698" y="1203312"/>
              <a:ext cx="6049926" cy="3829584"/>
            </a:xfrm>
            <a:prstGeom prst="rect">
              <a:avLst/>
            </a:prstGeom>
          </p:spPr>
        </p:pic>
        <p:sp>
          <p:nvSpPr>
            <p:cNvPr id="9" name="TextBox 8">
              <a:extLst>
                <a:ext uri="{FF2B5EF4-FFF2-40B4-BE49-F238E27FC236}">
                  <a16:creationId xmlns:a16="http://schemas.microsoft.com/office/drawing/2014/main" id="{229699FF-1F3C-8CD8-FF4D-926864E32861}"/>
                </a:ext>
              </a:extLst>
            </p:cNvPr>
            <p:cNvSpPr txBox="1"/>
            <p:nvPr/>
          </p:nvSpPr>
          <p:spPr>
            <a:xfrm>
              <a:off x="6473571" y="6015989"/>
              <a:ext cx="5077968" cy="600164"/>
            </a:xfrm>
            <a:prstGeom prst="rect">
              <a:avLst/>
            </a:prstGeom>
            <a:noFill/>
          </p:spPr>
          <p:txBody>
            <a:bodyPr wrap="square" rtlCol="0">
              <a:spAutoFit/>
            </a:bodyPr>
            <a:lstStyle/>
            <a:p>
              <a:r>
                <a:rPr lang="en-US" sz="1100" dirty="0"/>
                <a:t>Fig. 2. Identification of TNBC-specific epithelial cell subsets. (A) UMAP clustering plot of all epithelial cells. (B) Box plot of the proportion of each epithelial cell subset between TNBC and non-TNBC.</a:t>
              </a:r>
              <a:endParaRPr lang="en-IN" sz="1100" dirty="0"/>
            </a:p>
          </p:txBody>
        </p:sp>
      </p:grpSp>
      <p:pic>
        <p:nvPicPr>
          <p:cNvPr id="12" name="Picture 2" descr="Case Study Images – Browse 114,281 Stock Photos, Vectors, and Video | Adobe  Stock">
            <a:extLst>
              <a:ext uri="{FF2B5EF4-FFF2-40B4-BE49-F238E27FC236}">
                <a16:creationId xmlns:a16="http://schemas.microsoft.com/office/drawing/2014/main" id="{B74E9E13-FA2A-A881-2BCD-90AC9A6D6FB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2629"/>
          <a:stretch/>
        </p:blipFill>
        <p:spPr bwMode="auto">
          <a:xfrm>
            <a:off x="-4044633" y="246328"/>
            <a:ext cx="3730752" cy="384048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85BFCA9-F29E-4A7C-8372-2326A2B01295}"/>
              </a:ext>
            </a:extLst>
          </p:cNvPr>
          <p:cNvSpPr txBox="1"/>
          <p:nvPr/>
        </p:nvSpPr>
        <p:spPr>
          <a:xfrm>
            <a:off x="152400" y="6923151"/>
            <a:ext cx="12115800" cy="646331"/>
          </a:xfrm>
          <a:prstGeom prst="rect">
            <a:avLst/>
          </a:prstGeom>
          <a:noFill/>
        </p:spPr>
        <p:txBody>
          <a:bodyPr wrap="square" rtlCol="0">
            <a:spAutoFit/>
          </a:bodyPr>
          <a:lstStyle/>
          <a:p>
            <a:pPr algn="ctr">
              <a:spcAft>
                <a:spcPts val="600"/>
              </a:spcAft>
            </a:pPr>
            <a:r>
              <a:rPr lang="en-IN" sz="3600" b="1" u="sng" kern="100" dirty="0">
                <a:latin typeface="Aptos" panose="020B0004020202020204" pitchFamily="34" charset="0"/>
                <a:cs typeface="Times New Roman" panose="02020603050405020304" pitchFamily="18" charset="0"/>
              </a:rPr>
              <a:t>Challenges in </a:t>
            </a:r>
            <a:r>
              <a:rPr lang="en-IN" sz="3600" b="1" u="sng" kern="100" dirty="0" err="1">
                <a:latin typeface="Aptos" panose="020B0004020202020204" pitchFamily="34" charset="0"/>
                <a:cs typeface="Times New Roman" panose="02020603050405020304" pitchFamily="18" charset="0"/>
              </a:rPr>
              <a:t>scRNA-seq</a:t>
            </a:r>
            <a:r>
              <a:rPr lang="en-IN" sz="3600" b="1" u="sng" kern="100" dirty="0">
                <a:latin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11123706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art 1: Facing Your Biggest Life Challenges - 8 Steps to Recovery - Home  Dialysis Central">
            <a:extLst>
              <a:ext uri="{FF2B5EF4-FFF2-40B4-BE49-F238E27FC236}">
                <a16:creationId xmlns:a16="http://schemas.microsoft.com/office/drawing/2014/main" id="{09A252EE-51BE-2AA2-9845-EFDE490F2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088" y="0"/>
            <a:ext cx="14039088" cy="91165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1DAED50-DFCD-65E3-742B-D5B7D4F70BED}"/>
              </a:ext>
            </a:extLst>
          </p:cNvPr>
          <p:cNvSpPr txBox="1"/>
          <p:nvPr/>
        </p:nvSpPr>
        <p:spPr>
          <a:xfrm>
            <a:off x="351692" y="48217"/>
            <a:ext cx="12115800" cy="646331"/>
          </a:xfrm>
          <a:prstGeom prst="rect">
            <a:avLst/>
          </a:prstGeom>
          <a:noFill/>
        </p:spPr>
        <p:txBody>
          <a:bodyPr wrap="square" rtlCol="0">
            <a:spAutoFit/>
          </a:bodyPr>
          <a:lstStyle/>
          <a:p>
            <a:pPr algn="ctr"/>
            <a:r>
              <a:rPr lang="en-IN" sz="3600" b="1" u="sng" kern="100" dirty="0">
                <a:latin typeface="Times New Roman" panose="02020603050405020304" pitchFamily="18" charset="0"/>
                <a:cs typeface="Times New Roman" panose="02020603050405020304" pitchFamily="18" charset="0"/>
              </a:rPr>
              <a:t>Applications of </a:t>
            </a:r>
            <a:r>
              <a:rPr lang="en-IN" sz="3600" b="1" u="sng" kern="100" dirty="0" err="1">
                <a:latin typeface="Times New Roman" panose="02020603050405020304" pitchFamily="18" charset="0"/>
                <a:cs typeface="Times New Roman" panose="02020603050405020304" pitchFamily="18" charset="0"/>
              </a:rPr>
              <a:t>scRNA-seq</a:t>
            </a:r>
            <a:r>
              <a:rPr lang="en-IN" sz="3600" b="1" u="sng" kern="100" dirty="0">
                <a:latin typeface="Times New Roman" panose="02020603050405020304" pitchFamily="18" charset="0"/>
                <a:cs typeface="Times New Roman" panose="02020603050405020304" pitchFamily="18" charset="0"/>
              </a:rPr>
              <a:t> data analysis </a:t>
            </a:r>
          </a:p>
        </p:txBody>
      </p:sp>
      <p:sp>
        <p:nvSpPr>
          <p:cNvPr id="5" name="TextBox 4">
            <a:extLst>
              <a:ext uri="{FF2B5EF4-FFF2-40B4-BE49-F238E27FC236}">
                <a16:creationId xmlns:a16="http://schemas.microsoft.com/office/drawing/2014/main" id="{8746E2B1-A67D-44CB-5D6C-99548AF0A839}"/>
              </a:ext>
            </a:extLst>
          </p:cNvPr>
          <p:cNvSpPr txBox="1"/>
          <p:nvPr/>
        </p:nvSpPr>
        <p:spPr>
          <a:xfrm>
            <a:off x="3193366" y="953780"/>
            <a:ext cx="8998634" cy="6186309"/>
          </a:xfrm>
          <a:prstGeom prst="rect">
            <a:avLst/>
          </a:prstGeom>
          <a:noFill/>
        </p:spPr>
        <p:txBody>
          <a:bodyPr wrap="square">
            <a:spAutoFit/>
          </a:bodyPr>
          <a:lstStyle/>
          <a:p>
            <a:pPr marL="285750" indent="-285750" algn="l" rtl="0" eaLnBrk="1" fontAlgn="t" latinLnBrk="0" hangingPunct="1">
              <a:spcBef>
                <a:spcPts val="0"/>
              </a:spcBef>
              <a:spcAft>
                <a:spcPts val="0"/>
              </a:spcAft>
              <a:buFont typeface="Arial" panose="020B0604020202020204" pitchFamily="34" charset="0"/>
              <a:buChar char="•"/>
            </a:pPr>
            <a:r>
              <a:rPr lang="en-IN" sz="1800" b="1" i="0" u="none" strike="noStrike" kern="100" dirty="0">
                <a:solidFill>
                  <a:srgbClr val="000000"/>
                </a:solidFill>
                <a:effectLst/>
                <a:latin typeface="Times New Roman" panose="02020603050405020304" pitchFamily="18" charset="0"/>
                <a:cs typeface="Times New Roman" panose="02020603050405020304" pitchFamily="18" charset="0"/>
              </a:rPr>
              <a:t>Cancer Research</a:t>
            </a:r>
            <a:r>
              <a:rPr lang="en-IN" sz="1800" dirty="0">
                <a:latin typeface="Times New Roman" panose="02020603050405020304" pitchFamily="18" charset="0"/>
                <a:cs typeface="Times New Roman" panose="02020603050405020304" pitchFamily="18" charset="0"/>
              </a:rPr>
              <a:t>: </a:t>
            </a:r>
            <a:r>
              <a:rPr lang="en-IN" sz="1800" b="0" i="0" u="none" strike="noStrike" kern="100" dirty="0">
                <a:solidFill>
                  <a:srgbClr val="000000"/>
                </a:solidFill>
                <a:effectLst/>
                <a:latin typeface="Times New Roman" panose="02020603050405020304" pitchFamily="18" charset="0"/>
                <a:cs typeface="Times New Roman" panose="02020603050405020304" pitchFamily="18" charset="0"/>
              </a:rPr>
              <a:t>Characterizes </a:t>
            </a:r>
            <a:r>
              <a:rPr lang="en-IN" sz="1800" b="0" i="0" u="none" strike="noStrike" kern="100" dirty="0" err="1">
                <a:solidFill>
                  <a:srgbClr val="000000"/>
                </a:solidFill>
                <a:effectLst/>
                <a:latin typeface="Times New Roman" panose="02020603050405020304" pitchFamily="18" charset="0"/>
                <a:cs typeface="Times New Roman" panose="02020603050405020304" pitchFamily="18" charset="0"/>
              </a:rPr>
              <a:t>tumor</a:t>
            </a:r>
            <a:r>
              <a:rPr lang="en-IN" sz="1800" b="0" i="0" u="none" strike="noStrike" kern="100" dirty="0">
                <a:solidFill>
                  <a:srgbClr val="000000"/>
                </a:solidFill>
                <a:effectLst/>
                <a:latin typeface="Times New Roman" panose="02020603050405020304" pitchFamily="18" charset="0"/>
                <a:cs typeface="Times New Roman" panose="02020603050405020304" pitchFamily="18" charset="0"/>
              </a:rPr>
              <a:t> heterogeneity and micro-environment. Identifies cancer stem cells, subpopulations, and drug resistance mechanisms.</a:t>
            </a:r>
          </a:p>
          <a:p>
            <a:pPr marL="285750" indent="-285750" algn="l" rtl="0" eaLnBrk="1" fontAlgn="t" latinLnBrk="0" hangingPunct="1">
              <a:spcBef>
                <a:spcPts val="0"/>
              </a:spcBef>
              <a:spcAft>
                <a:spcPts val="0"/>
              </a:spcAft>
              <a:buFont typeface="Arial" panose="020B0604020202020204" pitchFamily="34" charset="0"/>
              <a:buChar char="•"/>
            </a:pPr>
            <a:endParaRPr lang="en-IN" sz="1800" b="0" i="0" u="none" strike="noStrike" dirty="0">
              <a:effectLst/>
              <a:latin typeface="Times New Roman" panose="02020603050405020304" pitchFamily="18" charset="0"/>
              <a:cs typeface="Times New Roman" panose="02020603050405020304" pitchFamily="18" charset="0"/>
            </a:endParaRPr>
          </a:p>
          <a:p>
            <a:pPr marL="285750" indent="-285750" algn="l" rtl="0" eaLnBrk="1" fontAlgn="t" latinLnBrk="0" hangingPunct="1">
              <a:spcBef>
                <a:spcPts val="0"/>
              </a:spcBef>
              <a:spcAft>
                <a:spcPts val="0"/>
              </a:spcAft>
              <a:buFont typeface="Arial" panose="020B0604020202020204" pitchFamily="34" charset="0"/>
              <a:buChar char="•"/>
            </a:pPr>
            <a:r>
              <a:rPr lang="en-IN" sz="1800" b="1" i="0" u="none" strike="noStrike" kern="100" dirty="0">
                <a:solidFill>
                  <a:srgbClr val="000000"/>
                </a:solidFill>
                <a:effectLst/>
                <a:latin typeface="Times New Roman" panose="02020603050405020304" pitchFamily="18" charset="0"/>
                <a:cs typeface="Times New Roman" panose="02020603050405020304" pitchFamily="18" charset="0"/>
              </a:rPr>
              <a:t>Neurodegenerative Diseases</a:t>
            </a:r>
            <a:r>
              <a:rPr lang="en-IN" sz="1800" dirty="0">
                <a:latin typeface="Times New Roman" panose="02020603050405020304" pitchFamily="18" charset="0"/>
                <a:cs typeface="Times New Roman" panose="02020603050405020304" pitchFamily="18" charset="0"/>
              </a:rPr>
              <a:t>: </a:t>
            </a:r>
            <a:r>
              <a:rPr lang="en-IN" sz="1800" b="0" i="0" u="none" strike="noStrike" kern="100" dirty="0">
                <a:solidFill>
                  <a:srgbClr val="000000"/>
                </a:solidFill>
                <a:effectLst/>
                <a:latin typeface="Times New Roman" panose="02020603050405020304" pitchFamily="18" charset="0"/>
                <a:cs typeface="Times New Roman" panose="02020603050405020304" pitchFamily="18" charset="0"/>
              </a:rPr>
              <a:t>Studies cell type-specific changes in diseases like Alzheimer’s and Parkinson’s.</a:t>
            </a:r>
            <a:r>
              <a:rPr lang="en-IN" sz="1800" dirty="0">
                <a:latin typeface="Times New Roman" panose="02020603050405020304" pitchFamily="18" charset="0"/>
                <a:cs typeface="Times New Roman" panose="02020603050405020304" pitchFamily="18" charset="0"/>
              </a:rPr>
              <a:t> </a:t>
            </a:r>
            <a:r>
              <a:rPr lang="en-IN" sz="1800" b="0" i="0" u="none" strike="noStrike" kern="100" dirty="0">
                <a:solidFill>
                  <a:srgbClr val="000000"/>
                </a:solidFill>
                <a:effectLst/>
                <a:latin typeface="Times New Roman" panose="02020603050405020304" pitchFamily="18" charset="0"/>
                <a:cs typeface="Times New Roman" panose="02020603050405020304" pitchFamily="18" charset="0"/>
              </a:rPr>
              <a:t>Reveals molecular mechanisms underlying neurodegeneration and identifies biomarkers.</a:t>
            </a:r>
          </a:p>
          <a:p>
            <a:pPr marL="285750" indent="-285750" algn="l" rtl="0" eaLnBrk="1" fontAlgn="t" latinLnBrk="0" hangingPunct="1">
              <a:spcBef>
                <a:spcPts val="0"/>
              </a:spcBef>
              <a:spcAft>
                <a:spcPts val="0"/>
              </a:spcAft>
              <a:buFont typeface="Arial" panose="020B0604020202020204" pitchFamily="34" charset="0"/>
              <a:buChar char="•"/>
            </a:pPr>
            <a:endParaRPr lang="en-IN" sz="1800" b="0" i="0" u="none" strike="noStrike" dirty="0">
              <a:effectLst/>
              <a:latin typeface="Times New Roman" panose="02020603050405020304" pitchFamily="18" charset="0"/>
              <a:cs typeface="Times New Roman" panose="02020603050405020304" pitchFamily="18" charset="0"/>
            </a:endParaRPr>
          </a:p>
          <a:p>
            <a:pPr marL="285750" indent="-285750" algn="l" rtl="0" eaLnBrk="1" fontAlgn="t" latinLnBrk="0" hangingPunct="1">
              <a:spcBef>
                <a:spcPts val="0"/>
              </a:spcBef>
              <a:spcAft>
                <a:spcPts val="0"/>
              </a:spcAft>
              <a:buFont typeface="Arial" panose="020B0604020202020204" pitchFamily="34" charset="0"/>
              <a:buChar char="•"/>
            </a:pPr>
            <a:r>
              <a:rPr lang="en-IN" sz="1800" b="1" i="0" u="none" strike="noStrike" kern="100" dirty="0">
                <a:solidFill>
                  <a:srgbClr val="000000"/>
                </a:solidFill>
                <a:effectLst/>
                <a:latin typeface="Times New Roman" panose="02020603050405020304" pitchFamily="18" charset="0"/>
                <a:cs typeface="Times New Roman" panose="02020603050405020304" pitchFamily="18" charset="0"/>
              </a:rPr>
              <a:t>Personalized Medicine</a:t>
            </a:r>
            <a:r>
              <a:rPr lang="en-IN" sz="1800" dirty="0">
                <a:latin typeface="Times New Roman" panose="02020603050405020304" pitchFamily="18" charset="0"/>
                <a:cs typeface="Times New Roman" panose="02020603050405020304" pitchFamily="18" charset="0"/>
              </a:rPr>
              <a:t>: </a:t>
            </a:r>
            <a:r>
              <a:rPr lang="en-IN" sz="1800" b="0" i="0" u="none" strike="noStrike" kern="100" dirty="0">
                <a:solidFill>
                  <a:srgbClr val="000000"/>
                </a:solidFill>
                <a:effectLst/>
                <a:latin typeface="Times New Roman" panose="02020603050405020304" pitchFamily="18" charset="0"/>
                <a:cs typeface="Times New Roman" panose="02020603050405020304" pitchFamily="18" charset="0"/>
              </a:rPr>
              <a:t>Identifies patient-specific gene expression signatures for tailored treatment strategies.</a:t>
            </a:r>
            <a:r>
              <a:rPr lang="en-IN" sz="1800" dirty="0">
                <a:latin typeface="Times New Roman" panose="02020603050405020304" pitchFamily="18" charset="0"/>
                <a:cs typeface="Times New Roman" panose="02020603050405020304" pitchFamily="18" charset="0"/>
              </a:rPr>
              <a:t> </a:t>
            </a:r>
            <a:r>
              <a:rPr lang="en-IN" sz="1800" b="0" i="0" u="none" strike="noStrike" kern="100" dirty="0">
                <a:solidFill>
                  <a:srgbClr val="000000"/>
                </a:solidFill>
                <a:effectLst/>
                <a:latin typeface="Times New Roman" panose="02020603050405020304" pitchFamily="18" charset="0"/>
                <a:cs typeface="Times New Roman" panose="02020603050405020304" pitchFamily="18" charset="0"/>
              </a:rPr>
              <a:t>Highlights individual responses to treatments, paving the way for personalized therapies.</a:t>
            </a:r>
            <a:endParaRPr lang="en-IN" sz="1800" b="0" i="0" u="none" strike="noStrike" dirty="0">
              <a:effectLst/>
              <a:latin typeface="Times New Roman" panose="02020603050405020304" pitchFamily="18" charset="0"/>
              <a:cs typeface="Times New Roman" panose="02020603050405020304" pitchFamily="18" charset="0"/>
            </a:endParaRPr>
          </a:p>
          <a:p>
            <a:pPr marL="285750" indent="-285750" algn="l" rtl="0" eaLnBrk="1" fontAlgn="t" latinLnBrk="0" hangingPunct="1">
              <a:spcBef>
                <a:spcPts val="0"/>
              </a:spcBef>
              <a:spcAft>
                <a:spcPts val="0"/>
              </a:spcAft>
              <a:buFont typeface="Arial" panose="020B0604020202020204" pitchFamily="34" charset="0"/>
              <a:buChar char="•"/>
            </a:pPr>
            <a:endParaRPr lang="en-IN" sz="1800" b="0" i="0" u="none" strike="noStrike" dirty="0">
              <a:effectLst/>
              <a:latin typeface="Times New Roman" panose="02020603050405020304" pitchFamily="18" charset="0"/>
              <a:cs typeface="Times New Roman" panose="02020603050405020304" pitchFamily="18" charset="0"/>
            </a:endParaRPr>
          </a:p>
          <a:p>
            <a:pPr marL="285750" indent="-285750" algn="l" rtl="0" eaLnBrk="1" fontAlgn="t" latinLnBrk="0" hangingPunct="1">
              <a:spcBef>
                <a:spcPts val="0"/>
              </a:spcBef>
              <a:spcAft>
                <a:spcPts val="0"/>
              </a:spcAft>
              <a:buFont typeface="Arial" panose="020B0604020202020204" pitchFamily="34" charset="0"/>
              <a:buChar char="•"/>
            </a:pPr>
            <a:r>
              <a:rPr lang="en-IN" sz="1800" b="1" i="0" u="none" strike="noStrike" kern="100" dirty="0">
                <a:solidFill>
                  <a:srgbClr val="000000"/>
                </a:solidFill>
                <a:effectLst/>
                <a:latin typeface="Times New Roman" panose="02020603050405020304" pitchFamily="18" charset="0"/>
                <a:cs typeface="Times New Roman" panose="02020603050405020304" pitchFamily="18" charset="0"/>
              </a:rPr>
              <a:t>Autoimmune Diseases</a:t>
            </a:r>
            <a:r>
              <a:rPr lang="en-IN" sz="1800" dirty="0">
                <a:latin typeface="Times New Roman" panose="02020603050405020304" pitchFamily="18" charset="0"/>
                <a:cs typeface="Times New Roman" panose="02020603050405020304" pitchFamily="18" charset="0"/>
              </a:rPr>
              <a:t>: </a:t>
            </a:r>
            <a:r>
              <a:rPr lang="en-IN" sz="1800" b="0" i="0" u="none" strike="noStrike" kern="100" dirty="0">
                <a:solidFill>
                  <a:srgbClr val="000000"/>
                </a:solidFill>
                <a:effectLst/>
                <a:latin typeface="Times New Roman" panose="02020603050405020304" pitchFamily="18" charset="0"/>
                <a:cs typeface="Times New Roman" panose="02020603050405020304" pitchFamily="18" charset="0"/>
              </a:rPr>
              <a:t>Profiles immune cell populations and their states in autoimmune conditions.</a:t>
            </a:r>
            <a:r>
              <a:rPr lang="en-IN" sz="1800" dirty="0">
                <a:latin typeface="Times New Roman" panose="02020603050405020304" pitchFamily="18" charset="0"/>
                <a:cs typeface="Times New Roman" panose="02020603050405020304" pitchFamily="18" charset="0"/>
              </a:rPr>
              <a:t>, </a:t>
            </a:r>
            <a:r>
              <a:rPr lang="en-IN" sz="1800" b="0" i="0" u="none" strike="noStrike" kern="100" dirty="0">
                <a:solidFill>
                  <a:srgbClr val="000000"/>
                </a:solidFill>
                <a:effectLst/>
                <a:latin typeface="Times New Roman" panose="02020603050405020304" pitchFamily="18" charset="0"/>
                <a:cs typeface="Times New Roman" panose="02020603050405020304" pitchFamily="18" charset="0"/>
              </a:rPr>
              <a:t>Uncovers dysregulation in immune responses and identifies potential therapeutic targets.</a:t>
            </a:r>
          </a:p>
          <a:p>
            <a:pPr marL="285750" indent="-285750" algn="l" rtl="0" eaLnBrk="1" fontAlgn="t" latinLnBrk="0" hangingPunct="1">
              <a:spcBef>
                <a:spcPts val="0"/>
              </a:spcBef>
              <a:spcAft>
                <a:spcPts val="0"/>
              </a:spcAft>
              <a:buFont typeface="Arial" panose="020B0604020202020204" pitchFamily="34" charset="0"/>
              <a:buChar char="•"/>
            </a:pPr>
            <a:endParaRPr lang="en-IN" sz="1800" b="0" i="0" u="none" strike="noStrike" dirty="0">
              <a:effectLst/>
              <a:latin typeface="Times New Roman" panose="02020603050405020304" pitchFamily="18" charset="0"/>
              <a:cs typeface="Times New Roman" panose="02020603050405020304" pitchFamily="18" charset="0"/>
            </a:endParaRPr>
          </a:p>
          <a:p>
            <a:pPr marL="285750" indent="-285750" algn="l" rtl="0" eaLnBrk="1" fontAlgn="t" latinLnBrk="0" hangingPunct="1">
              <a:spcBef>
                <a:spcPts val="0"/>
              </a:spcBef>
              <a:spcAft>
                <a:spcPts val="0"/>
              </a:spcAft>
              <a:buFont typeface="Arial" panose="020B0604020202020204" pitchFamily="34" charset="0"/>
              <a:buChar char="•"/>
            </a:pPr>
            <a:r>
              <a:rPr lang="en-IN" sz="1800" b="1" i="0" u="none" strike="noStrike" kern="100" dirty="0">
                <a:solidFill>
                  <a:srgbClr val="000000"/>
                </a:solidFill>
                <a:effectLst/>
                <a:latin typeface="Times New Roman" panose="02020603050405020304" pitchFamily="18" charset="0"/>
                <a:cs typeface="Times New Roman" panose="02020603050405020304" pitchFamily="18" charset="0"/>
              </a:rPr>
              <a:t>Developmental Biology</a:t>
            </a:r>
            <a:r>
              <a:rPr lang="en-IN" sz="1800" dirty="0">
                <a:latin typeface="Times New Roman" panose="02020603050405020304" pitchFamily="18" charset="0"/>
                <a:cs typeface="Times New Roman" panose="02020603050405020304" pitchFamily="18" charset="0"/>
              </a:rPr>
              <a:t>: </a:t>
            </a:r>
            <a:r>
              <a:rPr lang="en-IN" sz="1800" b="0" i="0" u="none" strike="noStrike" kern="100" dirty="0">
                <a:solidFill>
                  <a:srgbClr val="000000"/>
                </a:solidFill>
                <a:effectLst/>
                <a:latin typeface="Times New Roman" panose="02020603050405020304" pitchFamily="18" charset="0"/>
                <a:cs typeface="Times New Roman" panose="02020603050405020304" pitchFamily="18" charset="0"/>
              </a:rPr>
              <a:t>Tracks cellular differentiation and lineage tracing during development</a:t>
            </a:r>
            <a:r>
              <a:rPr lang="en-IN" sz="1800" dirty="0">
                <a:latin typeface="Times New Roman" panose="02020603050405020304" pitchFamily="18" charset="0"/>
                <a:cs typeface="Times New Roman" panose="02020603050405020304" pitchFamily="18" charset="0"/>
              </a:rPr>
              <a:t>. </a:t>
            </a:r>
            <a:r>
              <a:rPr lang="en-IN" sz="1800" b="0" i="0" u="none" strike="noStrike" kern="100" dirty="0">
                <a:solidFill>
                  <a:srgbClr val="000000"/>
                </a:solidFill>
                <a:effectLst/>
                <a:latin typeface="Times New Roman" panose="02020603050405020304" pitchFamily="18" charset="0"/>
                <a:cs typeface="Times New Roman" panose="02020603050405020304" pitchFamily="18" charset="0"/>
              </a:rPr>
              <a:t>Maps out developmental trajectories and identifies genes regulating cell fate decisions.</a:t>
            </a:r>
          </a:p>
          <a:p>
            <a:pPr marL="285750" indent="-285750" algn="l" rtl="0" eaLnBrk="1" fontAlgn="t" latinLnBrk="0" hangingPunct="1">
              <a:spcBef>
                <a:spcPts val="0"/>
              </a:spcBef>
              <a:spcAft>
                <a:spcPts val="0"/>
              </a:spcAft>
              <a:buFont typeface="Arial" panose="020B0604020202020204" pitchFamily="34" charset="0"/>
              <a:buChar char="•"/>
            </a:pPr>
            <a:endParaRPr lang="en-IN" sz="1800" kern="100" dirty="0">
              <a:solidFill>
                <a:srgbClr val="000000"/>
              </a:solidFill>
              <a:latin typeface="Times New Roman" panose="02020603050405020304" pitchFamily="18" charset="0"/>
              <a:cs typeface="Times New Roman" panose="02020603050405020304" pitchFamily="18" charset="0"/>
            </a:endParaRPr>
          </a:p>
          <a:p>
            <a:pPr marL="285750" indent="-285750" algn="l" rtl="0" eaLnBrk="1" fontAlgn="t" latinLnBrk="0" hangingPunct="1">
              <a:spcBef>
                <a:spcPts val="0"/>
              </a:spcBef>
              <a:spcAft>
                <a:spcPts val="0"/>
              </a:spcAft>
              <a:buFont typeface="Arial" panose="020B0604020202020204" pitchFamily="34" charset="0"/>
              <a:buChar char="•"/>
            </a:pPr>
            <a:r>
              <a:rPr lang="en-IN" sz="1800" b="1" i="0" u="none" strike="noStrike" kern="100" dirty="0">
                <a:solidFill>
                  <a:srgbClr val="000000"/>
                </a:solidFill>
                <a:effectLst/>
                <a:latin typeface="Times New Roman" panose="02020603050405020304" pitchFamily="18" charset="0"/>
                <a:cs typeface="Times New Roman" panose="02020603050405020304" pitchFamily="18" charset="0"/>
              </a:rPr>
              <a:t>Immune Cell Diversity</a:t>
            </a:r>
            <a:r>
              <a:rPr lang="en-IN" sz="1800" b="0" i="0" u="none" strike="noStrike" kern="100" dirty="0">
                <a:solidFill>
                  <a:srgbClr val="000000"/>
                </a:solidFill>
                <a:effectLst/>
                <a:latin typeface="Times New Roman" panose="02020603050405020304" pitchFamily="18" charset="0"/>
                <a:cs typeface="Times New Roman" panose="02020603050405020304" pitchFamily="18" charset="0"/>
              </a:rPr>
              <a:t>: Characterizes various immune cell types and their functional states.</a:t>
            </a:r>
            <a:r>
              <a:rPr lang="en-IN" sz="1800" dirty="0">
                <a:latin typeface="Times New Roman" panose="02020603050405020304" pitchFamily="18" charset="0"/>
                <a:cs typeface="Times New Roman" panose="02020603050405020304" pitchFamily="18" charset="0"/>
              </a:rPr>
              <a:t> </a:t>
            </a:r>
            <a:r>
              <a:rPr lang="en-IN" sz="1800" b="0" i="0" u="none" strike="noStrike" kern="100" dirty="0">
                <a:solidFill>
                  <a:srgbClr val="000000"/>
                </a:solidFill>
                <a:effectLst/>
                <a:latin typeface="Times New Roman" panose="02020603050405020304" pitchFamily="18" charset="0"/>
                <a:cs typeface="Times New Roman" panose="02020603050405020304" pitchFamily="18" charset="0"/>
              </a:rPr>
              <a:t>Understands the complexity of immune responses and identifies cell-type-specific functions.</a:t>
            </a:r>
            <a:endParaRPr lang="en-IN" sz="1800" b="0" i="0" u="none" strike="noStrike" dirty="0">
              <a:effectLst/>
              <a:latin typeface="Times New Roman" panose="02020603050405020304" pitchFamily="18" charset="0"/>
              <a:cs typeface="Times New Roman" panose="02020603050405020304" pitchFamily="18" charset="0"/>
            </a:endParaRPr>
          </a:p>
          <a:p>
            <a:pPr marL="285750" indent="-285750" algn="l" rtl="0" eaLnBrk="1" fontAlgn="t" latinLnBrk="0" hangingPunct="1">
              <a:spcBef>
                <a:spcPts val="0"/>
              </a:spcBef>
              <a:spcAft>
                <a:spcPts val="0"/>
              </a:spcAft>
              <a:buFont typeface="Arial" panose="020B0604020202020204" pitchFamily="34" charset="0"/>
              <a:buChar char="•"/>
            </a:pPr>
            <a:endParaRPr lang="en-IN" sz="1800" b="0" i="0" u="none" strike="noStrike" dirty="0">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4D79467-8A32-CACA-D505-04658CD82E69}"/>
              </a:ext>
            </a:extLst>
          </p:cNvPr>
          <p:cNvSpPr txBox="1"/>
          <p:nvPr/>
        </p:nvSpPr>
        <p:spPr>
          <a:xfrm>
            <a:off x="-9144" y="7072503"/>
            <a:ext cx="12115800" cy="646331"/>
          </a:xfrm>
          <a:prstGeom prst="rect">
            <a:avLst/>
          </a:prstGeom>
          <a:noFill/>
        </p:spPr>
        <p:txBody>
          <a:bodyPr wrap="square" rtlCol="0">
            <a:spAutoFit/>
          </a:bodyPr>
          <a:lstStyle/>
          <a:p>
            <a:pPr algn="ctr"/>
            <a:r>
              <a:rPr lang="en-IN" sz="3600" b="1" u="sng" kern="100" dirty="0">
                <a:latin typeface="Aptos" panose="020B0004020202020204" pitchFamily="34" charset="0"/>
                <a:cs typeface="Times New Roman" panose="02020603050405020304" pitchFamily="18" charset="0"/>
              </a:rPr>
              <a:t>Challenges in </a:t>
            </a:r>
            <a:r>
              <a:rPr lang="en-IN" sz="3600" b="1" u="sng" kern="100" dirty="0" err="1">
                <a:latin typeface="Aptos" panose="020B0004020202020204" pitchFamily="34" charset="0"/>
                <a:cs typeface="Times New Roman" panose="02020603050405020304" pitchFamily="18" charset="0"/>
              </a:rPr>
              <a:t>scRNA-seq</a:t>
            </a:r>
            <a:r>
              <a:rPr lang="en-IN" sz="3600" b="1" u="sng" kern="100" dirty="0">
                <a:latin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35222296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art 1: Facing Your Biggest Life Challenges - 8 Steps to Recovery - Home  Dialysis Central">
            <a:extLst>
              <a:ext uri="{FF2B5EF4-FFF2-40B4-BE49-F238E27FC236}">
                <a16:creationId xmlns:a16="http://schemas.microsoft.com/office/drawing/2014/main" id="{09A252EE-51BE-2AA2-9845-EFDE490F2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088" y="0"/>
            <a:ext cx="14039088" cy="911656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A04DC94-C1D5-916C-8FEE-AC9D2D5D1CED}"/>
              </a:ext>
            </a:extLst>
          </p:cNvPr>
          <p:cNvSpPr txBox="1"/>
          <p:nvPr/>
        </p:nvSpPr>
        <p:spPr>
          <a:xfrm>
            <a:off x="3246120" y="1106797"/>
            <a:ext cx="8670036" cy="12388263"/>
          </a:xfrm>
          <a:prstGeom prst="rect">
            <a:avLst/>
          </a:prstGeom>
          <a:noFill/>
        </p:spPr>
        <p:txBody>
          <a:bodyPr wrap="square" rtlCol="0">
            <a:spAutoFit/>
          </a:bodyPr>
          <a:lstStyle/>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Technical Challenges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These challenges arise due to malpractices or machine errors. </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1. Low RNA Input</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typically requires low RNA input, which can result in incomplete reverse transcription and amplification, leading to inadequate coverage and technical noise.</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Solution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RNA input can be optimized by standardizing the cell lysis and RNA extraction.</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2. Amplification Bias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Amplification bias can arise due to stochastic variation in amplification efficiency, resulting in a skewed representation of specific genes and overestimating their expression levels.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Solution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Amplification bias correction can be done using several methods like unique molecular identifiers (UMIs) and spike-in controls.</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3. Dropout Events: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Occur when a transcript fails to be captured or amplified in a single cell, leading to a false-negative signal.</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Solution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Dropout event mitigation uses several computational methods to account for dropout events and impute missing gene expression data.</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4. Batch Effects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These can arise due to technical variation between different sequencing runs or experimental batches.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Solution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Batch effects correction, such as regression-based methods, batch normalization techniques, and clustering-based methods.</a:t>
            </a:r>
          </a:p>
          <a:p>
            <a:pPr marL="342900" lvl="0" indent="-342900">
              <a:lnSpc>
                <a:spcPct val="107000"/>
              </a:lnSpc>
              <a:spcAft>
                <a:spcPts val="800"/>
              </a:spcAft>
              <a:buSzPts val="1000"/>
              <a:buFont typeface="Symbol" panose="05050102010706020507" pitchFamily="18" charset="2"/>
              <a:buChar char=""/>
              <a:tabLst>
                <a:tab pos="457200" algn="l"/>
              </a:tabLst>
            </a:pPr>
            <a:endParaRPr lang="en-IN" sz="1600" kern="100" dirty="0">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endParaRPr lang="en-IN" sz="1600" kern="100" dirty="0">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5. Cell Doublets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can capture multiple cells in a single droplet, resulting in doublets.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Solution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Cell hashing is used to identify cell doublets.</a:t>
            </a:r>
            <a:endParaRPr lang="en-IN" sz="1600" kern="100" dirty="0">
              <a:latin typeface="Aptos" panose="020B0004020202020204" pitchFamily="34" charset="0"/>
              <a:ea typeface="Aptos" panose="020B0004020202020204" pitchFamily="34" charset="0"/>
              <a:cs typeface="Times New Roman" panose="02020603050405020304" pitchFamily="18" charset="0"/>
            </a:endParaRPr>
          </a:p>
          <a:p>
            <a:pPr lvl="0">
              <a:lnSpc>
                <a:spcPct val="107000"/>
              </a:lnSpc>
              <a:spcAft>
                <a:spcPts val="800"/>
              </a:spcAft>
              <a:buSzPts val="1000"/>
              <a:tabLst>
                <a:tab pos="457200" algn="l"/>
              </a:tabLst>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Methodological Challenges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These challenges arise due to errors in methods or protocols of performing the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-RNA seq. </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1. Library Preparation: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library preparation involves multiple steps which can introduce technical noise and biases.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Solution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Standardizing library preparation protocols and quality control measures.</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2. Cell Selection, Dissociation, and Handling: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dissociation of cells from tissues or organs, can cause stress and alter gene expression profiles.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Solution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Optimize the sample preparation process to ensure high-quality single-cell suspensions.</a:t>
            </a:r>
          </a:p>
          <a:p>
            <a:endParaRPr lang="en-IN" sz="1600" dirty="0"/>
          </a:p>
        </p:txBody>
      </p:sp>
      <p:sp>
        <p:nvSpPr>
          <p:cNvPr id="3" name="TextBox 2">
            <a:extLst>
              <a:ext uri="{FF2B5EF4-FFF2-40B4-BE49-F238E27FC236}">
                <a16:creationId xmlns:a16="http://schemas.microsoft.com/office/drawing/2014/main" id="{31DAED50-DFCD-65E3-742B-D5B7D4F70BED}"/>
              </a:ext>
            </a:extLst>
          </p:cNvPr>
          <p:cNvSpPr txBox="1"/>
          <p:nvPr/>
        </p:nvSpPr>
        <p:spPr>
          <a:xfrm>
            <a:off x="0" y="360807"/>
            <a:ext cx="12115800" cy="646331"/>
          </a:xfrm>
          <a:prstGeom prst="rect">
            <a:avLst/>
          </a:prstGeom>
          <a:noFill/>
        </p:spPr>
        <p:txBody>
          <a:bodyPr wrap="square" rtlCol="0">
            <a:spAutoFit/>
          </a:bodyPr>
          <a:lstStyle/>
          <a:p>
            <a:pPr algn="ctr"/>
            <a:r>
              <a:rPr lang="en-IN" sz="3600" b="1" u="sng" kern="100" dirty="0">
                <a:latin typeface="Aptos" panose="020B0004020202020204" pitchFamily="34" charset="0"/>
                <a:cs typeface="Times New Roman" panose="02020603050405020304" pitchFamily="18" charset="0"/>
              </a:rPr>
              <a:t>Challenges in </a:t>
            </a:r>
            <a:r>
              <a:rPr lang="en-IN" sz="3600" b="1" u="sng" kern="100" dirty="0" err="1">
                <a:latin typeface="Aptos" panose="020B0004020202020204" pitchFamily="34" charset="0"/>
                <a:cs typeface="Times New Roman" panose="02020603050405020304" pitchFamily="18" charset="0"/>
              </a:rPr>
              <a:t>scRNA-seq</a:t>
            </a:r>
            <a:r>
              <a:rPr lang="en-IN" sz="3600" b="1" u="sng" kern="100" dirty="0">
                <a:latin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18955194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art 1: Facing Your Biggest Life Challenges - 8 Steps to Recovery - Home  Dialysis Central">
            <a:extLst>
              <a:ext uri="{FF2B5EF4-FFF2-40B4-BE49-F238E27FC236}">
                <a16:creationId xmlns:a16="http://schemas.microsoft.com/office/drawing/2014/main" id="{09A252EE-51BE-2AA2-9845-EFDE490F2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088" y="0"/>
            <a:ext cx="14039088" cy="911656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A04DC94-C1D5-916C-8FEE-AC9D2D5D1CED}"/>
              </a:ext>
            </a:extLst>
          </p:cNvPr>
          <p:cNvSpPr txBox="1"/>
          <p:nvPr/>
        </p:nvSpPr>
        <p:spPr>
          <a:xfrm>
            <a:off x="3246120" y="-5897507"/>
            <a:ext cx="8670036" cy="12388263"/>
          </a:xfrm>
          <a:prstGeom prst="rect">
            <a:avLst/>
          </a:prstGeom>
          <a:noFill/>
        </p:spPr>
        <p:txBody>
          <a:bodyPr wrap="square" rtlCol="0">
            <a:spAutoFit/>
          </a:bodyPr>
          <a:lstStyle/>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Technical Challenges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These challenges arise due to malpractices or machine errors. </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1. Low RNA Input</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typically requires low RNA input, which can result in incomplete reverse transcription and amplification, leading to inadequate coverage and technical noise.</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Solution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RNA input can be optimized by standardizing the cell lysis and RNA extraction.</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2. Amplification Bias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Amplification bias can arise due to stochastic variation in amplification efficiency, resulting in a skewed representation of specific genes and overestimating their expression levels.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Solution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Amplification bias correction can be done using several methods like unique molecular identifiers (UMIs) and spike-in controls.</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3. Dropout Events: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Occur when a transcript fails to be captured or amplified in a single cell, leading to a false-negative signal.</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Solution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Dropout event mitigation uses several computational methods to account for dropout events and impute missing gene expression data.</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4. Batch Effects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These can arise due to technical variation between different sequencing runs or experimental batches.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Solution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Batch effects correction, such as regression-based methods, batch normalization techniques, and clustering-based methods.</a:t>
            </a:r>
          </a:p>
          <a:p>
            <a:pPr marL="342900" lvl="0" indent="-342900">
              <a:lnSpc>
                <a:spcPct val="107000"/>
              </a:lnSpc>
              <a:spcAft>
                <a:spcPts val="800"/>
              </a:spcAft>
              <a:buSzPts val="1000"/>
              <a:buFont typeface="Symbol" panose="05050102010706020507" pitchFamily="18" charset="2"/>
              <a:buChar char=""/>
              <a:tabLst>
                <a:tab pos="457200" algn="l"/>
              </a:tabLst>
            </a:pPr>
            <a:endParaRPr lang="en-IN" sz="1600" kern="100" dirty="0">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endParaRPr lang="en-IN" sz="1600" kern="100" dirty="0">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5. Cell Doublets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scRNA-seq</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can capture multiple cells in a single droplet, resulting in doublets.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Solution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Cell hashing is used to identify cell doublets.</a:t>
            </a:r>
            <a:endParaRPr lang="en-IN" sz="1600" kern="100" dirty="0">
              <a:latin typeface="Aptos" panose="020B0004020202020204" pitchFamily="34" charset="0"/>
              <a:ea typeface="Aptos" panose="020B0004020202020204" pitchFamily="34" charset="0"/>
              <a:cs typeface="Times New Roman" panose="02020603050405020304" pitchFamily="18" charset="0"/>
            </a:endParaRPr>
          </a:p>
          <a:p>
            <a:pPr lvl="0">
              <a:lnSpc>
                <a:spcPct val="107000"/>
              </a:lnSpc>
              <a:spcAft>
                <a:spcPts val="800"/>
              </a:spcAft>
              <a:buSzPts val="1000"/>
              <a:tabLst>
                <a:tab pos="457200" algn="l"/>
              </a:tabLst>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Methodological Challenges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These challenges arise due to errors in methods or protocols of performing the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sc</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-RNA seq. </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1. Library Preparation: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library preparation involves multiple steps which can introduce technical noise and biases.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Solution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Standardizing library preparation protocols and quality control measures.</a:t>
            </a:r>
          </a:p>
          <a:p>
            <a:pPr>
              <a:lnSpc>
                <a:spcPct val="107000"/>
              </a:lnSpc>
              <a:spcAft>
                <a:spcPts val="800"/>
              </a:spcAf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2. Cell Selection, Dissociation, and Handling: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the dissociation of cells from tissues or organs, can cause stress and alter gene expression profiles.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Solution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Optimize the sample preparation process to ensure high-quality single-cell suspensions.</a:t>
            </a:r>
          </a:p>
          <a:p>
            <a:endParaRPr lang="en-IN" sz="1600" dirty="0"/>
          </a:p>
        </p:txBody>
      </p:sp>
      <p:sp>
        <p:nvSpPr>
          <p:cNvPr id="3" name="TextBox 2">
            <a:extLst>
              <a:ext uri="{FF2B5EF4-FFF2-40B4-BE49-F238E27FC236}">
                <a16:creationId xmlns:a16="http://schemas.microsoft.com/office/drawing/2014/main" id="{31DAED50-DFCD-65E3-742B-D5B7D4F70BED}"/>
              </a:ext>
            </a:extLst>
          </p:cNvPr>
          <p:cNvSpPr txBox="1"/>
          <p:nvPr/>
        </p:nvSpPr>
        <p:spPr>
          <a:xfrm>
            <a:off x="0" y="360807"/>
            <a:ext cx="12115800" cy="646331"/>
          </a:xfrm>
          <a:prstGeom prst="rect">
            <a:avLst/>
          </a:prstGeom>
          <a:noFill/>
        </p:spPr>
        <p:txBody>
          <a:bodyPr wrap="square" rtlCol="0">
            <a:spAutoFit/>
          </a:bodyPr>
          <a:lstStyle/>
          <a:p>
            <a:pPr algn="ctr"/>
            <a:r>
              <a:rPr lang="en-IN" sz="3600" b="1" u="sng" kern="100" dirty="0">
                <a:latin typeface="Aptos" panose="020B0004020202020204" pitchFamily="34" charset="0"/>
                <a:cs typeface="Times New Roman" panose="02020603050405020304" pitchFamily="18" charset="0"/>
              </a:rPr>
              <a:t>Challenges in </a:t>
            </a:r>
            <a:r>
              <a:rPr lang="en-IN" sz="3600" b="1" u="sng" kern="100" dirty="0" err="1">
                <a:latin typeface="Aptos" panose="020B0004020202020204" pitchFamily="34" charset="0"/>
                <a:cs typeface="Times New Roman" panose="02020603050405020304" pitchFamily="18" charset="0"/>
              </a:rPr>
              <a:t>scRNA-seq</a:t>
            </a:r>
            <a:r>
              <a:rPr lang="en-IN" sz="3600" b="1" u="sng" kern="100" dirty="0">
                <a:latin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3721146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81" name="Arc 308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AD50951-3BFC-4124-6851-5FBA6F4E8EEA}"/>
              </a:ext>
            </a:extLst>
          </p:cNvPr>
          <p:cNvSpPr txBox="1"/>
          <p:nvPr/>
        </p:nvSpPr>
        <p:spPr>
          <a:xfrm>
            <a:off x="5104387" y="479493"/>
            <a:ext cx="5458838"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u="sng" kern="1200" dirty="0">
                <a:solidFill>
                  <a:schemeClr val="tx1"/>
                </a:solidFill>
                <a:latin typeface="+mj-lt"/>
                <a:ea typeface="+mj-ea"/>
                <a:cs typeface="+mj-cs"/>
              </a:rPr>
              <a:t>Future Directions </a:t>
            </a:r>
          </a:p>
        </p:txBody>
      </p:sp>
      <p:sp>
        <p:nvSpPr>
          <p:cNvPr id="3083" name="Freeform: Shape 308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074" name="Picture 2" descr="Future Past Signpost Stock Illustrations – 325 Future Past Signpost Stock  Illustrations, Vectors &amp; Clipart - Dreamstime">
            <a:extLst>
              <a:ext uri="{FF2B5EF4-FFF2-40B4-BE49-F238E27FC236}">
                <a16:creationId xmlns:a16="http://schemas.microsoft.com/office/drawing/2014/main" id="{6B5841DD-4AA9-9ED4-E76B-8F27FA445C7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66361" y="945912"/>
            <a:ext cx="4096090" cy="523105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0CAF734-745B-0222-1E45-88D75A4E7558}"/>
              </a:ext>
            </a:extLst>
          </p:cNvPr>
          <p:cNvSpPr txBox="1"/>
          <p:nvPr/>
        </p:nvSpPr>
        <p:spPr>
          <a:xfrm>
            <a:off x="4932353" y="1984443"/>
            <a:ext cx="6850072" cy="4597332"/>
          </a:xfrm>
          <a:prstGeom prst="rect">
            <a:avLst/>
          </a:prstGeom>
        </p:spPr>
        <p:txBody>
          <a:bodyPr vert="horz" lIns="91440" tIns="45720" rIns="91440" bIns="45720" rtlCol="0">
            <a:normAutofit/>
          </a:bodyPr>
          <a:lstStyle/>
          <a:p>
            <a:pPr marL="285750" indent="-228600">
              <a:lnSpc>
                <a:spcPct val="90000"/>
              </a:lnSpc>
              <a:spcAft>
                <a:spcPts val="800"/>
              </a:spcAft>
              <a:buFont typeface="Arial" panose="020B0604020202020204" pitchFamily="34" charset="0"/>
              <a:buChar char="•"/>
            </a:pPr>
            <a:r>
              <a:rPr lang="en-US" sz="1700" b="1" dirty="0">
                <a:effectLst>
                  <a:glow rad="139700">
                    <a:schemeClr val="bg1">
                      <a:alpha val="40000"/>
                    </a:schemeClr>
                  </a:glow>
                </a:effectLst>
              </a:rPr>
              <a:t>Single-cell multi-omics</a:t>
            </a:r>
            <a:r>
              <a:rPr lang="en-US" sz="1700" dirty="0">
                <a:effectLst>
                  <a:glow rad="139700">
                    <a:schemeClr val="bg1">
                      <a:alpha val="40000"/>
                    </a:schemeClr>
                  </a:glow>
                </a:effectLst>
              </a:rPr>
              <a:t> can combine multiple layers of biological data in </a:t>
            </a:r>
            <a:r>
              <a:rPr lang="en-US" sz="1700" dirty="0" err="1">
                <a:effectLst>
                  <a:glow rad="139700">
                    <a:schemeClr val="bg1">
                      <a:alpha val="40000"/>
                    </a:schemeClr>
                  </a:glow>
                </a:effectLst>
              </a:rPr>
              <a:t>scRNA</a:t>
            </a:r>
            <a:r>
              <a:rPr lang="en-US" sz="1700" dirty="0">
                <a:effectLst>
                  <a:glow rad="139700">
                    <a:schemeClr val="bg1">
                      <a:alpha val="40000"/>
                    </a:schemeClr>
                  </a:glow>
                </a:effectLst>
              </a:rPr>
              <a:t> seq, providing more comprehensive insights into cellular function and regulation.</a:t>
            </a:r>
          </a:p>
          <a:p>
            <a:pPr marL="285750" indent="-228600">
              <a:lnSpc>
                <a:spcPct val="90000"/>
              </a:lnSpc>
              <a:spcAft>
                <a:spcPts val="800"/>
              </a:spcAft>
              <a:buFont typeface="Arial" panose="020B0604020202020204" pitchFamily="34" charset="0"/>
              <a:buChar char="•"/>
            </a:pPr>
            <a:r>
              <a:rPr lang="en-US" sz="1700" b="1" dirty="0">
                <a:effectLst>
                  <a:glow rad="139700">
                    <a:schemeClr val="bg1">
                      <a:alpha val="40000"/>
                    </a:schemeClr>
                  </a:glow>
                </a:effectLst>
              </a:rPr>
              <a:t>Spatial transcriptomics</a:t>
            </a:r>
            <a:r>
              <a:rPr lang="en-US" sz="1700" dirty="0">
                <a:effectLst>
                  <a:glow rad="139700">
                    <a:schemeClr val="bg1">
                      <a:alpha val="40000"/>
                    </a:schemeClr>
                  </a:glow>
                </a:effectLst>
              </a:rPr>
              <a:t> will add spatial context to </a:t>
            </a:r>
            <a:r>
              <a:rPr lang="en-US" sz="1700" dirty="0" err="1">
                <a:effectLst>
                  <a:glow rad="139700">
                    <a:schemeClr val="bg1">
                      <a:alpha val="40000"/>
                    </a:schemeClr>
                  </a:glow>
                </a:effectLst>
              </a:rPr>
              <a:t>scRNA</a:t>
            </a:r>
            <a:r>
              <a:rPr lang="en-US" sz="1700" dirty="0">
                <a:effectLst>
                  <a:glow rad="139700">
                    <a:schemeClr val="bg1">
                      <a:alpha val="40000"/>
                    </a:schemeClr>
                  </a:glow>
                </a:effectLst>
              </a:rPr>
              <a:t>-seq data, enhancing the understanding of tissue architecture and cell interactions.</a:t>
            </a:r>
          </a:p>
          <a:p>
            <a:pPr marL="285750" indent="-228600">
              <a:lnSpc>
                <a:spcPct val="90000"/>
              </a:lnSpc>
              <a:spcAft>
                <a:spcPts val="800"/>
              </a:spcAft>
              <a:buFont typeface="Arial" panose="020B0604020202020204" pitchFamily="34" charset="0"/>
              <a:buChar char="•"/>
            </a:pPr>
            <a:r>
              <a:rPr lang="en-US" sz="1700" b="1" dirty="0">
                <a:effectLst>
                  <a:glow rad="139700">
                    <a:schemeClr val="bg1">
                      <a:alpha val="40000"/>
                    </a:schemeClr>
                  </a:glow>
                </a:effectLst>
              </a:rPr>
              <a:t>Single-cell proteomics</a:t>
            </a:r>
            <a:r>
              <a:rPr lang="en-US" sz="1700" dirty="0">
                <a:effectLst>
                  <a:glow rad="139700">
                    <a:schemeClr val="bg1">
                      <a:alpha val="40000"/>
                    </a:schemeClr>
                  </a:glow>
                </a:effectLst>
              </a:rPr>
              <a:t> will complement RNA data by directly measuring protein levels, offering a more complete view of cellular function.</a:t>
            </a:r>
          </a:p>
          <a:p>
            <a:pPr marL="285750" indent="-228600">
              <a:lnSpc>
                <a:spcPct val="90000"/>
              </a:lnSpc>
              <a:spcAft>
                <a:spcPts val="800"/>
              </a:spcAft>
              <a:buFont typeface="Arial" panose="020B0604020202020204" pitchFamily="34" charset="0"/>
              <a:buChar char="•"/>
            </a:pPr>
            <a:r>
              <a:rPr lang="en-US" sz="1700" b="1" dirty="0">
                <a:effectLst>
                  <a:glow rad="139700">
                    <a:schemeClr val="bg1">
                      <a:alpha val="40000"/>
                    </a:schemeClr>
                  </a:glow>
                </a:effectLst>
              </a:rPr>
              <a:t>Integration of AI/ML</a:t>
            </a:r>
            <a:r>
              <a:rPr lang="en-US" sz="1700" dirty="0">
                <a:effectLst>
                  <a:glow rad="139700">
                    <a:schemeClr val="bg1">
                      <a:alpha val="40000"/>
                    </a:schemeClr>
                  </a:glow>
                </a:effectLst>
              </a:rPr>
              <a:t> in </a:t>
            </a:r>
            <a:r>
              <a:rPr lang="en-US" sz="1700" dirty="0" err="1">
                <a:effectLst>
                  <a:glow rad="139700">
                    <a:schemeClr val="bg1">
                      <a:alpha val="40000"/>
                    </a:schemeClr>
                  </a:glow>
                </a:effectLst>
              </a:rPr>
              <a:t>scRNA</a:t>
            </a:r>
            <a:r>
              <a:rPr lang="en-US" sz="1700" dirty="0">
                <a:effectLst>
                  <a:glow rad="139700">
                    <a:schemeClr val="bg1">
                      <a:alpha val="40000"/>
                    </a:schemeClr>
                  </a:glow>
                </a:effectLst>
              </a:rPr>
              <a:t>-seq will revolutionize data analysis, enabling automated cell type annotation, prediction of cellular trajectories, and better integration of multi-omics data for precision medicine.</a:t>
            </a:r>
          </a:p>
          <a:p>
            <a:pPr marL="285750" indent="-228600">
              <a:lnSpc>
                <a:spcPct val="90000"/>
              </a:lnSpc>
              <a:spcAft>
                <a:spcPts val="800"/>
              </a:spcAft>
              <a:buFont typeface="Arial" panose="020B0604020202020204" pitchFamily="34" charset="0"/>
              <a:buChar char="•"/>
            </a:pPr>
            <a:r>
              <a:rPr lang="en-US" sz="1700" dirty="0" err="1">
                <a:effectLst>
                  <a:glow rad="139700">
                    <a:schemeClr val="bg1">
                      <a:alpha val="40000"/>
                    </a:schemeClr>
                  </a:glow>
                </a:effectLst>
              </a:rPr>
              <a:t>ScRNA</a:t>
            </a:r>
            <a:r>
              <a:rPr lang="en-US" sz="1700" dirty="0">
                <a:effectLst>
                  <a:glow rad="139700">
                    <a:schemeClr val="bg1">
                      <a:alpha val="40000"/>
                    </a:schemeClr>
                  </a:glow>
                </a:effectLst>
              </a:rPr>
              <a:t>-seq can aid in identifying and validating potential drug targets by characterizing the gene expression profiles of individual cells within the diseased tissues leveraging </a:t>
            </a:r>
            <a:r>
              <a:rPr lang="en-US" sz="1700" b="1" dirty="0">
                <a:effectLst>
                  <a:glow rad="139700">
                    <a:schemeClr val="bg1">
                      <a:alpha val="40000"/>
                    </a:schemeClr>
                  </a:glow>
                </a:effectLst>
              </a:rPr>
              <a:t>drug discovery</a:t>
            </a:r>
            <a:r>
              <a:rPr lang="en-US" sz="1700" dirty="0">
                <a:effectLst>
                  <a:glow rad="139700">
                    <a:schemeClr val="bg1">
                      <a:alpha val="40000"/>
                    </a:schemeClr>
                  </a:glow>
                </a:effectLst>
              </a:rPr>
              <a:t>.</a:t>
            </a:r>
          </a:p>
        </p:txBody>
      </p:sp>
    </p:spTree>
    <p:extLst>
      <p:ext uri="{BB962C8B-B14F-4D97-AF65-F5344CB8AC3E}">
        <p14:creationId xmlns:p14="http://schemas.microsoft.com/office/powerpoint/2010/main" val="2286362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4000"/>
                                        <p:tgtEl>
                                          <p:spTgt spid="3074"/>
                                        </p:tgtEl>
                                      </p:cBhvr>
                                    </p:animEffect>
                                    <p:anim calcmode="lin" valueType="num">
                                      <p:cBhvr>
                                        <p:cTn id="8" dur="4000" fill="hold"/>
                                        <p:tgtEl>
                                          <p:spTgt spid="3074"/>
                                        </p:tgtEl>
                                        <p:attrNameLst>
                                          <p:attrName>ppt_w</p:attrName>
                                        </p:attrNameLst>
                                      </p:cBhvr>
                                      <p:tavLst>
                                        <p:tav tm="0" fmla="#ppt_w*sin(2.5*pi*$)">
                                          <p:val>
                                            <p:fltVal val="0"/>
                                          </p:val>
                                        </p:tav>
                                        <p:tav tm="100000">
                                          <p:val>
                                            <p:fltVal val="1"/>
                                          </p:val>
                                        </p:tav>
                                      </p:tavLst>
                                    </p:anim>
                                    <p:anim calcmode="lin" valueType="num">
                                      <p:cBhvr>
                                        <p:cTn id="9" dur="4000" fill="hold"/>
                                        <p:tgtEl>
                                          <p:spTgt spid="307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0191B-DBE7-0813-7745-890F5B0017A6}"/>
              </a:ext>
            </a:extLst>
          </p:cNvPr>
          <p:cNvSpPr>
            <a:spLocks noGrp="1"/>
          </p:cNvSpPr>
          <p:nvPr>
            <p:ph type="title"/>
          </p:nvPr>
        </p:nvSpPr>
        <p:spPr/>
        <p:txBody>
          <a:bodyPr>
            <a:normAutofit/>
          </a:bodyPr>
          <a:lstStyle/>
          <a:p>
            <a:pPr algn="ctr"/>
            <a:r>
              <a:rPr lang="en-US" sz="4000" u="sng" dirty="0">
                <a:latin typeface="Algerian" panose="04020705040A02060702" pitchFamily="82" charset="0"/>
                <a:cs typeface="Times New Roman" panose="02020603050405020304" pitchFamily="18" charset="0"/>
              </a:rPr>
              <a:t>Conclusion</a:t>
            </a:r>
            <a:endParaRPr lang="en-IN" sz="4000" u="sng" dirty="0">
              <a:latin typeface="Algerian" panose="04020705040A02060702" pitchFamily="82"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7B5F48-C6FB-3A06-8837-EF55BB1C5362}"/>
              </a:ext>
            </a:extLst>
          </p:cNvPr>
          <p:cNvSpPr>
            <a:spLocks noGrp="1"/>
          </p:cNvSpPr>
          <p:nvPr>
            <p:ph idx="1"/>
          </p:nvPr>
        </p:nvSpPr>
        <p:spPr>
          <a:xfrm>
            <a:off x="838200" y="1491175"/>
            <a:ext cx="10515600" cy="5001700"/>
          </a:xfrm>
        </p:spPr>
        <p:txBody>
          <a:bodyPr>
            <a:normAutofit fontScale="92500" lnSpcReduction="10000"/>
          </a:bodyPr>
          <a:lstStyle/>
          <a:p>
            <a:r>
              <a:rPr lang="en-IN" sz="1800" b="1" kern="100" dirty="0">
                <a:effectLst/>
                <a:latin typeface="Times New Roman" panose="02020603050405020304" pitchFamily="18" charset="0"/>
                <a:ea typeface="Noto Serif CJK SC"/>
                <a:cs typeface="Times New Roman" panose="02020603050405020304" pitchFamily="18" charset="0"/>
              </a:rPr>
              <a:t>Heterogeneity</a:t>
            </a:r>
            <a:r>
              <a:rPr lang="en-IN" sz="1800" kern="100" dirty="0">
                <a:effectLst/>
                <a:latin typeface="Times New Roman" panose="02020603050405020304" pitchFamily="18" charset="0"/>
                <a:ea typeface="Noto Serif CJK SC"/>
                <a:cs typeface="Times New Roman" panose="02020603050405020304" pitchFamily="18" charset="0"/>
              </a:rPr>
              <a:t> in </a:t>
            </a:r>
            <a:r>
              <a:rPr lang="en-IN" sz="1800" kern="100" dirty="0" err="1">
                <a:effectLst/>
                <a:latin typeface="Times New Roman" panose="02020603050405020304" pitchFamily="18" charset="0"/>
                <a:ea typeface="Noto Serif CJK SC"/>
                <a:cs typeface="Times New Roman" panose="02020603050405020304" pitchFamily="18" charset="0"/>
              </a:rPr>
              <a:t>scRNA-seq</a:t>
            </a:r>
            <a:r>
              <a:rPr lang="en-IN" sz="1800" kern="100" dirty="0">
                <a:effectLst/>
                <a:latin typeface="Times New Roman" panose="02020603050405020304" pitchFamily="18" charset="0"/>
                <a:ea typeface="Noto Serif CJK SC"/>
                <a:cs typeface="Times New Roman" panose="02020603050405020304" pitchFamily="18" charset="0"/>
              </a:rPr>
              <a:t> data significantly affects preprocessing, requiring careful filtering, quality control, and normalization methods that account for both technical and biological variability.</a:t>
            </a:r>
          </a:p>
          <a:p>
            <a:r>
              <a:rPr lang="en-IN" sz="1800" kern="100" dirty="0">
                <a:effectLst/>
                <a:latin typeface="Times New Roman" panose="02020603050405020304" pitchFamily="18" charset="0"/>
                <a:ea typeface="Noto Serif CJK SC"/>
                <a:cs typeface="Times New Roman" panose="02020603050405020304" pitchFamily="18" charset="0"/>
              </a:rPr>
              <a:t> The choice of tools like </a:t>
            </a:r>
            <a:r>
              <a:rPr lang="en-IN" sz="1800" b="1" kern="100" dirty="0">
                <a:effectLst/>
                <a:latin typeface="Times New Roman" panose="02020603050405020304" pitchFamily="18" charset="0"/>
                <a:ea typeface="Noto Serif CJK SC"/>
                <a:cs typeface="Times New Roman" panose="02020603050405020304" pitchFamily="18" charset="0"/>
              </a:rPr>
              <a:t>Seurat</a:t>
            </a:r>
            <a:r>
              <a:rPr lang="en-IN" sz="1800" kern="100" dirty="0">
                <a:effectLst/>
                <a:latin typeface="Times New Roman" panose="02020603050405020304" pitchFamily="18" charset="0"/>
                <a:ea typeface="Noto Serif CJK SC"/>
                <a:cs typeface="Times New Roman" panose="02020603050405020304" pitchFamily="18" charset="0"/>
              </a:rPr>
              <a:t>,</a:t>
            </a:r>
            <a:r>
              <a:rPr lang="en-IN" sz="1800" b="1" kern="100" dirty="0">
                <a:effectLst/>
                <a:latin typeface="Times New Roman" panose="02020603050405020304" pitchFamily="18" charset="0"/>
                <a:ea typeface="Noto Serif CJK SC"/>
                <a:cs typeface="Times New Roman" panose="02020603050405020304" pitchFamily="18" charset="0"/>
              </a:rPr>
              <a:t> </a:t>
            </a:r>
            <a:r>
              <a:rPr lang="en-IN" sz="1800" b="1" kern="100" dirty="0" err="1">
                <a:effectLst/>
                <a:latin typeface="Times New Roman" panose="02020603050405020304" pitchFamily="18" charset="0"/>
                <a:ea typeface="Noto Serif CJK SC"/>
                <a:cs typeface="Times New Roman" panose="02020603050405020304" pitchFamily="18" charset="0"/>
              </a:rPr>
              <a:t>Scanpy</a:t>
            </a:r>
            <a:r>
              <a:rPr lang="en-IN" sz="1800" kern="100" dirty="0">
                <a:effectLst/>
                <a:latin typeface="Times New Roman" panose="02020603050405020304" pitchFamily="18" charset="0"/>
                <a:ea typeface="Noto Serif CJK SC"/>
                <a:cs typeface="Times New Roman" panose="02020603050405020304" pitchFamily="18" charset="0"/>
              </a:rPr>
              <a:t>, </a:t>
            </a:r>
            <a:r>
              <a:rPr lang="en-IN" sz="1800" b="1" kern="100" dirty="0">
                <a:effectLst/>
                <a:latin typeface="Times New Roman" panose="02020603050405020304" pitchFamily="18" charset="0"/>
                <a:ea typeface="Noto Serif CJK SC"/>
                <a:cs typeface="Times New Roman" panose="02020603050405020304" pitchFamily="18" charset="0"/>
              </a:rPr>
              <a:t>Scran</a:t>
            </a:r>
            <a:r>
              <a:rPr lang="en-IN" sz="1800" kern="100" dirty="0">
                <a:effectLst/>
                <a:latin typeface="Times New Roman" panose="02020603050405020304" pitchFamily="18" charset="0"/>
                <a:ea typeface="Noto Serif CJK SC"/>
                <a:cs typeface="Times New Roman" panose="02020603050405020304" pitchFamily="18" charset="0"/>
              </a:rPr>
              <a:t>, and </a:t>
            </a:r>
            <a:r>
              <a:rPr lang="en-IN" sz="1800" b="1" kern="100" dirty="0" err="1">
                <a:effectLst/>
                <a:latin typeface="Times New Roman" panose="02020603050405020304" pitchFamily="18" charset="0"/>
                <a:ea typeface="Noto Serif CJK SC"/>
                <a:cs typeface="Times New Roman" panose="02020603050405020304" pitchFamily="18" charset="0"/>
              </a:rPr>
              <a:t>SCTransform</a:t>
            </a:r>
            <a:r>
              <a:rPr lang="en-IN" sz="1800" kern="100" dirty="0">
                <a:effectLst/>
                <a:latin typeface="Times New Roman" panose="02020603050405020304" pitchFamily="18" charset="0"/>
                <a:ea typeface="Noto Serif CJK SC"/>
                <a:cs typeface="Times New Roman" panose="02020603050405020304" pitchFamily="18" charset="0"/>
              </a:rPr>
              <a:t> ensures robust handling of these challenges.</a:t>
            </a:r>
          </a:p>
          <a:p>
            <a:r>
              <a:rPr lang="en-IN" sz="1800" kern="100" dirty="0" err="1">
                <a:effectLst/>
                <a:latin typeface="Times New Roman" panose="02020603050405020304" pitchFamily="18" charset="0"/>
                <a:ea typeface="Noto Serif CJK SC"/>
                <a:cs typeface="Times New Roman" panose="02020603050405020304" pitchFamily="18" charset="0"/>
              </a:rPr>
              <a:t>ScRNA</a:t>
            </a:r>
            <a:r>
              <a:rPr lang="en-IN" sz="1800" kern="100" dirty="0">
                <a:effectLst/>
                <a:latin typeface="Times New Roman" panose="02020603050405020304" pitchFamily="18" charset="0"/>
                <a:ea typeface="Noto Serif CJK SC"/>
                <a:cs typeface="Times New Roman" panose="02020603050405020304" pitchFamily="18" charset="0"/>
              </a:rPr>
              <a:t> </a:t>
            </a:r>
            <a:r>
              <a:rPr lang="en-IN" sz="1800" kern="100" dirty="0" err="1">
                <a:effectLst/>
                <a:latin typeface="Times New Roman" panose="02020603050405020304" pitchFamily="18" charset="0"/>
                <a:ea typeface="Noto Serif CJK SC"/>
                <a:cs typeface="Times New Roman" panose="02020603050405020304" pitchFamily="18" charset="0"/>
              </a:rPr>
              <a:t>seq</a:t>
            </a:r>
            <a:r>
              <a:rPr lang="en-IN" sz="1800" kern="100" dirty="0">
                <a:effectLst/>
                <a:latin typeface="Times New Roman" panose="02020603050405020304" pitchFamily="18" charset="0"/>
                <a:ea typeface="Noto Serif CJK SC"/>
                <a:cs typeface="Times New Roman" panose="02020603050405020304" pitchFamily="18" charset="0"/>
              </a:rPr>
              <a:t> studies enhances our understanding of </a:t>
            </a:r>
            <a:r>
              <a:rPr lang="en-IN" sz="1800" b="1" kern="100" dirty="0">
                <a:effectLst/>
                <a:latin typeface="Times New Roman" panose="02020603050405020304" pitchFamily="18" charset="0"/>
                <a:ea typeface="Noto Serif CJK SC"/>
                <a:cs typeface="Times New Roman" panose="02020603050405020304" pitchFamily="18" charset="0"/>
              </a:rPr>
              <a:t>distinct functional roles of various cells</a:t>
            </a:r>
            <a:r>
              <a:rPr lang="en-IN" sz="1800" kern="100" dirty="0">
                <a:effectLst/>
                <a:latin typeface="Times New Roman" panose="02020603050405020304" pitchFamily="18" charset="0"/>
                <a:ea typeface="Noto Serif CJK SC"/>
                <a:cs typeface="Times New Roman" panose="02020603050405020304" pitchFamily="18" charset="0"/>
              </a:rPr>
              <a:t> within tissues.</a:t>
            </a:r>
          </a:p>
          <a:p>
            <a:r>
              <a:rPr lang="en-US" sz="1800" b="1" dirty="0">
                <a:latin typeface="Times New Roman" panose="02020603050405020304" pitchFamily="18" charset="0"/>
                <a:cs typeface="Times New Roman" panose="02020603050405020304" pitchFamily="18" charset="0"/>
              </a:rPr>
              <a:t>The specific steps used to preprocess the raw sequencing data </a:t>
            </a:r>
            <a:r>
              <a:rPr lang="en-US" sz="1800" dirty="0">
                <a:latin typeface="Times New Roman" panose="02020603050405020304" pitchFamily="18" charset="0"/>
                <a:cs typeface="Times New Roman" panose="02020603050405020304" pitchFamily="18" charset="0"/>
              </a:rPr>
              <a:t>such as aligning reads to a reference genome or assigning barcodes do not significantly affect the overall biological insights obtained from the analysis.</a:t>
            </a:r>
          </a:p>
          <a:p>
            <a:r>
              <a:rPr lang="en-US" sz="1800" dirty="0">
                <a:latin typeface="Times New Roman" panose="02020603050405020304" pitchFamily="18" charset="0"/>
                <a:cs typeface="Times New Roman" panose="02020603050405020304" pitchFamily="18" charset="0"/>
              </a:rPr>
              <a:t>However, </a:t>
            </a:r>
            <a:r>
              <a:rPr lang="en-US" sz="1800" b="1" dirty="0">
                <a:latin typeface="Times New Roman" panose="02020603050405020304" pitchFamily="18" charset="0"/>
                <a:cs typeface="Times New Roman" panose="02020603050405020304" pitchFamily="18" charset="0"/>
              </a:rPr>
              <a:t>Downstream analysis steps</a:t>
            </a:r>
            <a:r>
              <a:rPr lang="en-US" sz="1800" dirty="0">
                <a:latin typeface="Times New Roman" panose="02020603050405020304" pitchFamily="18" charset="0"/>
                <a:cs typeface="Times New Roman" panose="02020603050405020304" pitchFamily="18" charset="0"/>
              </a:rPr>
              <a:t>, like </a:t>
            </a:r>
            <a:r>
              <a:rPr lang="en-US" sz="1800" b="1" dirty="0">
                <a:latin typeface="Times New Roman" panose="02020603050405020304" pitchFamily="18" charset="0"/>
                <a:cs typeface="Times New Roman" panose="02020603050405020304" pitchFamily="18" charset="0"/>
              </a:rPr>
              <a:t>normalization</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clustering</a:t>
            </a:r>
            <a:r>
              <a:rPr lang="en-US" sz="1800" dirty="0">
                <a:latin typeface="Times New Roman" panose="02020603050405020304" pitchFamily="18" charset="0"/>
                <a:cs typeface="Times New Roman" panose="02020603050405020304" pitchFamily="18" charset="0"/>
              </a:rPr>
              <a:t> play a much larger role in determining the inference from the data such as cell type determination, evolutionary studies, etc.</a:t>
            </a:r>
          </a:p>
          <a:p>
            <a:r>
              <a:rPr lang="en-US" sz="1800" kern="100" dirty="0" err="1">
                <a:effectLst/>
                <a:latin typeface="Times New Roman" panose="02020603050405020304" pitchFamily="18" charset="0"/>
                <a:ea typeface="Noto Serif CJK SC"/>
                <a:cs typeface="Times New Roman" panose="02020603050405020304" pitchFamily="18" charset="0"/>
              </a:rPr>
              <a:t>scRNA</a:t>
            </a:r>
            <a:r>
              <a:rPr lang="en-US" sz="1800" kern="100" dirty="0">
                <a:effectLst/>
                <a:latin typeface="Times New Roman" panose="02020603050405020304" pitchFamily="18" charset="0"/>
                <a:ea typeface="Noto Serif CJK SC"/>
                <a:cs typeface="Times New Roman" panose="02020603050405020304" pitchFamily="18" charset="0"/>
              </a:rPr>
              <a:t>-seq effectively detects </a:t>
            </a:r>
            <a:r>
              <a:rPr lang="en-US" sz="1800" b="1" kern="100" dirty="0">
                <a:effectLst/>
                <a:latin typeface="Times New Roman" panose="02020603050405020304" pitchFamily="18" charset="0"/>
                <a:ea typeface="Noto Serif CJK SC"/>
                <a:cs typeface="Times New Roman" panose="02020603050405020304" pitchFamily="18" charset="0"/>
              </a:rPr>
              <a:t>rare cells</a:t>
            </a:r>
            <a:r>
              <a:rPr lang="en-US" sz="1800" kern="100" dirty="0">
                <a:effectLst/>
                <a:latin typeface="Times New Roman" panose="02020603050405020304" pitchFamily="18" charset="0"/>
                <a:ea typeface="Noto Serif CJK SC"/>
                <a:cs typeface="Times New Roman" panose="02020603050405020304" pitchFamily="18" charset="0"/>
              </a:rPr>
              <a:t>, such as malignant tumor cells and hyper-responsive immune cells, which may go unnoticed in bulk analyses.</a:t>
            </a:r>
          </a:p>
          <a:p>
            <a:r>
              <a:rPr lang="en-US" sz="1800" kern="100" dirty="0">
                <a:latin typeface="Times New Roman" panose="02020603050405020304" pitchFamily="18" charset="0"/>
                <a:ea typeface="Noto Serif CJK SC"/>
                <a:cs typeface="Times New Roman" panose="02020603050405020304" pitchFamily="18" charset="0"/>
              </a:rPr>
              <a:t>S</a:t>
            </a:r>
            <a:r>
              <a:rPr lang="en-US" sz="1800" kern="100" dirty="0">
                <a:effectLst/>
                <a:latin typeface="Times New Roman" panose="02020603050405020304" pitchFamily="18" charset="0"/>
                <a:ea typeface="Noto Serif CJK SC"/>
                <a:cs typeface="Times New Roman" panose="02020603050405020304" pitchFamily="18" charset="0"/>
              </a:rPr>
              <a:t>tudy of </a:t>
            </a:r>
            <a:r>
              <a:rPr lang="en-US" sz="1800" b="1" kern="100" dirty="0">
                <a:effectLst/>
                <a:latin typeface="Times New Roman" panose="02020603050405020304" pitchFamily="18" charset="0"/>
                <a:ea typeface="Noto Serif CJK SC"/>
                <a:cs typeface="Times New Roman" panose="02020603050405020304" pitchFamily="18" charset="0"/>
              </a:rPr>
              <a:t>unique and diverse cells </a:t>
            </a:r>
            <a:r>
              <a:rPr lang="en-US" sz="1800" kern="100" dirty="0">
                <a:effectLst/>
                <a:latin typeface="Times New Roman" panose="02020603050405020304" pitchFamily="18" charset="0"/>
                <a:ea typeface="Noto Serif CJK SC"/>
                <a:cs typeface="Times New Roman" panose="02020603050405020304" pitchFamily="18" charset="0"/>
              </a:rPr>
              <a:t>and aids in tracing lineage and developmental relationships, crucial for understanding processes like </a:t>
            </a:r>
            <a:r>
              <a:rPr lang="en-US" sz="1800" b="1" kern="100" dirty="0">
                <a:effectLst/>
                <a:latin typeface="Times New Roman" panose="02020603050405020304" pitchFamily="18" charset="0"/>
                <a:ea typeface="Noto Serif CJK SC"/>
                <a:cs typeface="Times New Roman" panose="02020603050405020304" pitchFamily="18" charset="0"/>
              </a:rPr>
              <a:t>embryonic development </a:t>
            </a:r>
            <a:r>
              <a:rPr lang="en-US" sz="1800" kern="100" dirty="0">
                <a:effectLst/>
                <a:latin typeface="Times New Roman" panose="02020603050405020304" pitchFamily="18" charset="0"/>
                <a:ea typeface="Noto Serif CJK SC"/>
                <a:cs typeface="Times New Roman" panose="02020603050405020304" pitchFamily="18" charset="0"/>
              </a:rPr>
              <a:t>and </a:t>
            </a:r>
            <a:r>
              <a:rPr lang="en-US" sz="1800" b="1" kern="100" dirty="0">
                <a:effectLst/>
                <a:latin typeface="Times New Roman" panose="02020603050405020304" pitchFamily="18" charset="0"/>
                <a:ea typeface="Noto Serif CJK SC"/>
                <a:cs typeface="Times New Roman" panose="02020603050405020304" pitchFamily="18" charset="0"/>
              </a:rPr>
              <a:t>cancer progression</a:t>
            </a:r>
            <a:r>
              <a:rPr lang="en-US" sz="1800" kern="100" dirty="0">
                <a:effectLst/>
                <a:latin typeface="Times New Roman" panose="02020603050405020304" pitchFamily="18" charset="0"/>
                <a:ea typeface="Noto Serif CJK SC"/>
                <a:cs typeface="Times New Roman" panose="02020603050405020304" pitchFamily="18" charset="0"/>
              </a:rPr>
              <a:t>.</a:t>
            </a:r>
          </a:p>
          <a:p>
            <a:r>
              <a:rPr lang="en-US" sz="1800" kern="100" dirty="0">
                <a:effectLst/>
                <a:latin typeface="Times New Roman" panose="02020603050405020304" pitchFamily="18" charset="0"/>
                <a:ea typeface="Noto Serif CJK SC"/>
                <a:cs typeface="Times New Roman" panose="02020603050405020304" pitchFamily="18" charset="0"/>
              </a:rPr>
              <a:t>The key difference between </a:t>
            </a:r>
            <a:r>
              <a:rPr lang="en-US" sz="1800" kern="100" dirty="0" err="1">
                <a:effectLst/>
                <a:latin typeface="Times New Roman" panose="02020603050405020304" pitchFamily="18" charset="0"/>
                <a:ea typeface="Noto Serif CJK SC"/>
                <a:cs typeface="Times New Roman" panose="02020603050405020304" pitchFamily="18" charset="0"/>
              </a:rPr>
              <a:t>scRNA</a:t>
            </a:r>
            <a:r>
              <a:rPr lang="en-US" sz="1800" kern="100" dirty="0">
                <a:effectLst/>
                <a:latin typeface="Times New Roman" panose="02020603050405020304" pitchFamily="18" charset="0"/>
                <a:ea typeface="Noto Serif CJK SC"/>
                <a:cs typeface="Times New Roman" panose="02020603050405020304" pitchFamily="18" charset="0"/>
              </a:rPr>
              <a:t>-seq and other RNA-seq techniques is the </a:t>
            </a:r>
            <a:r>
              <a:rPr lang="en-US" sz="1800" b="1" kern="100" dirty="0">
                <a:effectLst/>
                <a:latin typeface="Times New Roman" panose="02020603050405020304" pitchFamily="18" charset="0"/>
                <a:ea typeface="Noto Serif CJK SC"/>
                <a:cs typeface="Times New Roman" panose="02020603050405020304" pitchFamily="18" charset="0"/>
              </a:rPr>
              <a:t>level of resolution </a:t>
            </a:r>
            <a:r>
              <a:rPr lang="en-US" sz="1800" kern="100" dirty="0">
                <a:effectLst/>
                <a:latin typeface="Times New Roman" panose="02020603050405020304" pitchFamily="18" charset="0"/>
                <a:ea typeface="Noto Serif CJK SC"/>
                <a:cs typeface="Times New Roman" panose="02020603050405020304" pitchFamily="18" charset="0"/>
              </a:rPr>
              <a:t>that it provides. This gives a better understanding of the function of an individual cell in the context of its microenvironment. </a:t>
            </a:r>
          </a:p>
          <a:p>
            <a:r>
              <a:rPr lang="en-US" sz="1800" kern="100" dirty="0">
                <a:effectLst/>
                <a:latin typeface="Times New Roman" panose="02020603050405020304" pitchFamily="18" charset="0"/>
                <a:ea typeface="Noto Serif CJK SC"/>
                <a:cs typeface="Times New Roman" panose="02020603050405020304" pitchFamily="18" charset="0"/>
              </a:rPr>
              <a:t>Studied the Future Directions such as integration of multi-omics and advancements in </a:t>
            </a:r>
            <a:r>
              <a:rPr lang="en-US" sz="1800" b="1" kern="100" dirty="0">
                <a:effectLst/>
                <a:latin typeface="Times New Roman" panose="02020603050405020304" pitchFamily="18" charset="0"/>
                <a:ea typeface="Noto Serif CJK SC"/>
                <a:cs typeface="Times New Roman" panose="02020603050405020304" pitchFamily="18" charset="0"/>
              </a:rPr>
              <a:t>AI/ML </a:t>
            </a:r>
            <a:r>
              <a:rPr lang="en-US" sz="1800" kern="100" dirty="0">
                <a:effectLst/>
                <a:latin typeface="Times New Roman" panose="02020603050405020304" pitchFamily="18" charset="0"/>
                <a:ea typeface="Noto Serif CJK SC"/>
                <a:cs typeface="Times New Roman" panose="02020603050405020304" pitchFamily="18" charset="0"/>
              </a:rPr>
              <a:t>will enhance </a:t>
            </a:r>
            <a:r>
              <a:rPr lang="en-US" sz="1800" kern="100" dirty="0" err="1">
                <a:effectLst/>
                <a:latin typeface="Times New Roman" panose="02020603050405020304" pitchFamily="18" charset="0"/>
                <a:ea typeface="Noto Serif CJK SC"/>
                <a:cs typeface="Times New Roman" panose="02020603050405020304" pitchFamily="18" charset="0"/>
              </a:rPr>
              <a:t>scRNA</a:t>
            </a:r>
            <a:r>
              <a:rPr lang="en-US" sz="1800" kern="100" dirty="0">
                <a:effectLst/>
                <a:latin typeface="Times New Roman" panose="02020603050405020304" pitchFamily="18" charset="0"/>
                <a:ea typeface="Noto Serif CJK SC"/>
                <a:cs typeface="Times New Roman" panose="02020603050405020304" pitchFamily="18" charset="0"/>
              </a:rPr>
              <a:t>-seq capabilities, driving innovations in personalized medicine and drug discovery.</a:t>
            </a:r>
          </a:p>
          <a:p>
            <a:r>
              <a:rPr lang="en-US" sz="1800" kern="100" dirty="0">
                <a:effectLst/>
                <a:latin typeface="Times New Roman" panose="02020603050405020304" pitchFamily="18" charset="0"/>
                <a:ea typeface="Noto Serif CJK SC"/>
                <a:cs typeface="Times New Roman" panose="02020603050405020304" pitchFamily="18" charset="0"/>
              </a:rPr>
              <a:t>As </a:t>
            </a:r>
            <a:r>
              <a:rPr lang="en-US" sz="1800" kern="100" dirty="0" err="1">
                <a:effectLst/>
                <a:latin typeface="Times New Roman" panose="02020603050405020304" pitchFamily="18" charset="0"/>
                <a:ea typeface="Noto Serif CJK SC"/>
                <a:cs typeface="Times New Roman" panose="02020603050405020304" pitchFamily="18" charset="0"/>
              </a:rPr>
              <a:t>scRNA</a:t>
            </a:r>
            <a:r>
              <a:rPr lang="en-US" sz="1800" kern="100" dirty="0">
                <a:effectLst/>
                <a:latin typeface="Times New Roman" panose="02020603050405020304" pitchFamily="18" charset="0"/>
                <a:ea typeface="Noto Serif CJK SC"/>
                <a:cs typeface="Times New Roman" panose="02020603050405020304" pitchFamily="18" charset="0"/>
              </a:rPr>
              <a:t>-seq continues to evolve, it will be essential in deciphering the </a:t>
            </a:r>
            <a:r>
              <a:rPr lang="en-US" sz="1800" b="1" kern="100" dirty="0">
                <a:effectLst/>
                <a:latin typeface="Times New Roman" panose="02020603050405020304" pitchFamily="18" charset="0"/>
                <a:ea typeface="Noto Serif CJK SC"/>
                <a:cs typeface="Times New Roman" panose="02020603050405020304" pitchFamily="18" charset="0"/>
              </a:rPr>
              <a:t>complexities</a:t>
            </a:r>
            <a:r>
              <a:rPr lang="en-US" sz="1800" kern="100" dirty="0">
                <a:effectLst/>
                <a:latin typeface="Times New Roman" panose="02020603050405020304" pitchFamily="18" charset="0"/>
                <a:ea typeface="Noto Serif CJK SC"/>
                <a:cs typeface="Times New Roman" panose="02020603050405020304" pitchFamily="18" charset="0"/>
              </a:rPr>
              <a:t> of biological systems, leading to improved strategies for understanding health and disease.</a:t>
            </a:r>
            <a:endParaRPr lang="en-IN" sz="1800" kern="100" dirty="0">
              <a:effectLst/>
              <a:latin typeface="Times New Roman" panose="02020603050405020304" pitchFamily="18" charset="0"/>
              <a:ea typeface="Noto Serif CJK SC"/>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0091362"/>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46518-3377-3DFD-537B-1401A914C965}"/>
              </a:ext>
            </a:extLst>
          </p:cNvPr>
          <p:cNvSpPr>
            <a:spLocks noGrp="1"/>
          </p:cNvSpPr>
          <p:nvPr>
            <p:ph type="title"/>
          </p:nvPr>
        </p:nvSpPr>
        <p:spPr>
          <a:xfrm>
            <a:off x="3467100" y="0"/>
            <a:ext cx="5257800" cy="831152"/>
          </a:xfrm>
        </p:spPr>
        <p:txBody>
          <a:bodyPr>
            <a:normAutofit/>
          </a:bodyPr>
          <a:lstStyle/>
          <a:p>
            <a:pPr algn="ctr"/>
            <a:r>
              <a:rPr lang="en-US" sz="3600" u="sng" dirty="0">
                <a:latin typeface="Algerian" panose="04020705040A02060702" pitchFamily="82" charset="0"/>
                <a:cs typeface="Times New Roman" panose="02020603050405020304" pitchFamily="18" charset="0"/>
              </a:rPr>
              <a:t>References</a:t>
            </a:r>
            <a:endParaRPr lang="en-IN" sz="3600" u="sng" dirty="0">
              <a:latin typeface="Algerian" panose="04020705040A02060702" pitchFamily="82"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B9FAAA-1A0E-E181-94DC-61F5C230BAE7}"/>
              </a:ext>
            </a:extLst>
          </p:cNvPr>
          <p:cNvSpPr>
            <a:spLocks noGrp="1"/>
          </p:cNvSpPr>
          <p:nvPr>
            <p:ph idx="1"/>
          </p:nvPr>
        </p:nvSpPr>
        <p:spPr>
          <a:xfrm>
            <a:off x="0" y="947800"/>
            <a:ext cx="12192000" cy="5782184"/>
          </a:xfrm>
        </p:spPr>
        <p:txBody>
          <a:bodyPr>
            <a:normAutofit fontScale="92500" lnSpcReduction="20000"/>
          </a:bodyPr>
          <a:lstStyle/>
          <a:p>
            <a:pPr lvl="1">
              <a:lnSpc>
                <a:spcPct val="100000"/>
              </a:lnSpc>
              <a:tabLst>
                <a:tab pos="685800" algn="l"/>
              </a:tabLst>
            </a:pPr>
            <a:r>
              <a:rPr lang="en-IN" sz="1600" kern="100" dirty="0">
                <a:effectLst/>
                <a:latin typeface="Times New Roman" panose="02020603050405020304" pitchFamily="18" charset="0"/>
                <a:ea typeface="Noto Serif CJK SC"/>
                <a:cs typeface="Times New Roman" panose="02020603050405020304" pitchFamily="18" charset="0"/>
              </a:rPr>
              <a:t>Gupta RK, </a:t>
            </a:r>
            <a:r>
              <a:rPr lang="en-IN" sz="1600" kern="100" dirty="0" err="1">
                <a:effectLst/>
                <a:latin typeface="Times New Roman" panose="02020603050405020304" pitchFamily="18" charset="0"/>
                <a:ea typeface="Noto Serif CJK SC"/>
                <a:cs typeface="Times New Roman" panose="02020603050405020304" pitchFamily="18" charset="0"/>
              </a:rPr>
              <a:t>Kuznicki</a:t>
            </a:r>
            <a:r>
              <a:rPr lang="en-IN" sz="1600" kern="100" dirty="0">
                <a:effectLst/>
                <a:latin typeface="Times New Roman" panose="02020603050405020304" pitchFamily="18" charset="0"/>
                <a:ea typeface="Noto Serif CJK SC"/>
                <a:cs typeface="Times New Roman" panose="02020603050405020304" pitchFamily="18" charset="0"/>
              </a:rPr>
              <a:t> J. Biological and Medical Importance of Cellular Heterogeneity Deciphered by Single-Cell RNA Sequencing. </a:t>
            </a:r>
            <a:r>
              <a:rPr lang="en-IN" sz="1600" i="1" kern="100" dirty="0">
                <a:effectLst/>
                <a:latin typeface="Times New Roman" panose="02020603050405020304" pitchFamily="18" charset="0"/>
                <a:ea typeface="Noto Serif CJK SC"/>
                <a:cs typeface="Times New Roman" panose="02020603050405020304" pitchFamily="18" charset="0"/>
              </a:rPr>
              <a:t>Cells</a:t>
            </a:r>
            <a:r>
              <a:rPr lang="en-IN" sz="1600" kern="100" dirty="0">
                <a:effectLst/>
                <a:latin typeface="Times New Roman" panose="02020603050405020304" pitchFamily="18" charset="0"/>
                <a:ea typeface="Noto Serif CJK SC"/>
                <a:cs typeface="Times New Roman" panose="02020603050405020304" pitchFamily="18" charset="0"/>
              </a:rPr>
              <a:t>. 2020; 9(8):1751. </a:t>
            </a:r>
            <a:r>
              <a:rPr lang="en-IN" sz="1600" u="sng" kern="100" dirty="0">
                <a:solidFill>
                  <a:srgbClr val="000080"/>
                </a:solidFill>
                <a:effectLst/>
                <a:latin typeface="Times New Roman" panose="02020603050405020304" pitchFamily="18" charset="0"/>
                <a:ea typeface="Noto Serif CJK SC"/>
                <a:cs typeface="Times New Roman" panose="02020603050405020304" pitchFamily="18" charset="0"/>
                <a:hlinkClick r:id="rId2"/>
              </a:rPr>
              <a:t>https://doi.org/10.3390/cells9081751</a:t>
            </a:r>
            <a:r>
              <a:rPr lang="en-IN" sz="1600" kern="100" dirty="0">
                <a:effectLst/>
                <a:latin typeface="Times New Roman" panose="02020603050405020304" pitchFamily="18" charset="0"/>
                <a:ea typeface="Noto Serif CJK SC"/>
                <a:cs typeface="Times New Roman" panose="02020603050405020304" pitchFamily="18" charset="0"/>
              </a:rPr>
              <a:t> </a:t>
            </a:r>
          </a:p>
          <a:p>
            <a:pPr lvl="1">
              <a:lnSpc>
                <a:spcPct val="100000"/>
              </a:lnSpc>
              <a:tabLst>
                <a:tab pos="685800" algn="l"/>
              </a:tabLst>
            </a:pPr>
            <a:r>
              <a:rPr lang="en-IN" sz="1600" kern="100" dirty="0">
                <a:effectLst/>
                <a:latin typeface="Times New Roman" panose="02020603050405020304" pitchFamily="18" charset="0"/>
                <a:ea typeface="Noto Serif CJK SC"/>
                <a:cs typeface="Times New Roman" panose="02020603050405020304" pitchFamily="18" charset="0"/>
              </a:rPr>
              <a:t>Hou, X., Si, X., Xu, J., Chen, X., Tang, Y., Dai, Y., &amp; Wu, F. (2024). Single-cell RNA sequencing reveals the gene expression profile and cellular communication in human </a:t>
            </a:r>
            <a:r>
              <a:rPr lang="en-IN" sz="1600" kern="100" dirty="0" err="1">
                <a:effectLst/>
                <a:latin typeface="Times New Roman" panose="02020603050405020304" pitchFamily="18" charset="0"/>
                <a:ea typeface="Noto Serif CJK SC"/>
                <a:cs typeface="Times New Roman" panose="02020603050405020304" pitchFamily="18" charset="0"/>
              </a:rPr>
              <a:t>fetal</a:t>
            </a:r>
            <a:r>
              <a:rPr lang="en-IN" sz="1600" kern="100" dirty="0">
                <a:effectLst/>
                <a:latin typeface="Times New Roman" panose="02020603050405020304" pitchFamily="18" charset="0"/>
                <a:ea typeface="Noto Serif CJK SC"/>
                <a:cs typeface="Times New Roman" panose="02020603050405020304" pitchFamily="18" charset="0"/>
              </a:rPr>
              <a:t> heart development. </a:t>
            </a:r>
            <a:r>
              <a:rPr lang="en-IN" sz="1600" i="1" kern="100" dirty="0">
                <a:effectLst/>
                <a:latin typeface="Times New Roman" panose="02020603050405020304" pitchFamily="18" charset="0"/>
                <a:ea typeface="Noto Serif CJK SC"/>
                <a:cs typeface="Times New Roman" panose="02020603050405020304" pitchFamily="18" charset="0"/>
              </a:rPr>
              <a:t>Developmental Biology</a:t>
            </a:r>
            <a:r>
              <a:rPr lang="en-IN" sz="1600" kern="100" dirty="0">
                <a:effectLst/>
                <a:latin typeface="Times New Roman" panose="02020603050405020304" pitchFamily="18" charset="0"/>
                <a:ea typeface="Noto Serif CJK SC"/>
                <a:cs typeface="Times New Roman" panose="02020603050405020304" pitchFamily="18" charset="0"/>
              </a:rPr>
              <a:t>. </a:t>
            </a:r>
          </a:p>
          <a:p>
            <a:pPr lvl="1">
              <a:lnSpc>
                <a:spcPct val="100000"/>
              </a:lnSpc>
              <a:tabLst>
                <a:tab pos="685800" algn="l"/>
              </a:tabLst>
            </a:pPr>
            <a:r>
              <a:rPr lang="en-IN" sz="1600" kern="100" dirty="0">
                <a:effectLst/>
                <a:latin typeface="Times New Roman" panose="02020603050405020304" pitchFamily="18" charset="0"/>
                <a:ea typeface="Noto Serif CJK SC"/>
                <a:cs typeface="Times New Roman" panose="02020603050405020304" pitchFamily="18" charset="0"/>
              </a:rPr>
              <a:t>You, Y., Tian, L., Su, S. </a:t>
            </a:r>
            <a:r>
              <a:rPr lang="en-IN" sz="1600" i="1" kern="100" dirty="0">
                <a:effectLst/>
                <a:latin typeface="Times New Roman" panose="02020603050405020304" pitchFamily="18" charset="0"/>
                <a:ea typeface="Noto Serif CJK SC"/>
                <a:cs typeface="Times New Roman" panose="02020603050405020304" pitchFamily="18" charset="0"/>
              </a:rPr>
              <a:t>et al.</a:t>
            </a:r>
            <a:r>
              <a:rPr lang="en-IN" sz="1600" kern="100" dirty="0">
                <a:effectLst/>
                <a:latin typeface="Times New Roman" panose="02020603050405020304" pitchFamily="18" charset="0"/>
                <a:ea typeface="Noto Serif CJK SC"/>
                <a:cs typeface="Times New Roman" panose="02020603050405020304" pitchFamily="18" charset="0"/>
              </a:rPr>
              <a:t> Benchmarking UMI-based single-cell RNA-</a:t>
            </a:r>
            <a:r>
              <a:rPr lang="en-IN" sz="1600" kern="100" dirty="0" err="1">
                <a:effectLst/>
                <a:latin typeface="Times New Roman" panose="02020603050405020304" pitchFamily="18" charset="0"/>
                <a:ea typeface="Noto Serif CJK SC"/>
                <a:cs typeface="Times New Roman" panose="02020603050405020304" pitchFamily="18" charset="0"/>
              </a:rPr>
              <a:t>seq</a:t>
            </a:r>
            <a:r>
              <a:rPr lang="en-IN" sz="1600" kern="100" dirty="0">
                <a:effectLst/>
                <a:latin typeface="Times New Roman" panose="02020603050405020304" pitchFamily="18" charset="0"/>
                <a:ea typeface="Noto Serif CJK SC"/>
                <a:cs typeface="Times New Roman" panose="02020603050405020304" pitchFamily="18" charset="0"/>
              </a:rPr>
              <a:t> preprocessing workflows. </a:t>
            </a:r>
            <a:r>
              <a:rPr lang="en-IN" sz="1600" i="1" kern="100" dirty="0">
                <a:effectLst/>
                <a:latin typeface="Times New Roman" panose="02020603050405020304" pitchFamily="18" charset="0"/>
                <a:ea typeface="Noto Serif CJK SC"/>
                <a:cs typeface="Times New Roman" panose="02020603050405020304" pitchFamily="18" charset="0"/>
              </a:rPr>
              <a:t>Genome </a:t>
            </a:r>
            <a:r>
              <a:rPr lang="en-IN" sz="1600" i="1" kern="100" dirty="0" err="1">
                <a:effectLst/>
                <a:latin typeface="Times New Roman" panose="02020603050405020304" pitchFamily="18" charset="0"/>
                <a:ea typeface="Noto Serif CJK SC"/>
                <a:cs typeface="Times New Roman" panose="02020603050405020304" pitchFamily="18" charset="0"/>
              </a:rPr>
              <a:t>Biol</a:t>
            </a:r>
            <a:r>
              <a:rPr lang="en-IN" sz="1600" kern="100" dirty="0">
                <a:effectLst/>
                <a:latin typeface="Times New Roman" panose="02020603050405020304" pitchFamily="18" charset="0"/>
                <a:ea typeface="Noto Serif CJK SC"/>
                <a:cs typeface="Times New Roman" panose="02020603050405020304" pitchFamily="18" charset="0"/>
              </a:rPr>
              <a:t> </a:t>
            </a:r>
            <a:r>
              <a:rPr lang="en-IN" sz="1600" b="1" kern="100" dirty="0">
                <a:effectLst/>
                <a:latin typeface="Times New Roman" panose="02020603050405020304" pitchFamily="18" charset="0"/>
                <a:ea typeface="Noto Serif CJK SC"/>
                <a:cs typeface="Times New Roman" panose="02020603050405020304" pitchFamily="18" charset="0"/>
              </a:rPr>
              <a:t>22</a:t>
            </a:r>
            <a:r>
              <a:rPr lang="en-IN" sz="1600" kern="100" dirty="0">
                <a:effectLst/>
                <a:latin typeface="Times New Roman" panose="02020603050405020304" pitchFamily="18" charset="0"/>
                <a:ea typeface="Noto Serif CJK SC"/>
                <a:cs typeface="Times New Roman" panose="02020603050405020304" pitchFamily="18" charset="0"/>
              </a:rPr>
              <a:t>, 339 (2021). </a:t>
            </a:r>
            <a:r>
              <a:rPr lang="en-IN" sz="1600" kern="100" dirty="0">
                <a:effectLst/>
                <a:latin typeface="Times New Roman" panose="02020603050405020304" pitchFamily="18" charset="0"/>
                <a:ea typeface="Noto Serif CJK SC"/>
                <a:cs typeface="Times New Roman" panose="02020603050405020304" pitchFamily="18" charset="0"/>
                <a:hlinkClick r:id="rId3"/>
              </a:rPr>
              <a:t>https://doi.org/10.1186/s13059-021-02552-3</a:t>
            </a:r>
            <a:endParaRPr lang="en-IN" sz="1600" kern="100" dirty="0">
              <a:effectLst/>
              <a:latin typeface="Times New Roman" panose="02020603050405020304" pitchFamily="18" charset="0"/>
              <a:ea typeface="Noto Serif CJK SC"/>
              <a:cs typeface="Times New Roman" panose="02020603050405020304" pitchFamily="18" charset="0"/>
            </a:endParaRPr>
          </a:p>
          <a:p>
            <a:pPr lvl="1">
              <a:lnSpc>
                <a:spcPct val="100000"/>
              </a:lnSpc>
              <a:tabLst>
                <a:tab pos="685800" algn="l"/>
              </a:tabLst>
            </a:pPr>
            <a:r>
              <a:rPr lang="en-US" sz="1600" kern="100" dirty="0">
                <a:effectLst/>
                <a:latin typeface="Times New Roman" panose="02020603050405020304" pitchFamily="18" charset="0"/>
                <a:ea typeface="Noto Serif CJK SC"/>
                <a:cs typeface="Times New Roman" panose="02020603050405020304" pitchFamily="18" charset="0"/>
              </a:rPr>
              <a:t>Jovic, D., Liang, X., Zeng, H., Lin, L., Xu, F., &amp; Luo, Y. (2022). Single‐cell RNA sequencing technologies and applications: A brief overview. Clinical and Translational Medicine, 12(3). </a:t>
            </a:r>
            <a:r>
              <a:rPr lang="en-US" sz="1600" kern="100" dirty="0">
                <a:effectLst/>
                <a:latin typeface="Times New Roman" panose="02020603050405020304" pitchFamily="18" charset="0"/>
                <a:ea typeface="Noto Serif CJK SC"/>
                <a:cs typeface="Times New Roman" panose="02020603050405020304" pitchFamily="18" charset="0"/>
                <a:hlinkClick r:id="rId4"/>
              </a:rPr>
              <a:t>https://doi.org/10.1002/ctm2.694</a:t>
            </a:r>
            <a:endParaRPr lang="en-US" sz="1600" kern="100" dirty="0">
              <a:effectLst/>
              <a:latin typeface="Times New Roman" panose="02020603050405020304" pitchFamily="18" charset="0"/>
              <a:ea typeface="Noto Serif CJK SC"/>
              <a:cs typeface="Times New Roman" panose="02020603050405020304" pitchFamily="18" charset="0"/>
            </a:endParaRPr>
          </a:p>
          <a:p>
            <a:pPr lvl="1">
              <a:lnSpc>
                <a:spcPct val="100000"/>
              </a:lnSpc>
              <a:tabLst>
                <a:tab pos="685800" algn="l"/>
              </a:tabLst>
            </a:pPr>
            <a:r>
              <a:rPr lang="en-US" sz="1600" kern="100" dirty="0">
                <a:effectLst/>
                <a:latin typeface="Times New Roman" panose="02020603050405020304" pitchFamily="18" charset="0"/>
                <a:ea typeface="Noto Serif CJK SC"/>
                <a:cs typeface="Times New Roman" panose="02020603050405020304" pitchFamily="18" charset="0"/>
              </a:rPr>
              <a:t>Chen, G., Ning, B., &amp; Shi, T. (2019). Single-Cell RNA-Seq Technologies and Related Computational Data Analysis. Frontiers in Genetics, 10. </a:t>
            </a:r>
            <a:r>
              <a:rPr lang="en-US" sz="1600" kern="100" dirty="0">
                <a:effectLst/>
                <a:latin typeface="Times New Roman" panose="02020603050405020304" pitchFamily="18" charset="0"/>
                <a:ea typeface="Noto Serif CJK SC"/>
                <a:cs typeface="Times New Roman" panose="02020603050405020304" pitchFamily="18" charset="0"/>
                <a:hlinkClick r:id="rId5"/>
              </a:rPr>
              <a:t>https://doi.org/10.3389/fgene.2019.00317</a:t>
            </a:r>
            <a:endParaRPr lang="en-US" sz="1600" kern="100" dirty="0">
              <a:latin typeface="Times New Roman" panose="02020603050405020304" pitchFamily="18" charset="0"/>
              <a:ea typeface="Noto Serif CJK SC"/>
              <a:cs typeface="Times New Roman" panose="02020603050405020304" pitchFamily="18" charset="0"/>
            </a:endParaRPr>
          </a:p>
          <a:p>
            <a:pPr lvl="1">
              <a:lnSpc>
                <a:spcPct val="100000"/>
              </a:lnSpc>
              <a:tabLst>
                <a:tab pos="685800" algn="l"/>
              </a:tabLst>
            </a:pPr>
            <a:r>
              <a:rPr lang="en-US" sz="1600" kern="100" dirty="0">
                <a:effectLst/>
                <a:latin typeface="Times New Roman" panose="02020603050405020304" pitchFamily="18" charset="0"/>
                <a:ea typeface="Noto Serif CJK SC"/>
                <a:cs typeface="Times New Roman" panose="02020603050405020304" pitchFamily="18" charset="0"/>
              </a:rPr>
              <a:t>Haque, A., Engel, J., </a:t>
            </a:r>
            <a:r>
              <a:rPr lang="en-US" sz="1600" kern="100" dirty="0" err="1">
                <a:effectLst/>
                <a:latin typeface="Times New Roman" panose="02020603050405020304" pitchFamily="18" charset="0"/>
                <a:ea typeface="Noto Serif CJK SC"/>
                <a:cs typeface="Times New Roman" panose="02020603050405020304" pitchFamily="18" charset="0"/>
              </a:rPr>
              <a:t>Teichmann</a:t>
            </a:r>
            <a:r>
              <a:rPr lang="en-US" sz="1600" kern="100" dirty="0">
                <a:effectLst/>
                <a:latin typeface="Times New Roman" panose="02020603050405020304" pitchFamily="18" charset="0"/>
                <a:ea typeface="Noto Serif CJK SC"/>
                <a:cs typeface="Times New Roman" panose="02020603050405020304" pitchFamily="18" charset="0"/>
              </a:rPr>
              <a:t>, S.A. et al. A practical guide to single-cell RNA-sequencing for biomedical research and clinical applications. Genome Med 9, 75 (2017). </a:t>
            </a:r>
            <a:r>
              <a:rPr lang="en-US" sz="1600" kern="100" dirty="0">
                <a:effectLst/>
                <a:latin typeface="Times New Roman" panose="02020603050405020304" pitchFamily="18" charset="0"/>
                <a:ea typeface="Noto Serif CJK SC"/>
                <a:cs typeface="Times New Roman" panose="02020603050405020304" pitchFamily="18" charset="0"/>
                <a:hlinkClick r:id="rId6"/>
              </a:rPr>
              <a:t>https://doi.org/10.1186/s13073-017-0467-4</a:t>
            </a:r>
            <a:endParaRPr lang="en-US" sz="1600" kern="100" dirty="0">
              <a:effectLst/>
              <a:latin typeface="Times New Roman" panose="02020603050405020304" pitchFamily="18" charset="0"/>
              <a:ea typeface="Noto Serif CJK SC"/>
              <a:cs typeface="Times New Roman" panose="02020603050405020304" pitchFamily="18" charset="0"/>
            </a:endParaRPr>
          </a:p>
          <a:p>
            <a:pPr lvl="1">
              <a:lnSpc>
                <a:spcPct val="100000"/>
              </a:lnSpc>
              <a:tabLst>
                <a:tab pos="685800" algn="l"/>
              </a:tabLst>
            </a:pPr>
            <a:r>
              <a:rPr lang="en-US" sz="1600" kern="100" dirty="0" err="1">
                <a:effectLst/>
                <a:latin typeface="Times New Roman" panose="02020603050405020304" pitchFamily="18" charset="0"/>
                <a:ea typeface="Noto Serif CJK SC"/>
                <a:cs typeface="Times New Roman" panose="02020603050405020304" pitchFamily="18" charset="0"/>
              </a:rPr>
              <a:t>Lelièvre</a:t>
            </a:r>
            <a:r>
              <a:rPr lang="en-US" sz="1600" kern="100" dirty="0">
                <a:effectLst/>
                <a:latin typeface="Times New Roman" panose="02020603050405020304" pitchFamily="18" charset="0"/>
                <a:ea typeface="Noto Serif CJK SC"/>
                <a:cs typeface="Times New Roman" panose="02020603050405020304" pitchFamily="18" charset="0"/>
              </a:rPr>
              <a:t>, S. A., Hodges, K. B., &amp; Vidi, P. (2014). Application of </a:t>
            </a:r>
            <a:r>
              <a:rPr lang="en-US" sz="1600" kern="100" dirty="0" err="1">
                <a:effectLst/>
                <a:latin typeface="Times New Roman" panose="02020603050405020304" pitchFamily="18" charset="0"/>
                <a:ea typeface="Noto Serif CJK SC"/>
                <a:cs typeface="Times New Roman" panose="02020603050405020304" pitchFamily="18" charset="0"/>
              </a:rPr>
              <a:t>Theranostics</a:t>
            </a:r>
            <a:r>
              <a:rPr lang="en-US" sz="1600" kern="100" dirty="0">
                <a:effectLst/>
                <a:latin typeface="Times New Roman" panose="02020603050405020304" pitchFamily="18" charset="0"/>
                <a:ea typeface="Noto Serif CJK SC"/>
                <a:cs typeface="Times New Roman" panose="02020603050405020304" pitchFamily="18" charset="0"/>
              </a:rPr>
              <a:t> to Measure and Treat Cell Heterogeneity in Cancer. In Elsevier eBooks (pp. 493–516). </a:t>
            </a:r>
            <a:r>
              <a:rPr lang="en-US" sz="1600" kern="100" dirty="0">
                <a:effectLst/>
                <a:latin typeface="Times New Roman" panose="02020603050405020304" pitchFamily="18" charset="0"/>
                <a:ea typeface="Noto Serif CJK SC"/>
                <a:cs typeface="Times New Roman" panose="02020603050405020304" pitchFamily="18" charset="0"/>
                <a:hlinkClick r:id="rId7"/>
              </a:rPr>
              <a:t>https://doi.org/10.1016/b978-0-12-407722-5.00026-8</a:t>
            </a:r>
            <a:endParaRPr lang="en-US" sz="1600" kern="100" dirty="0">
              <a:effectLst/>
              <a:latin typeface="Times New Roman" panose="02020603050405020304" pitchFamily="18" charset="0"/>
              <a:ea typeface="Noto Serif CJK SC"/>
              <a:cs typeface="Times New Roman" panose="02020603050405020304" pitchFamily="18" charset="0"/>
            </a:endParaRPr>
          </a:p>
          <a:p>
            <a:pPr lvl="1">
              <a:lnSpc>
                <a:spcPct val="100000"/>
              </a:lnSpc>
              <a:tabLst>
                <a:tab pos="685800" algn="l"/>
              </a:tabLst>
            </a:pPr>
            <a:r>
              <a:rPr lang="en-US" sz="1600" kern="100" dirty="0">
                <a:effectLst/>
                <a:latin typeface="Times New Roman" panose="02020603050405020304" pitchFamily="18" charset="0"/>
                <a:ea typeface="Noto Serif CJK SC"/>
                <a:cs typeface="Times New Roman" panose="02020603050405020304" pitchFamily="18" charset="0"/>
              </a:rPr>
              <a:t>Carter, B., Zhao, K. The epigenetic basis of cellular heterogeneity. Nat Rev Genet 22, 235–250 (2021). </a:t>
            </a:r>
            <a:r>
              <a:rPr lang="en-US" sz="1600" kern="100" dirty="0">
                <a:effectLst/>
                <a:latin typeface="Times New Roman" panose="02020603050405020304" pitchFamily="18" charset="0"/>
                <a:ea typeface="Noto Serif CJK SC"/>
                <a:cs typeface="Times New Roman" panose="02020603050405020304" pitchFamily="18" charset="0"/>
                <a:hlinkClick r:id="rId8"/>
              </a:rPr>
              <a:t>https://doi.org/10.1038/s41576-020-00300-0</a:t>
            </a:r>
            <a:endParaRPr lang="en-US" sz="1600" kern="100" dirty="0">
              <a:effectLst/>
              <a:latin typeface="Times New Roman" panose="02020603050405020304" pitchFamily="18" charset="0"/>
              <a:ea typeface="Noto Serif CJK SC"/>
              <a:cs typeface="Times New Roman" panose="02020603050405020304" pitchFamily="18" charset="0"/>
            </a:endParaRPr>
          </a:p>
          <a:p>
            <a:pPr lvl="1">
              <a:lnSpc>
                <a:spcPct val="100000"/>
              </a:lnSpc>
              <a:tabLst>
                <a:tab pos="685800" algn="l"/>
              </a:tabLst>
            </a:pPr>
            <a:r>
              <a:rPr lang="en-US" sz="1600" kern="100" dirty="0">
                <a:effectLst/>
                <a:latin typeface="Times New Roman" panose="02020603050405020304" pitchFamily="18" charset="0"/>
                <a:ea typeface="Noto Serif CJK SC"/>
                <a:cs typeface="Times New Roman" panose="02020603050405020304" pitchFamily="18" charset="0"/>
              </a:rPr>
              <a:t>Molin, A. D., </a:t>
            </a:r>
            <a:r>
              <a:rPr lang="en-US" sz="1600" kern="100" dirty="0" err="1">
                <a:effectLst/>
                <a:latin typeface="Times New Roman" panose="02020603050405020304" pitchFamily="18" charset="0"/>
                <a:ea typeface="Noto Serif CJK SC"/>
                <a:cs typeface="Times New Roman" panose="02020603050405020304" pitchFamily="18" charset="0"/>
              </a:rPr>
              <a:t>Baruzzo</a:t>
            </a:r>
            <a:r>
              <a:rPr lang="en-US" sz="1600" kern="100" dirty="0">
                <a:effectLst/>
                <a:latin typeface="Times New Roman" panose="02020603050405020304" pitchFamily="18" charset="0"/>
                <a:ea typeface="Noto Serif CJK SC"/>
                <a:cs typeface="Times New Roman" panose="02020603050405020304" pitchFamily="18" charset="0"/>
              </a:rPr>
              <a:t>, G., &amp; Di Camillo, B. (2017). Single-Cell RNA-Sequencing: Assessment of Differential Expression Analysis Methods. Frontiers in Genetics, 8. </a:t>
            </a:r>
            <a:r>
              <a:rPr lang="en-US" sz="1600" kern="100" dirty="0">
                <a:effectLst/>
                <a:latin typeface="Times New Roman" panose="02020603050405020304" pitchFamily="18" charset="0"/>
                <a:ea typeface="Noto Serif CJK SC"/>
                <a:cs typeface="Times New Roman" panose="02020603050405020304" pitchFamily="18" charset="0"/>
                <a:hlinkClick r:id="rId9"/>
              </a:rPr>
              <a:t>https://doi.org/10.3389/fgene.2017.00062</a:t>
            </a:r>
            <a:endParaRPr lang="en-US" sz="1600" kern="100" dirty="0">
              <a:effectLst/>
              <a:latin typeface="Times New Roman" panose="02020603050405020304" pitchFamily="18" charset="0"/>
              <a:ea typeface="Noto Serif CJK SC"/>
              <a:cs typeface="Times New Roman" panose="02020603050405020304" pitchFamily="18" charset="0"/>
            </a:endParaRPr>
          </a:p>
          <a:p>
            <a:pPr lvl="1">
              <a:lnSpc>
                <a:spcPct val="100000"/>
              </a:lnSpc>
              <a:tabLst>
                <a:tab pos="685800" algn="l"/>
              </a:tabLst>
            </a:pPr>
            <a:r>
              <a:rPr lang="en-US" sz="1600" kern="100" dirty="0">
                <a:effectLst/>
                <a:latin typeface="Times New Roman" panose="02020603050405020304" pitchFamily="18" charset="0"/>
                <a:ea typeface="Noto Serif CJK SC"/>
                <a:cs typeface="Times New Roman" panose="02020603050405020304" pitchFamily="18" charset="0"/>
              </a:rPr>
              <a:t>Joshi, P. D. S. (n.d.). Challenges in Single-Cell RNA Seq Data Analysis &amp; Solutions. </a:t>
            </a:r>
            <a:r>
              <a:rPr lang="en-US" sz="1600" kern="100" dirty="0">
                <a:effectLst/>
                <a:latin typeface="Times New Roman" panose="02020603050405020304" pitchFamily="18" charset="0"/>
                <a:ea typeface="Noto Serif CJK SC"/>
                <a:cs typeface="Times New Roman" panose="02020603050405020304" pitchFamily="18" charset="0"/>
                <a:hlinkClick r:id="rId10"/>
              </a:rPr>
              <a:t>https://www.elucidata.io/blog/challenges-and-solutions-in-single-cell-rna-seq-data-analysis</a:t>
            </a:r>
            <a:endParaRPr lang="en-US" sz="1600" kern="100" dirty="0">
              <a:effectLst/>
              <a:latin typeface="Times New Roman" panose="02020603050405020304" pitchFamily="18" charset="0"/>
              <a:ea typeface="Noto Serif CJK SC"/>
              <a:cs typeface="Times New Roman" panose="02020603050405020304" pitchFamily="18" charset="0"/>
            </a:endParaRPr>
          </a:p>
          <a:p>
            <a:pPr lvl="1">
              <a:lnSpc>
                <a:spcPct val="100000"/>
              </a:lnSpc>
              <a:tabLst>
                <a:tab pos="685800" algn="l"/>
              </a:tabLst>
            </a:pPr>
            <a:r>
              <a:rPr lang="en-US" sz="1600" kern="100" dirty="0" err="1">
                <a:effectLst/>
                <a:latin typeface="Times New Roman" panose="02020603050405020304" pitchFamily="18" charset="0"/>
                <a:ea typeface="Noto Serif CJK SC"/>
                <a:cs typeface="Times New Roman" panose="02020603050405020304" pitchFamily="18" charset="0"/>
              </a:rPr>
              <a:t>Morante</a:t>
            </a:r>
            <a:r>
              <a:rPr lang="en-US" sz="1600" kern="100" dirty="0">
                <a:effectLst/>
                <a:latin typeface="Times New Roman" panose="02020603050405020304" pitchFamily="18" charset="0"/>
                <a:ea typeface="Noto Serif CJK SC"/>
                <a:cs typeface="Times New Roman" panose="02020603050405020304" pitchFamily="18" charset="0"/>
              </a:rPr>
              <a:t>-Palacios, O. (2023, July 6). The future of </a:t>
            </a:r>
            <a:r>
              <a:rPr lang="en-US" sz="1600" kern="100" dirty="0" err="1">
                <a:effectLst/>
                <a:latin typeface="Times New Roman" panose="02020603050405020304" pitchFamily="18" charset="0"/>
                <a:ea typeface="Noto Serif CJK SC"/>
                <a:cs typeface="Times New Roman" panose="02020603050405020304" pitchFamily="18" charset="0"/>
              </a:rPr>
              <a:t>scRNA</a:t>
            </a:r>
            <a:r>
              <a:rPr lang="en-US" sz="1600" kern="100" dirty="0">
                <a:effectLst/>
                <a:latin typeface="Times New Roman" panose="02020603050405020304" pitchFamily="18" charset="0"/>
                <a:ea typeface="Noto Serif CJK SC"/>
                <a:cs typeface="Times New Roman" panose="02020603050405020304" pitchFamily="18" charset="0"/>
              </a:rPr>
              <a:t>-Seq applicability. Clarivate. </a:t>
            </a:r>
            <a:r>
              <a:rPr lang="en-US" sz="1600" kern="100" dirty="0">
                <a:effectLst/>
                <a:latin typeface="Times New Roman" panose="02020603050405020304" pitchFamily="18" charset="0"/>
                <a:ea typeface="Noto Serif CJK SC"/>
                <a:cs typeface="Times New Roman" panose="02020603050405020304" pitchFamily="18" charset="0"/>
                <a:hlinkClick r:id="rId11"/>
              </a:rPr>
              <a:t>https://clarivate.com/blog/the-future-of-scrna-seq-applicability/</a:t>
            </a:r>
            <a:endParaRPr lang="en-US" sz="1600" kern="100" dirty="0">
              <a:effectLst/>
              <a:latin typeface="Times New Roman" panose="02020603050405020304" pitchFamily="18" charset="0"/>
              <a:ea typeface="Noto Serif CJK SC"/>
              <a:cs typeface="Times New Roman" panose="02020603050405020304" pitchFamily="18" charset="0"/>
            </a:endParaRPr>
          </a:p>
          <a:p>
            <a:pPr lvl="1">
              <a:lnSpc>
                <a:spcPct val="100000"/>
              </a:lnSpc>
              <a:tabLst>
                <a:tab pos="685800" algn="l"/>
              </a:tabLst>
            </a:pPr>
            <a:r>
              <a:rPr lang="en-IN" sz="1600" kern="100" dirty="0">
                <a:effectLst/>
                <a:latin typeface="Times New Roman" panose="02020603050405020304" pitchFamily="18" charset="0"/>
                <a:ea typeface="Noto Serif CJK SC"/>
                <a:cs typeface="Times New Roman" panose="02020603050405020304" pitchFamily="18" charset="0"/>
              </a:rPr>
              <a:t>Hwang, B., Lee, J.H. &amp; Bang, D. Single-cell RNA sequencing technologies and bioinformatics pipelines. Exp Mol Med 50, 1–14 (2018). </a:t>
            </a:r>
            <a:r>
              <a:rPr lang="en-IN" sz="1600" kern="100" dirty="0">
                <a:effectLst/>
                <a:latin typeface="Times New Roman" panose="02020603050405020304" pitchFamily="18" charset="0"/>
                <a:ea typeface="Noto Serif CJK SC"/>
                <a:cs typeface="Times New Roman" panose="02020603050405020304" pitchFamily="18" charset="0"/>
                <a:hlinkClick r:id="rId12"/>
              </a:rPr>
              <a:t>https://doi.org/10.1038/s12276-018-0071-8</a:t>
            </a:r>
            <a:endParaRPr lang="en-IN" sz="1600" kern="100" dirty="0">
              <a:effectLst/>
              <a:latin typeface="Times New Roman" panose="02020603050405020304" pitchFamily="18" charset="0"/>
              <a:ea typeface="Noto Serif CJK SC"/>
              <a:cs typeface="Times New Roman" panose="02020603050405020304" pitchFamily="18" charset="0"/>
            </a:endParaRPr>
          </a:p>
          <a:p>
            <a:pPr lvl="1">
              <a:lnSpc>
                <a:spcPct val="100000"/>
              </a:lnSpc>
              <a:tabLst>
                <a:tab pos="685800" algn="l"/>
              </a:tabLst>
            </a:pPr>
            <a:r>
              <a:rPr lang="en-US" sz="1600" kern="100" dirty="0">
                <a:effectLst/>
                <a:latin typeface="Times New Roman" panose="02020603050405020304" pitchFamily="18" charset="0"/>
                <a:ea typeface="Noto Serif CJK SC"/>
                <a:cs typeface="Times New Roman" panose="02020603050405020304" pitchFamily="18" charset="0"/>
              </a:rPr>
              <a:t>Zhang, H., Sun, Y., &amp; Du, X. (2024). Revealing Cellular Heterogeneity and Key Regulatory Factors of Triple-Negative Breast Cancer through Single-Cell RNA Sequencing. Frontiers in Bioscience-Landmark, 29(8), 290. https://doi.org/10.31083/j.fbl2908290</a:t>
            </a:r>
            <a:endParaRPr lang="en-IN" sz="1600" kern="100" dirty="0">
              <a:effectLst/>
              <a:latin typeface="Times New Roman" panose="02020603050405020304" pitchFamily="18" charset="0"/>
              <a:ea typeface="Noto Serif CJK SC"/>
              <a:cs typeface="Times New Roman" panose="02020603050405020304" pitchFamily="18" charset="0"/>
            </a:endParaRPr>
          </a:p>
          <a:p>
            <a:pPr>
              <a:lnSpc>
                <a:spcPct val="10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9503496"/>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2" name="Rectangle 2051">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3" name="Rectangle 205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nimation Thank You GIF by MillMotion">
            <a:extLst>
              <a:ext uri="{FF2B5EF4-FFF2-40B4-BE49-F238E27FC236}">
                <a16:creationId xmlns:a16="http://schemas.microsoft.com/office/drawing/2014/main" id="{70DC73D6-2315-2C0B-2016-E9157DF1D9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251" t="21456" r="23015" b="15567"/>
          <a:stretch/>
        </p:blipFill>
        <p:spPr bwMode="auto">
          <a:xfrm>
            <a:off x="2136913" y="876825"/>
            <a:ext cx="5648669" cy="470278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Question &amp; Answer stock illustration. Illustration of confusion - 35256989">
            <a:extLst>
              <a:ext uri="{FF2B5EF4-FFF2-40B4-BE49-F238E27FC236}">
                <a16:creationId xmlns:a16="http://schemas.microsoft.com/office/drawing/2014/main" id="{F88C9D6D-AD92-0A8F-0934-ED687042B55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500" t="11092" r="9318" b="25645"/>
          <a:stretch/>
        </p:blipFill>
        <p:spPr bwMode="auto">
          <a:xfrm>
            <a:off x="7931425" y="3935895"/>
            <a:ext cx="3637721" cy="2365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86681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TM03457503[[fn=Quotable]]</Template>
  <TotalTime>324</TotalTime>
  <Words>7490</Words>
  <Application>Microsoft Office PowerPoint</Application>
  <PresentationFormat>Widescreen</PresentationFormat>
  <Paragraphs>663</Paragraphs>
  <Slides>43</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43</vt:i4>
      </vt:variant>
    </vt:vector>
  </HeadingPairs>
  <TitlesOfParts>
    <vt:vector size="55" baseType="lpstr">
      <vt:lpstr>Aharoni</vt:lpstr>
      <vt:lpstr>Algerian</vt:lpstr>
      <vt:lpstr>Aptos</vt:lpstr>
      <vt:lpstr>Aptos Display</vt:lpstr>
      <vt:lpstr>Arial</vt:lpstr>
      <vt:lpstr>Calibri</vt:lpstr>
      <vt:lpstr>Goudy Old Style</vt:lpstr>
      <vt:lpstr>Liberation Serif</vt:lpstr>
      <vt:lpstr>Symbol</vt:lpstr>
      <vt:lpstr>Times New Roman</vt:lpstr>
      <vt:lpstr>Wingdings</vt:lpstr>
      <vt:lpstr>Office Theme</vt:lpstr>
      <vt:lpstr>Single-Cell RNA-seq Data Analysis: Understanding Cellular Heterogeneity</vt:lpstr>
      <vt:lpstr>Table of 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Disciplines contributing scRNA studies</vt:lpstr>
      <vt:lpstr>PowerPoint Presentation</vt:lpstr>
      <vt:lpstr> </vt:lpstr>
      <vt:lpstr>PowerPoint Presentation</vt:lpstr>
      <vt:lpstr>Feature Selection</vt:lpstr>
      <vt:lpstr> Dimensionality Reduction in Single-Cell RNA-Seq </vt:lpstr>
      <vt:lpstr>  Clustering &amp; Cell Type Identification in scRNA-seq Aims to identify distinct cell populations and assign biological meanings to clusters.  Grouping cells based on gene expression profiles to identify cell types or states.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Pseudo-Time Analysis</vt:lpstr>
      <vt:lpstr>Visualization</vt:lpstr>
      <vt:lpstr>PowerPoint Presentation</vt:lpstr>
      <vt:lpstr>PowerPoint Presentation</vt:lpstr>
      <vt:lpstr>PowerPoint Presentation</vt:lpstr>
      <vt:lpstr>Multi-Omics Integration with ScRNA seq study</vt:lpstr>
      <vt:lpstr>Implications of multi-omics integration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SAKSHI   SHARMA</dc:creator>
  <cp:lastModifiedBy>SAKSHI PERSONAL</cp:lastModifiedBy>
  <cp:revision>15</cp:revision>
  <dcterms:created xsi:type="dcterms:W3CDTF">2024-09-29T17:37:25Z</dcterms:created>
  <dcterms:modified xsi:type="dcterms:W3CDTF">2026-04-09T12:37:58Z</dcterms:modified>
</cp:coreProperties>
</file>